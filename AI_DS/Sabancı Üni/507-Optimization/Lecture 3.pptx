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2.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6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68.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28.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29.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30.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35.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36.xml" ContentType="application/vnd.openxmlformats-officedocument.presentationml.notesSlide+xml"/>
  <Override PartName="/ppt/tags/tag114.xml" ContentType="application/vnd.openxmlformats-officedocument.presentationml.tags+xml"/>
  <Override PartName="/ppt/notesSlides/notesSlide37.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ink/ink1.xml" ContentType="application/inkml+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81"/>
  </p:notesMasterIdLst>
  <p:handoutMasterIdLst>
    <p:handoutMasterId r:id="rId82"/>
  </p:handoutMasterIdLst>
  <p:sldIdLst>
    <p:sldId id="256" r:id="rId3"/>
    <p:sldId id="323" r:id="rId4"/>
    <p:sldId id="370" r:id="rId5"/>
    <p:sldId id="371" r:id="rId6"/>
    <p:sldId id="372" r:id="rId7"/>
    <p:sldId id="374" r:id="rId8"/>
    <p:sldId id="373" r:id="rId9"/>
    <p:sldId id="375" r:id="rId10"/>
    <p:sldId id="376" r:id="rId11"/>
    <p:sldId id="322" r:id="rId12"/>
    <p:sldId id="325" r:id="rId13"/>
    <p:sldId id="324" r:id="rId14"/>
    <p:sldId id="327" r:id="rId15"/>
    <p:sldId id="328" r:id="rId16"/>
    <p:sldId id="326" r:id="rId17"/>
    <p:sldId id="330" r:id="rId18"/>
    <p:sldId id="377" r:id="rId19"/>
    <p:sldId id="331" r:id="rId20"/>
    <p:sldId id="332" r:id="rId21"/>
    <p:sldId id="333" r:id="rId22"/>
    <p:sldId id="334" r:id="rId23"/>
    <p:sldId id="300" r:id="rId24"/>
    <p:sldId id="439" r:id="rId25"/>
    <p:sldId id="321" r:id="rId26"/>
    <p:sldId id="335" r:id="rId27"/>
    <p:sldId id="440" r:id="rId28"/>
    <p:sldId id="441" r:id="rId29"/>
    <p:sldId id="336" r:id="rId30"/>
    <p:sldId id="337" r:id="rId31"/>
    <p:sldId id="338" r:id="rId32"/>
    <p:sldId id="444" r:id="rId33"/>
    <p:sldId id="442" r:id="rId34"/>
    <p:sldId id="339" r:id="rId35"/>
    <p:sldId id="443" r:id="rId36"/>
    <p:sldId id="340" r:id="rId37"/>
    <p:sldId id="345" r:id="rId38"/>
    <p:sldId id="344" r:id="rId39"/>
    <p:sldId id="346" r:id="rId40"/>
    <p:sldId id="347" r:id="rId41"/>
    <p:sldId id="342" r:id="rId42"/>
    <p:sldId id="452" r:id="rId43"/>
    <p:sldId id="343" r:id="rId44"/>
    <p:sldId id="348" r:id="rId45"/>
    <p:sldId id="349" r:id="rId46"/>
    <p:sldId id="350" r:id="rId47"/>
    <p:sldId id="351" r:id="rId48"/>
    <p:sldId id="352" r:id="rId49"/>
    <p:sldId id="353" r:id="rId50"/>
    <p:sldId id="354" r:id="rId51"/>
    <p:sldId id="355" r:id="rId52"/>
    <p:sldId id="356" r:id="rId53"/>
    <p:sldId id="357" r:id="rId54"/>
    <p:sldId id="358" r:id="rId55"/>
    <p:sldId id="359" r:id="rId56"/>
    <p:sldId id="361" r:id="rId57"/>
    <p:sldId id="362" r:id="rId58"/>
    <p:sldId id="363" r:id="rId59"/>
    <p:sldId id="445" r:id="rId60"/>
    <p:sldId id="369" r:id="rId61"/>
    <p:sldId id="447" r:id="rId62"/>
    <p:sldId id="446" r:id="rId63"/>
    <p:sldId id="448" r:id="rId64"/>
    <p:sldId id="449" r:id="rId65"/>
    <p:sldId id="450" r:id="rId66"/>
    <p:sldId id="451" r:id="rId67"/>
    <p:sldId id="390" r:id="rId68"/>
    <p:sldId id="422" r:id="rId69"/>
    <p:sldId id="423" r:id="rId70"/>
    <p:sldId id="424" r:id="rId71"/>
    <p:sldId id="425" r:id="rId72"/>
    <p:sldId id="426" r:id="rId73"/>
    <p:sldId id="427" r:id="rId74"/>
    <p:sldId id="428" r:id="rId75"/>
    <p:sldId id="429" r:id="rId76"/>
    <p:sldId id="430" r:id="rId77"/>
    <p:sldId id="431" r:id="rId78"/>
    <p:sldId id="432" r:id="rId79"/>
    <p:sldId id="433" r:id="rId80"/>
  </p:sldIdLst>
  <p:sldSz cx="9144000" cy="6858000" type="screen4x3"/>
  <p:notesSz cx="6858000" cy="9144000"/>
  <p:custDataLst>
    <p:tags r:id="rId8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97" autoAdjust="0"/>
    <p:restoredTop sz="96283" autoAdjust="0"/>
  </p:normalViewPr>
  <p:slideViewPr>
    <p:cSldViewPr snapToGrid="0">
      <p:cViewPr varScale="1">
        <p:scale>
          <a:sx n="112" d="100"/>
          <a:sy n="112" d="100"/>
        </p:scale>
        <p:origin x="1584" y="96"/>
      </p:cViewPr>
      <p:guideLst>
        <p:guide orient="horz" pos="2160"/>
        <p:guide pos="2880"/>
      </p:guideLst>
    </p:cSldViewPr>
  </p:slideViewPr>
  <p:outlineViewPr>
    <p:cViewPr>
      <p:scale>
        <a:sx n="33" d="100"/>
        <a:sy n="33" d="100"/>
      </p:scale>
      <p:origin x="0" y="13314"/>
    </p:cViewPr>
  </p:outlineViewPr>
  <p:notesTextViewPr>
    <p:cViewPr>
      <p:scale>
        <a:sx n="100" d="100"/>
        <a:sy n="100" d="100"/>
      </p:scale>
      <p:origin x="0" y="0"/>
    </p:cViewPr>
  </p:notesTextViewPr>
  <p:sorterViewPr>
    <p:cViewPr>
      <p:scale>
        <a:sx n="66" d="100"/>
        <a:sy n="66" d="100"/>
      </p:scale>
      <p:origin x="0" y="0"/>
    </p:cViewPr>
  </p:sorterViewPr>
  <p:gridSpacing cx="91439" cy="91439"/>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gs" Target="tags/tag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olkan Yurtseven" userId="dba8ffe1f143b8c1" providerId="LiveId" clId="{9A58EE95-7F52-4EBA-9A36-D095845BCAC6}"/>
    <pc:docChg chg="undo custSel modSld">
      <pc:chgData name="Volkan Yurtseven" userId="dba8ffe1f143b8c1" providerId="LiveId" clId="{9A58EE95-7F52-4EBA-9A36-D095845BCAC6}" dt="2021-12-12T17:36:17.355" v="2" actId="34122"/>
      <pc:docMkLst>
        <pc:docMk/>
      </pc:docMkLst>
      <pc:sldChg chg="modSp mod">
        <pc:chgData name="Volkan Yurtseven" userId="dba8ffe1f143b8c1" providerId="LiveId" clId="{9A58EE95-7F52-4EBA-9A36-D095845BCAC6}" dt="2021-12-12T14:11:34.486" v="1" actId="1076"/>
        <pc:sldMkLst>
          <pc:docMk/>
          <pc:sldMk cId="0" sldId="353"/>
        </pc:sldMkLst>
        <pc:spChg chg="mod">
          <ac:chgData name="Volkan Yurtseven" userId="dba8ffe1f143b8c1" providerId="LiveId" clId="{9A58EE95-7F52-4EBA-9A36-D095845BCAC6}" dt="2021-12-12T14:11:34.486" v="1" actId="1076"/>
          <ac:spMkLst>
            <pc:docMk/>
            <pc:sldMk cId="0" sldId="353"/>
            <ac:spMk id="25603" creationId="{00000000-0000-0000-0000-000000000000}"/>
          </ac:spMkLst>
        </pc:spChg>
      </pc:sldChg>
      <pc:sldChg chg="addSp modSp mod">
        <pc:chgData name="Volkan Yurtseven" userId="dba8ffe1f143b8c1" providerId="LiveId" clId="{9A58EE95-7F52-4EBA-9A36-D095845BCAC6}" dt="2021-12-12T17:36:17.355" v="2" actId="34122"/>
        <pc:sldMkLst>
          <pc:docMk/>
          <pc:sldMk cId="4283602840" sldId="430"/>
        </pc:sldMkLst>
        <pc:spChg chg="add">
          <ac:chgData name="Volkan Yurtseven" userId="dba8ffe1f143b8c1" providerId="LiveId" clId="{9A58EE95-7F52-4EBA-9A36-D095845BCAC6}" dt="2021-12-12T17:36:17.355" v="2" actId="34122"/>
          <ac:spMkLst>
            <pc:docMk/>
            <pc:sldMk cId="4283602840" sldId="430"/>
            <ac:spMk id="17" creationId="{D072101A-5294-4755-98CB-905FC8C92ED1}"/>
          </ac:spMkLst>
        </pc:spChg>
        <pc:spChg chg="add">
          <ac:chgData name="Volkan Yurtseven" userId="dba8ffe1f143b8c1" providerId="LiveId" clId="{9A58EE95-7F52-4EBA-9A36-D095845BCAC6}" dt="2021-12-12T17:36:17.355" v="2" actId="34122"/>
          <ac:spMkLst>
            <pc:docMk/>
            <pc:sldMk cId="4283602840" sldId="430"/>
            <ac:spMk id="27" creationId="{2ACB6D29-C69D-452B-B178-21DDCB6D550C}"/>
          </ac:spMkLst>
        </pc:spChg>
        <pc:inkChg chg="add mod">
          <ac:chgData name="Volkan Yurtseven" userId="dba8ffe1f143b8c1" providerId="LiveId" clId="{9A58EE95-7F52-4EBA-9A36-D095845BCAC6}" dt="2021-12-12T17:36:17.355" v="2" actId="34122"/>
          <ac:inkMkLst>
            <pc:docMk/>
            <pc:sldMk cId="4283602840" sldId="430"/>
            <ac:inkMk id="14" creationId="{1AC3E49B-221E-4A2D-951D-FB27EF7F8C5D}"/>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6CC5B2-2C05-4A34-B707-B6C7FF91A1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a:extLst>
              <a:ext uri="{FF2B5EF4-FFF2-40B4-BE49-F238E27FC236}">
                <a16:creationId xmlns:a16="http://schemas.microsoft.com/office/drawing/2014/main" id="{6C4DBC0E-D04D-4659-9C42-8BE887D0B88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9F91E0-DC98-4476-A732-EAFB48C4C6E0}" type="datetimeFigureOut">
              <a:rPr lang="tr-TR" smtClean="0"/>
              <a:t>12.12.2021</a:t>
            </a:fld>
            <a:endParaRPr lang="tr-TR"/>
          </a:p>
        </p:txBody>
      </p:sp>
      <p:sp>
        <p:nvSpPr>
          <p:cNvPr id="4" name="Footer Placeholder 3">
            <a:extLst>
              <a:ext uri="{FF2B5EF4-FFF2-40B4-BE49-F238E27FC236}">
                <a16:creationId xmlns:a16="http://schemas.microsoft.com/office/drawing/2014/main" id="{BFA9F3E2-6299-4D74-954C-0F7F43FD23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a:extLst>
              <a:ext uri="{FF2B5EF4-FFF2-40B4-BE49-F238E27FC236}">
                <a16:creationId xmlns:a16="http://schemas.microsoft.com/office/drawing/2014/main" id="{18F9EF0A-3FD5-4295-B7A5-6F616DCF442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652242-C272-4660-BDE4-0D0A2F2D3889}" type="slidenum">
              <a:rPr lang="tr-TR" smtClean="0"/>
              <a:t>‹#›</a:t>
            </a:fld>
            <a:endParaRPr lang="tr-TR"/>
          </a:p>
        </p:txBody>
      </p:sp>
    </p:spTree>
    <p:extLst>
      <p:ext uri="{BB962C8B-B14F-4D97-AF65-F5344CB8AC3E}">
        <p14:creationId xmlns:p14="http://schemas.microsoft.com/office/powerpoint/2010/main" val="23177039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12-03T18:52:16.467"/>
    </inkml:context>
    <inkml:brush xml:id="br0">
      <inkml:brushProperty name="width" value="0.2" units="cm"/>
      <inkml:brushProperty name="height" value="0.2" units="cm"/>
      <inkml:brushProperty name="color" value="#E71224"/>
      <inkml:brushProperty name="ignorePressure" value="1"/>
    </inkml:brush>
  </inkml:definitions>
  <inkml:trace contextRef="#ctx0" brushRef="#br0">1724 8815,'0'0,"0"0,0 0,0 0,-15-22,10 13,1-1,0 1,1-1,0 0,0-1,1 1,1 0,0-1,0 1,1 0,0-1,0 1,2-1,-1 1,1 0,1-1,-1 1,2 0,0 0,12-29,2 0,1 1,2 0,4 0,-12 15,96-145,6 5,98-103,10 19,66-44,40-6,192-124,551-345,33 45,-1023 668,174-111,773-488,26 49,-533 361,13 28,126-53,-60 20,-459 198,3 7,1 5,50-1,88 1,-198 27</inkml:trace>
  <inkml:trace contextRef="#ctx0" brushRef="#br0" timeOffset="5701.2">12580 148,'0'0</inkml:trace>
  <inkml:trace contextRef="#ctx0" brushRef="#br0" timeOffset="6854.2">11597 1240,'0'0</inkml:trace>
  <inkml:trace contextRef="#ctx0" brushRef="#br0" timeOffset="7328.65">11269 2032,'0'0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2154E1-0C53-4DB5-B8AE-EBD037ED6597}" type="datetimeFigureOut">
              <a:rPr lang="en-US" smtClean="0"/>
              <a:pPr/>
              <a:t>12/12/2021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971200-84DA-4103-87BC-68A1C15528F0}" type="slidenum">
              <a:rPr lang="en-US" smtClean="0"/>
              <a:pPr/>
              <a:t>‹#›</a:t>
            </a:fld>
            <a:endParaRPr lang="en-US"/>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a:t>
            </a:fld>
            <a:endParaRPr lang="en-US"/>
          </a:p>
        </p:txBody>
      </p:sp>
    </p:spTree>
    <p:extLst>
      <p:ext uri="{BB962C8B-B14F-4D97-AF65-F5344CB8AC3E}">
        <p14:creationId xmlns:p14="http://schemas.microsoft.com/office/powerpoint/2010/main" val="3877344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a:t>
            </a:fld>
            <a:endParaRPr lang="en-US"/>
          </a:p>
        </p:txBody>
      </p:sp>
    </p:spTree>
    <p:extLst>
      <p:ext uri="{BB962C8B-B14F-4D97-AF65-F5344CB8AC3E}">
        <p14:creationId xmlns:p14="http://schemas.microsoft.com/office/powerpoint/2010/main" val="2687566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E04E621-775A-4E5C-9450-C55E550EBAE8}" type="slidenum">
              <a:rPr lang="tr-TR" smtClean="0"/>
              <a:pPr/>
              <a:t>3</a:t>
            </a:fld>
            <a:endParaRPr lang="tr-TR"/>
          </a:p>
        </p:txBody>
      </p:sp>
    </p:spTree>
    <p:extLst>
      <p:ext uri="{BB962C8B-B14F-4D97-AF65-F5344CB8AC3E}">
        <p14:creationId xmlns:p14="http://schemas.microsoft.com/office/powerpoint/2010/main" val="3104282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E04E621-775A-4E5C-9450-C55E550EBAE8}" type="slidenum">
              <a:rPr lang="tr-TR" smtClean="0"/>
              <a:pPr/>
              <a:t>4</a:t>
            </a:fld>
            <a:endParaRPr lang="tr-TR"/>
          </a:p>
        </p:txBody>
      </p:sp>
    </p:spTree>
    <p:extLst>
      <p:ext uri="{BB962C8B-B14F-4D97-AF65-F5344CB8AC3E}">
        <p14:creationId xmlns:p14="http://schemas.microsoft.com/office/powerpoint/2010/main" val="3356343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5</a:t>
            </a:fld>
            <a:endParaRPr lang="en-US"/>
          </a:p>
        </p:txBody>
      </p:sp>
    </p:spTree>
    <p:extLst>
      <p:ext uri="{BB962C8B-B14F-4D97-AF65-F5344CB8AC3E}">
        <p14:creationId xmlns:p14="http://schemas.microsoft.com/office/powerpoint/2010/main" val="3959802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6</a:t>
            </a:fld>
            <a:endParaRPr lang="en-US"/>
          </a:p>
        </p:txBody>
      </p:sp>
    </p:spTree>
    <p:extLst>
      <p:ext uri="{BB962C8B-B14F-4D97-AF65-F5344CB8AC3E}">
        <p14:creationId xmlns:p14="http://schemas.microsoft.com/office/powerpoint/2010/main" val="3373170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7</a:t>
            </a:fld>
            <a:endParaRPr lang="en-US"/>
          </a:p>
        </p:txBody>
      </p:sp>
    </p:spTree>
    <p:extLst>
      <p:ext uri="{BB962C8B-B14F-4D97-AF65-F5344CB8AC3E}">
        <p14:creationId xmlns:p14="http://schemas.microsoft.com/office/powerpoint/2010/main" val="2999875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8</a:t>
            </a:fld>
            <a:endParaRPr lang="en-US"/>
          </a:p>
        </p:txBody>
      </p:sp>
    </p:spTree>
    <p:extLst>
      <p:ext uri="{BB962C8B-B14F-4D97-AF65-F5344CB8AC3E}">
        <p14:creationId xmlns:p14="http://schemas.microsoft.com/office/powerpoint/2010/main" val="2842782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9</a:t>
            </a:fld>
            <a:endParaRPr lang="en-US"/>
          </a:p>
        </p:txBody>
      </p:sp>
    </p:spTree>
    <p:extLst>
      <p:ext uri="{BB962C8B-B14F-4D97-AF65-F5344CB8AC3E}">
        <p14:creationId xmlns:p14="http://schemas.microsoft.com/office/powerpoint/2010/main" val="1334695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10</a:t>
            </a:fld>
            <a:endParaRPr lang="en-US"/>
          </a:p>
        </p:txBody>
      </p:sp>
    </p:spTree>
    <p:extLst>
      <p:ext uri="{BB962C8B-B14F-4D97-AF65-F5344CB8AC3E}">
        <p14:creationId xmlns:p14="http://schemas.microsoft.com/office/powerpoint/2010/main" val="2992892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11</a:t>
            </a:fld>
            <a:endParaRPr lang="en-US"/>
          </a:p>
        </p:txBody>
      </p:sp>
    </p:spTree>
    <p:extLst>
      <p:ext uri="{BB962C8B-B14F-4D97-AF65-F5344CB8AC3E}">
        <p14:creationId xmlns:p14="http://schemas.microsoft.com/office/powerpoint/2010/main" val="1777021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12</a:t>
            </a:fld>
            <a:endParaRPr lang="en-US"/>
          </a:p>
        </p:txBody>
      </p:sp>
    </p:spTree>
    <p:extLst>
      <p:ext uri="{BB962C8B-B14F-4D97-AF65-F5344CB8AC3E}">
        <p14:creationId xmlns:p14="http://schemas.microsoft.com/office/powerpoint/2010/main" val="1473441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13</a:t>
            </a:fld>
            <a:endParaRPr lang="en-US"/>
          </a:p>
        </p:txBody>
      </p:sp>
    </p:spTree>
    <p:extLst>
      <p:ext uri="{BB962C8B-B14F-4D97-AF65-F5344CB8AC3E}">
        <p14:creationId xmlns:p14="http://schemas.microsoft.com/office/powerpoint/2010/main" val="867329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14</a:t>
            </a:fld>
            <a:endParaRPr lang="en-US"/>
          </a:p>
        </p:txBody>
      </p:sp>
    </p:spTree>
    <p:extLst>
      <p:ext uri="{BB962C8B-B14F-4D97-AF65-F5344CB8AC3E}">
        <p14:creationId xmlns:p14="http://schemas.microsoft.com/office/powerpoint/2010/main" val="4017138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15</a:t>
            </a:fld>
            <a:endParaRPr lang="en-US"/>
          </a:p>
        </p:txBody>
      </p:sp>
    </p:spTree>
    <p:extLst>
      <p:ext uri="{BB962C8B-B14F-4D97-AF65-F5344CB8AC3E}">
        <p14:creationId xmlns:p14="http://schemas.microsoft.com/office/powerpoint/2010/main" val="37897648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16</a:t>
            </a:fld>
            <a:endParaRPr lang="en-US"/>
          </a:p>
        </p:txBody>
      </p:sp>
    </p:spTree>
    <p:extLst>
      <p:ext uri="{BB962C8B-B14F-4D97-AF65-F5344CB8AC3E}">
        <p14:creationId xmlns:p14="http://schemas.microsoft.com/office/powerpoint/2010/main" val="1997854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17</a:t>
            </a:fld>
            <a:endParaRPr lang="en-US"/>
          </a:p>
        </p:txBody>
      </p:sp>
    </p:spTree>
    <p:extLst>
      <p:ext uri="{BB962C8B-B14F-4D97-AF65-F5344CB8AC3E}">
        <p14:creationId xmlns:p14="http://schemas.microsoft.com/office/powerpoint/2010/main" val="1320047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18</a:t>
            </a:fld>
            <a:endParaRPr lang="en-US"/>
          </a:p>
        </p:txBody>
      </p:sp>
    </p:spTree>
    <p:extLst>
      <p:ext uri="{BB962C8B-B14F-4D97-AF65-F5344CB8AC3E}">
        <p14:creationId xmlns:p14="http://schemas.microsoft.com/office/powerpoint/2010/main" val="3426891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19</a:t>
            </a:fld>
            <a:endParaRPr lang="en-US"/>
          </a:p>
        </p:txBody>
      </p:sp>
    </p:spTree>
    <p:extLst>
      <p:ext uri="{BB962C8B-B14F-4D97-AF65-F5344CB8AC3E}">
        <p14:creationId xmlns:p14="http://schemas.microsoft.com/office/powerpoint/2010/main" val="3159573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20</a:t>
            </a:fld>
            <a:endParaRPr lang="en-US"/>
          </a:p>
        </p:txBody>
      </p:sp>
    </p:spTree>
    <p:extLst>
      <p:ext uri="{BB962C8B-B14F-4D97-AF65-F5344CB8AC3E}">
        <p14:creationId xmlns:p14="http://schemas.microsoft.com/office/powerpoint/2010/main" val="1094592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21</a:t>
            </a:fld>
            <a:endParaRPr lang="en-US"/>
          </a:p>
        </p:txBody>
      </p:sp>
    </p:spTree>
    <p:extLst>
      <p:ext uri="{BB962C8B-B14F-4D97-AF65-F5344CB8AC3E}">
        <p14:creationId xmlns:p14="http://schemas.microsoft.com/office/powerpoint/2010/main" val="182204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22</a:t>
            </a:fld>
            <a:endParaRPr lang="en-US"/>
          </a:p>
        </p:txBody>
      </p:sp>
    </p:spTree>
    <p:extLst>
      <p:ext uri="{BB962C8B-B14F-4D97-AF65-F5344CB8AC3E}">
        <p14:creationId xmlns:p14="http://schemas.microsoft.com/office/powerpoint/2010/main" val="37434785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23</a:t>
            </a:fld>
            <a:endParaRPr lang="en-US"/>
          </a:p>
        </p:txBody>
      </p:sp>
    </p:spTree>
    <p:extLst>
      <p:ext uri="{BB962C8B-B14F-4D97-AF65-F5344CB8AC3E}">
        <p14:creationId xmlns:p14="http://schemas.microsoft.com/office/powerpoint/2010/main" val="29125643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24</a:t>
            </a:fld>
            <a:endParaRPr lang="en-US"/>
          </a:p>
        </p:txBody>
      </p:sp>
    </p:spTree>
    <p:extLst>
      <p:ext uri="{BB962C8B-B14F-4D97-AF65-F5344CB8AC3E}">
        <p14:creationId xmlns:p14="http://schemas.microsoft.com/office/powerpoint/2010/main" val="1269192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25</a:t>
            </a:fld>
            <a:endParaRPr lang="en-US"/>
          </a:p>
        </p:txBody>
      </p:sp>
    </p:spTree>
    <p:extLst>
      <p:ext uri="{BB962C8B-B14F-4D97-AF65-F5344CB8AC3E}">
        <p14:creationId xmlns:p14="http://schemas.microsoft.com/office/powerpoint/2010/main" val="14411692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26</a:t>
            </a:fld>
            <a:endParaRPr lang="en-US"/>
          </a:p>
        </p:txBody>
      </p:sp>
    </p:spTree>
    <p:extLst>
      <p:ext uri="{BB962C8B-B14F-4D97-AF65-F5344CB8AC3E}">
        <p14:creationId xmlns:p14="http://schemas.microsoft.com/office/powerpoint/2010/main" val="30251137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27</a:t>
            </a:fld>
            <a:endParaRPr lang="en-US"/>
          </a:p>
        </p:txBody>
      </p:sp>
    </p:spTree>
    <p:extLst>
      <p:ext uri="{BB962C8B-B14F-4D97-AF65-F5344CB8AC3E}">
        <p14:creationId xmlns:p14="http://schemas.microsoft.com/office/powerpoint/2010/main" val="7827933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28</a:t>
            </a:fld>
            <a:endParaRPr lang="en-US"/>
          </a:p>
        </p:txBody>
      </p:sp>
    </p:spTree>
    <p:extLst>
      <p:ext uri="{BB962C8B-B14F-4D97-AF65-F5344CB8AC3E}">
        <p14:creationId xmlns:p14="http://schemas.microsoft.com/office/powerpoint/2010/main" val="27866472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29</a:t>
            </a:fld>
            <a:endParaRPr lang="en-US"/>
          </a:p>
        </p:txBody>
      </p:sp>
    </p:spTree>
    <p:extLst>
      <p:ext uri="{BB962C8B-B14F-4D97-AF65-F5344CB8AC3E}">
        <p14:creationId xmlns:p14="http://schemas.microsoft.com/office/powerpoint/2010/main" val="1347351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30</a:t>
            </a:fld>
            <a:endParaRPr lang="en-US"/>
          </a:p>
        </p:txBody>
      </p:sp>
    </p:spTree>
    <p:extLst>
      <p:ext uri="{BB962C8B-B14F-4D97-AF65-F5344CB8AC3E}">
        <p14:creationId xmlns:p14="http://schemas.microsoft.com/office/powerpoint/2010/main" val="17810621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31</a:t>
            </a:fld>
            <a:endParaRPr lang="en-US"/>
          </a:p>
        </p:txBody>
      </p:sp>
    </p:spTree>
    <p:extLst>
      <p:ext uri="{BB962C8B-B14F-4D97-AF65-F5344CB8AC3E}">
        <p14:creationId xmlns:p14="http://schemas.microsoft.com/office/powerpoint/2010/main" val="29247410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32</a:t>
            </a:fld>
            <a:endParaRPr lang="en-US"/>
          </a:p>
        </p:txBody>
      </p:sp>
    </p:spTree>
    <p:extLst>
      <p:ext uri="{BB962C8B-B14F-4D97-AF65-F5344CB8AC3E}">
        <p14:creationId xmlns:p14="http://schemas.microsoft.com/office/powerpoint/2010/main" val="31759777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33</a:t>
            </a:fld>
            <a:endParaRPr lang="en-US"/>
          </a:p>
        </p:txBody>
      </p:sp>
    </p:spTree>
    <p:extLst>
      <p:ext uri="{BB962C8B-B14F-4D97-AF65-F5344CB8AC3E}">
        <p14:creationId xmlns:p14="http://schemas.microsoft.com/office/powerpoint/2010/main" val="9984461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34</a:t>
            </a:fld>
            <a:endParaRPr lang="en-US"/>
          </a:p>
        </p:txBody>
      </p:sp>
    </p:spTree>
    <p:extLst>
      <p:ext uri="{BB962C8B-B14F-4D97-AF65-F5344CB8AC3E}">
        <p14:creationId xmlns:p14="http://schemas.microsoft.com/office/powerpoint/2010/main" val="14207203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35</a:t>
            </a:fld>
            <a:endParaRPr lang="en-US"/>
          </a:p>
        </p:txBody>
      </p:sp>
    </p:spTree>
    <p:extLst>
      <p:ext uri="{BB962C8B-B14F-4D97-AF65-F5344CB8AC3E}">
        <p14:creationId xmlns:p14="http://schemas.microsoft.com/office/powerpoint/2010/main" val="3854709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36</a:t>
            </a:fld>
            <a:endParaRPr lang="en-US"/>
          </a:p>
        </p:txBody>
      </p:sp>
    </p:spTree>
    <p:extLst>
      <p:ext uri="{BB962C8B-B14F-4D97-AF65-F5344CB8AC3E}">
        <p14:creationId xmlns:p14="http://schemas.microsoft.com/office/powerpoint/2010/main" val="25869161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37</a:t>
            </a:fld>
            <a:endParaRPr lang="en-US"/>
          </a:p>
        </p:txBody>
      </p:sp>
    </p:spTree>
    <p:extLst>
      <p:ext uri="{BB962C8B-B14F-4D97-AF65-F5344CB8AC3E}">
        <p14:creationId xmlns:p14="http://schemas.microsoft.com/office/powerpoint/2010/main" val="27652483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38</a:t>
            </a:fld>
            <a:endParaRPr lang="en-US"/>
          </a:p>
        </p:txBody>
      </p:sp>
    </p:spTree>
    <p:extLst>
      <p:ext uri="{BB962C8B-B14F-4D97-AF65-F5344CB8AC3E}">
        <p14:creationId xmlns:p14="http://schemas.microsoft.com/office/powerpoint/2010/main" val="5894685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39</a:t>
            </a:fld>
            <a:endParaRPr lang="en-US"/>
          </a:p>
        </p:txBody>
      </p:sp>
    </p:spTree>
    <p:extLst>
      <p:ext uri="{BB962C8B-B14F-4D97-AF65-F5344CB8AC3E}">
        <p14:creationId xmlns:p14="http://schemas.microsoft.com/office/powerpoint/2010/main" val="16764341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40</a:t>
            </a:fld>
            <a:endParaRPr lang="en-US"/>
          </a:p>
        </p:txBody>
      </p:sp>
    </p:spTree>
    <p:extLst>
      <p:ext uri="{BB962C8B-B14F-4D97-AF65-F5344CB8AC3E}">
        <p14:creationId xmlns:p14="http://schemas.microsoft.com/office/powerpoint/2010/main" val="15767045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41</a:t>
            </a:fld>
            <a:endParaRPr lang="en-US"/>
          </a:p>
        </p:txBody>
      </p:sp>
    </p:spTree>
    <p:extLst>
      <p:ext uri="{BB962C8B-B14F-4D97-AF65-F5344CB8AC3E}">
        <p14:creationId xmlns:p14="http://schemas.microsoft.com/office/powerpoint/2010/main" val="23966459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42</a:t>
            </a:fld>
            <a:endParaRPr lang="en-US"/>
          </a:p>
        </p:txBody>
      </p:sp>
    </p:spTree>
    <p:extLst>
      <p:ext uri="{BB962C8B-B14F-4D97-AF65-F5344CB8AC3E}">
        <p14:creationId xmlns:p14="http://schemas.microsoft.com/office/powerpoint/2010/main" val="10305048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43</a:t>
            </a:fld>
            <a:endParaRPr lang="en-US"/>
          </a:p>
        </p:txBody>
      </p:sp>
    </p:spTree>
    <p:extLst>
      <p:ext uri="{BB962C8B-B14F-4D97-AF65-F5344CB8AC3E}">
        <p14:creationId xmlns:p14="http://schemas.microsoft.com/office/powerpoint/2010/main" val="8527671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44</a:t>
            </a:fld>
            <a:endParaRPr lang="en-US"/>
          </a:p>
        </p:txBody>
      </p:sp>
    </p:spTree>
    <p:extLst>
      <p:ext uri="{BB962C8B-B14F-4D97-AF65-F5344CB8AC3E}">
        <p14:creationId xmlns:p14="http://schemas.microsoft.com/office/powerpoint/2010/main" val="330637238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734052-9C4E-496D-8C29-788EED1C56E9}" type="slidenum">
              <a:rPr lang="en-US"/>
              <a:pPr/>
              <a:t>45</a:t>
            </a:fld>
            <a:endParaRPr lang="en-US"/>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p:txBody>
          <a:bodyPr/>
          <a:lstStyle/>
          <a:p>
            <a:pPr>
              <a:buFontTx/>
              <a:buChar char="•"/>
            </a:pPr>
            <a:r>
              <a:rPr lang="en-US"/>
              <a:t>We are interested in the marginal values of each of these capacities, i.e., in the effect of very small increases or decreases in these capacities on the optimal objective function value.</a:t>
            </a:r>
          </a:p>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46</a:t>
            </a:fld>
            <a:endParaRPr lang="en-US"/>
          </a:p>
        </p:txBody>
      </p:sp>
    </p:spTree>
    <p:extLst>
      <p:ext uri="{BB962C8B-B14F-4D97-AF65-F5344CB8AC3E}">
        <p14:creationId xmlns:p14="http://schemas.microsoft.com/office/powerpoint/2010/main" val="8399354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6E1391-ED75-4B43-AD8E-192B9D29CD20}" type="slidenum">
              <a:rPr lang="en-US"/>
              <a:pPr/>
              <a:t>47</a:t>
            </a:fld>
            <a:endParaRPr lang="en-US"/>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1EC423-F51D-4DCE-B94B-76D71F5783DA}" type="slidenum">
              <a:rPr lang="en-US"/>
              <a:pPr/>
              <a:t>48</a:t>
            </a:fld>
            <a:endParaRPr lang="en-US"/>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p:txBody>
          <a:bodyPr/>
          <a:lstStyle/>
          <a:p>
            <a:pPr lvl="1">
              <a:buFontTx/>
              <a:buChar char="•"/>
            </a:pPr>
            <a:r>
              <a:rPr lang="en-US"/>
              <a:t>We need to make sure that the unit profit of each product is totally ‘covered’ by the attributed values of the resources that it uses.</a:t>
            </a:r>
          </a:p>
          <a:p>
            <a:pPr lvl="1">
              <a:buFontTx/>
              <a:buChar char="•"/>
            </a:pPr>
            <a:r>
              <a:rPr lang="en-US"/>
              <a:t>Mention that we must have marginal revenue equal to marginal cost at optimality. Otherwise, we could produce an infinite amount of a product with a net strictly positive marginal benefit and make an unbounded profit.</a:t>
            </a:r>
          </a:p>
          <a:p>
            <a:pPr lvl="1"/>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49</a:t>
            </a:fld>
            <a:endParaRPr lang="en-US"/>
          </a:p>
        </p:txBody>
      </p:sp>
    </p:spTree>
    <p:extLst>
      <p:ext uri="{BB962C8B-B14F-4D97-AF65-F5344CB8AC3E}">
        <p14:creationId xmlns:p14="http://schemas.microsoft.com/office/powerpoint/2010/main" val="22039091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50</a:t>
            </a:fld>
            <a:endParaRPr lang="en-US"/>
          </a:p>
        </p:txBody>
      </p:sp>
    </p:spTree>
    <p:extLst>
      <p:ext uri="{BB962C8B-B14F-4D97-AF65-F5344CB8AC3E}">
        <p14:creationId xmlns:p14="http://schemas.microsoft.com/office/powerpoint/2010/main" val="8360079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0C7677-6FED-400B-B8B6-81953E91C8DE}" type="slidenum">
              <a:rPr lang="en-US"/>
              <a:pPr/>
              <a:t>51</a:t>
            </a:fld>
            <a:endParaRPr lang="en-US"/>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52</a:t>
            </a:fld>
            <a:endParaRPr lang="en-US"/>
          </a:p>
        </p:txBody>
      </p:sp>
    </p:spTree>
    <p:extLst>
      <p:ext uri="{BB962C8B-B14F-4D97-AF65-F5344CB8AC3E}">
        <p14:creationId xmlns:p14="http://schemas.microsoft.com/office/powerpoint/2010/main" val="223021247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21E3A2-B363-472F-B498-0DA5E1C5BEDA}" type="slidenum">
              <a:rPr lang="en-US"/>
              <a:pPr/>
              <a:t>53</a:t>
            </a:fld>
            <a:endParaRPr lang="en-US"/>
          </a:p>
        </p:txBody>
      </p:sp>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p:txBody>
          <a:bodyPr/>
          <a:lstStyle/>
          <a:p>
            <a:pPr>
              <a:buFontTx/>
              <a:buChar char="•"/>
            </a:pPr>
            <a:r>
              <a:rPr lang="en-US"/>
              <a:t>Strictly speaking, the second argument is not correct. A zero dual variable does not necessarily indicate a non-binding constraint. See the discussion on alternate primal optima and dual degeneracy.</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850523-AE9D-4AEA-8945-E4EC64D1DF73}" type="slidenum">
              <a:rPr lang="en-US"/>
              <a:pPr/>
              <a:t>54</a:t>
            </a:fld>
            <a:endParaRPr lang="en-US"/>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pPr>
              <a:buFontTx/>
              <a:buChar char="•"/>
            </a:pPr>
            <a:r>
              <a:rPr lang="en-US"/>
              <a:t>Increase in grinding capacity results in an increased opportunity to make more profit.</a:t>
            </a:r>
          </a:p>
          <a:p>
            <a:pPr>
              <a:buFontTx/>
              <a:buChar char="•"/>
            </a:pPr>
            <a:r>
              <a:rPr lang="en-US"/>
              <a:t>The shadow price does also denote the cost of the lost opportunity when capacity is reduced.</a:t>
            </a:r>
          </a:p>
          <a:p>
            <a:pPr>
              <a:buFontTx/>
              <a:buChar char="•"/>
            </a:pPr>
            <a:r>
              <a:rPr lang="en-US"/>
              <a:t>Shadow prices take into account the different types of uses to which resources may be put.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55</a:t>
            </a:fld>
            <a:endParaRPr lang="en-US"/>
          </a:p>
        </p:txBody>
      </p:sp>
    </p:spTree>
    <p:extLst>
      <p:ext uri="{BB962C8B-B14F-4D97-AF65-F5344CB8AC3E}">
        <p14:creationId xmlns:p14="http://schemas.microsoft.com/office/powerpoint/2010/main" val="29506451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817A5C-313D-4C84-919D-56AABC5BAA32}" type="slidenum">
              <a:rPr lang="en-US"/>
              <a:pPr/>
              <a:t>56</a:t>
            </a:fld>
            <a:endParaRPr lang="en-US"/>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p:txBody>
          <a:bodyPr/>
          <a:lstStyle/>
          <a:p>
            <a:pPr>
              <a:buFontTx/>
              <a:buChar char="•"/>
            </a:pPr>
            <a:r>
              <a:rPr lang="en-US"/>
              <a:t>In a minimization problem, if you force a variable with a positive reduced cost into the model, then the objective function will increase.</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57</a:t>
            </a:fld>
            <a:endParaRPr lang="en-US"/>
          </a:p>
        </p:txBody>
      </p:sp>
    </p:spTree>
    <p:extLst>
      <p:ext uri="{BB962C8B-B14F-4D97-AF65-F5344CB8AC3E}">
        <p14:creationId xmlns:p14="http://schemas.microsoft.com/office/powerpoint/2010/main" val="29564746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E04E621-775A-4E5C-9450-C55E550EBAE8}" type="slidenum">
              <a:rPr lang="tr-TR" smtClean="0"/>
              <a:pPr/>
              <a:t>58</a:t>
            </a:fld>
            <a:endParaRPr lang="tr-TR"/>
          </a:p>
        </p:txBody>
      </p:sp>
    </p:spTree>
    <p:extLst>
      <p:ext uri="{BB962C8B-B14F-4D97-AF65-F5344CB8AC3E}">
        <p14:creationId xmlns:p14="http://schemas.microsoft.com/office/powerpoint/2010/main" val="200772107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59</a:t>
            </a:fld>
            <a:endParaRPr lang="en-US"/>
          </a:p>
        </p:txBody>
      </p:sp>
    </p:spTree>
    <p:extLst>
      <p:ext uri="{BB962C8B-B14F-4D97-AF65-F5344CB8AC3E}">
        <p14:creationId xmlns:p14="http://schemas.microsoft.com/office/powerpoint/2010/main" val="13356817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60</a:t>
            </a:fld>
            <a:endParaRPr lang="en-US"/>
          </a:p>
        </p:txBody>
      </p:sp>
    </p:spTree>
    <p:extLst>
      <p:ext uri="{BB962C8B-B14F-4D97-AF65-F5344CB8AC3E}">
        <p14:creationId xmlns:p14="http://schemas.microsoft.com/office/powerpoint/2010/main" val="25630693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61</a:t>
            </a:fld>
            <a:endParaRPr lang="en-US"/>
          </a:p>
        </p:txBody>
      </p:sp>
    </p:spTree>
    <p:extLst>
      <p:ext uri="{BB962C8B-B14F-4D97-AF65-F5344CB8AC3E}">
        <p14:creationId xmlns:p14="http://schemas.microsoft.com/office/powerpoint/2010/main" val="4609914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62</a:t>
            </a:fld>
            <a:endParaRPr lang="en-US"/>
          </a:p>
        </p:txBody>
      </p:sp>
    </p:spTree>
    <p:extLst>
      <p:ext uri="{BB962C8B-B14F-4D97-AF65-F5344CB8AC3E}">
        <p14:creationId xmlns:p14="http://schemas.microsoft.com/office/powerpoint/2010/main" val="27405437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63</a:t>
            </a:fld>
            <a:endParaRPr lang="en-US"/>
          </a:p>
        </p:txBody>
      </p:sp>
    </p:spTree>
    <p:extLst>
      <p:ext uri="{BB962C8B-B14F-4D97-AF65-F5344CB8AC3E}">
        <p14:creationId xmlns:p14="http://schemas.microsoft.com/office/powerpoint/2010/main" val="13116738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64</a:t>
            </a:fld>
            <a:endParaRPr lang="en-US"/>
          </a:p>
        </p:txBody>
      </p:sp>
    </p:spTree>
    <p:extLst>
      <p:ext uri="{BB962C8B-B14F-4D97-AF65-F5344CB8AC3E}">
        <p14:creationId xmlns:p14="http://schemas.microsoft.com/office/powerpoint/2010/main" val="37923455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971200-84DA-4103-87BC-68A1C15528F0}" type="slidenum">
              <a:rPr lang="en-US" smtClean="0"/>
              <a:pPr/>
              <a:t>65</a:t>
            </a:fld>
            <a:endParaRPr lang="en-US"/>
          </a:p>
        </p:txBody>
      </p:sp>
    </p:spTree>
    <p:extLst>
      <p:ext uri="{BB962C8B-B14F-4D97-AF65-F5344CB8AC3E}">
        <p14:creationId xmlns:p14="http://schemas.microsoft.com/office/powerpoint/2010/main" val="8523498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66</a:t>
            </a:fld>
            <a:endParaRPr lang="tr-TR"/>
          </a:p>
        </p:txBody>
      </p:sp>
    </p:spTree>
    <p:extLst>
      <p:ext uri="{BB962C8B-B14F-4D97-AF65-F5344CB8AC3E}">
        <p14:creationId xmlns:p14="http://schemas.microsoft.com/office/powerpoint/2010/main" val="4097053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67</a:t>
            </a:fld>
            <a:endParaRPr lang="tr-TR"/>
          </a:p>
        </p:txBody>
      </p:sp>
    </p:spTree>
    <p:extLst>
      <p:ext uri="{BB962C8B-B14F-4D97-AF65-F5344CB8AC3E}">
        <p14:creationId xmlns:p14="http://schemas.microsoft.com/office/powerpoint/2010/main" val="25660018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68</a:t>
            </a:fld>
            <a:endParaRPr lang="tr-TR"/>
          </a:p>
        </p:txBody>
      </p:sp>
    </p:spTree>
    <p:extLst>
      <p:ext uri="{BB962C8B-B14F-4D97-AF65-F5344CB8AC3E}">
        <p14:creationId xmlns:p14="http://schemas.microsoft.com/office/powerpoint/2010/main" val="269802956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69</a:t>
            </a:fld>
            <a:endParaRPr lang="tr-TR"/>
          </a:p>
        </p:txBody>
      </p:sp>
    </p:spTree>
    <p:extLst>
      <p:ext uri="{BB962C8B-B14F-4D97-AF65-F5344CB8AC3E}">
        <p14:creationId xmlns:p14="http://schemas.microsoft.com/office/powerpoint/2010/main" val="23082863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70</a:t>
            </a:fld>
            <a:endParaRPr lang="tr-TR"/>
          </a:p>
        </p:txBody>
      </p:sp>
    </p:spTree>
    <p:extLst>
      <p:ext uri="{BB962C8B-B14F-4D97-AF65-F5344CB8AC3E}">
        <p14:creationId xmlns:p14="http://schemas.microsoft.com/office/powerpoint/2010/main" val="18967464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71</a:t>
            </a:fld>
            <a:endParaRPr lang="tr-TR"/>
          </a:p>
        </p:txBody>
      </p:sp>
    </p:spTree>
    <p:extLst>
      <p:ext uri="{BB962C8B-B14F-4D97-AF65-F5344CB8AC3E}">
        <p14:creationId xmlns:p14="http://schemas.microsoft.com/office/powerpoint/2010/main" val="270959175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72</a:t>
            </a:fld>
            <a:endParaRPr lang="tr-TR"/>
          </a:p>
        </p:txBody>
      </p:sp>
    </p:spTree>
    <p:extLst>
      <p:ext uri="{BB962C8B-B14F-4D97-AF65-F5344CB8AC3E}">
        <p14:creationId xmlns:p14="http://schemas.microsoft.com/office/powerpoint/2010/main" val="14233870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73</a:t>
            </a:fld>
            <a:endParaRPr lang="tr-TR"/>
          </a:p>
        </p:txBody>
      </p:sp>
    </p:spTree>
    <p:extLst>
      <p:ext uri="{BB962C8B-B14F-4D97-AF65-F5344CB8AC3E}">
        <p14:creationId xmlns:p14="http://schemas.microsoft.com/office/powerpoint/2010/main" val="28309451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74</a:t>
            </a:fld>
            <a:endParaRPr lang="tr-TR"/>
          </a:p>
        </p:txBody>
      </p:sp>
    </p:spTree>
    <p:extLst>
      <p:ext uri="{BB962C8B-B14F-4D97-AF65-F5344CB8AC3E}">
        <p14:creationId xmlns:p14="http://schemas.microsoft.com/office/powerpoint/2010/main" val="32915695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75</a:t>
            </a:fld>
            <a:endParaRPr lang="tr-TR"/>
          </a:p>
        </p:txBody>
      </p:sp>
    </p:spTree>
    <p:extLst>
      <p:ext uri="{BB962C8B-B14F-4D97-AF65-F5344CB8AC3E}">
        <p14:creationId xmlns:p14="http://schemas.microsoft.com/office/powerpoint/2010/main" val="101004123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76</a:t>
            </a:fld>
            <a:endParaRPr lang="tr-TR"/>
          </a:p>
        </p:txBody>
      </p:sp>
    </p:spTree>
    <p:extLst>
      <p:ext uri="{BB962C8B-B14F-4D97-AF65-F5344CB8AC3E}">
        <p14:creationId xmlns:p14="http://schemas.microsoft.com/office/powerpoint/2010/main" val="82015727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77</a:t>
            </a:fld>
            <a:endParaRPr lang="tr-TR"/>
          </a:p>
        </p:txBody>
      </p:sp>
    </p:spTree>
    <p:extLst>
      <p:ext uri="{BB962C8B-B14F-4D97-AF65-F5344CB8AC3E}">
        <p14:creationId xmlns:p14="http://schemas.microsoft.com/office/powerpoint/2010/main" val="42899540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9E36B030-5287-4746-84FD-67C5FB3DC301}" type="slidenum">
              <a:rPr lang="tr-TR" smtClean="0"/>
              <a:pPr/>
              <a:t>78</a:t>
            </a:fld>
            <a:endParaRPr lang="tr-TR"/>
          </a:p>
        </p:txBody>
      </p:sp>
    </p:spTree>
    <p:extLst>
      <p:ext uri="{BB962C8B-B14F-4D97-AF65-F5344CB8AC3E}">
        <p14:creationId xmlns:p14="http://schemas.microsoft.com/office/powerpoint/2010/main" val="108488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b="1"/>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tr-TR" dirty="0"/>
              <a:t>t</a:t>
            </a:r>
            <a:r>
              <a:rPr lang="en-US" dirty="0" err="1"/>
              <a:t>hird</a:t>
            </a:r>
            <a:r>
              <a:rPr lang="en-US" dirty="0"/>
              <a:t>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oleObject" Target="../embeddings/oleObject4.bin"/><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13" Type="http://schemas.openxmlformats.org/officeDocument/2006/relationships/image" Target="../media/image8.png"/><Relationship Id="rId3" Type="http://schemas.openxmlformats.org/officeDocument/2006/relationships/tags" Target="../tags/tag4.xml"/><Relationship Id="rId7" Type="http://schemas.openxmlformats.org/officeDocument/2006/relationships/slideLayout" Target="../slideLayouts/slideLayout4.xml"/><Relationship Id="rId12" Type="http://schemas.openxmlformats.org/officeDocument/2006/relationships/image" Target="../media/image7.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6.png"/><Relationship Id="rId5" Type="http://schemas.openxmlformats.org/officeDocument/2006/relationships/tags" Target="../tags/tag6.xml"/><Relationship Id="rId15" Type="http://schemas.openxmlformats.org/officeDocument/2006/relationships/image" Target="../media/image10.png"/><Relationship Id="rId10" Type="http://schemas.openxmlformats.org/officeDocument/2006/relationships/image" Target="../media/image5.wmf"/><Relationship Id="rId4" Type="http://schemas.openxmlformats.org/officeDocument/2006/relationships/tags" Target="../tags/tag5.xml"/><Relationship Id="rId9" Type="http://schemas.openxmlformats.org/officeDocument/2006/relationships/oleObject" Target="../embeddings/oleObject5.bin"/><Relationship Id="rId1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13" Type="http://schemas.openxmlformats.org/officeDocument/2006/relationships/image" Target="../media/image15.png"/><Relationship Id="rId3" Type="http://schemas.openxmlformats.org/officeDocument/2006/relationships/tags" Target="../tags/tag10.xml"/><Relationship Id="rId7" Type="http://schemas.openxmlformats.org/officeDocument/2006/relationships/slideLayout" Target="../slideLayouts/slideLayout2.xml"/><Relationship Id="rId12" Type="http://schemas.openxmlformats.org/officeDocument/2006/relationships/image" Target="../media/image1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image" Target="../media/image13.png"/><Relationship Id="rId5" Type="http://schemas.openxmlformats.org/officeDocument/2006/relationships/tags" Target="../tags/tag12.xml"/><Relationship Id="rId10" Type="http://schemas.openxmlformats.org/officeDocument/2006/relationships/image" Target="../media/image12.png"/><Relationship Id="rId4" Type="http://schemas.openxmlformats.org/officeDocument/2006/relationships/tags" Target="../tags/tag11.xml"/><Relationship Id="rId9" Type="http://schemas.openxmlformats.org/officeDocument/2006/relationships/image" Target="../media/image11.png"/><Relationship Id="rId14" Type="http://schemas.openxmlformats.org/officeDocument/2006/relationships/image" Target="../media/image16.png"/></Relationships>
</file>

<file path=ppt/slides/_rels/slide12.xml.rels><?xml version="1.0" encoding="UTF-8" standalone="yes"?>
<Relationships xmlns="http://schemas.openxmlformats.org/package/2006/relationships"><Relationship Id="rId13" Type="http://schemas.openxmlformats.org/officeDocument/2006/relationships/tags" Target="../tags/tag26.xml"/><Relationship Id="rId18" Type="http://schemas.openxmlformats.org/officeDocument/2006/relationships/notesSlide" Target="../notesSlides/notesSlide12.xml"/><Relationship Id="rId26" Type="http://schemas.openxmlformats.org/officeDocument/2006/relationships/image" Target="../media/image12.png"/><Relationship Id="rId3" Type="http://schemas.openxmlformats.org/officeDocument/2006/relationships/tags" Target="../tags/tag16.xml"/><Relationship Id="rId21" Type="http://schemas.openxmlformats.org/officeDocument/2006/relationships/image" Target="../media/image19.png"/><Relationship Id="rId34" Type="http://schemas.openxmlformats.org/officeDocument/2006/relationships/image" Target="../media/image26.png"/><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slideLayout" Target="../slideLayouts/slideLayout2.xml"/><Relationship Id="rId25" Type="http://schemas.openxmlformats.org/officeDocument/2006/relationships/image" Target="../media/image11.png"/><Relationship Id="rId33" Type="http://schemas.openxmlformats.org/officeDocument/2006/relationships/image" Target="../media/image25.png"/><Relationship Id="rId2" Type="http://schemas.openxmlformats.org/officeDocument/2006/relationships/tags" Target="../tags/tag15.xml"/><Relationship Id="rId16" Type="http://schemas.openxmlformats.org/officeDocument/2006/relationships/tags" Target="../tags/tag29.xml"/><Relationship Id="rId20" Type="http://schemas.openxmlformats.org/officeDocument/2006/relationships/image" Target="../media/image18.png"/><Relationship Id="rId29" Type="http://schemas.openxmlformats.org/officeDocument/2006/relationships/image" Target="../media/image15.png"/><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24" Type="http://schemas.openxmlformats.org/officeDocument/2006/relationships/image" Target="../media/image22.png"/><Relationship Id="rId32" Type="http://schemas.openxmlformats.org/officeDocument/2006/relationships/image" Target="../media/image24.png"/><Relationship Id="rId5" Type="http://schemas.openxmlformats.org/officeDocument/2006/relationships/tags" Target="../tags/tag18.xml"/><Relationship Id="rId15" Type="http://schemas.openxmlformats.org/officeDocument/2006/relationships/tags" Target="../tags/tag28.xml"/><Relationship Id="rId23" Type="http://schemas.openxmlformats.org/officeDocument/2006/relationships/image" Target="../media/image21.png"/><Relationship Id="rId28" Type="http://schemas.openxmlformats.org/officeDocument/2006/relationships/image" Target="../media/image14.png"/><Relationship Id="rId10" Type="http://schemas.openxmlformats.org/officeDocument/2006/relationships/tags" Target="../tags/tag23.xml"/><Relationship Id="rId19" Type="http://schemas.openxmlformats.org/officeDocument/2006/relationships/image" Target="../media/image17.png"/><Relationship Id="rId31" Type="http://schemas.openxmlformats.org/officeDocument/2006/relationships/image" Target="../media/image23.png"/><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 Id="rId22" Type="http://schemas.openxmlformats.org/officeDocument/2006/relationships/image" Target="../media/image20.png"/><Relationship Id="rId27" Type="http://schemas.openxmlformats.org/officeDocument/2006/relationships/image" Target="../media/image13.png"/><Relationship Id="rId30" Type="http://schemas.openxmlformats.org/officeDocument/2006/relationships/image" Target="../media/image16.png"/><Relationship Id="rId8" Type="http://schemas.openxmlformats.org/officeDocument/2006/relationships/tags" Target="../tags/tag21.xml"/></Relationships>
</file>

<file path=ppt/slides/_rels/slide13.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tags" Target="../tags/tag42.xml"/><Relationship Id="rId18" Type="http://schemas.openxmlformats.org/officeDocument/2006/relationships/image" Target="../media/image17.png"/><Relationship Id="rId26" Type="http://schemas.openxmlformats.org/officeDocument/2006/relationships/image" Target="../media/image24.png"/><Relationship Id="rId3" Type="http://schemas.openxmlformats.org/officeDocument/2006/relationships/tags" Target="../tags/tag32.xml"/><Relationship Id="rId21" Type="http://schemas.openxmlformats.org/officeDocument/2006/relationships/image" Target="../media/image20.png"/><Relationship Id="rId7" Type="http://schemas.openxmlformats.org/officeDocument/2006/relationships/tags" Target="../tags/tag36.xml"/><Relationship Id="rId12" Type="http://schemas.openxmlformats.org/officeDocument/2006/relationships/tags" Target="../tags/tag41.xml"/><Relationship Id="rId17" Type="http://schemas.openxmlformats.org/officeDocument/2006/relationships/image" Target="../media/image27.png"/><Relationship Id="rId25" Type="http://schemas.openxmlformats.org/officeDocument/2006/relationships/image" Target="../media/image23.png"/><Relationship Id="rId2" Type="http://schemas.openxmlformats.org/officeDocument/2006/relationships/tags" Target="../tags/tag31.xml"/><Relationship Id="rId16" Type="http://schemas.openxmlformats.org/officeDocument/2006/relationships/notesSlide" Target="../notesSlides/notesSlide13.xml"/><Relationship Id="rId20" Type="http://schemas.openxmlformats.org/officeDocument/2006/relationships/image" Target="../media/image19.png"/><Relationship Id="rId29" Type="http://schemas.openxmlformats.org/officeDocument/2006/relationships/image" Target="../media/image28.png"/><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24" Type="http://schemas.openxmlformats.org/officeDocument/2006/relationships/image" Target="../media/image11.png"/><Relationship Id="rId5" Type="http://schemas.openxmlformats.org/officeDocument/2006/relationships/tags" Target="../tags/tag34.xml"/><Relationship Id="rId15" Type="http://schemas.openxmlformats.org/officeDocument/2006/relationships/slideLayout" Target="../slideLayouts/slideLayout2.xml"/><Relationship Id="rId23" Type="http://schemas.openxmlformats.org/officeDocument/2006/relationships/image" Target="../media/image22.png"/><Relationship Id="rId28" Type="http://schemas.openxmlformats.org/officeDocument/2006/relationships/image" Target="../media/image26.png"/><Relationship Id="rId10" Type="http://schemas.openxmlformats.org/officeDocument/2006/relationships/tags" Target="../tags/tag39.xml"/><Relationship Id="rId19" Type="http://schemas.openxmlformats.org/officeDocument/2006/relationships/image" Target="../media/image18.png"/><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 Id="rId22" Type="http://schemas.openxmlformats.org/officeDocument/2006/relationships/image" Target="../media/image21.png"/><Relationship Id="rId27" Type="http://schemas.openxmlformats.org/officeDocument/2006/relationships/image" Target="../media/image25.png"/><Relationship Id="rId30" Type="http://schemas.openxmlformats.org/officeDocument/2006/relationships/image" Target="../media/image29.png"/></Relationships>
</file>

<file path=ppt/slides/_rels/slide14.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image" Target="../media/image17.png"/><Relationship Id="rId26" Type="http://schemas.openxmlformats.org/officeDocument/2006/relationships/image" Target="../media/image24.png"/><Relationship Id="rId3" Type="http://schemas.openxmlformats.org/officeDocument/2006/relationships/tags" Target="../tags/tag46.xml"/><Relationship Id="rId21" Type="http://schemas.openxmlformats.org/officeDocument/2006/relationships/image" Target="../media/image20.png"/><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image" Target="../media/image27.png"/><Relationship Id="rId25" Type="http://schemas.openxmlformats.org/officeDocument/2006/relationships/image" Target="../media/image23.png"/><Relationship Id="rId2" Type="http://schemas.openxmlformats.org/officeDocument/2006/relationships/tags" Target="../tags/tag45.xml"/><Relationship Id="rId16" Type="http://schemas.openxmlformats.org/officeDocument/2006/relationships/image" Target="../media/image30.png"/><Relationship Id="rId20" Type="http://schemas.openxmlformats.org/officeDocument/2006/relationships/image" Target="../media/image19.png"/><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24" Type="http://schemas.openxmlformats.org/officeDocument/2006/relationships/image" Target="../media/image11.png"/><Relationship Id="rId5" Type="http://schemas.openxmlformats.org/officeDocument/2006/relationships/tags" Target="../tags/tag48.xml"/><Relationship Id="rId15" Type="http://schemas.openxmlformats.org/officeDocument/2006/relationships/notesSlide" Target="../notesSlides/notesSlide14.xml"/><Relationship Id="rId23" Type="http://schemas.openxmlformats.org/officeDocument/2006/relationships/image" Target="../media/image22.png"/><Relationship Id="rId28" Type="http://schemas.openxmlformats.org/officeDocument/2006/relationships/image" Target="../media/image26.png"/><Relationship Id="rId10" Type="http://schemas.openxmlformats.org/officeDocument/2006/relationships/tags" Target="../tags/tag53.xml"/><Relationship Id="rId19" Type="http://schemas.openxmlformats.org/officeDocument/2006/relationships/image" Target="../media/image18.png"/><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slideLayout" Target="../slideLayouts/slideLayout2.xml"/><Relationship Id="rId22" Type="http://schemas.openxmlformats.org/officeDocument/2006/relationships/image" Target="../media/image21.png"/><Relationship Id="rId27" Type="http://schemas.openxmlformats.org/officeDocument/2006/relationships/image" Target="../media/image2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image" Target="../media/image33.png"/><Relationship Id="rId18" Type="http://schemas.openxmlformats.org/officeDocument/2006/relationships/image" Target="../media/image28.png"/><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image" Target="../media/image32.png"/><Relationship Id="rId17" Type="http://schemas.openxmlformats.org/officeDocument/2006/relationships/image" Target="../media/image11.png"/><Relationship Id="rId2" Type="http://schemas.openxmlformats.org/officeDocument/2006/relationships/tags" Target="../tags/tag58.xml"/><Relationship Id="rId16" Type="http://schemas.openxmlformats.org/officeDocument/2006/relationships/image" Target="../media/image22.png"/><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image" Target="../media/image31.png"/><Relationship Id="rId5" Type="http://schemas.openxmlformats.org/officeDocument/2006/relationships/tags" Target="../tags/tag61.xml"/><Relationship Id="rId15" Type="http://schemas.openxmlformats.org/officeDocument/2006/relationships/image" Target="../media/image21.png"/><Relationship Id="rId10" Type="http://schemas.openxmlformats.org/officeDocument/2006/relationships/notesSlide" Target="../notesSlides/notesSlide16.xml"/><Relationship Id="rId4" Type="http://schemas.openxmlformats.org/officeDocument/2006/relationships/tags" Target="../tags/tag60.xml"/><Relationship Id="rId9" Type="http://schemas.openxmlformats.org/officeDocument/2006/relationships/slideLayout" Target="../slideLayouts/slideLayout2.xml"/><Relationship Id="rId1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emf"/></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9.pn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67.xml"/><Relationship Id="rId6" Type="http://schemas.openxmlformats.org/officeDocument/2006/relationships/image" Target="../media/image42.png"/><Relationship Id="rId5" Type="http://schemas.openxmlformats.org/officeDocument/2006/relationships/image" Target="../media/image41.w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68.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tags" Target="../tags/tag71.xml"/><Relationship Id="rId7" Type="http://schemas.openxmlformats.org/officeDocument/2006/relationships/image" Target="../media/image46.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45.png"/><Relationship Id="rId5" Type="http://schemas.openxmlformats.org/officeDocument/2006/relationships/notesSlide" Target="../notesSlides/notesSlide28.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13" Type="http://schemas.openxmlformats.org/officeDocument/2006/relationships/image" Target="../media/image51.png"/><Relationship Id="rId3" Type="http://schemas.openxmlformats.org/officeDocument/2006/relationships/tags" Target="../tags/tag74.xml"/><Relationship Id="rId7" Type="http://schemas.openxmlformats.org/officeDocument/2006/relationships/slideLayout" Target="../slideLayouts/slideLayout2.xml"/><Relationship Id="rId12" Type="http://schemas.openxmlformats.org/officeDocument/2006/relationships/image" Target="../media/image50.pn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image" Target="../media/image49.png"/><Relationship Id="rId5" Type="http://schemas.openxmlformats.org/officeDocument/2006/relationships/tags" Target="../tags/tag76.xml"/><Relationship Id="rId10" Type="http://schemas.openxmlformats.org/officeDocument/2006/relationships/image" Target="../media/image48.png"/><Relationship Id="rId4" Type="http://schemas.openxmlformats.org/officeDocument/2006/relationships/tags" Target="../tags/tag75.xml"/><Relationship Id="rId9" Type="http://schemas.openxmlformats.org/officeDocument/2006/relationships/image" Target="../media/image46.png"/><Relationship Id="rId14" Type="http://schemas.openxmlformats.org/officeDocument/2006/relationships/image" Target="../media/image43.png"/></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54.png"/><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53.png"/><Relationship Id="rId2" Type="http://schemas.openxmlformats.org/officeDocument/2006/relationships/tags" Target="../tags/tag79.xml"/><Relationship Id="rId16" Type="http://schemas.openxmlformats.org/officeDocument/2006/relationships/image" Target="../media/image56.png"/><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11.png"/><Relationship Id="rId5" Type="http://schemas.openxmlformats.org/officeDocument/2006/relationships/tags" Target="../tags/tag82.xml"/><Relationship Id="rId15" Type="http://schemas.openxmlformats.org/officeDocument/2006/relationships/image" Target="../media/image43.png"/><Relationship Id="rId10" Type="http://schemas.openxmlformats.org/officeDocument/2006/relationships/image" Target="../media/image52.png"/><Relationship Id="rId4" Type="http://schemas.openxmlformats.org/officeDocument/2006/relationships/tags" Target="../tags/tag81.xml"/><Relationship Id="rId9" Type="http://schemas.openxmlformats.org/officeDocument/2006/relationships/notesSlide" Target="../notesSlides/notesSlide30.xml"/><Relationship Id="rId14" Type="http://schemas.openxmlformats.org/officeDocument/2006/relationships/image" Target="../media/image55.png"/></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31.xml"/><Relationship Id="rId13" Type="http://schemas.openxmlformats.org/officeDocument/2006/relationships/image" Target="../media/image60.png"/><Relationship Id="rId3" Type="http://schemas.openxmlformats.org/officeDocument/2006/relationships/tags" Target="../tags/tag87.xml"/><Relationship Id="rId7" Type="http://schemas.openxmlformats.org/officeDocument/2006/relationships/slideLayout" Target="../slideLayouts/slideLayout2.xml"/><Relationship Id="rId12" Type="http://schemas.openxmlformats.org/officeDocument/2006/relationships/image" Target="../media/image59.pn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image" Target="../media/image58.png"/><Relationship Id="rId5" Type="http://schemas.openxmlformats.org/officeDocument/2006/relationships/tags" Target="../tags/tag89.xml"/><Relationship Id="rId10" Type="http://schemas.openxmlformats.org/officeDocument/2006/relationships/image" Target="../media/image57.png"/><Relationship Id="rId4" Type="http://schemas.openxmlformats.org/officeDocument/2006/relationships/tags" Target="../tags/tag88.xml"/><Relationship Id="rId9" Type="http://schemas.openxmlformats.org/officeDocument/2006/relationships/image" Target="../media/image43.png"/><Relationship Id="rId14" Type="http://schemas.openxmlformats.org/officeDocument/2006/relationships/image" Target="../media/image6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13" Type="http://schemas.openxmlformats.org/officeDocument/2006/relationships/image" Target="../media/image60.png"/><Relationship Id="rId3" Type="http://schemas.openxmlformats.org/officeDocument/2006/relationships/tags" Target="../tags/tag93.xml"/><Relationship Id="rId7" Type="http://schemas.openxmlformats.org/officeDocument/2006/relationships/slideLayout" Target="../slideLayouts/slideLayout2.xml"/><Relationship Id="rId12" Type="http://schemas.openxmlformats.org/officeDocument/2006/relationships/image" Target="../media/image59.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image" Target="../media/image58.png"/><Relationship Id="rId5" Type="http://schemas.openxmlformats.org/officeDocument/2006/relationships/tags" Target="../tags/tag95.xml"/><Relationship Id="rId10" Type="http://schemas.openxmlformats.org/officeDocument/2006/relationships/image" Target="../media/image57.png"/><Relationship Id="rId4" Type="http://schemas.openxmlformats.org/officeDocument/2006/relationships/tags" Target="../tags/tag94.xml"/><Relationship Id="rId9" Type="http://schemas.openxmlformats.org/officeDocument/2006/relationships/image" Target="../media/image43.png"/><Relationship Id="rId14" Type="http://schemas.openxmlformats.org/officeDocument/2006/relationships/image" Target="../media/image61.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64.png"/><Relationship Id="rId5" Type="http://schemas.openxmlformats.org/officeDocument/2006/relationships/notesSlide" Target="../notesSlides/notesSlide35.xml"/><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tags" Target="../tags/tag112.xml"/><Relationship Id="rId18" Type="http://schemas.openxmlformats.org/officeDocument/2006/relationships/image" Target="../media/image54.png"/><Relationship Id="rId26" Type="http://schemas.openxmlformats.org/officeDocument/2006/relationships/image" Target="../media/image16.png"/><Relationship Id="rId3" Type="http://schemas.openxmlformats.org/officeDocument/2006/relationships/tags" Target="../tags/tag102.xml"/><Relationship Id="rId21" Type="http://schemas.openxmlformats.org/officeDocument/2006/relationships/image" Target="../media/image66.png"/><Relationship Id="rId7" Type="http://schemas.openxmlformats.org/officeDocument/2006/relationships/tags" Target="../tags/tag106.xml"/><Relationship Id="rId12" Type="http://schemas.openxmlformats.org/officeDocument/2006/relationships/tags" Target="../tags/tag111.xml"/><Relationship Id="rId17" Type="http://schemas.openxmlformats.org/officeDocument/2006/relationships/image" Target="../media/image11.png"/><Relationship Id="rId25" Type="http://schemas.openxmlformats.org/officeDocument/2006/relationships/image" Target="../media/image15.png"/><Relationship Id="rId2" Type="http://schemas.openxmlformats.org/officeDocument/2006/relationships/tags" Target="../tags/tag101.xml"/><Relationship Id="rId16" Type="http://schemas.openxmlformats.org/officeDocument/2006/relationships/notesSlide" Target="../notesSlides/notesSlide36.xml"/><Relationship Id="rId20" Type="http://schemas.openxmlformats.org/officeDocument/2006/relationships/image" Target="../media/image65.png"/><Relationship Id="rId29" Type="http://schemas.openxmlformats.org/officeDocument/2006/relationships/image" Target="../media/image69.png"/><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tags" Target="../tags/tag110.xml"/><Relationship Id="rId24" Type="http://schemas.openxmlformats.org/officeDocument/2006/relationships/image" Target="../media/image14.png"/><Relationship Id="rId5" Type="http://schemas.openxmlformats.org/officeDocument/2006/relationships/tags" Target="../tags/tag104.xml"/><Relationship Id="rId15" Type="http://schemas.openxmlformats.org/officeDocument/2006/relationships/slideLayout" Target="../slideLayouts/slideLayout2.xml"/><Relationship Id="rId23" Type="http://schemas.openxmlformats.org/officeDocument/2006/relationships/image" Target="../media/image13.png"/><Relationship Id="rId28" Type="http://schemas.openxmlformats.org/officeDocument/2006/relationships/image" Target="../media/image68.png"/><Relationship Id="rId10" Type="http://schemas.openxmlformats.org/officeDocument/2006/relationships/tags" Target="../tags/tag109.xml"/><Relationship Id="rId19" Type="http://schemas.openxmlformats.org/officeDocument/2006/relationships/image" Target="../media/image55.png"/><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tags" Target="../tags/tag113.xml"/><Relationship Id="rId22" Type="http://schemas.openxmlformats.org/officeDocument/2006/relationships/image" Target="../media/image12.png"/><Relationship Id="rId27" Type="http://schemas.openxmlformats.org/officeDocument/2006/relationships/image" Target="../media/image67.png"/><Relationship Id="rId30"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114.xml"/><Relationship Id="rId4" Type="http://schemas.openxmlformats.org/officeDocument/2006/relationships/image" Target="../media/image64.png"/></Relationships>
</file>

<file path=ppt/slides/_rels/slide38.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tags" Target="../tags/tag117.xml"/><Relationship Id="rId7" Type="http://schemas.openxmlformats.org/officeDocument/2006/relationships/image" Target="../media/image64.png"/><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notesSlide" Target="../notesSlides/notesSlide38.xml"/><Relationship Id="rId5" Type="http://schemas.openxmlformats.org/officeDocument/2006/relationships/slideLayout" Target="../slideLayouts/slideLayout2.xml"/><Relationship Id="rId10" Type="http://schemas.openxmlformats.org/officeDocument/2006/relationships/image" Target="../media/image73.png"/><Relationship Id="rId4" Type="http://schemas.openxmlformats.org/officeDocument/2006/relationships/tags" Target="../tags/tag118.xml"/><Relationship Id="rId9" Type="http://schemas.openxmlformats.org/officeDocument/2006/relationships/image" Target="../media/image7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121.xml"/><Relationship Id="rId7" Type="http://schemas.openxmlformats.org/officeDocument/2006/relationships/notesSlide" Target="../notesSlides/notesSlide43.xml"/><Relationship Id="rId12" Type="http://schemas.openxmlformats.org/officeDocument/2006/relationships/image" Target="../media/image16.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slideLayout" Target="../slideLayouts/slideLayout2.xml"/><Relationship Id="rId11" Type="http://schemas.openxmlformats.org/officeDocument/2006/relationships/image" Target="../media/image15.png"/><Relationship Id="rId5" Type="http://schemas.openxmlformats.org/officeDocument/2006/relationships/tags" Target="../tags/tag123.xml"/><Relationship Id="rId10" Type="http://schemas.openxmlformats.org/officeDocument/2006/relationships/image" Target="../media/image14.png"/><Relationship Id="rId4" Type="http://schemas.openxmlformats.org/officeDocument/2006/relationships/tags" Target="../tags/tag122.xml"/><Relationship Id="rId9"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75.wmf"/><Relationship Id="rId5" Type="http://schemas.openxmlformats.org/officeDocument/2006/relationships/oleObject" Target="../embeddings/oleObject9.bin"/><Relationship Id="rId4" Type="http://schemas.openxmlformats.org/officeDocument/2006/relationships/image" Target="../media/image74.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76.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77.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79.wmf"/><Relationship Id="rId5" Type="http://schemas.openxmlformats.org/officeDocument/2006/relationships/oleObject" Target="../embeddings/oleObject13.bin"/><Relationship Id="rId4" Type="http://schemas.openxmlformats.org/officeDocument/2006/relationships/image" Target="../media/image78.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80.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81.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82.w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6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88.e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89.wmf"/></Relationships>
</file>

<file path=ppt/slides/_rels/slide6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7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customXml" Target="../ink/ink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noProof="0" dirty="0"/>
              <a:t>DA 507</a:t>
            </a:r>
            <a:br>
              <a:rPr lang="en-US" noProof="0" dirty="0"/>
            </a:br>
            <a:r>
              <a:rPr lang="en-US" noProof="0" dirty="0"/>
              <a:t>modeling and optimization</a:t>
            </a:r>
            <a:br>
              <a:rPr lang="en-US" noProof="0" dirty="0"/>
            </a:br>
            <a:endParaRPr lang="en-US" noProof="0" dirty="0"/>
          </a:p>
        </p:txBody>
      </p:sp>
      <p:sp>
        <p:nvSpPr>
          <p:cNvPr id="3" name="Subtitle 2"/>
          <p:cNvSpPr>
            <a:spLocks noGrp="1"/>
          </p:cNvSpPr>
          <p:nvPr>
            <p:ph type="subTitle" idx="1"/>
          </p:nvPr>
        </p:nvSpPr>
        <p:spPr/>
        <p:txBody>
          <a:bodyPr>
            <a:normAutofit lnSpcReduction="10000"/>
          </a:bodyPr>
          <a:lstStyle/>
          <a:p>
            <a:r>
              <a:rPr lang="en-US" noProof="0" dirty="0"/>
              <a:t>Lecture 3</a:t>
            </a:r>
            <a:endParaRPr lang="en-US" sz="2400" dirty="0"/>
          </a:p>
          <a:p>
            <a:r>
              <a:rPr lang="tr-TR" sz="2400" dirty="0" err="1"/>
              <a:t>Linear</a:t>
            </a:r>
            <a:r>
              <a:rPr lang="tr-TR" sz="2400" dirty="0"/>
              <a:t> </a:t>
            </a:r>
            <a:r>
              <a:rPr lang="en-US" sz="2400" dirty="0"/>
              <a:t>&amp; Integer </a:t>
            </a:r>
            <a:r>
              <a:rPr lang="tr-TR" sz="2400" dirty="0"/>
              <a:t>Programming: </a:t>
            </a:r>
            <a:r>
              <a:rPr lang="en-US" sz="2400" dirty="0"/>
              <a:t>Solution Methods</a:t>
            </a:r>
            <a:endParaRPr lang="en-US" sz="2400" noProof="0" dirty="0"/>
          </a:p>
          <a:p>
            <a:r>
              <a:rPr lang="en-US" sz="2400" noProof="0" dirty="0" err="1"/>
              <a:t>Güvenç</a:t>
            </a:r>
            <a:r>
              <a:rPr lang="en-US" sz="2400" noProof="0" dirty="0"/>
              <a:t> Şahin</a:t>
            </a:r>
          </a:p>
          <a:p>
            <a:r>
              <a:rPr lang="en-US" sz="2400" dirty="0"/>
              <a:t>Birol Yüceoğlu</a:t>
            </a:r>
            <a:endParaRPr lang="en-US" sz="24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70000" lnSpcReduction="20000"/>
          </a:bodyPr>
          <a:lstStyle/>
          <a:p>
            <a:r>
              <a:rPr lang="en-US" dirty="0"/>
              <a:t>Linear programming with two variables</a:t>
            </a:r>
          </a:p>
          <a:p>
            <a:pPr lvl="1"/>
            <a:r>
              <a:rPr lang="en-US" dirty="0"/>
              <a:t>Graphical solution approach</a:t>
            </a:r>
          </a:p>
          <a:p>
            <a:pPr lvl="1"/>
            <a:endParaRPr lang="en-US" dirty="0"/>
          </a:p>
          <a:p>
            <a:r>
              <a:rPr lang="en-US" dirty="0"/>
              <a:t>Linear programming with more than two variables</a:t>
            </a:r>
          </a:p>
          <a:p>
            <a:pPr lvl="1"/>
            <a:r>
              <a:rPr lang="en-US" dirty="0"/>
              <a:t>Insights from the graphical solution approach that can be generalized to higher dimensions</a:t>
            </a:r>
          </a:p>
          <a:p>
            <a:pPr lvl="1"/>
            <a:r>
              <a:rPr lang="en-US" dirty="0"/>
              <a:t>Basic feasible solutions of linear programs</a:t>
            </a:r>
          </a:p>
          <a:p>
            <a:pPr lvl="1"/>
            <a:r>
              <a:rPr lang="en-US" dirty="0"/>
              <a:t>Main idea and the mechanics of the simplex algorithm</a:t>
            </a:r>
          </a:p>
          <a:p>
            <a:pPr lvl="1">
              <a:buNone/>
            </a:pPr>
            <a:r>
              <a:rPr lang="en-US" dirty="0"/>
              <a:t>	</a:t>
            </a:r>
          </a:p>
          <a:p>
            <a:r>
              <a:rPr lang="en-US" dirty="0"/>
              <a:t>Duality and economic interpretations</a:t>
            </a:r>
          </a:p>
          <a:p>
            <a:pPr lvl="1"/>
            <a:r>
              <a:rPr lang="en-US" dirty="0"/>
              <a:t>Basics of sensitivity analysis</a:t>
            </a:r>
          </a:p>
          <a:p>
            <a:pPr lvl="1"/>
            <a:endParaRPr lang="en-US" dirty="0"/>
          </a:p>
          <a:p>
            <a:r>
              <a:rPr lang="en-US" dirty="0"/>
              <a:t>Integer programming</a:t>
            </a:r>
          </a:p>
          <a:p>
            <a:pPr lvl="1"/>
            <a:r>
              <a:rPr lang="en-US" dirty="0"/>
              <a:t>Branch-and-bound</a:t>
            </a:r>
          </a:p>
        </p:txBody>
      </p:sp>
      <p:sp>
        <p:nvSpPr>
          <p:cNvPr id="4"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dirty="0"/>
              <a:t>The carpenter’s problem</a:t>
            </a:r>
            <a:br>
              <a:rPr lang="tr-TR" dirty="0"/>
            </a:br>
            <a:r>
              <a:rPr lang="tr-TR" dirty="0"/>
              <a:t>A linear programming problem formulation</a:t>
            </a:r>
          </a:p>
        </p:txBody>
      </p:sp>
      <p:sp>
        <p:nvSpPr>
          <p:cNvPr id="3" name="Content Placeholder 2"/>
          <p:cNvSpPr>
            <a:spLocks noGrp="1"/>
          </p:cNvSpPr>
          <p:nvPr>
            <p:ph idx="1"/>
          </p:nvPr>
        </p:nvSpPr>
        <p:spPr/>
        <p:txBody>
          <a:bodyPr>
            <a:normAutofit fontScale="77500" lnSpcReduction="20000"/>
          </a:bodyPr>
          <a:lstStyle/>
          <a:p>
            <a:r>
              <a:rPr lang="en-US" dirty="0"/>
              <a:t>A carpenter tries to solve a weekly production planning problem to maximize profit.  He solely makes tables and chairs, and sells all tables and chairs at a market place.</a:t>
            </a:r>
            <a:endParaRPr lang="tr-TR" dirty="0"/>
          </a:p>
          <a:p>
            <a:pPr lvl="0"/>
            <a:r>
              <a:rPr lang="en-US" dirty="0"/>
              <a:t>Both chairs and tables require the same type of raw material.  The raw material availability is only 50 units per week.</a:t>
            </a:r>
            <a:endParaRPr lang="tr-TR" dirty="0"/>
          </a:p>
          <a:p>
            <a:pPr lvl="1"/>
            <a:r>
              <a:rPr lang="en-US" dirty="0"/>
              <a:t>one chair requires 1 unit of the raw material;</a:t>
            </a:r>
            <a:endParaRPr lang="tr-TR" dirty="0"/>
          </a:p>
          <a:p>
            <a:pPr lvl="1"/>
            <a:r>
              <a:rPr lang="en-US" dirty="0"/>
              <a:t>one table requires 2 units of the raw material.</a:t>
            </a:r>
            <a:endParaRPr lang="tr-TR" dirty="0"/>
          </a:p>
          <a:p>
            <a:pPr lvl="0"/>
            <a:r>
              <a:rPr lang="en-US" dirty="0"/>
              <a:t>The carpenter can work at most 40 hours every week. It takes 2 hours to make a chair while it takes only an hour to make a table.</a:t>
            </a:r>
            <a:endParaRPr lang="tr-TR" dirty="0"/>
          </a:p>
          <a:p>
            <a:r>
              <a:rPr lang="en-US" dirty="0"/>
              <a:t>The cost of a chair is 100 TL and it sells for 120 TL; the cost of a table is 130 TL and it sells for 145 TL.</a:t>
            </a:r>
            <a:endParaRPr lang="tr-TR" dirty="0"/>
          </a:p>
        </p:txBody>
      </p:sp>
    </p:spTree>
    <p:extLst>
      <p:ext uri="{BB962C8B-B14F-4D97-AF65-F5344CB8AC3E}">
        <p14:creationId xmlns:p14="http://schemas.microsoft.com/office/powerpoint/2010/main" val="363332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dirty="0"/>
              <a:t>The carpenter’s problem</a:t>
            </a:r>
            <a:br>
              <a:rPr lang="tr-TR" dirty="0"/>
            </a:br>
            <a:r>
              <a:rPr lang="tr-TR" dirty="0"/>
              <a:t>A linear programming problem formulation</a:t>
            </a:r>
          </a:p>
        </p:txBody>
      </p:sp>
      <p:sp>
        <p:nvSpPr>
          <p:cNvPr id="3" name="Content Placeholder 2"/>
          <p:cNvSpPr>
            <a:spLocks noGrp="1"/>
          </p:cNvSpPr>
          <p:nvPr>
            <p:ph idx="1"/>
          </p:nvPr>
        </p:nvSpPr>
        <p:spPr/>
        <p:txBody>
          <a:bodyPr>
            <a:normAutofit/>
          </a:bodyPr>
          <a:lstStyle/>
          <a:p>
            <a:pPr>
              <a:buNone/>
            </a:pPr>
            <a:r>
              <a:rPr lang="tr-TR" sz="2400" b="1" dirty="0"/>
              <a:t>Problem formulation</a:t>
            </a:r>
            <a:endParaRPr lang="en-US" sz="2400" b="1" dirty="0"/>
          </a:p>
        </p:txBody>
      </p:sp>
      <p:sp>
        <p:nvSpPr>
          <p:cNvPr id="5" name="Text Box 6"/>
          <p:cNvSpPr txBox="1">
            <a:spLocks noChangeArrowheads="1"/>
          </p:cNvSpPr>
          <p:nvPr/>
        </p:nvSpPr>
        <p:spPr bwMode="auto">
          <a:xfrm>
            <a:off x="1905000" y="2133600"/>
            <a:ext cx="4953000" cy="2492990"/>
          </a:xfrm>
          <a:prstGeom prst="rect">
            <a:avLst/>
          </a:prstGeom>
          <a:noFill/>
          <a:ln w="12700">
            <a:noFill/>
            <a:miter lim="800000"/>
            <a:headEnd type="none" w="sm" len="sm"/>
            <a:tailEnd type="none" w="sm" len="sm"/>
          </a:ln>
          <a:effectLst/>
        </p:spPr>
        <p:txBody>
          <a:bodyPr wrap="square">
            <a:spAutoFit/>
          </a:bodyPr>
          <a:lstStyle/>
          <a:p>
            <a:pPr eaLnBrk="0" hangingPunct="0">
              <a:spcBef>
                <a:spcPct val="50000"/>
              </a:spcBef>
            </a:pPr>
            <a:r>
              <a:rPr lang="tr-TR" sz="2400" b="1" dirty="0"/>
              <a:t>Maximize       z   =     20</a:t>
            </a:r>
            <a:r>
              <a:rPr lang="en-US" sz="2400" b="1" dirty="0"/>
              <a:t>x</a:t>
            </a:r>
            <a:r>
              <a:rPr lang="en-US" sz="2400" b="1" baseline="-25000" dirty="0"/>
              <a:t>1</a:t>
            </a:r>
            <a:r>
              <a:rPr lang="en-US" sz="2400" b="1" dirty="0"/>
              <a:t> + </a:t>
            </a:r>
            <a:r>
              <a:rPr lang="tr-TR" sz="2400" b="1" dirty="0"/>
              <a:t>  15</a:t>
            </a:r>
            <a:r>
              <a:rPr lang="en-US" sz="2400" b="1" dirty="0"/>
              <a:t>x</a:t>
            </a:r>
            <a:r>
              <a:rPr lang="en-US" sz="2400" b="1" baseline="-25000" dirty="0"/>
              <a:t>2</a:t>
            </a:r>
            <a:endParaRPr lang="tr-TR" sz="2400" b="1" baseline="-25000" dirty="0"/>
          </a:p>
          <a:p>
            <a:pPr eaLnBrk="0" hangingPunct="0">
              <a:spcBef>
                <a:spcPct val="50000"/>
              </a:spcBef>
            </a:pPr>
            <a:r>
              <a:rPr lang="tr-TR" sz="2400" b="1" dirty="0"/>
              <a:t>subject to                    </a:t>
            </a:r>
            <a:r>
              <a:rPr lang="en-US" sz="2400" b="1" dirty="0"/>
              <a:t>2 x</a:t>
            </a:r>
            <a:r>
              <a:rPr lang="en-US" sz="2400" b="1" baseline="-25000" dirty="0"/>
              <a:t>1</a:t>
            </a:r>
            <a:r>
              <a:rPr lang="en-US" sz="2400" b="1" dirty="0"/>
              <a:t> + x</a:t>
            </a:r>
            <a:r>
              <a:rPr lang="en-US" sz="2400" b="1" baseline="-25000" dirty="0"/>
              <a:t>2</a:t>
            </a:r>
            <a:r>
              <a:rPr lang="en-US" sz="2400" b="1" dirty="0"/>
              <a:t>  </a:t>
            </a:r>
            <a:r>
              <a:rPr lang="tr-TR" sz="2400" b="1" dirty="0"/>
              <a:t> </a:t>
            </a:r>
            <a:r>
              <a:rPr lang="en-US" sz="2400" b="1" dirty="0"/>
              <a:t>≤ </a:t>
            </a:r>
            <a:r>
              <a:rPr lang="tr-TR" sz="2400" b="1" dirty="0"/>
              <a:t>40</a:t>
            </a:r>
            <a:endParaRPr lang="en-US" sz="2400" b="1" baseline="-25000" dirty="0"/>
          </a:p>
          <a:p>
            <a:pPr eaLnBrk="0" hangingPunct="0">
              <a:spcBef>
                <a:spcPct val="50000"/>
              </a:spcBef>
            </a:pPr>
            <a:r>
              <a:rPr lang="tr-TR" sz="2400" b="1" dirty="0"/>
              <a:t>                                       </a:t>
            </a:r>
            <a:r>
              <a:rPr lang="en-US" sz="2400" b="1" dirty="0"/>
              <a:t>x</a:t>
            </a:r>
            <a:r>
              <a:rPr lang="en-US" sz="2400" b="1" baseline="-25000" dirty="0"/>
              <a:t>1</a:t>
            </a:r>
            <a:r>
              <a:rPr lang="en-US" sz="2400" b="1" dirty="0"/>
              <a:t> + </a:t>
            </a:r>
            <a:r>
              <a:rPr lang="tr-TR" sz="2400" b="1" dirty="0"/>
              <a:t>2 </a:t>
            </a:r>
            <a:r>
              <a:rPr lang="en-US" sz="2400" b="1" dirty="0"/>
              <a:t>x</a:t>
            </a:r>
            <a:r>
              <a:rPr lang="en-US" sz="2400" b="1" baseline="-25000" dirty="0"/>
              <a:t>2</a:t>
            </a:r>
            <a:r>
              <a:rPr lang="en-US" sz="2400" b="1" dirty="0"/>
              <a:t>  ≤ </a:t>
            </a:r>
            <a:r>
              <a:rPr lang="tr-TR" sz="2400" b="1" dirty="0"/>
              <a:t>5</a:t>
            </a:r>
            <a:r>
              <a:rPr lang="en-US" sz="2400" b="1" dirty="0"/>
              <a:t>0</a:t>
            </a:r>
            <a:endParaRPr lang="en-US" sz="2400" b="1" baseline="-25000" dirty="0"/>
          </a:p>
          <a:p>
            <a:pPr eaLnBrk="0" hangingPunct="0">
              <a:spcBef>
                <a:spcPct val="50000"/>
              </a:spcBef>
            </a:pPr>
            <a:r>
              <a:rPr lang="tr-TR" sz="2400" b="1" dirty="0"/>
              <a:t>                                       </a:t>
            </a:r>
            <a:r>
              <a:rPr lang="en-US" sz="2400" b="1" dirty="0"/>
              <a:t>x</a:t>
            </a:r>
            <a:r>
              <a:rPr lang="en-US" sz="2400" b="1" baseline="-25000" dirty="0"/>
              <a:t>1</a:t>
            </a:r>
            <a:r>
              <a:rPr lang="en-US" sz="2400" b="1" dirty="0"/>
              <a:t> ≥ 0</a:t>
            </a:r>
            <a:r>
              <a:rPr lang="tr-TR" sz="2400" b="1" dirty="0"/>
              <a:t>,</a:t>
            </a:r>
            <a:r>
              <a:rPr lang="en-US" sz="2400" b="1" dirty="0"/>
              <a:t> x</a:t>
            </a:r>
            <a:r>
              <a:rPr lang="en-US" sz="2400" b="1" baseline="-25000" dirty="0"/>
              <a:t>2</a:t>
            </a:r>
            <a:r>
              <a:rPr lang="en-US" sz="2400" b="1" dirty="0"/>
              <a:t> ≥ 0</a:t>
            </a:r>
            <a:endParaRPr lang="en-US" sz="2400" b="1" baseline="-25000" dirty="0"/>
          </a:p>
          <a:p>
            <a:pPr eaLnBrk="0" hangingPunct="0">
              <a:spcBef>
                <a:spcPct val="50000"/>
              </a:spcBef>
            </a:pPr>
            <a:endParaRPr lang="en-US" sz="2400" b="1" baseline="-25000" dirty="0"/>
          </a:p>
        </p:txBody>
      </p:sp>
    </p:spTree>
    <p:extLst>
      <p:ext uri="{BB962C8B-B14F-4D97-AF65-F5344CB8AC3E}">
        <p14:creationId xmlns:p14="http://schemas.microsoft.com/office/powerpoint/2010/main" val="224709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BD6F1-C46C-40E2-B9C6-04AE70C6A4B3}"/>
              </a:ext>
            </a:extLst>
          </p:cNvPr>
          <p:cNvSpPr>
            <a:spLocks noGrp="1"/>
          </p:cNvSpPr>
          <p:nvPr>
            <p:ph type="title"/>
          </p:nvPr>
        </p:nvSpPr>
        <p:spPr/>
        <p:txBody>
          <a:bodyPr>
            <a:normAutofit fontScale="90000"/>
          </a:bodyPr>
          <a:lstStyle/>
          <a:p>
            <a:r>
              <a:rPr lang="tr-TR" dirty="0" err="1"/>
              <a:t>The</a:t>
            </a:r>
            <a:r>
              <a:rPr lang="tr-TR" dirty="0"/>
              <a:t> </a:t>
            </a:r>
            <a:r>
              <a:rPr lang="tr-TR" dirty="0" err="1"/>
              <a:t>carpenter’s</a:t>
            </a:r>
            <a:r>
              <a:rPr lang="tr-TR" dirty="0"/>
              <a:t> problem</a:t>
            </a:r>
            <a:br>
              <a:rPr lang="tr-TR" dirty="0"/>
            </a:br>
            <a:r>
              <a:rPr lang="tr-TR" dirty="0"/>
              <a:t>A </a:t>
            </a:r>
            <a:r>
              <a:rPr lang="tr-TR" dirty="0" err="1"/>
              <a:t>linear</a:t>
            </a:r>
            <a:r>
              <a:rPr lang="tr-TR" dirty="0"/>
              <a:t> </a:t>
            </a:r>
            <a:r>
              <a:rPr lang="tr-TR" dirty="0" err="1"/>
              <a:t>programming</a:t>
            </a:r>
            <a:r>
              <a:rPr lang="tr-TR" dirty="0"/>
              <a:t> problem </a:t>
            </a:r>
            <a:r>
              <a:rPr lang="tr-TR" dirty="0" err="1"/>
              <a:t>formulation</a:t>
            </a:r>
            <a:endParaRPr lang="tr-TR" dirty="0"/>
          </a:p>
        </p:txBody>
      </p:sp>
      <p:sp>
        <p:nvSpPr>
          <p:cNvPr id="3" name="Content Placeholder 2">
            <a:extLst>
              <a:ext uri="{FF2B5EF4-FFF2-40B4-BE49-F238E27FC236}">
                <a16:creationId xmlns:a16="http://schemas.microsoft.com/office/drawing/2014/main" id="{69F54EC1-DCA6-4A97-8A52-FF4AEA98B89E}"/>
              </a:ext>
            </a:extLst>
          </p:cNvPr>
          <p:cNvSpPr>
            <a:spLocks noGrp="1"/>
          </p:cNvSpPr>
          <p:nvPr>
            <p:ph idx="1"/>
          </p:nvPr>
        </p:nvSpPr>
        <p:spPr/>
        <p:txBody>
          <a:bodyPr>
            <a:normAutofit fontScale="85000" lnSpcReduction="20000"/>
          </a:bodyPr>
          <a:lstStyle/>
          <a:p>
            <a:r>
              <a:rPr lang="tr-TR" dirty="0" err="1"/>
              <a:t>Consider</a:t>
            </a:r>
            <a:r>
              <a:rPr lang="tr-TR" dirty="0"/>
              <a:t> </a:t>
            </a:r>
            <a:r>
              <a:rPr lang="tr-TR" dirty="0" err="1"/>
              <a:t>the</a:t>
            </a:r>
            <a:r>
              <a:rPr lang="tr-TR" dirty="0"/>
              <a:t> </a:t>
            </a:r>
            <a:r>
              <a:rPr lang="tr-TR" dirty="0" err="1"/>
              <a:t>following</a:t>
            </a:r>
            <a:r>
              <a:rPr lang="tr-TR" dirty="0"/>
              <a:t> </a:t>
            </a:r>
            <a:r>
              <a:rPr lang="tr-TR" dirty="0" err="1"/>
              <a:t>labor</a:t>
            </a:r>
            <a:r>
              <a:rPr lang="tr-TR" dirty="0"/>
              <a:t> </a:t>
            </a:r>
            <a:r>
              <a:rPr lang="tr-TR" dirty="0" err="1"/>
              <a:t>constraint</a:t>
            </a:r>
            <a:r>
              <a:rPr lang="tr-TR" dirty="0"/>
              <a:t> </a:t>
            </a:r>
            <a:r>
              <a:rPr lang="tr-TR" dirty="0" err="1"/>
              <a:t>and</a:t>
            </a:r>
            <a:r>
              <a:rPr lang="tr-TR" dirty="0"/>
              <a:t> </a:t>
            </a:r>
            <a:r>
              <a:rPr lang="tr-TR" dirty="0" err="1"/>
              <a:t>let</a:t>
            </a:r>
            <a:r>
              <a:rPr lang="tr-TR" dirty="0"/>
              <a:t> us </a:t>
            </a:r>
            <a:r>
              <a:rPr lang="tr-TR" dirty="0" err="1"/>
              <a:t>discuss</a:t>
            </a:r>
            <a:r>
              <a:rPr lang="tr-TR" dirty="0"/>
              <a:t> </a:t>
            </a:r>
            <a:r>
              <a:rPr lang="tr-TR" dirty="0" err="1"/>
              <a:t>the</a:t>
            </a:r>
            <a:r>
              <a:rPr lang="tr-TR" dirty="0"/>
              <a:t> </a:t>
            </a:r>
            <a:r>
              <a:rPr lang="tr-TR" dirty="0" err="1"/>
              <a:t>following</a:t>
            </a:r>
            <a:r>
              <a:rPr lang="tr-TR" dirty="0"/>
              <a:t> </a:t>
            </a:r>
            <a:r>
              <a:rPr lang="tr-TR" dirty="0" err="1"/>
              <a:t>points</a:t>
            </a:r>
            <a:endParaRPr lang="tr-TR" dirty="0"/>
          </a:p>
          <a:p>
            <a:pPr lvl="1">
              <a:buFont typeface="Arial" panose="020B0604020202020204" pitchFamily="34" charset="0"/>
              <a:buChar char="•"/>
            </a:pPr>
            <a:r>
              <a:rPr lang="en-US" dirty="0"/>
              <a:t>2 x</a:t>
            </a:r>
            <a:r>
              <a:rPr lang="en-US" baseline="-25000" dirty="0"/>
              <a:t>1</a:t>
            </a:r>
            <a:r>
              <a:rPr lang="en-US" dirty="0"/>
              <a:t> + x</a:t>
            </a:r>
            <a:r>
              <a:rPr lang="en-US" baseline="-25000" dirty="0"/>
              <a:t>2</a:t>
            </a:r>
            <a:r>
              <a:rPr lang="en-US" dirty="0"/>
              <a:t>  </a:t>
            </a:r>
            <a:r>
              <a:rPr lang="tr-TR" dirty="0"/>
              <a:t> </a:t>
            </a:r>
            <a:r>
              <a:rPr lang="en-US" dirty="0"/>
              <a:t>≤ </a:t>
            </a:r>
            <a:r>
              <a:rPr lang="tr-TR" dirty="0"/>
              <a:t>40</a:t>
            </a:r>
          </a:p>
          <a:p>
            <a:r>
              <a:rPr lang="tr-TR" dirty="0"/>
              <a:t>How </a:t>
            </a:r>
            <a:r>
              <a:rPr lang="tr-TR" dirty="0" err="1"/>
              <a:t>many</a:t>
            </a:r>
            <a:r>
              <a:rPr lang="tr-TR" dirty="0"/>
              <a:t> </a:t>
            </a:r>
            <a:r>
              <a:rPr lang="tr-TR" dirty="0" err="1"/>
              <a:t>chairs</a:t>
            </a:r>
            <a:r>
              <a:rPr lang="tr-TR" dirty="0"/>
              <a:t> (x1) can </a:t>
            </a:r>
            <a:r>
              <a:rPr lang="tr-TR" dirty="0" err="1"/>
              <a:t>you</a:t>
            </a:r>
            <a:r>
              <a:rPr lang="tr-TR" dirty="0"/>
              <a:t> </a:t>
            </a:r>
            <a:r>
              <a:rPr lang="tr-TR" dirty="0" err="1"/>
              <a:t>produce</a:t>
            </a:r>
            <a:r>
              <a:rPr lang="tr-TR" dirty="0"/>
              <a:t> </a:t>
            </a:r>
            <a:r>
              <a:rPr lang="tr-TR" dirty="0" err="1"/>
              <a:t>if</a:t>
            </a:r>
            <a:r>
              <a:rPr lang="tr-TR" dirty="0"/>
              <a:t> </a:t>
            </a:r>
            <a:r>
              <a:rPr lang="tr-TR" dirty="0" err="1"/>
              <a:t>you</a:t>
            </a:r>
            <a:r>
              <a:rPr lang="tr-TR" dirty="0"/>
              <a:t> do not </a:t>
            </a:r>
            <a:r>
              <a:rPr lang="tr-TR" dirty="0" err="1"/>
              <a:t>produce</a:t>
            </a:r>
            <a:r>
              <a:rPr lang="tr-TR" dirty="0"/>
              <a:t> </a:t>
            </a:r>
            <a:r>
              <a:rPr lang="tr-TR" dirty="0" err="1"/>
              <a:t>any</a:t>
            </a:r>
            <a:r>
              <a:rPr lang="tr-TR" dirty="0"/>
              <a:t> </a:t>
            </a:r>
            <a:r>
              <a:rPr lang="tr-TR" dirty="0" err="1"/>
              <a:t>tables</a:t>
            </a:r>
            <a:r>
              <a:rPr lang="tr-TR" dirty="0"/>
              <a:t> (x2)?</a:t>
            </a:r>
          </a:p>
          <a:p>
            <a:pPr lvl="1">
              <a:buFont typeface="Arial" panose="020B0604020202020204" pitchFamily="34" charset="0"/>
              <a:buChar char="•"/>
            </a:pPr>
            <a:r>
              <a:rPr lang="tr-TR" dirty="0"/>
              <a:t>x2 = 0 </a:t>
            </a:r>
            <a:r>
              <a:rPr lang="tr-TR" dirty="0" err="1"/>
              <a:t>and</a:t>
            </a:r>
            <a:r>
              <a:rPr lang="tr-TR" dirty="0"/>
              <a:t> x1 = 20</a:t>
            </a:r>
          </a:p>
          <a:p>
            <a:r>
              <a:rPr lang="tr-TR" dirty="0"/>
              <a:t>How </a:t>
            </a:r>
            <a:r>
              <a:rPr lang="tr-TR" dirty="0" err="1"/>
              <a:t>many</a:t>
            </a:r>
            <a:r>
              <a:rPr lang="tr-TR" dirty="0"/>
              <a:t> </a:t>
            </a:r>
            <a:r>
              <a:rPr lang="tr-TR" dirty="0" err="1"/>
              <a:t>tables</a:t>
            </a:r>
            <a:r>
              <a:rPr lang="tr-TR" dirty="0"/>
              <a:t> can </a:t>
            </a:r>
            <a:r>
              <a:rPr lang="tr-TR" dirty="0" err="1"/>
              <a:t>you</a:t>
            </a:r>
            <a:r>
              <a:rPr lang="tr-TR" dirty="0"/>
              <a:t> </a:t>
            </a:r>
            <a:r>
              <a:rPr lang="tr-TR" dirty="0" err="1"/>
              <a:t>produce</a:t>
            </a:r>
            <a:r>
              <a:rPr lang="tr-TR" dirty="0"/>
              <a:t> </a:t>
            </a:r>
            <a:r>
              <a:rPr lang="tr-TR" dirty="0" err="1"/>
              <a:t>if</a:t>
            </a:r>
            <a:r>
              <a:rPr lang="tr-TR" dirty="0"/>
              <a:t> </a:t>
            </a:r>
            <a:r>
              <a:rPr lang="tr-TR" dirty="0" err="1"/>
              <a:t>you</a:t>
            </a:r>
            <a:r>
              <a:rPr lang="tr-TR" dirty="0"/>
              <a:t> do not </a:t>
            </a:r>
            <a:r>
              <a:rPr lang="tr-TR" dirty="0" err="1"/>
              <a:t>produce</a:t>
            </a:r>
            <a:r>
              <a:rPr lang="tr-TR" dirty="0"/>
              <a:t> </a:t>
            </a:r>
            <a:r>
              <a:rPr lang="tr-TR" dirty="0" err="1"/>
              <a:t>any</a:t>
            </a:r>
            <a:r>
              <a:rPr lang="tr-TR" dirty="0"/>
              <a:t> </a:t>
            </a:r>
            <a:r>
              <a:rPr lang="tr-TR" dirty="0" err="1"/>
              <a:t>chairs</a:t>
            </a:r>
            <a:r>
              <a:rPr lang="tr-TR" dirty="0"/>
              <a:t>?</a:t>
            </a:r>
          </a:p>
          <a:p>
            <a:pPr lvl="1">
              <a:buFont typeface="Arial" panose="020B0604020202020204" pitchFamily="34" charset="0"/>
              <a:buChar char="•"/>
            </a:pPr>
            <a:r>
              <a:rPr lang="tr-TR" dirty="0"/>
              <a:t>x1 = 0 </a:t>
            </a:r>
            <a:r>
              <a:rPr lang="tr-TR" dirty="0" err="1"/>
              <a:t>and</a:t>
            </a:r>
            <a:r>
              <a:rPr lang="tr-TR" dirty="0"/>
              <a:t> x2 = 40</a:t>
            </a:r>
          </a:p>
          <a:p>
            <a:r>
              <a:rPr lang="tr-TR" dirty="0" err="1"/>
              <a:t>What</a:t>
            </a:r>
            <a:r>
              <a:rPr lang="tr-TR" dirty="0"/>
              <a:t> </a:t>
            </a:r>
            <a:r>
              <a:rPr lang="tr-TR" dirty="0" err="1"/>
              <a:t>happens</a:t>
            </a:r>
            <a:r>
              <a:rPr lang="tr-TR" dirty="0"/>
              <a:t> </a:t>
            </a:r>
            <a:r>
              <a:rPr lang="tr-TR" dirty="0" err="1"/>
              <a:t>if</a:t>
            </a:r>
            <a:r>
              <a:rPr lang="tr-TR" dirty="0"/>
              <a:t> </a:t>
            </a:r>
            <a:r>
              <a:rPr lang="tr-TR" dirty="0" err="1"/>
              <a:t>you</a:t>
            </a:r>
            <a:r>
              <a:rPr lang="tr-TR" dirty="0"/>
              <a:t> </a:t>
            </a:r>
            <a:r>
              <a:rPr lang="tr-TR" dirty="0" err="1"/>
              <a:t>decide</a:t>
            </a:r>
            <a:r>
              <a:rPr lang="tr-TR" dirty="0"/>
              <a:t> </a:t>
            </a:r>
            <a:r>
              <a:rPr lang="tr-TR" dirty="0" err="1"/>
              <a:t>to</a:t>
            </a:r>
            <a:r>
              <a:rPr lang="tr-TR" dirty="0"/>
              <a:t> </a:t>
            </a:r>
            <a:r>
              <a:rPr lang="tr-TR" dirty="0" err="1"/>
              <a:t>produce</a:t>
            </a:r>
            <a:r>
              <a:rPr lang="tr-TR" dirty="0"/>
              <a:t> 10 </a:t>
            </a:r>
            <a:r>
              <a:rPr lang="tr-TR" dirty="0" err="1"/>
              <a:t>chairs</a:t>
            </a:r>
            <a:r>
              <a:rPr lang="tr-TR" dirty="0"/>
              <a:t>? How </a:t>
            </a:r>
            <a:r>
              <a:rPr lang="tr-TR" dirty="0" err="1"/>
              <a:t>many</a:t>
            </a:r>
            <a:r>
              <a:rPr lang="tr-TR" dirty="0"/>
              <a:t> </a:t>
            </a:r>
            <a:r>
              <a:rPr lang="tr-TR" dirty="0" err="1"/>
              <a:t>tables</a:t>
            </a:r>
            <a:r>
              <a:rPr lang="tr-TR" dirty="0"/>
              <a:t> can </a:t>
            </a:r>
            <a:r>
              <a:rPr lang="tr-TR" dirty="0" err="1"/>
              <a:t>we</a:t>
            </a:r>
            <a:r>
              <a:rPr lang="tr-TR" dirty="0"/>
              <a:t> </a:t>
            </a:r>
            <a:r>
              <a:rPr lang="tr-TR" dirty="0" err="1"/>
              <a:t>produce</a:t>
            </a:r>
            <a:r>
              <a:rPr lang="tr-TR" dirty="0"/>
              <a:t>?</a:t>
            </a:r>
          </a:p>
          <a:p>
            <a:pPr lvl="1">
              <a:buFont typeface="Arial" panose="020B0604020202020204" pitchFamily="34" charset="0"/>
              <a:buChar char="•"/>
            </a:pPr>
            <a:r>
              <a:rPr lang="tr-TR" dirty="0"/>
              <a:t>x1 = 10 x2 = 40 – 2 * 10 = 20</a:t>
            </a:r>
          </a:p>
        </p:txBody>
      </p:sp>
    </p:spTree>
    <p:extLst>
      <p:ext uri="{BB962C8B-B14F-4D97-AF65-F5344CB8AC3E}">
        <p14:creationId xmlns:p14="http://schemas.microsoft.com/office/powerpoint/2010/main" val="249197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B9898-4758-4C04-B0BC-3A0561F9183D}"/>
              </a:ext>
            </a:extLst>
          </p:cNvPr>
          <p:cNvSpPr>
            <a:spLocks noGrp="1"/>
          </p:cNvSpPr>
          <p:nvPr>
            <p:ph type="title"/>
          </p:nvPr>
        </p:nvSpPr>
        <p:spPr/>
        <p:txBody>
          <a:bodyPr/>
          <a:lstStyle/>
          <a:p>
            <a:endParaRPr lang="tr-TR"/>
          </a:p>
        </p:txBody>
      </p:sp>
      <p:sp>
        <p:nvSpPr>
          <p:cNvPr id="3" name="Content Placeholder 2">
            <a:extLst>
              <a:ext uri="{FF2B5EF4-FFF2-40B4-BE49-F238E27FC236}">
                <a16:creationId xmlns:a16="http://schemas.microsoft.com/office/drawing/2014/main" id="{C88ED77B-4892-4F52-9FA0-BBACF687AD24}"/>
              </a:ext>
            </a:extLst>
          </p:cNvPr>
          <p:cNvSpPr>
            <a:spLocks noGrp="1"/>
          </p:cNvSpPr>
          <p:nvPr>
            <p:ph idx="1"/>
          </p:nvPr>
        </p:nvSpPr>
        <p:spPr/>
        <p:txBody>
          <a:bodyPr/>
          <a:lstStyle/>
          <a:p>
            <a:endParaRPr lang="tr-TR"/>
          </a:p>
        </p:txBody>
      </p:sp>
      <p:graphicFrame>
        <p:nvGraphicFramePr>
          <p:cNvPr id="4" name="Object 3">
            <a:extLst>
              <a:ext uri="{FF2B5EF4-FFF2-40B4-BE49-F238E27FC236}">
                <a16:creationId xmlns:a16="http://schemas.microsoft.com/office/drawing/2014/main" id="{CDD6FD95-D407-4DCD-ACBE-902C3F88B645}"/>
              </a:ext>
            </a:extLst>
          </p:cNvPr>
          <p:cNvGraphicFramePr>
            <a:graphicFrameLocks noChangeAspect="1"/>
          </p:cNvGraphicFramePr>
          <p:nvPr>
            <p:extLst>
              <p:ext uri="{D42A27DB-BD31-4B8C-83A1-F6EECF244321}">
                <p14:modId xmlns:p14="http://schemas.microsoft.com/office/powerpoint/2010/main" val="1971441974"/>
              </p:ext>
            </p:extLst>
          </p:nvPr>
        </p:nvGraphicFramePr>
        <p:xfrm>
          <a:off x="1810969" y="-712003"/>
          <a:ext cx="5359851" cy="8038208"/>
        </p:xfrm>
        <a:graphic>
          <a:graphicData uri="http://schemas.openxmlformats.org/presentationml/2006/ole">
            <mc:AlternateContent xmlns:mc="http://schemas.openxmlformats.org/markup-compatibility/2006">
              <mc:Choice xmlns:v="urn:schemas-microsoft-com:vml" Requires="v">
                <p:oleObj name="Acrobat Document" r:id="rId3" imgW="6858000" imgH="10287000" progId="AcroExch.Document.DC">
                  <p:embed/>
                </p:oleObj>
              </mc:Choice>
              <mc:Fallback>
                <p:oleObj name="Acrobat Document" r:id="rId3" imgW="6858000" imgH="10287000" progId="AcroExch.Document.DC">
                  <p:embed/>
                  <p:pic>
                    <p:nvPicPr>
                      <p:cNvPr id="4" name="Object 3">
                        <a:extLst>
                          <a:ext uri="{FF2B5EF4-FFF2-40B4-BE49-F238E27FC236}">
                            <a16:creationId xmlns:a16="http://schemas.microsoft.com/office/drawing/2014/main" id="{CDD6FD95-D407-4DCD-ACBE-902C3F88B645}"/>
                          </a:ext>
                        </a:extLst>
                      </p:cNvPr>
                      <p:cNvPicPr/>
                      <p:nvPr/>
                    </p:nvPicPr>
                    <p:blipFill>
                      <a:blip r:embed="rId4"/>
                      <a:stretch>
                        <a:fillRect/>
                      </a:stretch>
                    </p:blipFill>
                    <p:spPr>
                      <a:xfrm>
                        <a:off x="1810969" y="-712003"/>
                        <a:ext cx="5359851" cy="8038208"/>
                      </a:xfrm>
                      <a:prstGeom prst="rect">
                        <a:avLst/>
                      </a:prstGeom>
                    </p:spPr>
                  </p:pic>
                </p:oleObj>
              </mc:Fallback>
            </mc:AlternateContent>
          </a:graphicData>
        </a:graphic>
      </p:graphicFrame>
    </p:spTree>
    <p:extLst>
      <p:ext uri="{BB962C8B-B14F-4D97-AF65-F5344CB8AC3E}">
        <p14:creationId xmlns:p14="http://schemas.microsoft.com/office/powerpoint/2010/main" val="207583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BD6F1-C46C-40E2-B9C6-04AE70C6A4B3}"/>
              </a:ext>
            </a:extLst>
          </p:cNvPr>
          <p:cNvSpPr>
            <a:spLocks noGrp="1"/>
          </p:cNvSpPr>
          <p:nvPr>
            <p:ph type="title"/>
          </p:nvPr>
        </p:nvSpPr>
        <p:spPr/>
        <p:txBody>
          <a:bodyPr>
            <a:normAutofit fontScale="90000"/>
          </a:bodyPr>
          <a:lstStyle/>
          <a:p>
            <a:r>
              <a:rPr lang="tr-TR" dirty="0" err="1"/>
              <a:t>The</a:t>
            </a:r>
            <a:r>
              <a:rPr lang="tr-TR" dirty="0"/>
              <a:t> </a:t>
            </a:r>
            <a:r>
              <a:rPr lang="tr-TR" dirty="0" err="1"/>
              <a:t>carpenter’s</a:t>
            </a:r>
            <a:r>
              <a:rPr lang="tr-TR" dirty="0"/>
              <a:t> problem</a:t>
            </a:r>
            <a:br>
              <a:rPr lang="tr-TR" dirty="0"/>
            </a:br>
            <a:r>
              <a:rPr lang="tr-TR" dirty="0"/>
              <a:t>A </a:t>
            </a:r>
            <a:r>
              <a:rPr lang="tr-TR" dirty="0" err="1"/>
              <a:t>linear</a:t>
            </a:r>
            <a:r>
              <a:rPr lang="tr-TR" dirty="0"/>
              <a:t> </a:t>
            </a:r>
            <a:r>
              <a:rPr lang="tr-TR" dirty="0" err="1"/>
              <a:t>programming</a:t>
            </a:r>
            <a:r>
              <a:rPr lang="tr-TR" dirty="0"/>
              <a:t> problem </a:t>
            </a:r>
            <a:r>
              <a:rPr lang="tr-TR" dirty="0" err="1"/>
              <a:t>formulation</a:t>
            </a:r>
            <a:endParaRPr lang="tr-TR" dirty="0"/>
          </a:p>
        </p:txBody>
      </p:sp>
      <p:sp>
        <p:nvSpPr>
          <p:cNvPr id="3" name="Content Placeholder 2">
            <a:extLst>
              <a:ext uri="{FF2B5EF4-FFF2-40B4-BE49-F238E27FC236}">
                <a16:creationId xmlns:a16="http://schemas.microsoft.com/office/drawing/2014/main" id="{69F54EC1-DCA6-4A97-8A52-FF4AEA98B89E}"/>
              </a:ext>
            </a:extLst>
          </p:cNvPr>
          <p:cNvSpPr>
            <a:spLocks noGrp="1"/>
          </p:cNvSpPr>
          <p:nvPr>
            <p:ph idx="1"/>
          </p:nvPr>
        </p:nvSpPr>
        <p:spPr/>
        <p:txBody>
          <a:bodyPr>
            <a:normAutofit fontScale="85000" lnSpcReduction="20000"/>
          </a:bodyPr>
          <a:lstStyle/>
          <a:p>
            <a:r>
              <a:rPr lang="tr-TR" dirty="0" err="1"/>
              <a:t>Now</a:t>
            </a:r>
            <a:r>
              <a:rPr lang="tr-TR" dirty="0"/>
              <a:t> </a:t>
            </a:r>
            <a:r>
              <a:rPr lang="tr-TR" dirty="0" err="1"/>
              <a:t>let</a:t>
            </a:r>
            <a:r>
              <a:rPr lang="tr-TR" dirty="0"/>
              <a:t> us do </a:t>
            </a:r>
            <a:r>
              <a:rPr lang="tr-TR" dirty="0" err="1"/>
              <a:t>the</a:t>
            </a:r>
            <a:r>
              <a:rPr lang="tr-TR" dirty="0"/>
              <a:t> </a:t>
            </a:r>
            <a:r>
              <a:rPr lang="tr-TR" dirty="0" err="1"/>
              <a:t>same</a:t>
            </a:r>
            <a:r>
              <a:rPr lang="tr-TR" dirty="0"/>
              <a:t> </a:t>
            </a:r>
            <a:r>
              <a:rPr lang="tr-TR" dirty="0" err="1"/>
              <a:t>thing</a:t>
            </a:r>
            <a:r>
              <a:rPr lang="tr-TR" dirty="0"/>
              <a:t> </a:t>
            </a:r>
            <a:r>
              <a:rPr lang="tr-TR" dirty="0" err="1"/>
              <a:t>for</a:t>
            </a:r>
            <a:r>
              <a:rPr lang="tr-TR" dirty="0"/>
              <a:t> </a:t>
            </a:r>
            <a:r>
              <a:rPr lang="tr-TR" dirty="0" err="1"/>
              <a:t>the</a:t>
            </a:r>
            <a:r>
              <a:rPr lang="tr-TR" dirty="0"/>
              <a:t> </a:t>
            </a:r>
            <a:r>
              <a:rPr lang="tr-TR" dirty="0" err="1"/>
              <a:t>raw</a:t>
            </a:r>
            <a:r>
              <a:rPr lang="tr-TR" dirty="0"/>
              <a:t> </a:t>
            </a:r>
            <a:r>
              <a:rPr lang="tr-TR" dirty="0" err="1"/>
              <a:t>material</a:t>
            </a:r>
            <a:r>
              <a:rPr lang="tr-TR" dirty="0"/>
              <a:t> </a:t>
            </a:r>
            <a:r>
              <a:rPr lang="tr-TR" dirty="0" err="1"/>
              <a:t>constraint</a:t>
            </a:r>
            <a:endParaRPr lang="tr-TR" dirty="0"/>
          </a:p>
          <a:p>
            <a:pPr lvl="1"/>
            <a:r>
              <a:rPr lang="tr-TR" dirty="0"/>
              <a:t>x1 + 2 x2 &lt;= 50</a:t>
            </a:r>
          </a:p>
          <a:p>
            <a:r>
              <a:rPr lang="tr-TR" dirty="0"/>
              <a:t>How </a:t>
            </a:r>
            <a:r>
              <a:rPr lang="tr-TR" dirty="0" err="1"/>
              <a:t>many</a:t>
            </a:r>
            <a:r>
              <a:rPr lang="tr-TR" dirty="0"/>
              <a:t> </a:t>
            </a:r>
            <a:r>
              <a:rPr lang="tr-TR" dirty="0" err="1"/>
              <a:t>chairs</a:t>
            </a:r>
            <a:r>
              <a:rPr lang="tr-TR" dirty="0"/>
              <a:t> (x1) can </a:t>
            </a:r>
            <a:r>
              <a:rPr lang="tr-TR" dirty="0" err="1"/>
              <a:t>you</a:t>
            </a:r>
            <a:r>
              <a:rPr lang="tr-TR" dirty="0"/>
              <a:t> </a:t>
            </a:r>
            <a:r>
              <a:rPr lang="tr-TR" dirty="0" err="1"/>
              <a:t>produce</a:t>
            </a:r>
            <a:r>
              <a:rPr lang="tr-TR" dirty="0"/>
              <a:t> </a:t>
            </a:r>
            <a:r>
              <a:rPr lang="tr-TR" dirty="0" err="1"/>
              <a:t>if</a:t>
            </a:r>
            <a:r>
              <a:rPr lang="tr-TR" dirty="0"/>
              <a:t> </a:t>
            </a:r>
            <a:r>
              <a:rPr lang="tr-TR" dirty="0" err="1"/>
              <a:t>you</a:t>
            </a:r>
            <a:r>
              <a:rPr lang="tr-TR" dirty="0"/>
              <a:t> do not </a:t>
            </a:r>
            <a:r>
              <a:rPr lang="tr-TR" dirty="0" err="1"/>
              <a:t>produce</a:t>
            </a:r>
            <a:r>
              <a:rPr lang="tr-TR" dirty="0"/>
              <a:t> </a:t>
            </a:r>
            <a:r>
              <a:rPr lang="tr-TR" dirty="0" err="1"/>
              <a:t>any</a:t>
            </a:r>
            <a:r>
              <a:rPr lang="tr-TR" dirty="0"/>
              <a:t> </a:t>
            </a:r>
            <a:r>
              <a:rPr lang="tr-TR" dirty="0" err="1"/>
              <a:t>tables</a:t>
            </a:r>
            <a:r>
              <a:rPr lang="tr-TR" dirty="0"/>
              <a:t> (x2)?</a:t>
            </a:r>
          </a:p>
          <a:p>
            <a:pPr lvl="1">
              <a:buFont typeface="Arial" panose="020B0604020202020204" pitchFamily="34" charset="0"/>
              <a:buChar char="•"/>
            </a:pPr>
            <a:r>
              <a:rPr lang="tr-TR" dirty="0"/>
              <a:t>x2 = 0 </a:t>
            </a:r>
            <a:r>
              <a:rPr lang="tr-TR" dirty="0" err="1"/>
              <a:t>and</a:t>
            </a:r>
            <a:r>
              <a:rPr lang="tr-TR" dirty="0"/>
              <a:t> x1 = 50</a:t>
            </a:r>
          </a:p>
          <a:p>
            <a:r>
              <a:rPr lang="tr-TR" dirty="0"/>
              <a:t>How </a:t>
            </a:r>
            <a:r>
              <a:rPr lang="tr-TR" dirty="0" err="1"/>
              <a:t>many</a:t>
            </a:r>
            <a:r>
              <a:rPr lang="tr-TR" dirty="0"/>
              <a:t> </a:t>
            </a:r>
            <a:r>
              <a:rPr lang="tr-TR" dirty="0" err="1"/>
              <a:t>tables</a:t>
            </a:r>
            <a:r>
              <a:rPr lang="tr-TR" dirty="0"/>
              <a:t> can </a:t>
            </a:r>
            <a:r>
              <a:rPr lang="tr-TR" dirty="0" err="1"/>
              <a:t>you</a:t>
            </a:r>
            <a:r>
              <a:rPr lang="tr-TR" dirty="0"/>
              <a:t> </a:t>
            </a:r>
            <a:r>
              <a:rPr lang="tr-TR" dirty="0" err="1"/>
              <a:t>produce</a:t>
            </a:r>
            <a:r>
              <a:rPr lang="tr-TR" dirty="0"/>
              <a:t> </a:t>
            </a:r>
            <a:r>
              <a:rPr lang="tr-TR" dirty="0" err="1"/>
              <a:t>if</a:t>
            </a:r>
            <a:r>
              <a:rPr lang="tr-TR" dirty="0"/>
              <a:t> </a:t>
            </a:r>
            <a:r>
              <a:rPr lang="tr-TR" dirty="0" err="1"/>
              <a:t>you</a:t>
            </a:r>
            <a:r>
              <a:rPr lang="tr-TR" dirty="0"/>
              <a:t> do not </a:t>
            </a:r>
            <a:r>
              <a:rPr lang="tr-TR" dirty="0" err="1"/>
              <a:t>produce</a:t>
            </a:r>
            <a:r>
              <a:rPr lang="tr-TR" dirty="0"/>
              <a:t> </a:t>
            </a:r>
            <a:r>
              <a:rPr lang="tr-TR" dirty="0" err="1"/>
              <a:t>any</a:t>
            </a:r>
            <a:r>
              <a:rPr lang="tr-TR" dirty="0"/>
              <a:t> </a:t>
            </a:r>
            <a:r>
              <a:rPr lang="tr-TR" dirty="0" err="1"/>
              <a:t>chairs</a:t>
            </a:r>
            <a:r>
              <a:rPr lang="tr-TR" dirty="0"/>
              <a:t>?</a:t>
            </a:r>
          </a:p>
          <a:p>
            <a:pPr lvl="1">
              <a:buFont typeface="Arial" panose="020B0604020202020204" pitchFamily="34" charset="0"/>
              <a:buChar char="•"/>
            </a:pPr>
            <a:r>
              <a:rPr lang="tr-TR" dirty="0"/>
              <a:t>x1 = 0 </a:t>
            </a:r>
            <a:r>
              <a:rPr lang="tr-TR" dirty="0" err="1"/>
              <a:t>and</a:t>
            </a:r>
            <a:r>
              <a:rPr lang="tr-TR" dirty="0"/>
              <a:t> x2 = 25</a:t>
            </a:r>
          </a:p>
          <a:p>
            <a:r>
              <a:rPr lang="tr-TR" dirty="0" err="1"/>
              <a:t>What</a:t>
            </a:r>
            <a:r>
              <a:rPr lang="tr-TR" dirty="0"/>
              <a:t> </a:t>
            </a:r>
            <a:r>
              <a:rPr lang="tr-TR" dirty="0" err="1"/>
              <a:t>happens</a:t>
            </a:r>
            <a:r>
              <a:rPr lang="tr-TR" dirty="0"/>
              <a:t> </a:t>
            </a:r>
            <a:r>
              <a:rPr lang="tr-TR" dirty="0" err="1"/>
              <a:t>if</a:t>
            </a:r>
            <a:r>
              <a:rPr lang="tr-TR" dirty="0"/>
              <a:t> </a:t>
            </a:r>
            <a:r>
              <a:rPr lang="tr-TR" dirty="0" err="1"/>
              <a:t>you</a:t>
            </a:r>
            <a:r>
              <a:rPr lang="tr-TR" dirty="0"/>
              <a:t> </a:t>
            </a:r>
            <a:r>
              <a:rPr lang="tr-TR" dirty="0" err="1"/>
              <a:t>decide</a:t>
            </a:r>
            <a:r>
              <a:rPr lang="tr-TR" dirty="0"/>
              <a:t> </a:t>
            </a:r>
            <a:r>
              <a:rPr lang="tr-TR" dirty="0" err="1"/>
              <a:t>to</a:t>
            </a:r>
            <a:r>
              <a:rPr lang="tr-TR" dirty="0"/>
              <a:t> </a:t>
            </a:r>
            <a:r>
              <a:rPr lang="tr-TR" dirty="0" err="1"/>
              <a:t>produce</a:t>
            </a:r>
            <a:r>
              <a:rPr lang="tr-TR" dirty="0"/>
              <a:t> 20 </a:t>
            </a:r>
            <a:r>
              <a:rPr lang="tr-TR" dirty="0" err="1"/>
              <a:t>chairs</a:t>
            </a:r>
            <a:r>
              <a:rPr lang="tr-TR" dirty="0"/>
              <a:t>? How </a:t>
            </a:r>
            <a:r>
              <a:rPr lang="tr-TR" dirty="0" err="1"/>
              <a:t>many</a:t>
            </a:r>
            <a:r>
              <a:rPr lang="tr-TR" dirty="0"/>
              <a:t> </a:t>
            </a:r>
            <a:r>
              <a:rPr lang="tr-TR" dirty="0" err="1"/>
              <a:t>tables</a:t>
            </a:r>
            <a:r>
              <a:rPr lang="tr-TR" dirty="0"/>
              <a:t> can </a:t>
            </a:r>
            <a:r>
              <a:rPr lang="tr-TR" dirty="0" err="1"/>
              <a:t>we</a:t>
            </a:r>
            <a:r>
              <a:rPr lang="tr-TR" dirty="0"/>
              <a:t> </a:t>
            </a:r>
            <a:r>
              <a:rPr lang="tr-TR" dirty="0" err="1"/>
              <a:t>produce</a:t>
            </a:r>
            <a:r>
              <a:rPr lang="tr-TR" dirty="0"/>
              <a:t>?</a:t>
            </a:r>
          </a:p>
          <a:p>
            <a:pPr lvl="1">
              <a:buFont typeface="Arial" panose="020B0604020202020204" pitchFamily="34" charset="0"/>
              <a:buChar char="•"/>
            </a:pPr>
            <a:r>
              <a:rPr lang="tr-TR" dirty="0"/>
              <a:t>x1 = 20 </a:t>
            </a:r>
            <a:r>
              <a:rPr lang="tr-TR" dirty="0" err="1"/>
              <a:t>and</a:t>
            </a:r>
            <a:r>
              <a:rPr lang="tr-TR" dirty="0"/>
              <a:t> x2 = (50 – 20) / 2 = 15</a:t>
            </a:r>
          </a:p>
        </p:txBody>
      </p:sp>
    </p:spTree>
    <p:extLst>
      <p:ext uri="{BB962C8B-B14F-4D97-AF65-F5344CB8AC3E}">
        <p14:creationId xmlns:p14="http://schemas.microsoft.com/office/powerpoint/2010/main" val="128077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08D43-93FF-4AFF-B489-EF7C8B66D6D5}"/>
              </a:ext>
            </a:extLst>
          </p:cNvPr>
          <p:cNvSpPr>
            <a:spLocks noGrp="1"/>
          </p:cNvSpPr>
          <p:nvPr>
            <p:ph type="title"/>
          </p:nvPr>
        </p:nvSpPr>
        <p:spPr/>
        <p:txBody>
          <a:bodyPr/>
          <a:lstStyle/>
          <a:p>
            <a:endParaRPr lang="tr-TR"/>
          </a:p>
        </p:txBody>
      </p:sp>
      <p:sp>
        <p:nvSpPr>
          <p:cNvPr id="3" name="Content Placeholder 2">
            <a:extLst>
              <a:ext uri="{FF2B5EF4-FFF2-40B4-BE49-F238E27FC236}">
                <a16:creationId xmlns:a16="http://schemas.microsoft.com/office/drawing/2014/main" id="{4A13EB61-8DB9-461E-8D37-AEAA5DC82508}"/>
              </a:ext>
            </a:extLst>
          </p:cNvPr>
          <p:cNvSpPr>
            <a:spLocks noGrp="1"/>
          </p:cNvSpPr>
          <p:nvPr>
            <p:ph idx="1"/>
          </p:nvPr>
        </p:nvSpPr>
        <p:spPr/>
        <p:txBody>
          <a:bodyPr/>
          <a:lstStyle/>
          <a:p>
            <a:endParaRPr lang="tr-TR"/>
          </a:p>
        </p:txBody>
      </p:sp>
      <p:graphicFrame>
        <p:nvGraphicFramePr>
          <p:cNvPr id="4" name="Object 3">
            <a:extLst>
              <a:ext uri="{FF2B5EF4-FFF2-40B4-BE49-F238E27FC236}">
                <a16:creationId xmlns:a16="http://schemas.microsoft.com/office/drawing/2014/main" id="{49853E12-87DD-4F56-9A79-A17EF2E31695}"/>
              </a:ext>
            </a:extLst>
          </p:cNvPr>
          <p:cNvGraphicFramePr>
            <a:graphicFrameLocks noChangeAspect="1"/>
          </p:cNvGraphicFramePr>
          <p:nvPr>
            <p:extLst>
              <p:ext uri="{D42A27DB-BD31-4B8C-83A1-F6EECF244321}">
                <p14:modId xmlns:p14="http://schemas.microsoft.com/office/powerpoint/2010/main" val="3422335277"/>
              </p:ext>
            </p:extLst>
          </p:nvPr>
        </p:nvGraphicFramePr>
        <p:xfrm>
          <a:off x="1560563" y="-756862"/>
          <a:ext cx="5358029" cy="8035473"/>
        </p:xfrm>
        <a:graphic>
          <a:graphicData uri="http://schemas.openxmlformats.org/presentationml/2006/ole">
            <mc:AlternateContent xmlns:mc="http://schemas.openxmlformats.org/markup-compatibility/2006">
              <mc:Choice xmlns:v="urn:schemas-microsoft-com:vml" Requires="v">
                <p:oleObj name="Acrobat Document" r:id="rId3" imgW="6858000" imgH="10287000" progId="AcroExch.Document.DC">
                  <p:embed/>
                </p:oleObj>
              </mc:Choice>
              <mc:Fallback>
                <p:oleObj name="Acrobat Document" r:id="rId3" imgW="6858000" imgH="10287000" progId="AcroExch.Document.DC">
                  <p:embed/>
                  <p:pic>
                    <p:nvPicPr>
                      <p:cNvPr id="4" name="Object 3">
                        <a:extLst>
                          <a:ext uri="{FF2B5EF4-FFF2-40B4-BE49-F238E27FC236}">
                            <a16:creationId xmlns:a16="http://schemas.microsoft.com/office/drawing/2014/main" id="{49853E12-87DD-4F56-9A79-A17EF2E31695}"/>
                          </a:ext>
                        </a:extLst>
                      </p:cNvPr>
                      <p:cNvPicPr/>
                      <p:nvPr/>
                    </p:nvPicPr>
                    <p:blipFill>
                      <a:blip r:embed="rId4"/>
                      <a:stretch>
                        <a:fillRect/>
                      </a:stretch>
                    </p:blipFill>
                    <p:spPr>
                      <a:xfrm>
                        <a:off x="1560563" y="-756862"/>
                        <a:ext cx="5358029" cy="8035473"/>
                      </a:xfrm>
                      <a:prstGeom prst="rect">
                        <a:avLst/>
                      </a:prstGeom>
                    </p:spPr>
                  </p:pic>
                </p:oleObj>
              </mc:Fallback>
            </mc:AlternateContent>
          </a:graphicData>
        </a:graphic>
      </p:graphicFrame>
    </p:spTree>
    <p:extLst>
      <p:ext uri="{BB962C8B-B14F-4D97-AF65-F5344CB8AC3E}">
        <p14:creationId xmlns:p14="http://schemas.microsoft.com/office/powerpoint/2010/main" val="41130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8C2FA-B91E-4F25-BB8F-C05A9E2CB9B0}"/>
              </a:ext>
            </a:extLst>
          </p:cNvPr>
          <p:cNvSpPr>
            <a:spLocks noGrp="1"/>
          </p:cNvSpPr>
          <p:nvPr>
            <p:ph type="title"/>
          </p:nvPr>
        </p:nvSpPr>
        <p:spPr/>
        <p:txBody>
          <a:bodyPr/>
          <a:lstStyle/>
          <a:p>
            <a:r>
              <a:rPr lang="tr-TR" dirty="0" err="1"/>
              <a:t>Putting</a:t>
            </a:r>
            <a:r>
              <a:rPr lang="tr-TR" dirty="0"/>
              <a:t> it </a:t>
            </a:r>
            <a:r>
              <a:rPr lang="tr-TR" dirty="0" err="1"/>
              <a:t>together</a:t>
            </a:r>
            <a:endParaRPr lang="tr-TR" dirty="0"/>
          </a:p>
        </p:txBody>
      </p:sp>
      <p:graphicFrame>
        <p:nvGraphicFramePr>
          <p:cNvPr id="6" name="Object 5">
            <a:extLst>
              <a:ext uri="{FF2B5EF4-FFF2-40B4-BE49-F238E27FC236}">
                <a16:creationId xmlns:a16="http://schemas.microsoft.com/office/drawing/2014/main" id="{8C940751-0B16-46F3-B311-2DEEA4DE7E0A}"/>
              </a:ext>
            </a:extLst>
          </p:cNvPr>
          <p:cNvGraphicFramePr>
            <a:graphicFrameLocks noChangeAspect="1"/>
          </p:cNvGraphicFramePr>
          <p:nvPr>
            <p:extLst>
              <p:ext uri="{D42A27DB-BD31-4B8C-83A1-F6EECF244321}">
                <p14:modId xmlns:p14="http://schemas.microsoft.com/office/powerpoint/2010/main" val="3218362965"/>
              </p:ext>
            </p:extLst>
          </p:nvPr>
        </p:nvGraphicFramePr>
        <p:xfrm>
          <a:off x="204002" y="1079249"/>
          <a:ext cx="3905986" cy="5857834"/>
        </p:xfrm>
        <a:graphic>
          <a:graphicData uri="http://schemas.openxmlformats.org/presentationml/2006/ole">
            <mc:AlternateContent xmlns:mc="http://schemas.openxmlformats.org/markup-compatibility/2006">
              <mc:Choice xmlns:v="urn:schemas-microsoft-com:vml" Requires="v">
                <p:oleObj name="Acrobat Document" r:id="rId3" imgW="6858000" imgH="10287000" progId="AcroExch.Document.DC">
                  <p:embed/>
                </p:oleObj>
              </mc:Choice>
              <mc:Fallback>
                <p:oleObj name="Acrobat Document" r:id="rId3" imgW="6858000" imgH="10287000" progId="AcroExch.Document.DC">
                  <p:embed/>
                  <p:pic>
                    <p:nvPicPr>
                      <p:cNvPr id="6" name="Object 5">
                        <a:extLst>
                          <a:ext uri="{FF2B5EF4-FFF2-40B4-BE49-F238E27FC236}">
                            <a16:creationId xmlns:a16="http://schemas.microsoft.com/office/drawing/2014/main" id="{8C940751-0B16-46F3-B311-2DEEA4DE7E0A}"/>
                          </a:ext>
                        </a:extLst>
                      </p:cNvPr>
                      <p:cNvPicPr/>
                      <p:nvPr/>
                    </p:nvPicPr>
                    <p:blipFill>
                      <a:blip r:embed="rId4"/>
                      <a:stretch>
                        <a:fillRect/>
                      </a:stretch>
                    </p:blipFill>
                    <p:spPr>
                      <a:xfrm>
                        <a:off x="204002" y="1079249"/>
                        <a:ext cx="3905986" cy="5857834"/>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C18E800C-152E-4945-8F27-2134C5026B15}"/>
              </a:ext>
            </a:extLst>
          </p:cNvPr>
          <p:cNvGraphicFramePr>
            <a:graphicFrameLocks noChangeAspect="1"/>
          </p:cNvGraphicFramePr>
          <p:nvPr>
            <p:extLst>
              <p:ext uri="{D42A27DB-BD31-4B8C-83A1-F6EECF244321}">
                <p14:modId xmlns:p14="http://schemas.microsoft.com/office/powerpoint/2010/main" val="3387383343"/>
              </p:ext>
            </p:extLst>
          </p:nvPr>
        </p:nvGraphicFramePr>
        <p:xfrm>
          <a:off x="4109988" y="-305335"/>
          <a:ext cx="5255393" cy="7881549"/>
        </p:xfrm>
        <a:graphic>
          <a:graphicData uri="http://schemas.openxmlformats.org/presentationml/2006/ole">
            <mc:AlternateContent xmlns:mc="http://schemas.openxmlformats.org/markup-compatibility/2006">
              <mc:Choice xmlns:v="urn:schemas-microsoft-com:vml" Requires="v">
                <p:oleObj name="Acrobat Document" r:id="rId5" imgW="6858000" imgH="10287000" progId="AcroExch.Document.DC">
                  <p:embed/>
                </p:oleObj>
              </mc:Choice>
              <mc:Fallback>
                <p:oleObj name="Acrobat Document" r:id="rId5" imgW="6858000" imgH="10287000" progId="AcroExch.Document.DC">
                  <p:embed/>
                  <p:pic>
                    <p:nvPicPr>
                      <p:cNvPr id="7" name="Object 6">
                        <a:extLst>
                          <a:ext uri="{FF2B5EF4-FFF2-40B4-BE49-F238E27FC236}">
                            <a16:creationId xmlns:a16="http://schemas.microsoft.com/office/drawing/2014/main" id="{C18E800C-152E-4945-8F27-2134C5026B15}"/>
                          </a:ext>
                        </a:extLst>
                      </p:cNvPr>
                      <p:cNvPicPr/>
                      <p:nvPr/>
                    </p:nvPicPr>
                    <p:blipFill>
                      <a:blip r:embed="rId6"/>
                      <a:stretch>
                        <a:fillRect/>
                      </a:stretch>
                    </p:blipFill>
                    <p:spPr>
                      <a:xfrm>
                        <a:off x="4109988" y="-305335"/>
                        <a:ext cx="5255393" cy="7881549"/>
                      </a:xfrm>
                      <a:prstGeom prst="rect">
                        <a:avLst/>
                      </a:prstGeom>
                    </p:spPr>
                  </p:pic>
                </p:oleObj>
              </mc:Fallback>
            </mc:AlternateContent>
          </a:graphicData>
        </a:graphic>
      </p:graphicFrame>
    </p:spTree>
    <p:extLst>
      <p:ext uri="{BB962C8B-B14F-4D97-AF65-F5344CB8AC3E}">
        <p14:creationId xmlns:p14="http://schemas.microsoft.com/office/powerpoint/2010/main" val="209473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197519"/>
            <a:ext cx="8229600" cy="1143000"/>
          </a:xfrm>
        </p:spPr>
        <p:txBody>
          <a:bodyPr vert="horz" lIns="91440" tIns="45720" rIns="91440" bIns="45720" rtlCol="0" anchor="ctr">
            <a:normAutofit/>
          </a:bodyPr>
          <a:lstStyle/>
          <a:p>
            <a:pPr algn="l"/>
            <a:r>
              <a:rPr lang="en-US" sz="3600" b="1" dirty="0"/>
              <a:t>Graphical Solution to a 2-Variable LP</a:t>
            </a:r>
          </a:p>
        </p:txBody>
      </p:sp>
      <p:sp>
        <p:nvSpPr>
          <p:cNvPr id="21507" name="Rectangle 3"/>
          <p:cNvSpPr>
            <a:spLocks noGrp="1" noChangeArrowheads="1"/>
          </p:cNvSpPr>
          <p:nvPr>
            <p:ph sz="half" idx="1"/>
          </p:nvPr>
        </p:nvSpPr>
        <p:spPr>
          <a:xfrm>
            <a:off x="0" y="1600201"/>
            <a:ext cx="3962400" cy="3352800"/>
          </a:xfrm>
        </p:spPr>
        <p:txBody>
          <a:bodyPr>
            <a:normAutofit/>
          </a:bodyPr>
          <a:lstStyle/>
          <a:p>
            <a:r>
              <a:rPr lang="en-US" sz="2000" dirty="0">
                <a:latin typeface="Arial" charset="0"/>
                <a:cs typeface="Arial" charset="0"/>
              </a:rPr>
              <a:t>Any LP with only two variables can be solved graphically.</a:t>
            </a:r>
          </a:p>
          <a:p>
            <a:r>
              <a:rPr lang="en-US" sz="2000" dirty="0">
                <a:latin typeface="Arial" charset="0"/>
                <a:cs typeface="Arial" charset="0"/>
              </a:rPr>
              <a:t>The first step is to identify the feasible region by determining the intersection of the constraints that define the feasible region.  </a:t>
            </a:r>
          </a:p>
          <a:p>
            <a:r>
              <a:rPr lang="en-US" sz="2000" dirty="0">
                <a:latin typeface="Arial" charset="0"/>
                <a:cs typeface="Arial" charset="0"/>
              </a:rPr>
              <a:t>For instance, to identify the set of points in the graph satisfying the equation </a:t>
            </a:r>
          </a:p>
        </p:txBody>
      </p:sp>
      <p:graphicFrame>
        <p:nvGraphicFramePr>
          <p:cNvPr id="21510" name="Object 6"/>
          <p:cNvGraphicFramePr>
            <a:graphicFrameLocks noChangeAspect="1"/>
          </p:cNvGraphicFramePr>
          <p:nvPr/>
        </p:nvGraphicFramePr>
        <p:xfrm>
          <a:off x="3886200" y="990600"/>
          <a:ext cx="4872038" cy="5029200"/>
        </p:xfrm>
        <a:graphic>
          <a:graphicData uri="http://schemas.openxmlformats.org/presentationml/2006/ole">
            <mc:AlternateContent xmlns:mc="http://schemas.openxmlformats.org/markup-compatibility/2006">
              <mc:Choice xmlns:v="urn:schemas-microsoft-com:vml" Requires="v">
                <p:oleObj name="SmartSketch Document" r:id="rId9" imgW="6515280" imgH="6515280" progId="">
                  <p:embed/>
                </p:oleObj>
              </mc:Choice>
              <mc:Fallback>
                <p:oleObj name="SmartSketch Document" r:id="rId9" imgW="6515280" imgH="6515280" progId="">
                  <p:embed/>
                  <p:pic>
                    <p:nvPicPr>
                      <p:cNvPr id="2151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6200" y="990600"/>
                        <a:ext cx="4872038"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2" name="Picture 11" descr="txp_fig.png"/>
          <p:cNvPicPr>
            <a:picLocks noChangeAspect="1"/>
          </p:cNvPicPr>
          <p:nvPr>
            <p:custDataLst>
              <p:tags r:id="rId1"/>
            </p:custDataLst>
          </p:nvPr>
        </p:nvPicPr>
        <p:blipFill>
          <a:blip r:embed="rId11" cstate="print">
            <a:lum/>
          </a:blip>
          <a:stretch>
            <a:fillRect/>
          </a:stretch>
        </p:blipFill>
        <p:spPr>
          <a:xfrm>
            <a:off x="533400" y="4988623"/>
            <a:ext cx="2339362" cy="345377"/>
          </a:xfrm>
          <a:prstGeom prst="rect">
            <a:avLst/>
          </a:prstGeom>
        </p:spPr>
      </p:pic>
      <p:sp>
        <p:nvSpPr>
          <p:cNvPr id="13" name="Oval 12"/>
          <p:cNvSpPr/>
          <p:nvPr/>
        </p:nvSpPr>
        <p:spPr>
          <a:xfrm>
            <a:off x="5181600" y="4724400"/>
            <a:ext cx="76200"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txp_fig.png"/>
          <p:cNvPicPr>
            <a:picLocks noChangeAspect="1"/>
          </p:cNvPicPr>
          <p:nvPr>
            <p:custDataLst>
              <p:tags r:id="rId2"/>
            </p:custDataLst>
          </p:nvPr>
        </p:nvPicPr>
        <p:blipFill>
          <a:blip r:embed="rId12" cstate="print">
            <a:lum/>
          </a:blip>
          <a:stretch>
            <a:fillRect/>
          </a:stretch>
        </p:blipFill>
        <p:spPr>
          <a:xfrm>
            <a:off x="4495800" y="4419600"/>
            <a:ext cx="1905000" cy="197068"/>
          </a:xfrm>
          <a:prstGeom prst="rect">
            <a:avLst/>
          </a:prstGeom>
        </p:spPr>
      </p:pic>
      <p:cxnSp>
        <p:nvCxnSpPr>
          <p:cNvPr id="18" name="Straight Arrow Connector 17"/>
          <p:cNvCxnSpPr/>
          <p:nvPr/>
        </p:nvCxnSpPr>
        <p:spPr>
          <a:xfrm flipH="1">
            <a:off x="5562600" y="3657600"/>
            <a:ext cx="304800" cy="4572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0" name="Freeform 19"/>
          <p:cNvSpPr/>
          <p:nvPr/>
        </p:nvSpPr>
        <p:spPr>
          <a:xfrm>
            <a:off x="6011174" y="2632497"/>
            <a:ext cx="769188" cy="1219199"/>
          </a:xfrm>
          <a:custGeom>
            <a:avLst/>
            <a:gdLst>
              <a:gd name="connsiteX0" fmla="*/ 113581 w 838200"/>
              <a:gd name="connsiteY0" fmla="*/ 1048110 h 1085491"/>
              <a:gd name="connsiteX1" fmla="*/ 838200 w 838200"/>
              <a:gd name="connsiteY1" fmla="*/ 332117 h 1085491"/>
              <a:gd name="connsiteX2" fmla="*/ 838200 w 838200"/>
              <a:gd name="connsiteY2" fmla="*/ 332117 h 1085491"/>
              <a:gd name="connsiteX3" fmla="*/ 648419 w 838200"/>
              <a:gd name="connsiteY3" fmla="*/ 99204 h 1085491"/>
              <a:gd name="connsiteX4" fmla="*/ 87702 w 838200"/>
              <a:gd name="connsiteY4" fmla="*/ 927340 h 1085491"/>
              <a:gd name="connsiteX5" fmla="*/ 113581 w 838200"/>
              <a:gd name="connsiteY5" fmla="*/ 1048110 h 108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8200" h="1085491">
                <a:moveTo>
                  <a:pt x="113581" y="1048110"/>
                </a:moveTo>
                <a:lnTo>
                  <a:pt x="838200" y="332117"/>
                </a:lnTo>
                <a:lnTo>
                  <a:pt x="838200" y="332117"/>
                </a:lnTo>
                <a:cubicBezTo>
                  <a:pt x="806570" y="293298"/>
                  <a:pt x="773502" y="0"/>
                  <a:pt x="648419" y="99204"/>
                </a:cubicBezTo>
                <a:cubicBezTo>
                  <a:pt x="523336" y="198408"/>
                  <a:pt x="175404" y="769189"/>
                  <a:pt x="87702" y="927340"/>
                </a:cubicBezTo>
                <a:cubicBezTo>
                  <a:pt x="0" y="1085491"/>
                  <a:pt x="61103" y="1066800"/>
                  <a:pt x="113581" y="104811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txp_fig.png"/>
          <p:cNvPicPr>
            <a:picLocks noChangeAspect="1"/>
          </p:cNvPicPr>
          <p:nvPr>
            <p:custDataLst>
              <p:tags r:id="rId3"/>
            </p:custDataLst>
          </p:nvPr>
        </p:nvPicPr>
        <p:blipFill>
          <a:blip r:embed="rId13" cstate="print">
            <a:lum/>
          </a:blip>
          <a:stretch>
            <a:fillRect/>
          </a:stretch>
        </p:blipFill>
        <p:spPr>
          <a:xfrm>
            <a:off x="5257800" y="2514600"/>
            <a:ext cx="1548390" cy="228600"/>
          </a:xfrm>
          <a:prstGeom prst="rect">
            <a:avLst/>
          </a:prstGeom>
        </p:spPr>
      </p:pic>
      <p:cxnSp>
        <p:nvCxnSpPr>
          <p:cNvPr id="23" name="Straight Arrow Connector 22"/>
          <p:cNvCxnSpPr>
            <a:stCxn id="21" idx="2"/>
          </p:cNvCxnSpPr>
          <p:nvPr/>
        </p:nvCxnSpPr>
        <p:spPr>
          <a:xfrm flipH="1">
            <a:off x="5486400" y="2743200"/>
            <a:ext cx="545595"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4" name="Picture 23" descr="txp_fig.png"/>
          <p:cNvPicPr>
            <a:picLocks noChangeAspect="1"/>
          </p:cNvPicPr>
          <p:nvPr>
            <p:custDataLst>
              <p:tags r:id="rId4"/>
            </p:custDataLst>
          </p:nvPr>
        </p:nvPicPr>
        <p:blipFill>
          <a:blip r:embed="rId11" cstate="print">
            <a:lum/>
          </a:blip>
          <a:stretch>
            <a:fillRect/>
          </a:stretch>
        </p:blipFill>
        <p:spPr>
          <a:xfrm>
            <a:off x="4572000" y="4114800"/>
            <a:ext cx="1524000" cy="224999"/>
          </a:xfrm>
          <a:prstGeom prst="rect">
            <a:avLst/>
          </a:prstGeom>
        </p:spPr>
      </p:pic>
      <p:pic>
        <p:nvPicPr>
          <p:cNvPr id="26" name="Picture 25" descr="txp_fig.png"/>
          <p:cNvPicPr>
            <a:picLocks noChangeAspect="1"/>
          </p:cNvPicPr>
          <p:nvPr>
            <p:custDataLst>
              <p:tags r:id="rId5"/>
            </p:custDataLst>
          </p:nvPr>
        </p:nvPicPr>
        <p:blipFill>
          <a:blip r:embed="rId14" cstate="print">
            <a:lum/>
          </a:blip>
          <a:stretch>
            <a:fillRect/>
          </a:stretch>
        </p:blipFill>
        <p:spPr>
          <a:xfrm>
            <a:off x="8077200" y="4495800"/>
            <a:ext cx="252984" cy="176784"/>
          </a:xfrm>
          <a:prstGeom prst="rect">
            <a:avLst/>
          </a:prstGeom>
        </p:spPr>
      </p:pic>
      <p:pic>
        <p:nvPicPr>
          <p:cNvPr id="28" name="Picture 27" descr="txp_fig.png"/>
          <p:cNvPicPr>
            <a:picLocks noChangeAspect="1"/>
          </p:cNvPicPr>
          <p:nvPr>
            <p:custDataLst>
              <p:tags r:id="rId6"/>
            </p:custDataLst>
          </p:nvPr>
        </p:nvPicPr>
        <p:blipFill>
          <a:blip r:embed="rId15" cstate="print">
            <a:lum/>
          </a:blip>
          <a:stretch>
            <a:fillRect/>
          </a:stretch>
        </p:blipFill>
        <p:spPr>
          <a:xfrm>
            <a:off x="5182108" y="1295908"/>
            <a:ext cx="252984" cy="176784"/>
          </a:xfrm>
          <a:prstGeom prst="rect">
            <a:avLst/>
          </a:prstGeom>
        </p:spPr>
      </p:pic>
      <p:sp>
        <p:nvSpPr>
          <p:cNvPr id="29"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10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uiExpand="1" build="p"/>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5757"/>
            <a:ext cx="8229600" cy="1143000"/>
          </a:xfrm>
        </p:spPr>
        <p:txBody>
          <a:bodyPr/>
          <a:lstStyle/>
          <a:p>
            <a:r>
              <a:rPr lang="en-US" dirty="0"/>
              <a:t>Model of Factory A</a:t>
            </a:r>
          </a:p>
        </p:txBody>
      </p:sp>
      <p:pic>
        <p:nvPicPr>
          <p:cNvPr id="8" name="Content Placeholder 7" descr="txp_fig.png"/>
          <p:cNvPicPr>
            <a:picLocks noGrp="1" noChangeAspect="1"/>
          </p:cNvPicPr>
          <p:nvPr>
            <p:ph idx="1"/>
            <p:custDataLst>
              <p:tags r:id="rId1"/>
            </p:custDataLst>
          </p:nvPr>
        </p:nvPicPr>
        <p:blipFill>
          <a:blip r:embed="rId9" cstate="print">
            <a:lum/>
          </a:blip>
          <a:stretch>
            <a:fillRect/>
          </a:stretch>
        </p:blipFill>
        <p:spPr>
          <a:xfrm>
            <a:off x="5943585" y="960147"/>
            <a:ext cx="2774568" cy="1595377"/>
          </a:xfrm>
        </p:spPr>
      </p:pic>
      <p:cxnSp>
        <p:nvCxnSpPr>
          <p:cNvPr id="10" name="Straight Arrow Connector 9"/>
          <p:cNvCxnSpPr/>
          <p:nvPr/>
        </p:nvCxnSpPr>
        <p:spPr>
          <a:xfrm>
            <a:off x="918468" y="5257780"/>
            <a:ext cx="42061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832858" y="1234464"/>
            <a:ext cx="0" cy="49377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649980" y="1234464"/>
            <a:ext cx="2377414" cy="47548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descr="txp_fig.png"/>
          <p:cNvPicPr>
            <a:picLocks noChangeAspect="1"/>
          </p:cNvPicPr>
          <p:nvPr>
            <p:custDataLst>
              <p:tags r:id="rId2"/>
            </p:custDataLst>
          </p:nvPr>
        </p:nvPicPr>
        <p:blipFill>
          <a:blip r:embed="rId10" cstate="print">
            <a:lum/>
          </a:blip>
          <a:stretch>
            <a:fillRect/>
          </a:stretch>
        </p:blipFill>
        <p:spPr>
          <a:xfrm>
            <a:off x="1009907" y="1051586"/>
            <a:ext cx="1069707" cy="161428"/>
          </a:xfrm>
          <a:prstGeom prst="rect">
            <a:avLst/>
          </a:prstGeom>
        </p:spPr>
      </p:pic>
      <p:cxnSp>
        <p:nvCxnSpPr>
          <p:cNvPr id="24" name="Straight Arrow Connector 23"/>
          <p:cNvCxnSpPr/>
          <p:nvPr/>
        </p:nvCxnSpPr>
        <p:spPr>
          <a:xfrm flipH="1">
            <a:off x="1375663" y="1234464"/>
            <a:ext cx="274317" cy="182878"/>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pic>
        <p:nvPicPr>
          <p:cNvPr id="25" name="Picture 24" descr="txp_fig.png"/>
          <p:cNvPicPr>
            <a:picLocks noChangeAspect="1"/>
          </p:cNvPicPr>
          <p:nvPr>
            <p:custDataLst>
              <p:tags r:id="rId3"/>
            </p:custDataLst>
          </p:nvPr>
        </p:nvPicPr>
        <p:blipFill>
          <a:blip r:embed="rId11" cstate="print">
            <a:lum/>
          </a:blip>
          <a:stretch>
            <a:fillRect/>
          </a:stretch>
        </p:blipFill>
        <p:spPr>
          <a:xfrm>
            <a:off x="461273" y="3703317"/>
            <a:ext cx="1069707" cy="145869"/>
          </a:xfrm>
          <a:prstGeom prst="rect">
            <a:avLst/>
          </a:prstGeom>
        </p:spPr>
      </p:pic>
      <p:pic>
        <p:nvPicPr>
          <p:cNvPr id="26" name="Picture 25" descr="txp_fig.png"/>
          <p:cNvPicPr>
            <a:picLocks noChangeAspect="1"/>
          </p:cNvPicPr>
          <p:nvPr>
            <p:custDataLst>
              <p:tags r:id="rId4"/>
            </p:custDataLst>
          </p:nvPr>
        </p:nvPicPr>
        <p:blipFill>
          <a:blip r:embed="rId12" cstate="print">
            <a:lum/>
          </a:blip>
          <a:stretch>
            <a:fillRect/>
          </a:stretch>
        </p:blipFill>
        <p:spPr>
          <a:xfrm>
            <a:off x="4301711" y="5806414"/>
            <a:ext cx="1069707" cy="161428"/>
          </a:xfrm>
          <a:prstGeom prst="rect">
            <a:avLst/>
          </a:prstGeom>
        </p:spPr>
      </p:pic>
      <p:pic>
        <p:nvPicPr>
          <p:cNvPr id="27" name="Picture 26" descr="txp_fig.png"/>
          <p:cNvPicPr>
            <a:picLocks noChangeAspect="1"/>
          </p:cNvPicPr>
          <p:nvPr>
            <p:custDataLst>
              <p:tags r:id="rId5"/>
            </p:custDataLst>
          </p:nvPr>
        </p:nvPicPr>
        <p:blipFill>
          <a:blip r:embed="rId13" cstate="print">
            <a:lum/>
          </a:blip>
          <a:stretch>
            <a:fillRect/>
          </a:stretch>
        </p:blipFill>
        <p:spPr>
          <a:xfrm>
            <a:off x="2294081" y="2094424"/>
            <a:ext cx="453167" cy="145869"/>
          </a:xfrm>
          <a:prstGeom prst="rect">
            <a:avLst/>
          </a:prstGeom>
        </p:spPr>
      </p:pic>
      <p:pic>
        <p:nvPicPr>
          <p:cNvPr id="28" name="Picture 27" descr="txp_fig.png"/>
          <p:cNvPicPr>
            <a:picLocks noChangeAspect="1"/>
          </p:cNvPicPr>
          <p:nvPr>
            <p:custDataLst>
              <p:tags r:id="rId6"/>
            </p:custDataLst>
          </p:nvPr>
        </p:nvPicPr>
        <p:blipFill>
          <a:blip r:embed="rId14" cstate="print">
            <a:lum/>
          </a:blip>
          <a:stretch>
            <a:fillRect/>
          </a:stretch>
        </p:blipFill>
        <p:spPr>
          <a:xfrm>
            <a:off x="4941784" y="4983463"/>
            <a:ext cx="453167" cy="145869"/>
          </a:xfrm>
          <a:prstGeom prst="rect">
            <a:avLst/>
          </a:prstGeom>
        </p:spPr>
      </p:pic>
      <p:cxnSp>
        <p:nvCxnSpPr>
          <p:cNvPr id="31" name="Straight Connector 30"/>
          <p:cNvCxnSpPr/>
          <p:nvPr/>
        </p:nvCxnSpPr>
        <p:spPr>
          <a:xfrm flipH="1" flipV="1">
            <a:off x="1101346" y="3886195"/>
            <a:ext cx="3474682" cy="13715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918468" y="3886195"/>
            <a:ext cx="182880" cy="365756"/>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832858" y="3520439"/>
            <a:ext cx="2468853" cy="24688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a:off x="4027394" y="5989292"/>
            <a:ext cx="274319" cy="274317"/>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flipV="1">
            <a:off x="4850345" y="4709146"/>
            <a:ext cx="2" cy="548634"/>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1832860" y="2331732"/>
            <a:ext cx="548632" cy="0"/>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274322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65761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57200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2651781" y="5349219"/>
            <a:ext cx="182878" cy="184666"/>
          </a:xfrm>
          <a:prstGeom prst="rect">
            <a:avLst/>
          </a:prstGeom>
          <a:noFill/>
        </p:spPr>
        <p:txBody>
          <a:bodyPr wrap="square" lIns="0" tIns="0" rIns="0" bIns="0" rtlCol="0">
            <a:spAutoFit/>
          </a:bodyPr>
          <a:lstStyle/>
          <a:p>
            <a:r>
              <a:rPr lang="en-US" sz="1200" dirty="0"/>
              <a:t>10</a:t>
            </a:r>
          </a:p>
        </p:txBody>
      </p:sp>
      <p:sp>
        <p:nvSpPr>
          <p:cNvPr id="55" name="TextBox 54"/>
          <p:cNvSpPr txBox="1"/>
          <p:nvPr/>
        </p:nvSpPr>
        <p:spPr>
          <a:xfrm>
            <a:off x="3566171" y="5349219"/>
            <a:ext cx="182878" cy="184666"/>
          </a:xfrm>
          <a:prstGeom prst="rect">
            <a:avLst/>
          </a:prstGeom>
          <a:noFill/>
        </p:spPr>
        <p:txBody>
          <a:bodyPr wrap="square" lIns="0" tIns="0" rIns="0" bIns="0" rtlCol="0">
            <a:spAutoFit/>
          </a:bodyPr>
          <a:lstStyle/>
          <a:p>
            <a:r>
              <a:rPr lang="en-US" sz="1200" dirty="0"/>
              <a:t>20</a:t>
            </a:r>
          </a:p>
        </p:txBody>
      </p:sp>
      <p:sp>
        <p:nvSpPr>
          <p:cNvPr id="56" name="TextBox 55"/>
          <p:cNvSpPr txBox="1"/>
          <p:nvPr/>
        </p:nvSpPr>
        <p:spPr>
          <a:xfrm>
            <a:off x="4480561" y="5349219"/>
            <a:ext cx="182878" cy="184666"/>
          </a:xfrm>
          <a:prstGeom prst="rect">
            <a:avLst/>
          </a:prstGeom>
          <a:noFill/>
        </p:spPr>
        <p:txBody>
          <a:bodyPr wrap="square" lIns="0" tIns="0" rIns="0" bIns="0" rtlCol="0">
            <a:spAutoFit/>
          </a:bodyPr>
          <a:lstStyle/>
          <a:p>
            <a:r>
              <a:rPr lang="en-US" sz="1200" dirty="0"/>
              <a:t>30</a:t>
            </a:r>
          </a:p>
        </p:txBody>
      </p:sp>
      <p:cxnSp>
        <p:nvCxnSpPr>
          <p:cNvPr id="57" name="Straight Connector 56"/>
          <p:cNvCxnSpPr/>
          <p:nvPr/>
        </p:nvCxnSpPr>
        <p:spPr>
          <a:xfrm flipH="1">
            <a:off x="1737391" y="434339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1737391" y="342900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H="1">
            <a:off x="1737391" y="251461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1737391" y="160022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554513" y="4251951"/>
            <a:ext cx="182878" cy="184666"/>
          </a:xfrm>
          <a:prstGeom prst="rect">
            <a:avLst/>
          </a:prstGeom>
          <a:noFill/>
        </p:spPr>
        <p:txBody>
          <a:bodyPr wrap="square" lIns="0" tIns="0" rIns="0" bIns="0" rtlCol="0">
            <a:spAutoFit/>
          </a:bodyPr>
          <a:lstStyle/>
          <a:p>
            <a:r>
              <a:rPr lang="en-US" sz="1200" dirty="0"/>
              <a:t>10</a:t>
            </a:r>
          </a:p>
        </p:txBody>
      </p:sp>
      <p:sp>
        <p:nvSpPr>
          <p:cNvPr id="65" name="TextBox 64"/>
          <p:cNvSpPr txBox="1"/>
          <p:nvPr/>
        </p:nvSpPr>
        <p:spPr>
          <a:xfrm>
            <a:off x="1554513" y="3337561"/>
            <a:ext cx="182878" cy="184666"/>
          </a:xfrm>
          <a:prstGeom prst="rect">
            <a:avLst/>
          </a:prstGeom>
          <a:noFill/>
        </p:spPr>
        <p:txBody>
          <a:bodyPr wrap="square" lIns="0" tIns="0" rIns="0" bIns="0" rtlCol="0">
            <a:spAutoFit/>
          </a:bodyPr>
          <a:lstStyle/>
          <a:p>
            <a:r>
              <a:rPr lang="en-US" sz="1200" dirty="0"/>
              <a:t>20</a:t>
            </a:r>
          </a:p>
        </p:txBody>
      </p:sp>
      <p:sp>
        <p:nvSpPr>
          <p:cNvPr id="66" name="TextBox 65"/>
          <p:cNvSpPr txBox="1"/>
          <p:nvPr/>
        </p:nvSpPr>
        <p:spPr>
          <a:xfrm>
            <a:off x="1554513" y="2423171"/>
            <a:ext cx="182878" cy="184666"/>
          </a:xfrm>
          <a:prstGeom prst="rect">
            <a:avLst/>
          </a:prstGeom>
          <a:noFill/>
        </p:spPr>
        <p:txBody>
          <a:bodyPr wrap="square" lIns="0" tIns="0" rIns="0" bIns="0" rtlCol="0">
            <a:spAutoFit/>
          </a:bodyPr>
          <a:lstStyle/>
          <a:p>
            <a:r>
              <a:rPr lang="en-US" sz="1200" dirty="0"/>
              <a:t>30</a:t>
            </a:r>
          </a:p>
        </p:txBody>
      </p:sp>
      <p:sp>
        <p:nvSpPr>
          <p:cNvPr id="67" name="TextBox 66"/>
          <p:cNvSpPr txBox="1"/>
          <p:nvPr/>
        </p:nvSpPr>
        <p:spPr>
          <a:xfrm>
            <a:off x="1554513" y="1508781"/>
            <a:ext cx="182878" cy="184666"/>
          </a:xfrm>
          <a:prstGeom prst="rect">
            <a:avLst/>
          </a:prstGeom>
          <a:noFill/>
        </p:spPr>
        <p:txBody>
          <a:bodyPr wrap="square" lIns="0" tIns="0" rIns="0" bIns="0" rtlCol="0">
            <a:spAutoFit/>
          </a:bodyPr>
          <a:lstStyle/>
          <a:p>
            <a:r>
              <a:rPr lang="en-US" sz="1200" dirty="0"/>
              <a:t>40</a:t>
            </a:r>
          </a:p>
        </p:txBody>
      </p:sp>
      <p:sp>
        <p:nvSpPr>
          <p:cNvPr id="36" name="Freeform 35"/>
          <p:cNvSpPr/>
          <p:nvPr/>
        </p:nvSpPr>
        <p:spPr>
          <a:xfrm>
            <a:off x="1828800" y="4183811"/>
            <a:ext cx="1725283" cy="1078302"/>
          </a:xfrm>
          <a:custGeom>
            <a:avLst/>
            <a:gdLst>
              <a:gd name="connsiteX0" fmla="*/ 0 w 1725283"/>
              <a:gd name="connsiteY0" fmla="*/ 1078302 h 1078302"/>
              <a:gd name="connsiteX1" fmla="*/ 8626 w 1725283"/>
              <a:gd name="connsiteY1" fmla="*/ 0 h 1078302"/>
              <a:gd name="connsiteX2" fmla="*/ 1069675 w 1725283"/>
              <a:gd name="connsiteY2" fmla="*/ 414068 h 1078302"/>
              <a:gd name="connsiteX3" fmla="*/ 1725283 w 1725283"/>
              <a:gd name="connsiteY3" fmla="*/ 1069676 h 1078302"/>
              <a:gd name="connsiteX4" fmla="*/ 0 w 1725283"/>
              <a:gd name="connsiteY4" fmla="*/ 1078302 h 1078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5283" h="1078302">
                <a:moveTo>
                  <a:pt x="0" y="1078302"/>
                </a:moveTo>
                <a:cubicBezTo>
                  <a:pt x="2875" y="718868"/>
                  <a:pt x="5751" y="359434"/>
                  <a:pt x="8626" y="0"/>
                </a:cubicBezTo>
                <a:lnTo>
                  <a:pt x="1069675" y="414068"/>
                </a:lnTo>
                <a:lnTo>
                  <a:pt x="1725283" y="1069676"/>
                </a:lnTo>
                <a:lnTo>
                  <a:pt x="0" y="1078302"/>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p:cNvCxnSpPr/>
          <p:nvPr/>
        </p:nvCxnSpPr>
        <p:spPr>
          <a:xfrm>
            <a:off x="1463074" y="4800585"/>
            <a:ext cx="548632" cy="0"/>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792523" y="4526268"/>
            <a:ext cx="944868" cy="492443"/>
          </a:xfrm>
          <a:prstGeom prst="rect">
            <a:avLst/>
          </a:prstGeom>
          <a:noFill/>
        </p:spPr>
        <p:txBody>
          <a:bodyPr wrap="square" lIns="0" tIns="0" rIns="0" bIns="0" rtlCol="0">
            <a:spAutoFit/>
          </a:bodyPr>
          <a:lstStyle/>
          <a:p>
            <a:r>
              <a:rPr lang="en-US" sz="1600" dirty="0"/>
              <a:t>Feasible region</a:t>
            </a:r>
          </a:p>
        </p:txBody>
      </p:sp>
      <p:sp>
        <p:nvSpPr>
          <p:cNvPr id="42"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11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Picture 98" descr="txp_fig.png"/>
          <p:cNvPicPr>
            <a:picLocks noChangeAspect="1"/>
          </p:cNvPicPr>
          <p:nvPr>
            <p:custDataLst>
              <p:tags r:id="rId1"/>
            </p:custDataLst>
          </p:nvPr>
        </p:nvPicPr>
        <p:blipFill>
          <a:blip r:embed="rId19" cstate="print">
            <a:lum/>
          </a:blip>
          <a:stretch>
            <a:fillRect/>
          </a:stretch>
        </p:blipFill>
        <p:spPr>
          <a:xfrm>
            <a:off x="2580370" y="4776862"/>
            <a:ext cx="421073" cy="177959"/>
          </a:xfrm>
          <a:prstGeom prst="rect">
            <a:avLst/>
          </a:prstGeom>
        </p:spPr>
      </p:pic>
      <p:pic>
        <p:nvPicPr>
          <p:cNvPr id="100" name="Picture 99" descr="txp_fig.png"/>
          <p:cNvPicPr>
            <a:picLocks noChangeAspect="1"/>
          </p:cNvPicPr>
          <p:nvPr>
            <p:custDataLst>
              <p:tags r:id="rId2"/>
            </p:custDataLst>
          </p:nvPr>
        </p:nvPicPr>
        <p:blipFill>
          <a:blip r:embed="rId20" cstate="print">
            <a:lum/>
          </a:blip>
          <a:stretch>
            <a:fillRect/>
          </a:stretch>
        </p:blipFill>
        <p:spPr>
          <a:xfrm>
            <a:off x="2551821" y="4953506"/>
            <a:ext cx="534851" cy="112805"/>
          </a:xfrm>
          <a:prstGeom prst="rect">
            <a:avLst/>
          </a:prstGeom>
        </p:spPr>
      </p:pic>
      <p:pic>
        <p:nvPicPr>
          <p:cNvPr id="94" name="Picture 93" descr="txp_fig.png"/>
          <p:cNvPicPr>
            <a:picLocks noChangeAspect="1"/>
          </p:cNvPicPr>
          <p:nvPr>
            <p:custDataLst>
              <p:tags r:id="rId3"/>
            </p:custDataLst>
          </p:nvPr>
        </p:nvPicPr>
        <p:blipFill>
          <a:blip r:embed="rId21" cstate="print">
            <a:lum/>
          </a:blip>
          <a:stretch>
            <a:fillRect/>
          </a:stretch>
        </p:blipFill>
        <p:spPr>
          <a:xfrm>
            <a:off x="1362177" y="4561213"/>
            <a:ext cx="355918" cy="177958"/>
          </a:xfrm>
          <a:prstGeom prst="rect">
            <a:avLst/>
          </a:prstGeom>
        </p:spPr>
      </p:pic>
      <p:pic>
        <p:nvPicPr>
          <p:cNvPr id="95" name="Picture 94" descr="txp_fig.png"/>
          <p:cNvPicPr>
            <a:picLocks noChangeAspect="1"/>
          </p:cNvPicPr>
          <p:nvPr>
            <p:custDataLst>
              <p:tags r:id="rId4"/>
            </p:custDataLst>
          </p:nvPr>
        </p:nvPicPr>
        <p:blipFill>
          <a:blip r:embed="rId22" cstate="print">
            <a:lum/>
          </a:blip>
          <a:stretch>
            <a:fillRect/>
          </a:stretch>
        </p:blipFill>
        <p:spPr>
          <a:xfrm>
            <a:off x="1301051" y="4737856"/>
            <a:ext cx="534851" cy="112805"/>
          </a:xfrm>
          <a:prstGeom prst="rect">
            <a:avLst/>
          </a:prstGeom>
        </p:spPr>
      </p:pic>
      <p:pic>
        <p:nvPicPr>
          <p:cNvPr id="81" name="Picture 80" descr="txp_fig.png"/>
          <p:cNvPicPr>
            <a:picLocks noChangeAspect="1"/>
          </p:cNvPicPr>
          <p:nvPr>
            <p:custDataLst>
              <p:tags r:id="rId5"/>
            </p:custDataLst>
          </p:nvPr>
        </p:nvPicPr>
        <p:blipFill>
          <a:blip r:embed="rId23" cstate="print">
            <a:lum/>
          </a:blip>
          <a:stretch>
            <a:fillRect/>
          </a:stretch>
        </p:blipFill>
        <p:spPr>
          <a:xfrm>
            <a:off x="1635639" y="5343448"/>
            <a:ext cx="355920" cy="177959"/>
          </a:xfrm>
          <a:prstGeom prst="rect">
            <a:avLst/>
          </a:prstGeom>
        </p:spPr>
      </p:pic>
      <p:pic>
        <p:nvPicPr>
          <p:cNvPr id="73" name="Picture 72" descr="txp_fig.png"/>
          <p:cNvPicPr>
            <a:picLocks noChangeAspect="1"/>
          </p:cNvPicPr>
          <p:nvPr>
            <p:custDataLst>
              <p:tags r:id="rId6"/>
            </p:custDataLst>
          </p:nvPr>
        </p:nvPicPr>
        <p:blipFill>
          <a:blip r:embed="rId24" cstate="print">
            <a:lum/>
          </a:blip>
          <a:stretch>
            <a:fillRect/>
          </a:stretch>
        </p:blipFill>
        <p:spPr>
          <a:xfrm>
            <a:off x="1651846" y="5531138"/>
            <a:ext cx="388984" cy="112805"/>
          </a:xfrm>
          <a:prstGeom prst="rect">
            <a:avLst/>
          </a:prstGeom>
        </p:spPr>
      </p:pic>
      <p:sp>
        <p:nvSpPr>
          <p:cNvPr id="5" name="Title 4"/>
          <p:cNvSpPr>
            <a:spLocks noGrp="1"/>
          </p:cNvSpPr>
          <p:nvPr>
            <p:ph type="title"/>
          </p:nvPr>
        </p:nvSpPr>
        <p:spPr>
          <a:xfrm>
            <a:off x="457200" y="45757"/>
            <a:ext cx="8229600" cy="1143000"/>
          </a:xfrm>
        </p:spPr>
        <p:txBody>
          <a:bodyPr/>
          <a:lstStyle/>
          <a:p>
            <a:r>
              <a:rPr lang="en-US"/>
              <a:t>Model of Factory A</a:t>
            </a:r>
            <a:endParaRPr lang="en-US" dirty="0"/>
          </a:p>
        </p:txBody>
      </p:sp>
      <p:pic>
        <p:nvPicPr>
          <p:cNvPr id="8" name="Content Placeholder 7" descr="txp_fig.png"/>
          <p:cNvPicPr>
            <a:picLocks noGrp="1" noChangeAspect="1"/>
          </p:cNvPicPr>
          <p:nvPr>
            <p:ph idx="1"/>
            <p:custDataLst>
              <p:tags r:id="rId7"/>
            </p:custDataLst>
          </p:nvPr>
        </p:nvPicPr>
        <p:blipFill>
          <a:blip r:embed="rId25" cstate="print">
            <a:lum/>
          </a:blip>
          <a:stretch>
            <a:fillRect/>
          </a:stretch>
        </p:blipFill>
        <p:spPr>
          <a:xfrm>
            <a:off x="5943585" y="960147"/>
            <a:ext cx="2774568" cy="1595377"/>
          </a:xfrm>
        </p:spPr>
      </p:pic>
      <p:cxnSp>
        <p:nvCxnSpPr>
          <p:cNvPr id="10" name="Straight Arrow Connector 9"/>
          <p:cNvCxnSpPr/>
          <p:nvPr/>
        </p:nvCxnSpPr>
        <p:spPr>
          <a:xfrm>
            <a:off x="918468" y="5257780"/>
            <a:ext cx="42061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832858" y="1234464"/>
            <a:ext cx="0" cy="49377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649980" y="1234464"/>
            <a:ext cx="2377414" cy="47548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descr="txp_fig.png"/>
          <p:cNvPicPr>
            <a:picLocks noChangeAspect="1"/>
          </p:cNvPicPr>
          <p:nvPr>
            <p:custDataLst>
              <p:tags r:id="rId8"/>
            </p:custDataLst>
          </p:nvPr>
        </p:nvPicPr>
        <p:blipFill>
          <a:blip r:embed="rId26" cstate="print">
            <a:lum/>
          </a:blip>
          <a:stretch>
            <a:fillRect/>
          </a:stretch>
        </p:blipFill>
        <p:spPr>
          <a:xfrm>
            <a:off x="1009907" y="1051586"/>
            <a:ext cx="1069707" cy="161428"/>
          </a:xfrm>
          <a:prstGeom prst="rect">
            <a:avLst/>
          </a:prstGeom>
        </p:spPr>
      </p:pic>
      <p:cxnSp>
        <p:nvCxnSpPr>
          <p:cNvPr id="24" name="Straight Arrow Connector 23"/>
          <p:cNvCxnSpPr/>
          <p:nvPr/>
        </p:nvCxnSpPr>
        <p:spPr>
          <a:xfrm flipH="1">
            <a:off x="1375663" y="1234464"/>
            <a:ext cx="274317" cy="182878"/>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pic>
        <p:nvPicPr>
          <p:cNvPr id="25" name="Picture 24" descr="txp_fig.png"/>
          <p:cNvPicPr>
            <a:picLocks noChangeAspect="1"/>
          </p:cNvPicPr>
          <p:nvPr>
            <p:custDataLst>
              <p:tags r:id="rId9"/>
            </p:custDataLst>
          </p:nvPr>
        </p:nvPicPr>
        <p:blipFill>
          <a:blip r:embed="rId27" cstate="print">
            <a:lum/>
          </a:blip>
          <a:stretch>
            <a:fillRect/>
          </a:stretch>
        </p:blipFill>
        <p:spPr>
          <a:xfrm>
            <a:off x="461273" y="3703317"/>
            <a:ext cx="1069707" cy="145869"/>
          </a:xfrm>
          <a:prstGeom prst="rect">
            <a:avLst/>
          </a:prstGeom>
        </p:spPr>
      </p:pic>
      <p:pic>
        <p:nvPicPr>
          <p:cNvPr id="26" name="Picture 25" descr="txp_fig.png"/>
          <p:cNvPicPr>
            <a:picLocks noChangeAspect="1"/>
          </p:cNvPicPr>
          <p:nvPr>
            <p:custDataLst>
              <p:tags r:id="rId10"/>
            </p:custDataLst>
          </p:nvPr>
        </p:nvPicPr>
        <p:blipFill>
          <a:blip r:embed="rId28" cstate="print">
            <a:lum/>
          </a:blip>
          <a:stretch>
            <a:fillRect/>
          </a:stretch>
        </p:blipFill>
        <p:spPr>
          <a:xfrm>
            <a:off x="4301711" y="5806414"/>
            <a:ext cx="1069707" cy="161428"/>
          </a:xfrm>
          <a:prstGeom prst="rect">
            <a:avLst/>
          </a:prstGeom>
        </p:spPr>
      </p:pic>
      <p:pic>
        <p:nvPicPr>
          <p:cNvPr id="27" name="Picture 26" descr="txp_fig.png"/>
          <p:cNvPicPr>
            <a:picLocks noChangeAspect="1"/>
          </p:cNvPicPr>
          <p:nvPr>
            <p:custDataLst>
              <p:tags r:id="rId11"/>
            </p:custDataLst>
          </p:nvPr>
        </p:nvPicPr>
        <p:blipFill>
          <a:blip r:embed="rId29" cstate="print">
            <a:lum/>
          </a:blip>
          <a:stretch>
            <a:fillRect/>
          </a:stretch>
        </p:blipFill>
        <p:spPr>
          <a:xfrm>
            <a:off x="2294081" y="2094424"/>
            <a:ext cx="453167" cy="145869"/>
          </a:xfrm>
          <a:prstGeom prst="rect">
            <a:avLst/>
          </a:prstGeom>
        </p:spPr>
      </p:pic>
      <p:pic>
        <p:nvPicPr>
          <p:cNvPr id="28" name="Picture 27" descr="txp_fig.png"/>
          <p:cNvPicPr>
            <a:picLocks noChangeAspect="1"/>
          </p:cNvPicPr>
          <p:nvPr>
            <p:custDataLst>
              <p:tags r:id="rId12"/>
            </p:custDataLst>
          </p:nvPr>
        </p:nvPicPr>
        <p:blipFill>
          <a:blip r:embed="rId30" cstate="print">
            <a:lum/>
          </a:blip>
          <a:stretch>
            <a:fillRect/>
          </a:stretch>
        </p:blipFill>
        <p:spPr>
          <a:xfrm>
            <a:off x="4941784" y="4983463"/>
            <a:ext cx="453167" cy="145869"/>
          </a:xfrm>
          <a:prstGeom prst="rect">
            <a:avLst/>
          </a:prstGeom>
        </p:spPr>
      </p:pic>
      <p:cxnSp>
        <p:nvCxnSpPr>
          <p:cNvPr id="31" name="Straight Connector 30"/>
          <p:cNvCxnSpPr/>
          <p:nvPr/>
        </p:nvCxnSpPr>
        <p:spPr>
          <a:xfrm flipH="1" flipV="1">
            <a:off x="1101346" y="3886195"/>
            <a:ext cx="3474682" cy="13715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918468" y="3886195"/>
            <a:ext cx="182880" cy="365756"/>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825388" y="3520442"/>
            <a:ext cx="2468853" cy="24688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a:off x="4027394" y="5989292"/>
            <a:ext cx="274319" cy="274317"/>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flipV="1">
            <a:off x="4850345" y="4709146"/>
            <a:ext cx="2" cy="548634"/>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1832860" y="2331732"/>
            <a:ext cx="548632" cy="0"/>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274322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65761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57200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2651781" y="5349219"/>
            <a:ext cx="182878" cy="184666"/>
          </a:xfrm>
          <a:prstGeom prst="rect">
            <a:avLst/>
          </a:prstGeom>
          <a:noFill/>
        </p:spPr>
        <p:txBody>
          <a:bodyPr wrap="square" lIns="0" tIns="0" rIns="0" bIns="0" rtlCol="0">
            <a:spAutoFit/>
          </a:bodyPr>
          <a:lstStyle/>
          <a:p>
            <a:r>
              <a:rPr lang="en-US" sz="1200" dirty="0"/>
              <a:t>10</a:t>
            </a:r>
          </a:p>
        </p:txBody>
      </p:sp>
      <p:sp>
        <p:nvSpPr>
          <p:cNvPr id="55" name="TextBox 54"/>
          <p:cNvSpPr txBox="1"/>
          <p:nvPr/>
        </p:nvSpPr>
        <p:spPr>
          <a:xfrm>
            <a:off x="3566171" y="5349219"/>
            <a:ext cx="182878" cy="184666"/>
          </a:xfrm>
          <a:prstGeom prst="rect">
            <a:avLst/>
          </a:prstGeom>
          <a:noFill/>
        </p:spPr>
        <p:txBody>
          <a:bodyPr wrap="square" lIns="0" tIns="0" rIns="0" bIns="0" rtlCol="0">
            <a:spAutoFit/>
          </a:bodyPr>
          <a:lstStyle/>
          <a:p>
            <a:r>
              <a:rPr lang="en-US" sz="1200" dirty="0"/>
              <a:t>20</a:t>
            </a:r>
          </a:p>
        </p:txBody>
      </p:sp>
      <p:sp>
        <p:nvSpPr>
          <p:cNvPr id="56" name="TextBox 55"/>
          <p:cNvSpPr txBox="1"/>
          <p:nvPr/>
        </p:nvSpPr>
        <p:spPr>
          <a:xfrm>
            <a:off x="4480561" y="5349219"/>
            <a:ext cx="182878" cy="184666"/>
          </a:xfrm>
          <a:prstGeom prst="rect">
            <a:avLst/>
          </a:prstGeom>
          <a:noFill/>
        </p:spPr>
        <p:txBody>
          <a:bodyPr wrap="square" lIns="0" tIns="0" rIns="0" bIns="0" rtlCol="0">
            <a:spAutoFit/>
          </a:bodyPr>
          <a:lstStyle/>
          <a:p>
            <a:r>
              <a:rPr lang="en-US" sz="1200" dirty="0"/>
              <a:t>30</a:t>
            </a:r>
          </a:p>
        </p:txBody>
      </p:sp>
      <p:cxnSp>
        <p:nvCxnSpPr>
          <p:cNvPr id="57" name="Straight Connector 56"/>
          <p:cNvCxnSpPr/>
          <p:nvPr/>
        </p:nvCxnSpPr>
        <p:spPr>
          <a:xfrm flipH="1">
            <a:off x="1737391" y="434339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1737391" y="342900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H="1">
            <a:off x="1737391" y="251461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1737391" y="160022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554513" y="4251951"/>
            <a:ext cx="182878" cy="184666"/>
          </a:xfrm>
          <a:prstGeom prst="rect">
            <a:avLst/>
          </a:prstGeom>
          <a:noFill/>
        </p:spPr>
        <p:txBody>
          <a:bodyPr wrap="square" lIns="0" tIns="0" rIns="0" bIns="0" rtlCol="0">
            <a:spAutoFit/>
          </a:bodyPr>
          <a:lstStyle/>
          <a:p>
            <a:r>
              <a:rPr lang="en-US" sz="1200" dirty="0"/>
              <a:t>10</a:t>
            </a:r>
          </a:p>
        </p:txBody>
      </p:sp>
      <p:sp>
        <p:nvSpPr>
          <p:cNvPr id="65" name="TextBox 64"/>
          <p:cNvSpPr txBox="1"/>
          <p:nvPr/>
        </p:nvSpPr>
        <p:spPr>
          <a:xfrm>
            <a:off x="1554513" y="3337561"/>
            <a:ext cx="182878" cy="184666"/>
          </a:xfrm>
          <a:prstGeom prst="rect">
            <a:avLst/>
          </a:prstGeom>
          <a:noFill/>
        </p:spPr>
        <p:txBody>
          <a:bodyPr wrap="square" lIns="0" tIns="0" rIns="0" bIns="0" rtlCol="0">
            <a:spAutoFit/>
          </a:bodyPr>
          <a:lstStyle/>
          <a:p>
            <a:r>
              <a:rPr lang="en-US" sz="1200" dirty="0"/>
              <a:t>20</a:t>
            </a:r>
          </a:p>
        </p:txBody>
      </p:sp>
      <p:sp>
        <p:nvSpPr>
          <p:cNvPr id="66" name="TextBox 65"/>
          <p:cNvSpPr txBox="1"/>
          <p:nvPr/>
        </p:nvSpPr>
        <p:spPr>
          <a:xfrm>
            <a:off x="1554513" y="2423171"/>
            <a:ext cx="182878" cy="184666"/>
          </a:xfrm>
          <a:prstGeom prst="rect">
            <a:avLst/>
          </a:prstGeom>
          <a:noFill/>
        </p:spPr>
        <p:txBody>
          <a:bodyPr wrap="square" lIns="0" tIns="0" rIns="0" bIns="0" rtlCol="0">
            <a:spAutoFit/>
          </a:bodyPr>
          <a:lstStyle/>
          <a:p>
            <a:r>
              <a:rPr lang="en-US" sz="1200" dirty="0"/>
              <a:t>30</a:t>
            </a:r>
          </a:p>
        </p:txBody>
      </p:sp>
      <p:sp>
        <p:nvSpPr>
          <p:cNvPr id="67" name="TextBox 66"/>
          <p:cNvSpPr txBox="1"/>
          <p:nvPr/>
        </p:nvSpPr>
        <p:spPr>
          <a:xfrm>
            <a:off x="1554513" y="1508781"/>
            <a:ext cx="182878" cy="184666"/>
          </a:xfrm>
          <a:prstGeom prst="rect">
            <a:avLst/>
          </a:prstGeom>
          <a:noFill/>
        </p:spPr>
        <p:txBody>
          <a:bodyPr wrap="square" lIns="0" tIns="0" rIns="0" bIns="0" rtlCol="0">
            <a:spAutoFit/>
          </a:bodyPr>
          <a:lstStyle/>
          <a:p>
            <a:r>
              <a:rPr lang="en-US" sz="1200" dirty="0"/>
              <a:t>40</a:t>
            </a:r>
          </a:p>
        </p:txBody>
      </p:sp>
      <p:sp>
        <p:nvSpPr>
          <p:cNvPr id="70" name="Content Placeholder 2"/>
          <p:cNvSpPr txBox="1">
            <a:spLocks/>
          </p:cNvSpPr>
          <p:nvPr/>
        </p:nvSpPr>
        <p:spPr>
          <a:xfrm>
            <a:off x="5212028" y="3109251"/>
            <a:ext cx="3840483" cy="223996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sz="3200" dirty="0"/>
              <a:t>	This is all nice and well. But how do we maximize the objective?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71" name="Oval 70"/>
          <p:cNvSpPr/>
          <p:nvPr/>
        </p:nvSpPr>
        <p:spPr>
          <a:xfrm flipV="1">
            <a:off x="1811578" y="5246564"/>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4" name="Picture 83" descr="txp_fig.png"/>
          <p:cNvPicPr>
            <a:picLocks noChangeAspect="1"/>
          </p:cNvPicPr>
          <p:nvPr>
            <p:custDataLst>
              <p:tags r:id="rId13"/>
            </p:custDataLst>
          </p:nvPr>
        </p:nvPicPr>
        <p:blipFill>
          <a:blip r:embed="rId31" cstate="print">
            <a:lum/>
          </a:blip>
          <a:stretch>
            <a:fillRect/>
          </a:stretch>
        </p:blipFill>
        <p:spPr>
          <a:xfrm>
            <a:off x="2150171" y="4909200"/>
            <a:ext cx="355919" cy="177959"/>
          </a:xfrm>
          <a:prstGeom prst="rect">
            <a:avLst/>
          </a:prstGeom>
        </p:spPr>
      </p:pic>
      <p:pic>
        <p:nvPicPr>
          <p:cNvPr id="85" name="Picture 84" descr="txp_fig.png"/>
          <p:cNvPicPr>
            <a:picLocks noChangeAspect="1"/>
          </p:cNvPicPr>
          <p:nvPr>
            <p:custDataLst>
              <p:tags r:id="rId14"/>
            </p:custDataLst>
          </p:nvPr>
        </p:nvPicPr>
        <p:blipFill>
          <a:blip r:embed="rId32" cstate="print">
            <a:lum/>
          </a:blip>
          <a:stretch>
            <a:fillRect/>
          </a:stretch>
        </p:blipFill>
        <p:spPr>
          <a:xfrm>
            <a:off x="2089611" y="5091367"/>
            <a:ext cx="534852" cy="112805"/>
          </a:xfrm>
          <a:prstGeom prst="rect">
            <a:avLst/>
          </a:prstGeom>
        </p:spPr>
      </p:pic>
      <p:pic>
        <p:nvPicPr>
          <p:cNvPr id="89" name="Picture 88" descr="txp_fig.png"/>
          <p:cNvPicPr>
            <a:picLocks noChangeAspect="1"/>
          </p:cNvPicPr>
          <p:nvPr>
            <p:custDataLst>
              <p:tags r:id="rId15"/>
            </p:custDataLst>
          </p:nvPr>
        </p:nvPicPr>
        <p:blipFill>
          <a:blip r:embed="rId33" cstate="print">
            <a:lum/>
          </a:blip>
          <a:stretch>
            <a:fillRect/>
          </a:stretch>
        </p:blipFill>
        <p:spPr>
          <a:xfrm>
            <a:off x="2830524" y="5354804"/>
            <a:ext cx="421073" cy="177959"/>
          </a:xfrm>
          <a:prstGeom prst="rect">
            <a:avLst/>
          </a:prstGeom>
        </p:spPr>
      </p:pic>
      <p:pic>
        <p:nvPicPr>
          <p:cNvPr id="90" name="Picture 89" descr="txp_fig.png"/>
          <p:cNvPicPr>
            <a:picLocks noChangeAspect="1"/>
          </p:cNvPicPr>
          <p:nvPr>
            <p:custDataLst>
              <p:tags r:id="rId16"/>
            </p:custDataLst>
          </p:nvPr>
        </p:nvPicPr>
        <p:blipFill>
          <a:blip r:embed="rId34" cstate="print">
            <a:lum/>
          </a:blip>
          <a:stretch>
            <a:fillRect/>
          </a:stretch>
        </p:blipFill>
        <p:spPr>
          <a:xfrm>
            <a:off x="2801975" y="5531448"/>
            <a:ext cx="534851" cy="112805"/>
          </a:xfrm>
          <a:prstGeom prst="rect">
            <a:avLst/>
          </a:prstGeom>
        </p:spPr>
      </p:pic>
      <p:sp>
        <p:nvSpPr>
          <p:cNvPr id="105"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12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0.00121 0.00046 L -0.00053 -0.09398 " pathEditMode="relative" rAng="0" ptsTypes="AA">
                                      <p:cBhvr>
                                        <p:cTn id="6" dur="2000" fill="hold"/>
                                        <p:tgtEl>
                                          <p:spTgt spid="71"/>
                                        </p:tgtEl>
                                        <p:attrNameLst>
                                          <p:attrName>ppt_x</p:attrName>
                                          <p:attrName>ppt_y</p:attrName>
                                        </p:attrNameLst>
                                      </p:cBhvr>
                                      <p:rCtr x="-100" y="-4700"/>
                                    </p:animMotion>
                                  </p:childTnLst>
                                </p:cTn>
                              </p:par>
                              <p:par>
                                <p:cTn id="7" presetID="1" presetClass="exit" presetSubtype="0" fill="hold" nodeType="withEffect">
                                  <p:stCondLst>
                                    <p:cond delay="0"/>
                                  </p:stCondLst>
                                  <p:childTnLst>
                                    <p:set>
                                      <p:cBhvr>
                                        <p:cTn id="8" dur="1" fill="hold">
                                          <p:stCondLst>
                                            <p:cond delay="0"/>
                                          </p:stCondLst>
                                        </p:cTn>
                                        <p:tgtEl>
                                          <p:spTgt spid="8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grpId="1" nodeType="clickEffect">
                                  <p:stCondLst>
                                    <p:cond delay="0"/>
                                  </p:stCondLst>
                                  <p:childTnLst>
                                    <p:animMotion origin="layout" path="M -0.00052 -0.09398 L 0.05139 -0.06991 " pathEditMode="relative" rAng="0" ptsTypes="AA">
                                      <p:cBhvr>
                                        <p:cTn id="20" dur="2000" fill="hold"/>
                                        <p:tgtEl>
                                          <p:spTgt spid="71"/>
                                        </p:tgtEl>
                                        <p:attrNameLst>
                                          <p:attrName>ppt_x</p:attrName>
                                          <p:attrName>ppt_y</p:attrName>
                                        </p:attrNameLst>
                                      </p:cBhvr>
                                      <p:rCtr x="2600" y="1200"/>
                                    </p:animMotion>
                                  </p:childTnLst>
                                </p:cTn>
                              </p:par>
                              <p:par>
                                <p:cTn id="21" presetID="1" presetClass="exit" presetSubtype="0" fill="hold" nodeType="withEffect">
                                  <p:stCondLst>
                                    <p:cond delay="0"/>
                                  </p:stCondLst>
                                  <p:childTnLst>
                                    <p:set>
                                      <p:cBhvr>
                                        <p:cTn id="22" dur="1" fill="hold">
                                          <p:stCondLst>
                                            <p:cond delay="0"/>
                                          </p:stCondLst>
                                        </p:cTn>
                                        <p:tgtEl>
                                          <p:spTgt spid="94"/>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95"/>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grpId="2" nodeType="clickEffect">
                                  <p:stCondLst>
                                    <p:cond delay="0"/>
                                  </p:stCondLst>
                                  <p:childTnLst>
                                    <p:animMotion origin="layout" path="M 0.05139 -0.06991 L 0.1316 -0.00209 " pathEditMode="relative" rAng="0" ptsTypes="AA">
                                      <p:cBhvr>
                                        <p:cTn id="34" dur="2000" fill="hold"/>
                                        <p:tgtEl>
                                          <p:spTgt spid="71"/>
                                        </p:tgtEl>
                                        <p:attrNameLst>
                                          <p:attrName>ppt_x</p:attrName>
                                          <p:attrName>ppt_y</p:attrName>
                                        </p:attrNameLst>
                                      </p:cBhvr>
                                      <p:rCtr x="4000" y="3400"/>
                                    </p:animMotion>
                                  </p:childTnLst>
                                </p:cTn>
                              </p:par>
                              <p:par>
                                <p:cTn id="35" presetID="1" presetClass="exit" presetSubtype="0" fill="hold" nodeType="withEffect">
                                  <p:stCondLst>
                                    <p:cond delay="0"/>
                                  </p:stCondLst>
                                  <p:childTnLst>
                                    <p:set>
                                      <p:cBhvr>
                                        <p:cTn id="36" dur="1" fill="hold">
                                          <p:stCondLst>
                                            <p:cond delay="0"/>
                                          </p:stCondLst>
                                        </p:cTn>
                                        <p:tgtEl>
                                          <p:spTgt spid="84"/>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8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grpId="3" nodeType="clickEffect">
                                  <p:stCondLst>
                                    <p:cond delay="0"/>
                                  </p:stCondLst>
                                  <p:childTnLst>
                                    <p:animMotion origin="layout" path="M 0.1316 -0.00209 L 0.10157 -0.08264 " pathEditMode="relative" rAng="0" ptsTypes="AA">
                                      <p:cBhvr>
                                        <p:cTn id="48" dur="2000" fill="hold"/>
                                        <p:tgtEl>
                                          <p:spTgt spid="71"/>
                                        </p:tgtEl>
                                        <p:attrNameLst>
                                          <p:attrName>ppt_x</p:attrName>
                                          <p:attrName>ppt_y</p:attrName>
                                        </p:attrNameLst>
                                      </p:cBhvr>
                                      <p:rCtr x="-1500" y="-4000"/>
                                    </p:animMotion>
                                  </p:childTnLst>
                                </p:cTn>
                              </p:par>
                              <p:par>
                                <p:cTn id="49" presetID="1" presetClass="exit" presetSubtype="0" fill="hold" nodeType="withEffect">
                                  <p:stCondLst>
                                    <p:cond delay="0"/>
                                  </p:stCondLst>
                                  <p:childTnLst>
                                    <p:set>
                                      <p:cBhvr>
                                        <p:cTn id="50" dur="1" fill="hold">
                                          <p:stCondLst>
                                            <p:cond delay="0"/>
                                          </p:stCondLst>
                                        </p:cTn>
                                        <p:tgtEl>
                                          <p:spTgt spid="89"/>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90"/>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9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1" grpId="1" animBg="1"/>
      <p:bldP spid="71" grpId="2" animBg="1"/>
      <p:bldP spid="71" grpId="3"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 name="Picture 113" descr="txp_fig.png"/>
          <p:cNvPicPr>
            <a:picLocks noChangeAspect="1"/>
          </p:cNvPicPr>
          <p:nvPr>
            <p:custDataLst>
              <p:tags r:id="rId1"/>
            </p:custDataLst>
          </p:nvPr>
        </p:nvPicPr>
        <p:blipFill>
          <a:blip r:embed="rId17" cstate="print">
            <a:lum/>
          </a:blip>
          <a:stretch>
            <a:fillRect/>
          </a:stretch>
        </p:blipFill>
        <p:spPr>
          <a:xfrm>
            <a:off x="2529788" y="3652445"/>
            <a:ext cx="501786" cy="177959"/>
          </a:xfrm>
          <a:prstGeom prst="rect">
            <a:avLst/>
          </a:prstGeom>
        </p:spPr>
      </p:pic>
      <p:pic>
        <p:nvPicPr>
          <p:cNvPr id="99" name="Picture 98" descr="txp_fig.png"/>
          <p:cNvPicPr>
            <a:picLocks noChangeAspect="1"/>
          </p:cNvPicPr>
          <p:nvPr>
            <p:custDataLst>
              <p:tags r:id="rId2"/>
            </p:custDataLst>
          </p:nvPr>
        </p:nvPicPr>
        <p:blipFill>
          <a:blip r:embed="rId18" cstate="print">
            <a:lum/>
          </a:blip>
          <a:stretch>
            <a:fillRect/>
          </a:stretch>
        </p:blipFill>
        <p:spPr>
          <a:xfrm>
            <a:off x="2580370" y="4776862"/>
            <a:ext cx="421073" cy="177959"/>
          </a:xfrm>
          <a:prstGeom prst="rect">
            <a:avLst/>
          </a:prstGeom>
        </p:spPr>
      </p:pic>
      <p:pic>
        <p:nvPicPr>
          <p:cNvPr id="100" name="Picture 99" descr="txp_fig.png"/>
          <p:cNvPicPr>
            <a:picLocks noChangeAspect="1"/>
          </p:cNvPicPr>
          <p:nvPr>
            <p:custDataLst>
              <p:tags r:id="rId3"/>
            </p:custDataLst>
          </p:nvPr>
        </p:nvPicPr>
        <p:blipFill>
          <a:blip r:embed="rId19" cstate="print">
            <a:lum/>
          </a:blip>
          <a:stretch>
            <a:fillRect/>
          </a:stretch>
        </p:blipFill>
        <p:spPr>
          <a:xfrm>
            <a:off x="2551821" y="4953506"/>
            <a:ext cx="534851" cy="112805"/>
          </a:xfrm>
          <a:prstGeom prst="rect">
            <a:avLst/>
          </a:prstGeom>
        </p:spPr>
      </p:pic>
      <p:pic>
        <p:nvPicPr>
          <p:cNvPr id="94" name="Picture 93" descr="txp_fig.png"/>
          <p:cNvPicPr>
            <a:picLocks noChangeAspect="1"/>
          </p:cNvPicPr>
          <p:nvPr>
            <p:custDataLst>
              <p:tags r:id="rId4"/>
            </p:custDataLst>
          </p:nvPr>
        </p:nvPicPr>
        <p:blipFill>
          <a:blip r:embed="rId20" cstate="print">
            <a:lum/>
          </a:blip>
          <a:stretch>
            <a:fillRect/>
          </a:stretch>
        </p:blipFill>
        <p:spPr>
          <a:xfrm>
            <a:off x="1362177" y="4561213"/>
            <a:ext cx="355918" cy="177958"/>
          </a:xfrm>
          <a:prstGeom prst="rect">
            <a:avLst/>
          </a:prstGeom>
        </p:spPr>
      </p:pic>
      <p:pic>
        <p:nvPicPr>
          <p:cNvPr id="95" name="Picture 94" descr="txp_fig.png"/>
          <p:cNvPicPr>
            <a:picLocks noChangeAspect="1"/>
          </p:cNvPicPr>
          <p:nvPr>
            <p:custDataLst>
              <p:tags r:id="rId5"/>
            </p:custDataLst>
          </p:nvPr>
        </p:nvPicPr>
        <p:blipFill>
          <a:blip r:embed="rId21" cstate="print">
            <a:lum/>
          </a:blip>
          <a:stretch>
            <a:fillRect/>
          </a:stretch>
        </p:blipFill>
        <p:spPr>
          <a:xfrm>
            <a:off x="1301051" y="4737856"/>
            <a:ext cx="534851" cy="112805"/>
          </a:xfrm>
          <a:prstGeom prst="rect">
            <a:avLst/>
          </a:prstGeom>
        </p:spPr>
      </p:pic>
      <p:pic>
        <p:nvPicPr>
          <p:cNvPr id="81" name="Picture 80" descr="txp_fig.png"/>
          <p:cNvPicPr>
            <a:picLocks noChangeAspect="1"/>
          </p:cNvPicPr>
          <p:nvPr>
            <p:custDataLst>
              <p:tags r:id="rId6"/>
            </p:custDataLst>
          </p:nvPr>
        </p:nvPicPr>
        <p:blipFill>
          <a:blip r:embed="rId22" cstate="print">
            <a:lum/>
          </a:blip>
          <a:stretch>
            <a:fillRect/>
          </a:stretch>
        </p:blipFill>
        <p:spPr>
          <a:xfrm>
            <a:off x="1635639" y="5343448"/>
            <a:ext cx="355920" cy="177959"/>
          </a:xfrm>
          <a:prstGeom prst="rect">
            <a:avLst/>
          </a:prstGeom>
        </p:spPr>
      </p:pic>
      <p:pic>
        <p:nvPicPr>
          <p:cNvPr id="73" name="Picture 72" descr="txp_fig.png"/>
          <p:cNvPicPr>
            <a:picLocks noChangeAspect="1"/>
          </p:cNvPicPr>
          <p:nvPr>
            <p:custDataLst>
              <p:tags r:id="rId7"/>
            </p:custDataLst>
          </p:nvPr>
        </p:nvPicPr>
        <p:blipFill>
          <a:blip r:embed="rId23" cstate="print">
            <a:lum/>
          </a:blip>
          <a:stretch>
            <a:fillRect/>
          </a:stretch>
        </p:blipFill>
        <p:spPr>
          <a:xfrm>
            <a:off x="1651846" y="5531138"/>
            <a:ext cx="388984" cy="112805"/>
          </a:xfrm>
          <a:prstGeom prst="rect">
            <a:avLst/>
          </a:prstGeom>
        </p:spPr>
      </p:pic>
      <p:sp>
        <p:nvSpPr>
          <p:cNvPr id="5" name="Title 4"/>
          <p:cNvSpPr>
            <a:spLocks noGrp="1"/>
          </p:cNvSpPr>
          <p:nvPr>
            <p:ph type="title"/>
          </p:nvPr>
        </p:nvSpPr>
        <p:spPr>
          <a:xfrm>
            <a:off x="457200" y="45757"/>
            <a:ext cx="8229600" cy="1143000"/>
          </a:xfrm>
        </p:spPr>
        <p:txBody>
          <a:bodyPr/>
          <a:lstStyle/>
          <a:p>
            <a:r>
              <a:rPr lang="en-US"/>
              <a:t>Model of Factory A</a:t>
            </a:r>
            <a:endParaRPr lang="en-US" dirty="0"/>
          </a:p>
        </p:txBody>
      </p:sp>
      <p:pic>
        <p:nvPicPr>
          <p:cNvPr id="8" name="Content Placeholder 7" descr="txp_fig.png"/>
          <p:cNvPicPr>
            <a:picLocks noGrp="1" noChangeAspect="1"/>
          </p:cNvPicPr>
          <p:nvPr>
            <p:ph idx="1"/>
            <p:custDataLst>
              <p:tags r:id="rId8"/>
            </p:custDataLst>
          </p:nvPr>
        </p:nvPicPr>
        <p:blipFill>
          <a:blip r:embed="rId24" cstate="print">
            <a:lum/>
          </a:blip>
          <a:stretch>
            <a:fillRect/>
          </a:stretch>
        </p:blipFill>
        <p:spPr>
          <a:xfrm>
            <a:off x="5943585" y="960147"/>
            <a:ext cx="2774568" cy="1595377"/>
          </a:xfrm>
        </p:spPr>
      </p:pic>
      <p:cxnSp>
        <p:nvCxnSpPr>
          <p:cNvPr id="10" name="Straight Arrow Connector 9"/>
          <p:cNvCxnSpPr/>
          <p:nvPr/>
        </p:nvCxnSpPr>
        <p:spPr>
          <a:xfrm>
            <a:off x="918468" y="5257780"/>
            <a:ext cx="42061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832858" y="1234464"/>
            <a:ext cx="0" cy="49377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649980" y="1234464"/>
            <a:ext cx="2377414" cy="47548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flipV="1">
            <a:off x="1101346" y="3886195"/>
            <a:ext cx="3474682" cy="13715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825388" y="3520442"/>
            <a:ext cx="2468853" cy="24688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274322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65761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57200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2651781" y="5349219"/>
            <a:ext cx="182878" cy="184666"/>
          </a:xfrm>
          <a:prstGeom prst="rect">
            <a:avLst/>
          </a:prstGeom>
          <a:noFill/>
        </p:spPr>
        <p:txBody>
          <a:bodyPr wrap="square" lIns="0" tIns="0" rIns="0" bIns="0" rtlCol="0">
            <a:spAutoFit/>
          </a:bodyPr>
          <a:lstStyle/>
          <a:p>
            <a:r>
              <a:rPr lang="en-US" sz="1200" dirty="0"/>
              <a:t>10</a:t>
            </a:r>
          </a:p>
        </p:txBody>
      </p:sp>
      <p:sp>
        <p:nvSpPr>
          <p:cNvPr id="55" name="TextBox 54"/>
          <p:cNvSpPr txBox="1"/>
          <p:nvPr/>
        </p:nvSpPr>
        <p:spPr>
          <a:xfrm>
            <a:off x="3566171" y="5349219"/>
            <a:ext cx="182878" cy="184666"/>
          </a:xfrm>
          <a:prstGeom prst="rect">
            <a:avLst/>
          </a:prstGeom>
          <a:noFill/>
        </p:spPr>
        <p:txBody>
          <a:bodyPr wrap="square" lIns="0" tIns="0" rIns="0" bIns="0" rtlCol="0">
            <a:spAutoFit/>
          </a:bodyPr>
          <a:lstStyle/>
          <a:p>
            <a:r>
              <a:rPr lang="en-US" sz="1200" dirty="0"/>
              <a:t>20</a:t>
            </a:r>
          </a:p>
        </p:txBody>
      </p:sp>
      <p:sp>
        <p:nvSpPr>
          <p:cNvPr id="56" name="TextBox 55"/>
          <p:cNvSpPr txBox="1"/>
          <p:nvPr/>
        </p:nvSpPr>
        <p:spPr>
          <a:xfrm>
            <a:off x="4480561" y="5349219"/>
            <a:ext cx="182878" cy="184666"/>
          </a:xfrm>
          <a:prstGeom prst="rect">
            <a:avLst/>
          </a:prstGeom>
          <a:noFill/>
        </p:spPr>
        <p:txBody>
          <a:bodyPr wrap="square" lIns="0" tIns="0" rIns="0" bIns="0" rtlCol="0">
            <a:spAutoFit/>
          </a:bodyPr>
          <a:lstStyle/>
          <a:p>
            <a:r>
              <a:rPr lang="en-US" sz="1200" dirty="0"/>
              <a:t>30</a:t>
            </a:r>
          </a:p>
        </p:txBody>
      </p:sp>
      <p:cxnSp>
        <p:nvCxnSpPr>
          <p:cNvPr id="57" name="Straight Connector 56"/>
          <p:cNvCxnSpPr/>
          <p:nvPr/>
        </p:nvCxnSpPr>
        <p:spPr>
          <a:xfrm flipH="1">
            <a:off x="1737391" y="434339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1737391" y="342900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H="1">
            <a:off x="1737391" y="251461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1737391" y="160022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554513" y="4251951"/>
            <a:ext cx="182878" cy="184666"/>
          </a:xfrm>
          <a:prstGeom prst="rect">
            <a:avLst/>
          </a:prstGeom>
          <a:noFill/>
        </p:spPr>
        <p:txBody>
          <a:bodyPr wrap="square" lIns="0" tIns="0" rIns="0" bIns="0" rtlCol="0">
            <a:spAutoFit/>
          </a:bodyPr>
          <a:lstStyle/>
          <a:p>
            <a:r>
              <a:rPr lang="en-US" sz="1200" dirty="0"/>
              <a:t>10</a:t>
            </a:r>
          </a:p>
        </p:txBody>
      </p:sp>
      <p:sp>
        <p:nvSpPr>
          <p:cNvPr id="65" name="TextBox 64"/>
          <p:cNvSpPr txBox="1"/>
          <p:nvPr/>
        </p:nvSpPr>
        <p:spPr>
          <a:xfrm>
            <a:off x="1554513" y="3337561"/>
            <a:ext cx="182878" cy="184666"/>
          </a:xfrm>
          <a:prstGeom prst="rect">
            <a:avLst/>
          </a:prstGeom>
          <a:noFill/>
        </p:spPr>
        <p:txBody>
          <a:bodyPr wrap="square" lIns="0" tIns="0" rIns="0" bIns="0" rtlCol="0">
            <a:spAutoFit/>
          </a:bodyPr>
          <a:lstStyle/>
          <a:p>
            <a:r>
              <a:rPr lang="en-US" sz="1200" dirty="0"/>
              <a:t>20</a:t>
            </a:r>
          </a:p>
        </p:txBody>
      </p:sp>
      <p:sp>
        <p:nvSpPr>
          <p:cNvPr id="66" name="TextBox 65"/>
          <p:cNvSpPr txBox="1"/>
          <p:nvPr/>
        </p:nvSpPr>
        <p:spPr>
          <a:xfrm>
            <a:off x="1554513" y="2423171"/>
            <a:ext cx="182878" cy="184666"/>
          </a:xfrm>
          <a:prstGeom prst="rect">
            <a:avLst/>
          </a:prstGeom>
          <a:noFill/>
        </p:spPr>
        <p:txBody>
          <a:bodyPr wrap="square" lIns="0" tIns="0" rIns="0" bIns="0" rtlCol="0">
            <a:spAutoFit/>
          </a:bodyPr>
          <a:lstStyle/>
          <a:p>
            <a:r>
              <a:rPr lang="en-US" sz="1200" dirty="0"/>
              <a:t>30</a:t>
            </a:r>
          </a:p>
        </p:txBody>
      </p:sp>
      <p:sp>
        <p:nvSpPr>
          <p:cNvPr id="67" name="TextBox 66"/>
          <p:cNvSpPr txBox="1"/>
          <p:nvPr/>
        </p:nvSpPr>
        <p:spPr>
          <a:xfrm>
            <a:off x="1554513" y="1508781"/>
            <a:ext cx="182878" cy="184666"/>
          </a:xfrm>
          <a:prstGeom prst="rect">
            <a:avLst/>
          </a:prstGeom>
          <a:noFill/>
        </p:spPr>
        <p:txBody>
          <a:bodyPr wrap="square" lIns="0" tIns="0" rIns="0" bIns="0" rtlCol="0">
            <a:spAutoFit/>
          </a:bodyPr>
          <a:lstStyle/>
          <a:p>
            <a:r>
              <a:rPr lang="en-US" sz="1200" dirty="0"/>
              <a:t>40</a:t>
            </a:r>
          </a:p>
        </p:txBody>
      </p:sp>
      <p:sp>
        <p:nvSpPr>
          <p:cNvPr id="70" name="Content Placeholder 2"/>
          <p:cNvSpPr txBox="1">
            <a:spLocks/>
          </p:cNvSpPr>
          <p:nvPr/>
        </p:nvSpPr>
        <p:spPr>
          <a:xfrm>
            <a:off x="5572664" y="3109251"/>
            <a:ext cx="3479847" cy="223996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400" noProof="0" dirty="0"/>
              <a:t>What is the red arrow?</a:t>
            </a:r>
          </a:p>
          <a:p>
            <a:pPr marL="800100" lvl="1" indent="-342900">
              <a:spcBef>
                <a:spcPct val="20000"/>
              </a:spcBef>
              <a:buFont typeface="Arial" pitchFamily="34" charset="0"/>
              <a:buChar char="•"/>
            </a:pPr>
            <a:r>
              <a:rPr lang="en-US" sz="2400" noProof="0" dirty="0"/>
              <a:t>The vector (10, 15).</a:t>
            </a:r>
          </a:p>
          <a:p>
            <a:pPr marL="800100" lvl="1" indent="-342900">
              <a:spcBef>
                <a:spcPct val="20000"/>
              </a:spcBef>
              <a:buFont typeface="Arial" pitchFamily="34" charset="0"/>
              <a:buChar char="•"/>
            </a:pPr>
            <a:r>
              <a:rPr lang="en-US" sz="2400" dirty="0"/>
              <a:t>The gradient of the objective </a:t>
            </a:r>
            <a:endParaRPr lang="en-US" sz="2400" noProof="0" dirty="0"/>
          </a:p>
        </p:txBody>
      </p:sp>
      <p:sp>
        <p:nvSpPr>
          <p:cNvPr id="71" name="Oval 70"/>
          <p:cNvSpPr/>
          <p:nvPr/>
        </p:nvSpPr>
        <p:spPr>
          <a:xfrm flipV="1">
            <a:off x="1811578" y="5246564"/>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4" name="Picture 83" descr="txp_fig.png"/>
          <p:cNvPicPr>
            <a:picLocks noChangeAspect="1"/>
          </p:cNvPicPr>
          <p:nvPr>
            <p:custDataLst>
              <p:tags r:id="rId9"/>
            </p:custDataLst>
          </p:nvPr>
        </p:nvPicPr>
        <p:blipFill>
          <a:blip r:embed="rId25" cstate="print">
            <a:lum/>
          </a:blip>
          <a:stretch>
            <a:fillRect/>
          </a:stretch>
        </p:blipFill>
        <p:spPr>
          <a:xfrm>
            <a:off x="2150171" y="4909200"/>
            <a:ext cx="355919" cy="177959"/>
          </a:xfrm>
          <a:prstGeom prst="rect">
            <a:avLst/>
          </a:prstGeom>
        </p:spPr>
      </p:pic>
      <p:pic>
        <p:nvPicPr>
          <p:cNvPr id="85" name="Picture 84" descr="txp_fig.png"/>
          <p:cNvPicPr>
            <a:picLocks noChangeAspect="1"/>
          </p:cNvPicPr>
          <p:nvPr>
            <p:custDataLst>
              <p:tags r:id="rId10"/>
            </p:custDataLst>
          </p:nvPr>
        </p:nvPicPr>
        <p:blipFill>
          <a:blip r:embed="rId26" cstate="print">
            <a:lum/>
          </a:blip>
          <a:stretch>
            <a:fillRect/>
          </a:stretch>
        </p:blipFill>
        <p:spPr>
          <a:xfrm>
            <a:off x="2089611" y="5091367"/>
            <a:ext cx="534852" cy="112805"/>
          </a:xfrm>
          <a:prstGeom prst="rect">
            <a:avLst/>
          </a:prstGeom>
        </p:spPr>
      </p:pic>
      <p:pic>
        <p:nvPicPr>
          <p:cNvPr id="89" name="Picture 88" descr="txp_fig.png"/>
          <p:cNvPicPr>
            <a:picLocks noChangeAspect="1"/>
          </p:cNvPicPr>
          <p:nvPr>
            <p:custDataLst>
              <p:tags r:id="rId11"/>
            </p:custDataLst>
          </p:nvPr>
        </p:nvPicPr>
        <p:blipFill>
          <a:blip r:embed="rId27" cstate="print">
            <a:lum/>
          </a:blip>
          <a:stretch>
            <a:fillRect/>
          </a:stretch>
        </p:blipFill>
        <p:spPr>
          <a:xfrm>
            <a:off x="2830524" y="5354804"/>
            <a:ext cx="421073" cy="177959"/>
          </a:xfrm>
          <a:prstGeom prst="rect">
            <a:avLst/>
          </a:prstGeom>
        </p:spPr>
      </p:pic>
      <p:pic>
        <p:nvPicPr>
          <p:cNvPr id="90" name="Picture 89" descr="txp_fig.png"/>
          <p:cNvPicPr>
            <a:picLocks noChangeAspect="1"/>
          </p:cNvPicPr>
          <p:nvPr>
            <p:custDataLst>
              <p:tags r:id="rId12"/>
            </p:custDataLst>
          </p:nvPr>
        </p:nvPicPr>
        <p:blipFill>
          <a:blip r:embed="rId28" cstate="print">
            <a:lum/>
          </a:blip>
          <a:stretch>
            <a:fillRect/>
          </a:stretch>
        </p:blipFill>
        <p:spPr>
          <a:xfrm>
            <a:off x="2801975" y="5531448"/>
            <a:ext cx="534851" cy="112805"/>
          </a:xfrm>
          <a:prstGeom prst="rect">
            <a:avLst/>
          </a:prstGeom>
        </p:spPr>
      </p:pic>
      <p:sp>
        <p:nvSpPr>
          <p:cNvPr id="105"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13</a:t>
            </a:fld>
            <a:endParaRPr lang="en-US" dirty="0"/>
          </a:p>
        </p:txBody>
      </p:sp>
      <p:sp>
        <p:nvSpPr>
          <p:cNvPr id="46" name="Oval 45"/>
          <p:cNvSpPr/>
          <p:nvPr/>
        </p:nvSpPr>
        <p:spPr>
          <a:xfrm flipV="1">
            <a:off x="1808710" y="4605372"/>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flipV="1">
            <a:off x="2283140" y="4777892"/>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flipV="1">
            <a:off x="2981846" y="5226444"/>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flipV="1">
            <a:off x="2705814" y="4683006"/>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733247" y="4511572"/>
            <a:ext cx="2471250" cy="166462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1850602" y="3838755"/>
            <a:ext cx="892598" cy="1412328"/>
          </a:xfrm>
          <a:prstGeom prst="line">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7" name="Picture 76" descr="txp_fig.png"/>
          <p:cNvPicPr>
            <a:picLocks noChangeAspect="1"/>
          </p:cNvPicPr>
          <p:nvPr>
            <p:custDataLst>
              <p:tags r:id="rId13"/>
            </p:custDataLst>
          </p:nvPr>
        </p:nvPicPr>
        <p:blipFill>
          <a:blip r:embed="rId29" cstate="print">
            <a:lum/>
          </a:blip>
          <a:stretch>
            <a:fillRect/>
          </a:stretch>
        </p:blipFill>
        <p:spPr>
          <a:xfrm>
            <a:off x="2389631" y="6193763"/>
            <a:ext cx="1345777" cy="170639"/>
          </a:xfrm>
          <a:prstGeom prst="rect">
            <a:avLst/>
          </a:prstGeom>
        </p:spPr>
      </p:pic>
      <p:cxnSp>
        <p:nvCxnSpPr>
          <p:cNvPr id="79" name="Straight Arrow Connector 78"/>
          <p:cNvCxnSpPr/>
          <p:nvPr/>
        </p:nvCxnSpPr>
        <p:spPr>
          <a:xfrm flipV="1">
            <a:off x="1828800" y="4659728"/>
            <a:ext cx="11394" cy="59375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stCxn id="71" idx="5"/>
            <a:endCxn id="47" idx="2"/>
          </p:cNvCxnSpPr>
          <p:nvPr/>
        </p:nvCxnSpPr>
        <p:spPr>
          <a:xfrm flipV="1">
            <a:off x="1850602" y="4800752"/>
            <a:ext cx="432538" cy="45250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71" idx="5"/>
            <a:endCxn id="48" idx="2"/>
          </p:cNvCxnSpPr>
          <p:nvPr/>
        </p:nvCxnSpPr>
        <p:spPr>
          <a:xfrm flipV="1">
            <a:off x="1850602" y="5249304"/>
            <a:ext cx="1131244" cy="395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71" idx="6"/>
            <a:endCxn id="49" idx="2"/>
          </p:cNvCxnSpPr>
          <p:nvPr/>
        </p:nvCxnSpPr>
        <p:spPr>
          <a:xfrm flipV="1">
            <a:off x="1857297" y="4705866"/>
            <a:ext cx="848517" cy="56355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2" name="Picture 111" descr="txp_fig.png"/>
          <p:cNvPicPr>
            <a:picLocks noChangeAspect="1"/>
          </p:cNvPicPr>
          <p:nvPr>
            <p:custDataLst>
              <p:tags r:id="rId14"/>
            </p:custDataLst>
          </p:nvPr>
        </p:nvPicPr>
        <p:blipFill>
          <a:blip r:embed="rId30" cstate="print">
            <a:lum/>
          </a:blip>
          <a:stretch>
            <a:fillRect/>
          </a:stretch>
        </p:blipFill>
        <p:spPr>
          <a:xfrm>
            <a:off x="6477550" y="4906029"/>
            <a:ext cx="1560518" cy="2702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Picture 67" descr="txp_fig.png"/>
          <p:cNvPicPr>
            <a:picLocks noChangeAspect="1"/>
          </p:cNvPicPr>
          <p:nvPr>
            <p:custDataLst>
              <p:tags r:id="rId1"/>
            </p:custDataLst>
          </p:nvPr>
        </p:nvPicPr>
        <p:blipFill>
          <a:blip r:embed="rId16" cstate="print">
            <a:lum/>
          </a:blip>
          <a:stretch>
            <a:fillRect/>
          </a:stretch>
        </p:blipFill>
        <p:spPr>
          <a:xfrm>
            <a:off x="3424859" y="5658457"/>
            <a:ext cx="1535755" cy="170639"/>
          </a:xfrm>
          <a:prstGeom prst="rect">
            <a:avLst/>
          </a:prstGeom>
        </p:spPr>
      </p:pic>
      <p:pic>
        <p:nvPicPr>
          <p:cNvPr id="114" name="Picture 113" descr="txp_fig.png"/>
          <p:cNvPicPr>
            <a:picLocks noChangeAspect="1"/>
          </p:cNvPicPr>
          <p:nvPr>
            <p:custDataLst>
              <p:tags r:id="rId2"/>
            </p:custDataLst>
          </p:nvPr>
        </p:nvPicPr>
        <p:blipFill>
          <a:blip r:embed="rId17" cstate="print">
            <a:lum/>
          </a:blip>
          <a:stretch>
            <a:fillRect/>
          </a:stretch>
        </p:blipFill>
        <p:spPr>
          <a:xfrm>
            <a:off x="2529788" y="3652445"/>
            <a:ext cx="501786" cy="177959"/>
          </a:xfrm>
          <a:prstGeom prst="rect">
            <a:avLst/>
          </a:prstGeom>
        </p:spPr>
      </p:pic>
      <p:pic>
        <p:nvPicPr>
          <p:cNvPr id="99" name="Picture 98" descr="txp_fig.png"/>
          <p:cNvPicPr>
            <a:picLocks noChangeAspect="1"/>
          </p:cNvPicPr>
          <p:nvPr>
            <p:custDataLst>
              <p:tags r:id="rId3"/>
            </p:custDataLst>
          </p:nvPr>
        </p:nvPicPr>
        <p:blipFill>
          <a:blip r:embed="rId18" cstate="print">
            <a:lum/>
          </a:blip>
          <a:stretch>
            <a:fillRect/>
          </a:stretch>
        </p:blipFill>
        <p:spPr>
          <a:xfrm>
            <a:off x="2580370" y="4776862"/>
            <a:ext cx="421073" cy="177959"/>
          </a:xfrm>
          <a:prstGeom prst="rect">
            <a:avLst/>
          </a:prstGeom>
        </p:spPr>
      </p:pic>
      <p:pic>
        <p:nvPicPr>
          <p:cNvPr id="100" name="Picture 99" descr="txp_fig.png"/>
          <p:cNvPicPr>
            <a:picLocks noChangeAspect="1"/>
          </p:cNvPicPr>
          <p:nvPr>
            <p:custDataLst>
              <p:tags r:id="rId4"/>
            </p:custDataLst>
          </p:nvPr>
        </p:nvPicPr>
        <p:blipFill>
          <a:blip r:embed="rId19" cstate="print">
            <a:lum/>
          </a:blip>
          <a:stretch>
            <a:fillRect/>
          </a:stretch>
        </p:blipFill>
        <p:spPr>
          <a:xfrm>
            <a:off x="2551821" y="4953506"/>
            <a:ext cx="534851" cy="112805"/>
          </a:xfrm>
          <a:prstGeom prst="rect">
            <a:avLst/>
          </a:prstGeom>
        </p:spPr>
      </p:pic>
      <p:pic>
        <p:nvPicPr>
          <p:cNvPr id="94" name="Picture 93" descr="txp_fig.png"/>
          <p:cNvPicPr>
            <a:picLocks noChangeAspect="1"/>
          </p:cNvPicPr>
          <p:nvPr>
            <p:custDataLst>
              <p:tags r:id="rId5"/>
            </p:custDataLst>
          </p:nvPr>
        </p:nvPicPr>
        <p:blipFill>
          <a:blip r:embed="rId20" cstate="print">
            <a:lum/>
          </a:blip>
          <a:stretch>
            <a:fillRect/>
          </a:stretch>
        </p:blipFill>
        <p:spPr>
          <a:xfrm>
            <a:off x="1362177" y="4561213"/>
            <a:ext cx="355918" cy="177958"/>
          </a:xfrm>
          <a:prstGeom prst="rect">
            <a:avLst/>
          </a:prstGeom>
        </p:spPr>
      </p:pic>
      <p:pic>
        <p:nvPicPr>
          <p:cNvPr id="95" name="Picture 94" descr="txp_fig.png"/>
          <p:cNvPicPr>
            <a:picLocks noChangeAspect="1"/>
          </p:cNvPicPr>
          <p:nvPr>
            <p:custDataLst>
              <p:tags r:id="rId6"/>
            </p:custDataLst>
          </p:nvPr>
        </p:nvPicPr>
        <p:blipFill>
          <a:blip r:embed="rId21" cstate="print">
            <a:lum/>
          </a:blip>
          <a:stretch>
            <a:fillRect/>
          </a:stretch>
        </p:blipFill>
        <p:spPr>
          <a:xfrm>
            <a:off x="1301051" y="4737856"/>
            <a:ext cx="534851" cy="112805"/>
          </a:xfrm>
          <a:prstGeom prst="rect">
            <a:avLst/>
          </a:prstGeom>
        </p:spPr>
      </p:pic>
      <p:pic>
        <p:nvPicPr>
          <p:cNvPr id="81" name="Picture 80" descr="txp_fig.png"/>
          <p:cNvPicPr>
            <a:picLocks noChangeAspect="1"/>
          </p:cNvPicPr>
          <p:nvPr>
            <p:custDataLst>
              <p:tags r:id="rId7"/>
            </p:custDataLst>
          </p:nvPr>
        </p:nvPicPr>
        <p:blipFill>
          <a:blip r:embed="rId22" cstate="print">
            <a:lum/>
          </a:blip>
          <a:stretch>
            <a:fillRect/>
          </a:stretch>
        </p:blipFill>
        <p:spPr>
          <a:xfrm>
            <a:off x="1635639" y="5343448"/>
            <a:ext cx="355920" cy="177959"/>
          </a:xfrm>
          <a:prstGeom prst="rect">
            <a:avLst/>
          </a:prstGeom>
        </p:spPr>
      </p:pic>
      <p:pic>
        <p:nvPicPr>
          <p:cNvPr id="73" name="Picture 72" descr="txp_fig.png"/>
          <p:cNvPicPr>
            <a:picLocks noChangeAspect="1"/>
          </p:cNvPicPr>
          <p:nvPr>
            <p:custDataLst>
              <p:tags r:id="rId8"/>
            </p:custDataLst>
          </p:nvPr>
        </p:nvPicPr>
        <p:blipFill>
          <a:blip r:embed="rId23" cstate="print">
            <a:lum/>
          </a:blip>
          <a:stretch>
            <a:fillRect/>
          </a:stretch>
        </p:blipFill>
        <p:spPr>
          <a:xfrm>
            <a:off x="1651846" y="5531138"/>
            <a:ext cx="388984" cy="112805"/>
          </a:xfrm>
          <a:prstGeom prst="rect">
            <a:avLst/>
          </a:prstGeom>
        </p:spPr>
      </p:pic>
      <p:sp>
        <p:nvSpPr>
          <p:cNvPr id="5" name="Title 4"/>
          <p:cNvSpPr>
            <a:spLocks noGrp="1"/>
          </p:cNvSpPr>
          <p:nvPr>
            <p:ph type="title"/>
          </p:nvPr>
        </p:nvSpPr>
        <p:spPr>
          <a:xfrm>
            <a:off x="457200" y="45757"/>
            <a:ext cx="8229600" cy="1143000"/>
          </a:xfrm>
        </p:spPr>
        <p:txBody>
          <a:bodyPr/>
          <a:lstStyle/>
          <a:p>
            <a:r>
              <a:rPr lang="en-US"/>
              <a:t>Model of Factory A</a:t>
            </a:r>
            <a:endParaRPr lang="en-US" dirty="0"/>
          </a:p>
        </p:txBody>
      </p:sp>
      <p:pic>
        <p:nvPicPr>
          <p:cNvPr id="8" name="Content Placeholder 7" descr="txp_fig.png"/>
          <p:cNvPicPr>
            <a:picLocks noGrp="1" noChangeAspect="1"/>
          </p:cNvPicPr>
          <p:nvPr>
            <p:ph idx="1"/>
            <p:custDataLst>
              <p:tags r:id="rId9"/>
            </p:custDataLst>
          </p:nvPr>
        </p:nvPicPr>
        <p:blipFill>
          <a:blip r:embed="rId24" cstate="print">
            <a:lum/>
          </a:blip>
          <a:stretch>
            <a:fillRect/>
          </a:stretch>
        </p:blipFill>
        <p:spPr>
          <a:xfrm>
            <a:off x="5943585" y="960147"/>
            <a:ext cx="2774568" cy="1595377"/>
          </a:xfrm>
        </p:spPr>
      </p:pic>
      <p:cxnSp>
        <p:nvCxnSpPr>
          <p:cNvPr id="10" name="Straight Arrow Connector 9"/>
          <p:cNvCxnSpPr/>
          <p:nvPr/>
        </p:nvCxnSpPr>
        <p:spPr>
          <a:xfrm>
            <a:off x="918468" y="5257780"/>
            <a:ext cx="42061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832858" y="1234464"/>
            <a:ext cx="0" cy="49377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649980" y="1234464"/>
            <a:ext cx="2377414" cy="47548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flipV="1">
            <a:off x="1101346" y="3886195"/>
            <a:ext cx="3474682" cy="13715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825388" y="3520442"/>
            <a:ext cx="2468853" cy="24688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274322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65761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57200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2651781" y="5349219"/>
            <a:ext cx="182878" cy="184666"/>
          </a:xfrm>
          <a:prstGeom prst="rect">
            <a:avLst/>
          </a:prstGeom>
          <a:noFill/>
        </p:spPr>
        <p:txBody>
          <a:bodyPr wrap="square" lIns="0" tIns="0" rIns="0" bIns="0" rtlCol="0">
            <a:spAutoFit/>
          </a:bodyPr>
          <a:lstStyle/>
          <a:p>
            <a:r>
              <a:rPr lang="en-US" sz="1200" dirty="0"/>
              <a:t>10</a:t>
            </a:r>
          </a:p>
        </p:txBody>
      </p:sp>
      <p:sp>
        <p:nvSpPr>
          <p:cNvPr id="55" name="TextBox 54"/>
          <p:cNvSpPr txBox="1"/>
          <p:nvPr/>
        </p:nvSpPr>
        <p:spPr>
          <a:xfrm>
            <a:off x="3566171" y="5349219"/>
            <a:ext cx="182878" cy="184666"/>
          </a:xfrm>
          <a:prstGeom prst="rect">
            <a:avLst/>
          </a:prstGeom>
          <a:noFill/>
        </p:spPr>
        <p:txBody>
          <a:bodyPr wrap="square" lIns="0" tIns="0" rIns="0" bIns="0" rtlCol="0">
            <a:spAutoFit/>
          </a:bodyPr>
          <a:lstStyle/>
          <a:p>
            <a:r>
              <a:rPr lang="en-US" sz="1200" dirty="0"/>
              <a:t>20</a:t>
            </a:r>
          </a:p>
        </p:txBody>
      </p:sp>
      <p:sp>
        <p:nvSpPr>
          <p:cNvPr id="56" name="TextBox 55"/>
          <p:cNvSpPr txBox="1"/>
          <p:nvPr/>
        </p:nvSpPr>
        <p:spPr>
          <a:xfrm>
            <a:off x="4480561" y="5349219"/>
            <a:ext cx="182878" cy="184666"/>
          </a:xfrm>
          <a:prstGeom prst="rect">
            <a:avLst/>
          </a:prstGeom>
          <a:noFill/>
        </p:spPr>
        <p:txBody>
          <a:bodyPr wrap="square" lIns="0" tIns="0" rIns="0" bIns="0" rtlCol="0">
            <a:spAutoFit/>
          </a:bodyPr>
          <a:lstStyle/>
          <a:p>
            <a:r>
              <a:rPr lang="en-US" sz="1200" dirty="0"/>
              <a:t>30</a:t>
            </a:r>
          </a:p>
        </p:txBody>
      </p:sp>
      <p:cxnSp>
        <p:nvCxnSpPr>
          <p:cNvPr id="57" name="Straight Connector 56"/>
          <p:cNvCxnSpPr/>
          <p:nvPr/>
        </p:nvCxnSpPr>
        <p:spPr>
          <a:xfrm flipH="1">
            <a:off x="1737391" y="434339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1737391" y="342900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H="1">
            <a:off x="1737391" y="251461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1737391" y="160022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554513" y="4251951"/>
            <a:ext cx="182878" cy="184666"/>
          </a:xfrm>
          <a:prstGeom prst="rect">
            <a:avLst/>
          </a:prstGeom>
          <a:noFill/>
        </p:spPr>
        <p:txBody>
          <a:bodyPr wrap="square" lIns="0" tIns="0" rIns="0" bIns="0" rtlCol="0">
            <a:spAutoFit/>
          </a:bodyPr>
          <a:lstStyle/>
          <a:p>
            <a:r>
              <a:rPr lang="en-US" sz="1200" dirty="0"/>
              <a:t>10</a:t>
            </a:r>
          </a:p>
        </p:txBody>
      </p:sp>
      <p:sp>
        <p:nvSpPr>
          <p:cNvPr id="65" name="TextBox 64"/>
          <p:cNvSpPr txBox="1"/>
          <p:nvPr/>
        </p:nvSpPr>
        <p:spPr>
          <a:xfrm>
            <a:off x="1554513" y="3337561"/>
            <a:ext cx="182878" cy="184666"/>
          </a:xfrm>
          <a:prstGeom prst="rect">
            <a:avLst/>
          </a:prstGeom>
          <a:noFill/>
        </p:spPr>
        <p:txBody>
          <a:bodyPr wrap="square" lIns="0" tIns="0" rIns="0" bIns="0" rtlCol="0">
            <a:spAutoFit/>
          </a:bodyPr>
          <a:lstStyle/>
          <a:p>
            <a:r>
              <a:rPr lang="en-US" sz="1200" dirty="0"/>
              <a:t>20</a:t>
            </a:r>
          </a:p>
        </p:txBody>
      </p:sp>
      <p:sp>
        <p:nvSpPr>
          <p:cNvPr id="66" name="TextBox 65"/>
          <p:cNvSpPr txBox="1"/>
          <p:nvPr/>
        </p:nvSpPr>
        <p:spPr>
          <a:xfrm>
            <a:off x="1554513" y="2423171"/>
            <a:ext cx="182878" cy="184666"/>
          </a:xfrm>
          <a:prstGeom prst="rect">
            <a:avLst/>
          </a:prstGeom>
          <a:noFill/>
        </p:spPr>
        <p:txBody>
          <a:bodyPr wrap="square" lIns="0" tIns="0" rIns="0" bIns="0" rtlCol="0">
            <a:spAutoFit/>
          </a:bodyPr>
          <a:lstStyle/>
          <a:p>
            <a:r>
              <a:rPr lang="en-US" sz="1200" dirty="0"/>
              <a:t>30</a:t>
            </a:r>
          </a:p>
        </p:txBody>
      </p:sp>
      <p:sp>
        <p:nvSpPr>
          <p:cNvPr id="67" name="TextBox 66"/>
          <p:cNvSpPr txBox="1"/>
          <p:nvPr/>
        </p:nvSpPr>
        <p:spPr>
          <a:xfrm>
            <a:off x="1554513" y="1508781"/>
            <a:ext cx="182878" cy="184666"/>
          </a:xfrm>
          <a:prstGeom prst="rect">
            <a:avLst/>
          </a:prstGeom>
          <a:noFill/>
        </p:spPr>
        <p:txBody>
          <a:bodyPr wrap="square" lIns="0" tIns="0" rIns="0" bIns="0" rtlCol="0">
            <a:spAutoFit/>
          </a:bodyPr>
          <a:lstStyle/>
          <a:p>
            <a:r>
              <a:rPr lang="en-US" sz="1200" dirty="0"/>
              <a:t>40</a:t>
            </a:r>
          </a:p>
        </p:txBody>
      </p:sp>
      <p:sp>
        <p:nvSpPr>
          <p:cNvPr id="70" name="Content Placeholder 2"/>
          <p:cNvSpPr txBox="1">
            <a:spLocks/>
          </p:cNvSpPr>
          <p:nvPr/>
        </p:nvSpPr>
        <p:spPr>
          <a:xfrm>
            <a:off x="5572664" y="3109251"/>
            <a:ext cx="3479847" cy="833021"/>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sz="2400" noProof="0" dirty="0"/>
              <a:t>	What is the key observation?</a:t>
            </a:r>
          </a:p>
        </p:txBody>
      </p:sp>
      <p:sp>
        <p:nvSpPr>
          <p:cNvPr id="71" name="Oval 70"/>
          <p:cNvSpPr/>
          <p:nvPr/>
        </p:nvSpPr>
        <p:spPr>
          <a:xfrm flipV="1">
            <a:off x="1811578" y="5246564"/>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4" name="Picture 83" descr="txp_fig.png"/>
          <p:cNvPicPr>
            <a:picLocks noChangeAspect="1"/>
          </p:cNvPicPr>
          <p:nvPr>
            <p:custDataLst>
              <p:tags r:id="rId10"/>
            </p:custDataLst>
          </p:nvPr>
        </p:nvPicPr>
        <p:blipFill>
          <a:blip r:embed="rId25" cstate="print">
            <a:lum/>
          </a:blip>
          <a:stretch>
            <a:fillRect/>
          </a:stretch>
        </p:blipFill>
        <p:spPr>
          <a:xfrm>
            <a:off x="2150171" y="4909200"/>
            <a:ext cx="355919" cy="177959"/>
          </a:xfrm>
          <a:prstGeom prst="rect">
            <a:avLst/>
          </a:prstGeom>
        </p:spPr>
      </p:pic>
      <p:pic>
        <p:nvPicPr>
          <p:cNvPr id="85" name="Picture 84" descr="txp_fig.png"/>
          <p:cNvPicPr>
            <a:picLocks noChangeAspect="1"/>
          </p:cNvPicPr>
          <p:nvPr>
            <p:custDataLst>
              <p:tags r:id="rId11"/>
            </p:custDataLst>
          </p:nvPr>
        </p:nvPicPr>
        <p:blipFill>
          <a:blip r:embed="rId26" cstate="print">
            <a:lum/>
          </a:blip>
          <a:stretch>
            <a:fillRect/>
          </a:stretch>
        </p:blipFill>
        <p:spPr>
          <a:xfrm>
            <a:off x="2089611" y="5091367"/>
            <a:ext cx="534852" cy="112805"/>
          </a:xfrm>
          <a:prstGeom prst="rect">
            <a:avLst/>
          </a:prstGeom>
        </p:spPr>
      </p:pic>
      <p:pic>
        <p:nvPicPr>
          <p:cNvPr id="89" name="Picture 88" descr="txp_fig.png"/>
          <p:cNvPicPr>
            <a:picLocks noChangeAspect="1"/>
          </p:cNvPicPr>
          <p:nvPr>
            <p:custDataLst>
              <p:tags r:id="rId12"/>
            </p:custDataLst>
          </p:nvPr>
        </p:nvPicPr>
        <p:blipFill>
          <a:blip r:embed="rId27" cstate="print">
            <a:lum/>
          </a:blip>
          <a:stretch>
            <a:fillRect/>
          </a:stretch>
        </p:blipFill>
        <p:spPr>
          <a:xfrm>
            <a:off x="2830524" y="5354804"/>
            <a:ext cx="421073" cy="177959"/>
          </a:xfrm>
          <a:prstGeom prst="rect">
            <a:avLst/>
          </a:prstGeom>
        </p:spPr>
      </p:pic>
      <p:pic>
        <p:nvPicPr>
          <p:cNvPr id="90" name="Picture 89" descr="txp_fig.png"/>
          <p:cNvPicPr>
            <a:picLocks noChangeAspect="1"/>
          </p:cNvPicPr>
          <p:nvPr>
            <p:custDataLst>
              <p:tags r:id="rId13"/>
            </p:custDataLst>
          </p:nvPr>
        </p:nvPicPr>
        <p:blipFill>
          <a:blip r:embed="rId28" cstate="print">
            <a:lum/>
          </a:blip>
          <a:stretch>
            <a:fillRect/>
          </a:stretch>
        </p:blipFill>
        <p:spPr>
          <a:xfrm>
            <a:off x="2801975" y="5531448"/>
            <a:ext cx="534851" cy="112805"/>
          </a:xfrm>
          <a:prstGeom prst="rect">
            <a:avLst/>
          </a:prstGeom>
        </p:spPr>
      </p:pic>
      <p:sp>
        <p:nvSpPr>
          <p:cNvPr id="105"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14</a:t>
            </a:fld>
            <a:endParaRPr lang="en-US" dirty="0"/>
          </a:p>
        </p:txBody>
      </p:sp>
      <p:sp>
        <p:nvSpPr>
          <p:cNvPr id="46" name="Oval 45"/>
          <p:cNvSpPr/>
          <p:nvPr/>
        </p:nvSpPr>
        <p:spPr>
          <a:xfrm flipV="1">
            <a:off x="1808710" y="4605372"/>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flipV="1">
            <a:off x="2283140" y="4777892"/>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flipV="1">
            <a:off x="2981846" y="5226444"/>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flipV="1">
            <a:off x="2705814" y="4683006"/>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p:cNvCxnSpPr/>
          <p:nvPr/>
        </p:nvCxnSpPr>
        <p:spPr>
          <a:xfrm>
            <a:off x="1621725" y="3959508"/>
            <a:ext cx="2471250" cy="166462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2739080" y="3286691"/>
            <a:ext cx="892598" cy="1412328"/>
          </a:xfrm>
          <a:prstGeom prst="line">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0" name="Content Placeholder 2"/>
          <p:cNvSpPr txBox="1">
            <a:spLocks/>
          </p:cNvSpPr>
          <p:nvPr/>
        </p:nvSpPr>
        <p:spPr>
          <a:xfrm>
            <a:off x="5587048" y="3908599"/>
            <a:ext cx="3479847" cy="2388684"/>
          </a:xfrm>
          <a:prstGeom prst="rect">
            <a:avLst/>
          </a:prstGeom>
        </p:spPr>
        <p:txBody>
          <a:bodyPr vert="horz" lIns="91440" tIns="45720" rIns="91440" bIns="45720" rtlCol="0">
            <a:normAutofit/>
          </a:bodyPr>
          <a:lstStyle/>
          <a:p>
            <a:pPr marL="342900" lvl="0" indent="-342900">
              <a:spcBef>
                <a:spcPct val="20000"/>
              </a:spcBef>
            </a:pPr>
            <a:r>
              <a:rPr lang="en-US" sz="2400" dirty="0">
                <a:solidFill>
                  <a:srgbClr val="FF0000"/>
                </a:solidFill>
              </a:rPr>
              <a:t>	Move in a direction that makes an acute angle with the gradient in order to increase the value of the objective function!</a:t>
            </a:r>
          </a:p>
          <a:p>
            <a:pPr marL="342900" marR="0" lvl="0" indent="-342900" algn="l" defTabSz="914400" rtl="0" eaLnBrk="1" fontAlgn="auto" latinLnBrk="0" hangingPunct="1">
              <a:lnSpc>
                <a:spcPct val="100000"/>
              </a:lnSpc>
              <a:spcBef>
                <a:spcPct val="20000"/>
              </a:spcBef>
              <a:spcAft>
                <a:spcPts val="0"/>
              </a:spcAft>
              <a:buClrTx/>
              <a:buSzTx/>
              <a:tabLst/>
              <a:defRPr/>
            </a:pPr>
            <a:endParaRPr lang="en-US" sz="2400" noProof="0" dirty="0">
              <a:solidFill>
                <a:srgbClr val="FF0000"/>
              </a:solidFill>
            </a:endParaRPr>
          </a:p>
        </p:txBody>
      </p:sp>
      <p:cxnSp>
        <p:nvCxnSpPr>
          <p:cNvPr id="72" name="Straight Arrow Connector 71"/>
          <p:cNvCxnSpPr>
            <a:stCxn id="49" idx="7"/>
            <a:endCxn id="46" idx="7"/>
          </p:cNvCxnSpPr>
          <p:nvPr/>
        </p:nvCxnSpPr>
        <p:spPr>
          <a:xfrm flipH="1" flipV="1">
            <a:off x="1847734" y="4644396"/>
            <a:ext cx="897104" cy="776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49" idx="7"/>
            <a:endCxn id="47" idx="5"/>
          </p:cNvCxnSpPr>
          <p:nvPr/>
        </p:nvCxnSpPr>
        <p:spPr>
          <a:xfrm flipH="1">
            <a:off x="2322164" y="4722030"/>
            <a:ext cx="422674" cy="625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49" idx="7"/>
            <a:endCxn id="71" idx="5"/>
          </p:cNvCxnSpPr>
          <p:nvPr/>
        </p:nvCxnSpPr>
        <p:spPr>
          <a:xfrm flipH="1">
            <a:off x="1850602" y="4722030"/>
            <a:ext cx="894236" cy="531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endCxn id="48" idx="7"/>
          </p:cNvCxnSpPr>
          <p:nvPr/>
        </p:nvCxnSpPr>
        <p:spPr>
          <a:xfrm>
            <a:off x="2751826" y="4718649"/>
            <a:ext cx="269044" cy="5468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Gradient</a:t>
            </a:r>
          </a:p>
        </p:txBody>
      </p:sp>
      <p:sp>
        <p:nvSpPr>
          <p:cNvPr id="7" name="Content Placeholder 6"/>
          <p:cNvSpPr>
            <a:spLocks noGrp="1"/>
          </p:cNvSpPr>
          <p:nvPr>
            <p:ph idx="1"/>
          </p:nvPr>
        </p:nvSpPr>
        <p:spPr>
          <a:xfrm>
            <a:off x="457200" y="1600200"/>
            <a:ext cx="8229600" cy="4955875"/>
          </a:xfrm>
        </p:spPr>
        <p:txBody>
          <a:bodyPr/>
          <a:lstStyle/>
          <a:p>
            <a:r>
              <a:rPr lang="en-US" dirty="0"/>
              <a:t>The gradient is a generalization of the usual concept of derivative of a function in one dimension to a function in several dimensions.</a:t>
            </a:r>
          </a:p>
          <a:p>
            <a:r>
              <a:rPr lang="en-US" dirty="0"/>
              <a:t>The gradient points in the direction of the greatest rate of increase of the function.</a:t>
            </a:r>
          </a:p>
          <a:p>
            <a:r>
              <a:rPr lang="en-US" dirty="0"/>
              <a:t>For a linear function, the gradient is identical at all points in the feasible region.</a:t>
            </a:r>
          </a:p>
          <a:p>
            <a:r>
              <a:rPr lang="en-US" dirty="0"/>
              <a:t>These facts suggest the solution procedure on the next slide.</a:t>
            </a:r>
          </a:p>
          <a:p>
            <a:endParaRPr lang="en-US" dirty="0"/>
          </a:p>
        </p:txBody>
      </p:sp>
      <p:sp>
        <p:nvSpPr>
          <p:cNvPr id="5" name="Slide Number Placeholder 5"/>
          <p:cNvSpPr>
            <a:spLocks noGrp="1"/>
          </p:cNvSpPr>
          <p:nvPr>
            <p:ph type="sldNum" sz="quarter" idx="12"/>
          </p:nvPr>
        </p:nvSpPr>
        <p:spPr/>
        <p:txBody>
          <a:bodyPr/>
          <a:lstStyle/>
          <a:p>
            <a:fld id="{4D377B0C-25D5-4B61-BE6E-827E9725F9FB}" type="slidenum">
              <a:rPr lang="en-US" smtClean="0"/>
              <a:pPr/>
              <a:t>15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74" descr="txp_fig.png"/>
          <p:cNvPicPr>
            <a:picLocks noChangeAspect="1"/>
          </p:cNvPicPr>
          <p:nvPr>
            <p:custDataLst>
              <p:tags r:id="rId1"/>
            </p:custDataLst>
          </p:nvPr>
        </p:nvPicPr>
        <p:blipFill>
          <a:blip r:embed="rId11" cstate="print">
            <a:lum/>
          </a:blip>
          <a:stretch>
            <a:fillRect/>
          </a:stretch>
        </p:blipFill>
        <p:spPr>
          <a:xfrm>
            <a:off x="2904603" y="4426093"/>
            <a:ext cx="744902" cy="177959"/>
          </a:xfrm>
          <a:prstGeom prst="rect">
            <a:avLst/>
          </a:prstGeom>
        </p:spPr>
      </p:pic>
      <p:pic>
        <p:nvPicPr>
          <p:cNvPr id="76" name="Picture 75" descr="txp_fig.png"/>
          <p:cNvPicPr>
            <a:picLocks noChangeAspect="1"/>
          </p:cNvPicPr>
          <p:nvPr>
            <p:custDataLst>
              <p:tags r:id="rId2"/>
            </p:custDataLst>
          </p:nvPr>
        </p:nvPicPr>
        <p:blipFill>
          <a:blip r:embed="rId12" cstate="print">
            <a:lum/>
          </a:blip>
          <a:stretch>
            <a:fillRect/>
          </a:stretch>
        </p:blipFill>
        <p:spPr>
          <a:xfrm>
            <a:off x="3038535" y="4608260"/>
            <a:ext cx="534852" cy="112805"/>
          </a:xfrm>
          <a:prstGeom prst="rect">
            <a:avLst/>
          </a:prstGeom>
        </p:spPr>
      </p:pic>
      <p:pic>
        <p:nvPicPr>
          <p:cNvPr id="68" name="Picture 67" descr="txp_fig.png"/>
          <p:cNvPicPr>
            <a:picLocks noChangeAspect="1"/>
          </p:cNvPicPr>
          <p:nvPr>
            <p:custDataLst>
              <p:tags r:id="rId3"/>
            </p:custDataLst>
          </p:nvPr>
        </p:nvPicPr>
        <p:blipFill>
          <a:blip r:embed="rId13" cstate="print">
            <a:lum/>
          </a:blip>
          <a:stretch>
            <a:fillRect/>
          </a:stretch>
        </p:blipFill>
        <p:spPr>
          <a:xfrm>
            <a:off x="2654286" y="4775660"/>
            <a:ext cx="1535755" cy="170639"/>
          </a:xfrm>
          <a:prstGeom prst="rect">
            <a:avLst/>
          </a:prstGeom>
        </p:spPr>
      </p:pic>
      <p:pic>
        <p:nvPicPr>
          <p:cNvPr id="114" name="Picture 113" descr="txp_fig.png"/>
          <p:cNvPicPr>
            <a:picLocks noChangeAspect="1"/>
          </p:cNvPicPr>
          <p:nvPr>
            <p:custDataLst>
              <p:tags r:id="rId4"/>
            </p:custDataLst>
          </p:nvPr>
        </p:nvPicPr>
        <p:blipFill>
          <a:blip r:embed="rId14" cstate="print">
            <a:lum/>
          </a:blip>
          <a:stretch>
            <a:fillRect/>
          </a:stretch>
        </p:blipFill>
        <p:spPr>
          <a:xfrm>
            <a:off x="2529788" y="3652445"/>
            <a:ext cx="501786" cy="177959"/>
          </a:xfrm>
          <a:prstGeom prst="rect">
            <a:avLst/>
          </a:prstGeom>
        </p:spPr>
      </p:pic>
      <p:pic>
        <p:nvPicPr>
          <p:cNvPr id="81" name="Picture 80" descr="txp_fig.png"/>
          <p:cNvPicPr>
            <a:picLocks noChangeAspect="1"/>
          </p:cNvPicPr>
          <p:nvPr>
            <p:custDataLst>
              <p:tags r:id="rId5"/>
            </p:custDataLst>
          </p:nvPr>
        </p:nvPicPr>
        <p:blipFill>
          <a:blip r:embed="rId15" cstate="print">
            <a:lum/>
          </a:blip>
          <a:stretch>
            <a:fillRect/>
          </a:stretch>
        </p:blipFill>
        <p:spPr>
          <a:xfrm>
            <a:off x="1635639" y="5343448"/>
            <a:ext cx="355920" cy="177959"/>
          </a:xfrm>
          <a:prstGeom prst="rect">
            <a:avLst/>
          </a:prstGeom>
        </p:spPr>
      </p:pic>
      <p:pic>
        <p:nvPicPr>
          <p:cNvPr id="73" name="Picture 72" descr="txp_fig.png"/>
          <p:cNvPicPr>
            <a:picLocks noChangeAspect="1"/>
          </p:cNvPicPr>
          <p:nvPr>
            <p:custDataLst>
              <p:tags r:id="rId6"/>
            </p:custDataLst>
          </p:nvPr>
        </p:nvPicPr>
        <p:blipFill>
          <a:blip r:embed="rId16" cstate="print">
            <a:lum/>
          </a:blip>
          <a:stretch>
            <a:fillRect/>
          </a:stretch>
        </p:blipFill>
        <p:spPr>
          <a:xfrm>
            <a:off x="1651846" y="5531138"/>
            <a:ext cx="388984" cy="112805"/>
          </a:xfrm>
          <a:prstGeom prst="rect">
            <a:avLst/>
          </a:prstGeom>
        </p:spPr>
      </p:pic>
      <p:sp>
        <p:nvSpPr>
          <p:cNvPr id="5" name="Title 4"/>
          <p:cNvSpPr>
            <a:spLocks noGrp="1"/>
          </p:cNvSpPr>
          <p:nvPr>
            <p:ph type="title"/>
          </p:nvPr>
        </p:nvSpPr>
        <p:spPr>
          <a:xfrm>
            <a:off x="457200" y="45757"/>
            <a:ext cx="8229600" cy="1143000"/>
          </a:xfrm>
        </p:spPr>
        <p:txBody>
          <a:bodyPr/>
          <a:lstStyle/>
          <a:p>
            <a:r>
              <a:rPr lang="en-US"/>
              <a:t>Model of Factory A</a:t>
            </a:r>
            <a:endParaRPr lang="en-US" dirty="0"/>
          </a:p>
        </p:txBody>
      </p:sp>
      <p:pic>
        <p:nvPicPr>
          <p:cNvPr id="8" name="Content Placeholder 7" descr="txp_fig.png"/>
          <p:cNvPicPr>
            <a:picLocks noGrp="1" noChangeAspect="1"/>
          </p:cNvPicPr>
          <p:nvPr>
            <p:ph idx="1"/>
            <p:custDataLst>
              <p:tags r:id="rId7"/>
            </p:custDataLst>
          </p:nvPr>
        </p:nvPicPr>
        <p:blipFill>
          <a:blip r:embed="rId17" cstate="print">
            <a:lum/>
          </a:blip>
          <a:stretch>
            <a:fillRect/>
          </a:stretch>
        </p:blipFill>
        <p:spPr>
          <a:xfrm>
            <a:off x="5943585" y="960147"/>
            <a:ext cx="2774568" cy="1595377"/>
          </a:xfrm>
        </p:spPr>
      </p:pic>
      <p:cxnSp>
        <p:nvCxnSpPr>
          <p:cNvPr id="10" name="Straight Arrow Connector 9"/>
          <p:cNvCxnSpPr/>
          <p:nvPr/>
        </p:nvCxnSpPr>
        <p:spPr>
          <a:xfrm>
            <a:off x="918468" y="5257780"/>
            <a:ext cx="42061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832858" y="1234464"/>
            <a:ext cx="0" cy="49377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649980" y="1234464"/>
            <a:ext cx="2377414" cy="47548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flipV="1">
            <a:off x="1101346" y="3886195"/>
            <a:ext cx="3474682" cy="13715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825388" y="3520442"/>
            <a:ext cx="2468853" cy="24688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274322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65761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4572000"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2651781" y="5349219"/>
            <a:ext cx="182878" cy="184666"/>
          </a:xfrm>
          <a:prstGeom prst="rect">
            <a:avLst/>
          </a:prstGeom>
          <a:noFill/>
        </p:spPr>
        <p:txBody>
          <a:bodyPr wrap="square" lIns="0" tIns="0" rIns="0" bIns="0" rtlCol="0">
            <a:spAutoFit/>
          </a:bodyPr>
          <a:lstStyle/>
          <a:p>
            <a:r>
              <a:rPr lang="en-US" sz="1200" dirty="0"/>
              <a:t>10</a:t>
            </a:r>
          </a:p>
        </p:txBody>
      </p:sp>
      <p:sp>
        <p:nvSpPr>
          <p:cNvPr id="55" name="TextBox 54"/>
          <p:cNvSpPr txBox="1"/>
          <p:nvPr/>
        </p:nvSpPr>
        <p:spPr>
          <a:xfrm>
            <a:off x="3566171" y="5349219"/>
            <a:ext cx="182878" cy="184666"/>
          </a:xfrm>
          <a:prstGeom prst="rect">
            <a:avLst/>
          </a:prstGeom>
          <a:noFill/>
        </p:spPr>
        <p:txBody>
          <a:bodyPr wrap="square" lIns="0" tIns="0" rIns="0" bIns="0" rtlCol="0">
            <a:spAutoFit/>
          </a:bodyPr>
          <a:lstStyle/>
          <a:p>
            <a:r>
              <a:rPr lang="en-US" sz="1200" dirty="0"/>
              <a:t>20</a:t>
            </a:r>
          </a:p>
        </p:txBody>
      </p:sp>
      <p:sp>
        <p:nvSpPr>
          <p:cNvPr id="56" name="TextBox 55"/>
          <p:cNvSpPr txBox="1"/>
          <p:nvPr/>
        </p:nvSpPr>
        <p:spPr>
          <a:xfrm>
            <a:off x="4480561" y="5349219"/>
            <a:ext cx="182878" cy="184666"/>
          </a:xfrm>
          <a:prstGeom prst="rect">
            <a:avLst/>
          </a:prstGeom>
          <a:noFill/>
        </p:spPr>
        <p:txBody>
          <a:bodyPr wrap="square" lIns="0" tIns="0" rIns="0" bIns="0" rtlCol="0">
            <a:spAutoFit/>
          </a:bodyPr>
          <a:lstStyle/>
          <a:p>
            <a:r>
              <a:rPr lang="en-US" sz="1200" dirty="0"/>
              <a:t>30</a:t>
            </a:r>
          </a:p>
        </p:txBody>
      </p:sp>
      <p:cxnSp>
        <p:nvCxnSpPr>
          <p:cNvPr id="57" name="Straight Connector 56"/>
          <p:cNvCxnSpPr/>
          <p:nvPr/>
        </p:nvCxnSpPr>
        <p:spPr>
          <a:xfrm flipH="1">
            <a:off x="1737391" y="434339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1737391" y="342900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H="1">
            <a:off x="1737391" y="251461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1737391" y="160022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1554513" y="4251951"/>
            <a:ext cx="182878" cy="184666"/>
          </a:xfrm>
          <a:prstGeom prst="rect">
            <a:avLst/>
          </a:prstGeom>
          <a:noFill/>
        </p:spPr>
        <p:txBody>
          <a:bodyPr wrap="square" lIns="0" tIns="0" rIns="0" bIns="0" rtlCol="0">
            <a:spAutoFit/>
          </a:bodyPr>
          <a:lstStyle/>
          <a:p>
            <a:r>
              <a:rPr lang="en-US" sz="1200" dirty="0"/>
              <a:t>10</a:t>
            </a:r>
          </a:p>
        </p:txBody>
      </p:sp>
      <p:sp>
        <p:nvSpPr>
          <p:cNvPr id="65" name="TextBox 64"/>
          <p:cNvSpPr txBox="1"/>
          <p:nvPr/>
        </p:nvSpPr>
        <p:spPr>
          <a:xfrm>
            <a:off x="1554513" y="3337561"/>
            <a:ext cx="182878" cy="184666"/>
          </a:xfrm>
          <a:prstGeom prst="rect">
            <a:avLst/>
          </a:prstGeom>
          <a:noFill/>
        </p:spPr>
        <p:txBody>
          <a:bodyPr wrap="square" lIns="0" tIns="0" rIns="0" bIns="0" rtlCol="0">
            <a:spAutoFit/>
          </a:bodyPr>
          <a:lstStyle/>
          <a:p>
            <a:r>
              <a:rPr lang="en-US" sz="1200" dirty="0"/>
              <a:t>20</a:t>
            </a:r>
          </a:p>
        </p:txBody>
      </p:sp>
      <p:sp>
        <p:nvSpPr>
          <p:cNvPr id="66" name="TextBox 65"/>
          <p:cNvSpPr txBox="1"/>
          <p:nvPr/>
        </p:nvSpPr>
        <p:spPr>
          <a:xfrm>
            <a:off x="1554513" y="2423171"/>
            <a:ext cx="182878" cy="184666"/>
          </a:xfrm>
          <a:prstGeom prst="rect">
            <a:avLst/>
          </a:prstGeom>
          <a:noFill/>
        </p:spPr>
        <p:txBody>
          <a:bodyPr wrap="square" lIns="0" tIns="0" rIns="0" bIns="0" rtlCol="0">
            <a:spAutoFit/>
          </a:bodyPr>
          <a:lstStyle/>
          <a:p>
            <a:r>
              <a:rPr lang="en-US" sz="1200" dirty="0"/>
              <a:t>30</a:t>
            </a:r>
          </a:p>
        </p:txBody>
      </p:sp>
      <p:sp>
        <p:nvSpPr>
          <p:cNvPr id="67" name="TextBox 66"/>
          <p:cNvSpPr txBox="1"/>
          <p:nvPr/>
        </p:nvSpPr>
        <p:spPr>
          <a:xfrm>
            <a:off x="1554513" y="1508781"/>
            <a:ext cx="182878" cy="184666"/>
          </a:xfrm>
          <a:prstGeom prst="rect">
            <a:avLst/>
          </a:prstGeom>
          <a:noFill/>
        </p:spPr>
        <p:txBody>
          <a:bodyPr wrap="square" lIns="0" tIns="0" rIns="0" bIns="0" rtlCol="0">
            <a:spAutoFit/>
          </a:bodyPr>
          <a:lstStyle/>
          <a:p>
            <a:r>
              <a:rPr lang="en-US" sz="1200" dirty="0"/>
              <a:t>40</a:t>
            </a:r>
          </a:p>
        </p:txBody>
      </p:sp>
      <p:sp>
        <p:nvSpPr>
          <p:cNvPr id="70" name="Content Placeholder 2"/>
          <p:cNvSpPr txBox="1">
            <a:spLocks/>
          </p:cNvSpPr>
          <p:nvPr/>
        </p:nvSpPr>
        <p:spPr>
          <a:xfrm>
            <a:off x="5572664" y="3109251"/>
            <a:ext cx="3479847" cy="3577988"/>
          </a:xfrm>
          <a:prstGeom prst="rect">
            <a:avLst/>
          </a:prstGeom>
        </p:spPr>
        <p:txBody>
          <a:bodyPr vert="horz" lIns="91440" tIns="45720" rIns="91440" bIns="45720" rtlCol="0">
            <a:normAutofit fontScale="85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400" noProof="0" dirty="0"/>
              <a:t>Pick a starting solution.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400" dirty="0"/>
              <a:t>Move as much as possible in the direction of the gradient.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sz="2400" dirty="0"/>
              <a:t>The final point where an objective contour touches the feasible region is optimal.</a:t>
            </a:r>
          </a:p>
          <a:p>
            <a:pPr marL="342900" indent="-342900">
              <a:spcBef>
                <a:spcPct val="20000"/>
              </a:spcBef>
              <a:buFont typeface="Arial" pitchFamily="34" charset="0"/>
              <a:buChar char="•"/>
            </a:pPr>
            <a:r>
              <a:rPr lang="en-US" sz="2400" dirty="0">
                <a:solidFill>
                  <a:srgbClr val="FF0000"/>
                </a:solidFill>
              </a:rPr>
              <a:t>Unfortunately, this approach is hardly practical with 3 variables, and impossible to implement with more variables. </a:t>
            </a:r>
          </a:p>
        </p:txBody>
      </p:sp>
      <p:sp>
        <p:nvSpPr>
          <p:cNvPr id="71" name="Oval 70"/>
          <p:cNvSpPr/>
          <p:nvPr/>
        </p:nvSpPr>
        <p:spPr>
          <a:xfrm flipV="1">
            <a:off x="1811578" y="5246564"/>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16</a:t>
            </a:fld>
            <a:endParaRPr lang="en-US" dirty="0"/>
          </a:p>
        </p:txBody>
      </p:sp>
      <p:cxnSp>
        <p:nvCxnSpPr>
          <p:cNvPr id="51" name="Straight Connector 50"/>
          <p:cNvCxnSpPr/>
          <p:nvPr/>
        </p:nvCxnSpPr>
        <p:spPr>
          <a:xfrm>
            <a:off x="733247" y="4511572"/>
            <a:ext cx="2471250" cy="1664627"/>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V="1">
            <a:off x="1850602" y="3838755"/>
            <a:ext cx="892598" cy="1412328"/>
          </a:xfrm>
          <a:prstGeom prst="line">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7" name="Picture 76" descr="txp_fig.png"/>
          <p:cNvPicPr>
            <a:picLocks noChangeAspect="1"/>
          </p:cNvPicPr>
          <p:nvPr>
            <p:custDataLst>
              <p:tags r:id="rId8"/>
            </p:custDataLst>
          </p:nvPr>
        </p:nvPicPr>
        <p:blipFill>
          <a:blip r:embed="rId18" cstate="print">
            <a:lum/>
          </a:blip>
          <a:stretch>
            <a:fillRect/>
          </a:stretch>
        </p:blipFill>
        <p:spPr>
          <a:xfrm>
            <a:off x="2389631" y="6193763"/>
            <a:ext cx="1345777" cy="170639"/>
          </a:xfrm>
          <a:prstGeom prst="rect">
            <a:avLst/>
          </a:prstGeom>
        </p:spPr>
      </p:pic>
      <p:sp>
        <p:nvSpPr>
          <p:cNvPr id="69" name="Oval 68"/>
          <p:cNvSpPr/>
          <p:nvPr/>
        </p:nvSpPr>
        <p:spPr>
          <a:xfrm flipV="1">
            <a:off x="2886960" y="4570868"/>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 0 L 0.06788 -0.13958 " pathEditMode="relative" ptsTypes="AA">
                                      <p:cBhvr>
                                        <p:cTn id="6" dur="2000" fill="hold"/>
                                        <p:tgtEl>
                                          <p:spTgt spid="59"/>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06788 -0.13958 " pathEditMode="relative" ptsTypes="AA">
                                      <p:cBhvr>
                                        <p:cTn id="8" dur="2000" fill="hold"/>
                                        <p:tgtEl>
                                          <p:spTgt spid="5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0">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5B4A2-FA54-4FC0-9735-8D79BEB0A183}"/>
              </a:ext>
            </a:extLst>
          </p:cNvPr>
          <p:cNvSpPr>
            <a:spLocks noGrp="1"/>
          </p:cNvSpPr>
          <p:nvPr>
            <p:ph type="title"/>
          </p:nvPr>
        </p:nvSpPr>
        <p:spPr/>
        <p:txBody>
          <a:bodyPr/>
          <a:lstStyle/>
          <a:p>
            <a:r>
              <a:rPr lang="tr-TR" dirty="0" err="1"/>
              <a:t>Back</a:t>
            </a:r>
            <a:r>
              <a:rPr lang="tr-TR" dirty="0"/>
              <a:t> </a:t>
            </a:r>
            <a:r>
              <a:rPr lang="tr-TR" dirty="0" err="1"/>
              <a:t>to</a:t>
            </a:r>
            <a:r>
              <a:rPr lang="tr-TR" dirty="0"/>
              <a:t> </a:t>
            </a:r>
            <a:r>
              <a:rPr lang="tr-TR" dirty="0" err="1"/>
              <a:t>the</a:t>
            </a:r>
            <a:r>
              <a:rPr lang="tr-TR" dirty="0"/>
              <a:t> </a:t>
            </a:r>
            <a:r>
              <a:rPr lang="tr-TR" dirty="0" err="1"/>
              <a:t>Carpenter</a:t>
            </a:r>
            <a:endParaRPr lang="tr-TR" dirty="0"/>
          </a:p>
        </p:txBody>
      </p:sp>
      <p:sp>
        <p:nvSpPr>
          <p:cNvPr id="3" name="Content Placeholder 2">
            <a:extLst>
              <a:ext uri="{FF2B5EF4-FFF2-40B4-BE49-F238E27FC236}">
                <a16:creationId xmlns:a16="http://schemas.microsoft.com/office/drawing/2014/main" id="{935EFAFD-676C-46E1-A3C6-B71FE1997517}"/>
              </a:ext>
            </a:extLst>
          </p:cNvPr>
          <p:cNvSpPr>
            <a:spLocks noGrp="1"/>
          </p:cNvSpPr>
          <p:nvPr>
            <p:ph idx="1"/>
          </p:nvPr>
        </p:nvSpPr>
        <p:spPr/>
        <p:txBody>
          <a:bodyPr>
            <a:normAutofit fontScale="92500" lnSpcReduction="10000"/>
          </a:bodyPr>
          <a:lstStyle/>
          <a:p>
            <a:r>
              <a:rPr lang="en-US" dirty="0"/>
              <a:t>How much profit do </a:t>
            </a:r>
          </a:p>
          <a:p>
            <a:pPr marL="0" indent="0">
              <a:buNone/>
            </a:pPr>
            <a:r>
              <a:rPr lang="en-US" dirty="0"/>
              <a:t>we make if we produce </a:t>
            </a:r>
          </a:p>
          <a:p>
            <a:pPr lvl="1"/>
            <a:r>
              <a:rPr lang="en-US" dirty="0"/>
              <a:t>3 chairs only?</a:t>
            </a:r>
          </a:p>
          <a:p>
            <a:pPr lvl="1"/>
            <a:r>
              <a:rPr lang="en-US" dirty="0"/>
              <a:t>4 tables only?</a:t>
            </a:r>
          </a:p>
          <a:p>
            <a:pPr lvl="1"/>
            <a:r>
              <a:rPr lang="en-US" dirty="0"/>
              <a:t>6 chairs only?</a:t>
            </a:r>
          </a:p>
          <a:p>
            <a:pPr lvl="1"/>
            <a:r>
              <a:rPr lang="en-US" dirty="0"/>
              <a:t>8 tables only?</a:t>
            </a:r>
          </a:p>
          <a:p>
            <a:r>
              <a:rPr lang="tr-TR" dirty="0" err="1"/>
              <a:t>What</a:t>
            </a:r>
            <a:r>
              <a:rPr lang="tr-TR" dirty="0"/>
              <a:t> is </a:t>
            </a:r>
            <a:r>
              <a:rPr lang="tr-TR" dirty="0" err="1"/>
              <a:t>the</a:t>
            </a:r>
            <a:r>
              <a:rPr lang="tr-TR" dirty="0"/>
              <a:t> </a:t>
            </a:r>
            <a:r>
              <a:rPr lang="tr-TR" dirty="0" err="1"/>
              <a:t>objective</a:t>
            </a:r>
            <a:endParaRPr lang="tr-TR" dirty="0"/>
          </a:p>
          <a:p>
            <a:pPr marL="0" indent="0">
              <a:buNone/>
            </a:pPr>
            <a:r>
              <a:rPr lang="tr-TR" dirty="0" err="1"/>
              <a:t>function</a:t>
            </a:r>
            <a:r>
              <a:rPr lang="tr-TR" dirty="0"/>
              <a:t> </a:t>
            </a:r>
            <a:r>
              <a:rPr lang="tr-TR" dirty="0" err="1"/>
              <a:t>value</a:t>
            </a:r>
            <a:r>
              <a:rPr lang="tr-TR" dirty="0"/>
              <a:t> </a:t>
            </a:r>
            <a:r>
              <a:rPr lang="tr-TR" dirty="0" err="1"/>
              <a:t>for</a:t>
            </a:r>
            <a:r>
              <a:rPr lang="tr-TR" dirty="0"/>
              <a:t> </a:t>
            </a:r>
            <a:r>
              <a:rPr lang="tr-TR" dirty="0" err="1"/>
              <a:t>the</a:t>
            </a:r>
            <a:endParaRPr lang="tr-TR" dirty="0"/>
          </a:p>
          <a:p>
            <a:pPr marL="0" indent="0">
              <a:buNone/>
            </a:pPr>
            <a:r>
              <a:rPr lang="tr-TR" dirty="0"/>
              <a:t>optimal </a:t>
            </a:r>
            <a:r>
              <a:rPr lang="tr-TR" dirty="0" err="1"/>
              <a:t>solution</a:t>
            </a:r>
            <a:r>
              <a:rPr lang="tr-TR" dirty="0"/>
              <a:t>?</a:t>
            </a:r>
          </a:p>
        </p:txBody>
      </p:sp>
      <p:graphicFrame>
        <p:nvGraphicFramePr>
          <p:cNvPr id="4" name="Object 3">
            <a:extLst>
              <a:ext uri="{FF2B5EF4-FFF2-40B4-BE49-F238E27FC236}">
                <a16:creationId xmlns:a16="http://schemas.microsoft.com/office/drawing/2014/main" id="{277B3549-893E-4562-BCF8-2C85C8E63D46}"/>
              </a:ext>
            </a:extLst>
          </p:cNvPr>
          <p:cNvGraphicFramePr>
            <a:graphicFrameLocks noChangeAspect="1"/>
          </p:cNvGraphicFramePr>
          <p:nvPr>
            <p:extLst>
              <p:ext uri="{D42A27DB-BD31-4B8C-83A1-F6EECF244321}">
                <p14:modId xmlns:p14="http://schemas.microsoft.com/office/powerpoint/2010/main" val="525965500"/>
              </p:ext>
            </p:extLst>
          </p:nvPr>
        </p:nvGraphicFramePr>
        <p:xfrm>
          <a:off x="4737820" y="-323541"/>
          <a:ext cx="4690676" cy="7505081"/>
        </p:xfrm>
        <a:graphic>
          <a:graphicData uri="http://schemas.openxmlformats.org/presentationml/2006/ole">
            <mc:AlternateContent xmlns:mc="http://schemas.openxmlformats.org/markup-compatibility/2006">
              <mc:Choice xmlns:v="urn:schemas-microsoft-com:vml" Requires="v">
                <p:oleObj name="Acrobat Document" r:id="rId3" imgW="6858000" imgH="10972800" progId="AcroExch.Document.DC">
                  <p:embed/>
                </p:oleObj>
              </mc:Choice>
              <mc:Fallback>
                <p:oleObj name="Acrobat Document" r:id="rId3" imgW="6858000" imgH="10972800" progId="AcroExch.Document.DC">
                  <p:embed/>
                  <p:pic>
                    <p:nvPicPr>
                      <p:cNvPr id="4" name="Object 3">
                        <a:extLst>
                          <a:ext uri="{FF2B5EF4-FFF2-40B4-BE49-F238E27FC236}">
                            <a16:creationId xmlns:a16="http://schemas.microsoft.com/office/drawing/2014/main" id="{277B3549-893E-4562-BCF8-2C85C8E63D46}"/>
                          </a:ext>
                        </a:extLst>
                      </p:cNvPr>
                      <p:cNvPicPr/>
                      <p:nvPr/>
                    </p:nvPicPr>
                    <p:blipFill>
                      <a:blip r:embed="rId4"/>
                      <a:stretch>
                        <a:fillRect/>
                      </a:stretch>
                    </p:blipFill>
                    <p:spPr>
                      <a:xfrm>
                        <a:off x="4737820" y="-323541"/>
                        <a:ext cx="4690676" cy="7505081"/>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0FAAC9CC-72D2-451A-9FEF-2C634DE334BB}"/>
              </a:ext>
            </a:extLst>
          </p:cNvPr>
          <p:cNvPicPr>
            <a:picLocks noChangeAspect="1"/>
          </p:cNvPicPr>
          <p:nvPr/>
        </p:nvPicPr>
        <p:blipFill>
          <a:blip r:embed="rId5"/>
          <a:stretch>
            <a:fillRect/>
          </a:stretch>
        </p:blipFill>
        <p:spPr>
          <a:xfrm>
            <a:off x="4973370" y="274638"/>
            <a:ext cx="4219575" cy="6391275"/>
          </a:xfrm>
          <a:prstGeom prst="rect">
            <a:avLst/>
          </a:prstGeom>
        </p:spPr>
      </p:pic>
    </p:spTree>
    <p:extLst>
      <p:ext uri="{BB962C8B-B14F-4D97-AF65-F5344CB8AC3E}">
        <p14:creationId xmlns:p14="http://schemas.microsoft.com/office/powerpoint/2010/main" val="4095506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Possible outcomes of an LP</a:t>
            </a:r>
          </a:p>
        </p:txBody>
      </p:sp>
      <p:sp>
        <p:nvSpPr>
          <p:cNvPr id="3" name="Content Placeholder 2"/>
          <p:cNvSpPr>
            <a:spLocks noGrp="1"/>
          </p:cNvSpPr>
          <p:nvPr>
            <p:ph idx="1"/>
          </p:nvPr>
        </p:nvSpPr>
        <p:spPr>
          <a:xfrm>
            <a:off x="457200" y="5089793"/>
            <a:ext cx="8229600" cy="1608462"/>
          </a:xfrm>
        </p:spPr>
        <p:txBody>
          <a:bodyPr>
            <a:normAutofit fontScale="85000" lnSpcReduction="10000"/>
          </a:bodyPr>
          <a:lstStyle/>
          <a:p>
            <a:r>
              <a:rPr lang="en-US" dirty="0"/>
              <a:t>Unique finite optimal solution.</a:t>
            </a:r>
          </a:p>
          <a:p>
            <a:r>
              <a:rPr lang="en-US" dirty="0">
                <a:solidFill>
                  <a:srgbClr val="FF0000"/>
                </a:solidFill>
              </a:rPr>
              <a:t>If the optimal solution is unique, then it occurs at an extreme (or corner) point of the feasible region.</a:t>
            </a:r>
          </a:p>
        </p:txBody>
      </p:sp>
      <p:pic>
        <p:nvPicPr>
          <p:cNvPr id="54274" name="Picture 2"/>
          <p:cNvPicPr>
            <a:picLocks noChangeAspect="1" noChangeArrowheads="1"/>
          </p:cNvPicPr>
          <p:nvPr/>
        </p:nvPicPr>
        <p:blipFill>
          <a:blip r:embed="rId3" cstate="print"/>
          <a:srcRect/>
          <a:stretch>
            <a:fillRect/>
          </a:stretch>
        </p:blipFill>
        <p:spPr bwMode="auto">
          <a:xfrm>
            <a:off x="1638300" y="1150914"/>
            <a:ext cx="5867400" cy="3829050"/>
          </a:xfrm>
          <a:prstGeom prst="rect">
            <a:avLst/>
          </a:prstGeom>
          <a:noFill/>
          <a:ln w="9525">
            <a:noFill/>
            <a:miter lim="800000"/>
            <a:headEnd/>
            <a:tailEnd/>
          </a:ln>
        </p:spPr>
      </p:pic>
      <p:sp>
        <p:nvSpPr>
          <p:cNvPr id="5" name="TextBox 4"/>
          <p:cNvSpPr txBox="1"/>
          <p:nvPr/>
        </p:nvSpPr>
        <p:spPr>
          <a:xfrm>
            <a:off x="198301" y="2677104"/>
            <a:ext cx="1465243" cy="646331"/>
          </a:xfrm>
          <a:prstGeom prst="rect">
            <a:avLst/>
          </a:prstGeom>
          <a:noFill/>
        </p:spPr>
        <p:txBody>
          <a:bodyPr wrap="square" rtlCol="0">
            <a:spAutoFit/>
          </a:bodyPr>
          <a:lstStyle/>
          <a:p>
            <a:r>
              <a:rPr lang="en-US" dirty="0"/>
              <a:t>Minimization problems</a:t>
            </a:r>
          </a:p>
        </p:txBody>
      </p:sp>
      <p:sp>
        <p:nvSpPr>
          <p:cNvPr id="6"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Possible outcomes of an LP</a:t>
            </a:r>
          </a:p>
        </p:txBody>
      </p:sp>
      <p:sp>
        <p:nvSpPr>
          <p:cNvPr id="3" name="Content Placeholder 2"/>
          <p:cNvSpPr>
            <a:spLocks noGrp="1"/>
          </p:cNvSpPr>
          <p:nvPr>
            <p:ph idx="1"/>
          </p:nvPr>
        </p:nvSpPr>
        <p:spPr>
          <a:xfrm>
            <a:off x="457200" y="5089793"/>
            <a:ext cx="8229600" cy="1608462"/>
          </a:xfrm>
        </p:spPr>
        <p:txBody>
          <a:bodyPr>
            <a:normAutofit lnSpcReduction="10000"/>
          </a:bodyPr>
          <a:lstStyle/>
          <a:p>
            <a:r>
              <a:rPr lang="en-US" dirty="0"/>
              <a:t>Alternate finite optimal solutions.</a:t>
            </a:r>
          </a:p>
          <a:p>
            <a:r>
              <a:rPr lang="en-US" dirty="0">
                <a:solidFill>
                  <a:srgbClr val="FF0000"/>
                </a:solidFill>
              </a:rPr>
              <a:t>In this case, there are infinitely many optimal solutions.</a:t>
            </a:r>
          </a:p>
        </p:txBody>
      </p:sp>
      <p:pic>
        <p:nvPicPr>
          <p:cNvPr id="55298" name="Picture 2"/>
          <p:cNvPicPr>
            <a:picLocks noChangeAspect="1" noChangeArrowheads="1"/>
          </p:cNvPicPr>
          <p:nvPr/>
        </p:nvPicPr>
        <p:blipFill>
          <a:blip r:embed="rId5" cstate="print"/>
          <a:srcRect/>
          <a:stretch>
            <a:fillRect/>
          </a:stretch>
        </p:blipFill>
        <p:spPr bwMode="auto">
          <a:xfrm>
            <a:off x="1381125" y="1261025"/>
            <a:ext cx="6381750" cy="3476625"/>
          </a:xfrm>
          <a:prstGeom prst="rect">
            <a:avLst/>
          </a:prstGeom>
          <a:noFill/>
          <a:ln w="9525">
            <a:noFill/>
            <a:miter lim="800000"/>
            <a:headEnd/>
            <a:tailEnd/>
          </a:ln>
        </p:spPr>
      </p:pic>
      <p:pic>
        <p:nvPicPr>
          <p:cNvPr id="10" name="Picture 9" descr="txp_fig.png"/>
          <p:cNvPicPr>
            <a:picLocks noChangeAspect="1"/>
          </p:cNvPicPr>
          <p:nvPr>
            <p:custDataLst>
              <p:tags r:id="rId1"/>
            </p:custDataLst>
          </p:nvPr>
        </p:nvPicPr>
        <p:blipFill>
          <a:blip r:embed="rId6" cstate="print">
            <a:lum/>
          </a:blip>
          <a:stretch>
            <a:fillRect/>
          </a:stretch>
        </p:blipFill>
        <p:spPr>
          <a:xfrm>
            <a:off x="1965398" y="2822126"/>
            <a:ext cx="1782343" cy="835473"/>
          </a:xfrm>
          <a:prstGeom prst="rect">
            <a:avLst/>
          </a:prstGeom>
        </p:spPr>
      </p:pic>
      <p:cxnSp>
        <p:nvCxnSpPr>
          <p:cNvPr id="12" name="Straight Connector 11"/>
          <p:cNvCxnSpPr/>
          <p:nvPr/>
        </p:nvCxnSpPr>
        <p:spPr>
          <a:xfrm>
            <a:off x="2754217" y="2060154"/>
            <a:ext cx="1068636" cy="71609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14" name="Picture 13" descr="txp_fig.png"/>
          <p:cNvPicPr>
            <a:picLocks noChangeAspect="1"/>
          </p:cNvPicPr>
          <p:nvPr>
            <p:custDataLst>
              <p:tags r:id="rId2"/>
            </p:custDataLst>
          </p:nvPr>
        </p:nvPicPr>
        <p:blipFill>
          <a:blip r:embed="rId7" cstate="print">
            <a:lum/>
          </a:blip>
          <a:stretch>
            <a:fillRect/>
          </a:stretch>
        </p:blipFill>
        <p:spPr>
          <a:xfrm>
            <a:off x="5299504" y="2799618"/>
            <a:ext cx="1782342" cy="835473"/>
          </a:xfrm>
          <a:prstGeom prst="rect">
            <a:avLst/>
          </a:prstGeom>
        </p:spPr>
      </p:pic>
      <p:cxnSp>
        <p:nvCxnSpPr>
          <p:cNvPr id="15" name="Straight Connector 14"/>
          <p:cNvCxnSpPr/>
          <p:nvPr/>
        </p:nvCxnSpPr>
        <p:spPr>
          <a:xfrm flipV="1">
            <a:off x="5649817" y="1652530"/>
            <a:ext cx="1400978" cy="174431"/>
          </a:xfrm>
          <a:prstGeom prst="line">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7284" y="2677104"/>
            <a:ext cx="1465243" cy="646331"/>
          </a:xfrm>
          <a:prstGeom prst="rect">
            <a:avLst/>
          </a:prstGeom>
          <a:noFill/>
        </p:spPr>
        <p:txBody>
          <a:bodyPr wrap="square" rtlCol="0">
            <a:spAutoFit/>
          </a:bodyPr>
          <a:lstStyle/>
          <a:p>
            <a:r>
              <a:rPr lang="en-US" dirty="0"/>
              <a:t>Minimization problems</a:t>
            </a:r>
          </a:p>
        </p:txBody>
      </p:sp>
      <p:sp>
        <p:nvSpPr>
          <p:cNvPr id="18"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19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Possible outcomes of an LP</a:t>
            </a:r>
          </a:p>
        </p:txBody>
      </p:sp>
      <p:sp>
        <p:nvSpPr>
          <p:cNvPr id="3" name="Content Placeholder 2"/>
          <p:cNvSpPr>
            <a:spLocks noGrp="1"/>
          </p:cNvSpPr>
          <p:nvPr>
            <p:ph idx="1"/>
          </p:nvPr>
        </p:nvSpPr>
        <p:spPr>
          <a:xfrm>
            <a:off x="457200" y="5089793"/>
            <a:ext cx="8229600" cy="1608462"/>
          </a:xfrm>
        </p:spPr>
        <p:txBody>
          <a:bodyPr>
            <a:normAutofit lnSpcReduction="10000"/>
          </a:bodyPr>
          <a:lstStyle/>
          <a:p>
            <a:r>
              <a:rPr lang="en-US" dirty="0"/>
              <a:t>Unbounded solution.</a:t>
            </a:r>
          </a:p>
          <a:p>
            <a:r>
              <a:rPr lang="en-US" dirty="0"/>
              <a:t>We can identify feasible solutions with arbitrarily small objective values.</a:t>
            </a:r>
            <a:endParaRPr lang="en-US" dirty="0">
              <a:solidFill>
                <a:srgbClr val="FF0000"/>
              </a:solidFill>
            </a:endParaRPr>
          </a:p>
        </p:txBody>
      </p:sp>
      <p:sp>
        <p:nvSpPr>
          <p:cNvPr id="17" name="TextBox 16"/>
          <p:cNvSpPr txBox="1"/>
          <p:nvPr/>
        </p:nvSpPr>
        <p:spPr>
          <a:xfrm>
            <a:off x="187284" y="2677104"/>
            <a:ext cx="1465243" cy="646331"/>
          </a:xfrm>
          <a:prstGeom prst="rect">
            <a:avLst/>
          </a:prstGeom>
          <a:noFill/>
        </p:spPr>
        <p:txBody>
          <a:bodyPr wrap="square" rtlCol="0">
            <a:spAutoFit/>
          </a:bodyPr>
          <a:lstStyle/>
          <a:p>
            <a:r>
              <a:rPr lang="en-US" dirty="0"/>
              <a:t>Minimization problem</a:t>
            </a:r>
          </a:p>
        </p:txBody>
      </p:sp>
      <p:pic>
        <p:nvPicPr>
          <p:cNvPr id="56322" name="Picture 2"/>
          <p:cNvPicPr>
            <a:picLocks noChangeAspect="1" noChangeArrowheads="1"/>
          </p:cNvPicPr>
          <p:nvPr/>
        </p:nvPicPr>
        <p:blipFill>
          <a:blip r:embed="rId3" cstate="print"/>
          <a:srcRect/>
          <a:stretch>
            <a:fillRect/>
          </a:stretch>
        </p:blipFill>
        <p:spPr bwMode="auto">
          <a:xfrm>
            <a:off x="1943614" y="1352145"/>
            <a:ext cx="4772025" cy="3514725"/>
          </a:xfrm>
          <a:prstGeom prst="rect">
            <a:avLst/>
          </a:prstGeom>
          <a:noFill/>
          <a:ln w="9525">
            <a:noFill/>
            <a:miter lim="800000"/>
            <a:headEnd/>
            <a:tailEnd/>
          </a:ln>
        </p:spPr>
      </p:pic>
      <p:sp>
        <p:nvSpPr>
          <p:cNvPr id="11"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Possible outcomes of an LP</a:t>
            </a:r>
          </a:p>
        </p:txBody>
      </p:sp>
      <p:sp>
        <p:nvSpPr>
          <p:cNvPr id="3" name="Content Placeholder 2"/>
          <p:cNvSpPr>
            <a:spLocks noGrp="1"/>
          </p:cNvSpPr>
          <p:nvPr>
            <p:ph idx="1"/>
          </p:nvPr>
        </p:nvSpPr>
        <p:spPr>
          <a:xfrm>
            <a:off x="457200" y="3594970"/>
            <a:ext cx="3977014" cy="3103285"/>
          </a:xfrm>
        </p:spPr>
        <p:txBody>
          <a:bodyPr>
            <a:normAutofit/>
          </a:bodyPr>
          <a:lstStyle/>
          <a:p>
            <a:r>
              <a:rPr lang="en-US" dirty="0"/>
              <a:t>Infeasible model.</a:t>
            </a:r>
          </a:p>
          <a:p>
            <a:r>
              <a:rPr lang="en-US" dirty="0"/>
              <a:t>The system of equations defining the feasible region is inconsistent.</a:t>
            </a:r>
          </a:p>
        </p:txBody>
      </p:sp>
      <p:graphicFrame>
        <p:nvGraphicFramePr>
          <p:cNvPr id="57346" name="Object 2"/>
          <p:cNvGraphicFramePr>
            <a:graphicFrameLocks noChangeAspect="1"/>
          </p:cNvGraphicFramePr>
          <p:nvPr/>
        </p:nvGraphicFramePr>
        <p:xfrm>
          <a:off x="4300602" y="1102290"/>
          <a:ext cx="4589463" cy="5238750"/>
        </p:xfrm>
        <a:graphic>
          <a:graphicData uri="http://schemas.openxmlformats.org/presentationml/2006/ole">
            <mc:AlternateContent xmlns:mc="http://schemas.openxmlformats.org/markup-compatibility/2006">
              <mc:Choice xmlns:v="urn:schemas-microsoft-com:vml" Requires="v">
                <p:oleObj name="SmartSketch Document" r:id="rId4" imgW="5791320" imgH="6610320" progId="">
                  <p:embed/>
                </p:oleObj>
              </mc:Choice>
              <mc:Fallback>
                <p:oleObj name="SmartSketch Document" r:id="rId4" imgW="5791320" imgH="6610320" progId="">
                  <p:embed/>
                  <p:pic>
                    <p:nvPicPr>
                      <p:cNvPr id="5734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00602" y="1102290"/>
                        <a:ext cx="4589463" cy="52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 name="Picture 8" descr="txp_fig.png"/>
          <p:cNvPicPr>
            <a:picLocks noChangeAspect="1"/>
          </p:cNvPicPr>
          <p:nvPr>
            <p:custDataLst>
              <p:tags r:id="rId1"/>
            </p:custDataLst>
          </p:nvPr>
        </p:nvPicPr>
        <p:blipFill>
          <a:blip r:embed="rId6" cstate="print">
            <a:lum/>
          </a:blip>
          <a:stretch>
            <a:fillRect/>
          </a:stretch>
        </p:blipFill>
        <p:spPr>
          <a:xfrm>
            <a:off x="852107" y="1309342"/>
            <a:ext cx="3329483" cy="1942198"/>
          </a:xfrm>
          <a:prstGeom prst="rect">
            <a:avLst/>
          </a:prstGeom>
        </p:spPr>
      </p:pic>
      <p:sp>
        <p:nvSpPr>
          <p:cNvPr id="11" name="Rectangle 10"/>
          <p:cNvSpPr/>
          <p:nvPr/>
        </p:nvSpPr>
        <p:spPr>
          <a:xfrm>
            <a:off x="6789683" y="2207172"/>
            <a:ext cx="620110" cy="199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709313" y="3431592"/>
            <a:ext cx="620110" cy="199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204769D-295F-44F2-8E27-6FB72BF17072}" type="slidenum">
              <a:rPr lang="en-US"/>
              <a:pPr/>
              <a:t>22</a:t>
            </a:fld>
            <a:endParaRPr lang="en-US" dirty="0"/>
          </a:p>
        </p:txBody>
      </p:sp>
      <p:sp>
        <p:nvSpPr>
          <p:cNvPr id="33794" name="Rectangle 2"/>
          <p:cNvSpPr>
            <a:spLocks noGrp="1" noChangeArrowheads="1"/>
          </p:cNvSpPr>
          <p:nvPr>
            <p:ph type="title"/>
          </p:nvPr>
        </p:nvSpPr>
        <p:spPr/>
        <p:txBody>
          <a:bodyPr>
            <a:normAutofit fontScale="90000"/>
          </a:bodyPr>
          <a:lstStyle/>
          <a:p>
            <a:r>
              <a:rPr lang="en-US" dirty="0"/>
              <a:t>Outcomes of an LP – insights from the graphical solution </a:t>
            </a:r>
          </a:p>
        </p:txBody>
      </p:sp>
      <p:sp>
        <p:nvSpPr>
          <p:cNvPr id="33795" name="Rectangle 3"/>
          <p:cNvSpPr>
            <a:spLocks noGrp="1" noChangeArrowheads="1"/>
          </p:cNvSpPr>
          <p:nvPr>
            <p:ph type="body" idx="1"/>
          </p:nvPr>
        </p:nvSpPr>
        <p:spPr>
          <a:xfrm>
            <a:off x="457200" y="1600200"/>
            <a:ext cx="8229600" cy="4904117"/>
          </a:xfrm>
        </p:spPr>
        <p:txBody>
          <a:bodyPr>
            <a:normAutofit fontScale="92500"/>
          </a:bodyPr>
          <a:lstStyle/>
          <a:p>
            <a:r>
              <a:rPr lang="en-US" dirty="0"/>
              <a:t>Thus, an LP model has three possible outcomes:</a:t>
            </a:r>
          </a:p>
          <a:p>
            <a:pPr lvl="1"/>
            <a:r>
              <a:rPr lang="en-US" dirty="0"/>
              <a:t>The model is infeasible.</a:t>
            </a:r>
          </a:p>
          <a:p>
            <a:pPr lvl="1"/>
            <a:r>
              <a:rPr lang="en-US" dirty="0"/>
              <a:t>The model is unbounded.</a:t>
            </a:r>
          </a:p>
          <a:p>
            <a:pPr lvl="1"/>
            <a:r>
              <a:rPr lang="en-US" dirty="0"/>
              <a:t>The model has an optimal solution. </a:t>
            </a:r>
            <a:r>
              <a:rPr lang="en-US" b="1" dirty="0"/>
              <a:t>If the model has an optimal solution, then there exists an extreme point optimal solution.</a:t>
            </a:r>
          </a:p>
          <a:p>
            <a:r>
              <a:rPr lang="en-US" dirty="0">
                <a:solidFill>
                  <a:srgbClr val="FF0000"/>
                </a:solidFill>
              </a:rPr>
              <a:t>For a given instance, the objective of any linear programming algorithm is to determine the appropriate certificate for one of these cases.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7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204769D-295F-44F2-8E27-6FB72BF17072}" type="slidenum">
              <a:rPr lang="en-US"/>
              <a:pPr/>
              <a:t>23</a:t>
            </a:fld>
            <a:endParaRPr lang="en-US" dirty="0"/>
          </a:p>
        </p:txBody>
      </p:sp>
      <p:sp>
        <p:nvSpPr>
          <p:cNvPr id="33794" name="Rectangle 2"/>
          <p:cNvSpPr>
            <a:spLocks noGrp="1" noChangeArrowheads="1"/>
          </p:cNvSpPr>
          <p:nvPr>
            <p:ph type="title"/>
          </p:nvPr>
        </p:nvSpPr>
        <p:spPr/>
        <p:txBody>
          <a:bodyPr>
            <a:normAutofit fontScale="90000"/>
          </a:bodyPr>
          <a:lstStyle/>
          <a:p>
            <a:r>
              <a:rPr lang="en-US" dirty="0"/>
              <a:t>Outcomes of an LP – insights from the graphical solution </a:t>
            </a:r>
          </a:p>
        </p:txBody>
      </p:sp>
      <p:sp>
        <p:nvSpPr>
          <p:cNvPr id="33795" name="Rectangle 3"/>
          <p:cNvSpPr>
            <a:spLocks noGrp="1" noChangeArrowheads="1"/>
          </p:cNvSpPr>
          <p:nvPr>
            <p:ph type="body" idx="1"/>
          </p:nvPr>
        </p:nvSpPr>
        <p:spPr>
          <a:xfrm>
            <a:off x="457200" y="1600200"/>
            <a:ext cx="8229600" cy="4904117"/>
          </a:xfrm>
        </p:spPr>
        <p:txBody>
          <a:bodyPr>
            <a:normAutofit/>
          </a:bodyPr>
          <a:lstStyle/>
          <a:p>
            <a:r>
              <a:rPr lang="en-US" dirty="0"/>
              <a:t>If an LP model model has an optimal solution</a:t>
            </a:r>
            <a:r>
              <a:rPr lang="en-US" b="1" dirty="0"/>
              <a:t>, then there exists an extreme point optimal solution.</a:t>
            </a:r>
          </a:p>
          <a:p>
            <a:pPr lvl="1"/>
            <a:r>
              <a:rPr lang="en-US" b="1" dirty="0"/>
              <a:t>How can we characterize extreme points?</a:t>
            </a:r>
          </a:p>
          <a:p>
            <a:pPr lvl="1"/>
            <a:r>
              <a:rPr lang="en-US" b="1" dirty="0"/>
              <a:t>How can we turn this into an algorithm?</a:t>
            </a:r>
          </a:p>
          <a:p>
            <a:pPr lvl="1"/>
            <a:endParaRPr lang="en-US" b="1" dirty="0"/>
          </a:p>
          <a:p>
            <a:r>
              <a:rPr lang="en-US" b="1" dirty="0"/>
              <a:t>Beware that this discussion is incomplete at some points for the ease of understanding</a:t>
            </a:r>
          </a:p>
        </p:txBody>
      </p:sp>
    </p:spTree>
    <p:extLst>
      <p:ext uri="{BB962C8B-B14F-4D97-AF65-F5344CB8AC3E}">
        <p14:creationId xmlns:p14="http://schemas.microsoft.com/office/powerpoint/2010/main" val="245062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7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E2B9263-F63D-41D3-B6FB-D26F1EE2528F}" type="slidenum">
              <a:rPr lang="en-US"/>
              <a:pPr/>
              <a:t>24</a:t>
            </a:fld>
            <a:endParaRPr lang="en-US"/>
          </a:p>
        </p:txBody>
      </p:sp>
      <p:sp>
        <p:nvSpPr>
          <p:cNvPr id="27650" name="Rectangle 2"/>
          <p:cNvSpPr>
            <a:spLocks noGrp="1" noChangeArrowheads="1"/>
          </p:cNvSpPr>
          <p:nvPr>
            <p:ph type="title"/>
          </p:nvPr>
        </p:nvSpPr>
        <p:spPr/>
        <p:txBody>
          <a:bodyPr/>
          <a:lstStyle/>
          <a:p>
            <a:r>
              <a:rPr lang="en-US" dirty="0"/>
              <a:t>Linear programming algorithms</a:t>
            </a:r>
          </a:p>
        </p:txBody>
      </p:sp>
      <p:sp>
        <p:nvSpPr>
          <p:cNvPr id="27651" name="Rectangle 3"/>
          <p:cNvSpPr>
            <a:spLocks noGrp="1" noChangeArrowheads="1"/>
          </p:cNvSpPr>
          <p:nvPr>
            <p:ph type="body" idx="1"/>
          </p:nvPr>
        </p:nvSpPr>
        <p:spPr>
          <a:xfrm>
            <a:off x="457200" y="1600200"/>
            <a:ext cx="8229600" cy="4876800"/>
          </a:xfrm>
        </p:spPr>
        <p:txBody>
          <a:bodyPr>
            <a:normAutofit lnSpcReduction="10000"/>
          </a:bodyPr>
          <a:lstStyle/>
          <a:p>
            <a:r>
              <a:rPr lang="en-US" dirty="0"/>
              <a:t>Simplex algorithm (</a:t>
            </a:r>
            <a:r>
              <a:rPr lang="en-US" dirty="0" err="1"/>
              <a:t>Dantzig</a:t>
            </a:r>
            <a:r>
              <a:rPr lang="en-US" dirty="0"/>
              <a:t>, 1947)</a:t>
            </a:r>
          </a:p>
          <a:p>
            <a:pPr lvl="1"/>
            <a:r>
              <a:rPr lang="en-US" dirty="0"/>
              <a:t>Poor theoretical, excellent empirical performance.</a:t>
            </a:r>
          </a:p>
          <a:p>
            <a:r>
              <a:rPr lang="en-US" dirty="0"/>
              <a:t>Ellipsoid method (Khachiyan,1979)</a:t>
            </a:r>
          </a:p>
          <a:p>
            <a:pPr lvl="1"/>
            <a:r>
              <a:rPr lang="en-US" dirty="0"/>
              <a:t>Theoretically superior to the simplex algorithm, poor practical performance.</a:t>
            </a:r>
          </a:p>
          <a:p>
            <a:r>
              <a:rPr lang="en-US" dirty="0"/>
              <a:t>Interior point algorithms (</a:t>
            </a:r>
            <a:r>
              <a:rPr lang="en-US" dirty="0" err="1"/>
              <a:t>Karmarkar</a:t>
            </a:r>
            <a:r>
              <a:rPr lang="en-US" dirty="0"/>
              <a:t>, 1984)</a:t>
            </a:r>
          </a:p>
          <a:p>
            <a:r>
              <a:rPr lang="en-US" dirty="0"/>
              <a:t>Simplex and interior point algorithms are used in practice.</a:t>
            </a:r>
            <a:endParaRPr lang="en-US" sz="2800" dirty="0"/>
          </a:p>
          <a:p>
            <a:pPr lvl="1"/>
            <a:r>
              <a:rPr lang="en-US" dirty="0"/>
              <a:t>Empirically, the performance of either algorithm depends on the specific problem instance.</a:t>
            </a:r>
          </a:p>
          <a:p>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65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651">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6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D837443-811D-4E89-8616-63FC4D41BA0A}" type="slidenum">
              <a:rPr lang="en-US"/>
              <a:pPr/>
              <a:t>25</a:t>
            </a:fld>
            <a:endParaRPr lang="en-US" dirty="0"/>
          </a:p>
        </p:txBody>
      </p:sp>
      <p:sp>
        <p:nvSpPr>
          <p:cNvPr id="66562" name="Rectangle 2"/>
          <p:cNvSpPr>
            <a:spLocks noGrp="1" noChangeArrowheads="1"/>
          </p:cNvSpPr>
          <p:nvPr>
            <p:ph type="title"/>
          </p:nvPr>
        </p:nvSpPr>
        <p:spPr/>
        <p:txBody>
          <a:bodyPr/>
          <a:lstStyle/>
          <a:p>
            <a:r>
              <a:rPr lang="en-US" dirty="0"/>
              <a:t>Different representations of an LP</a:t>
            </a:r>
          </a:p>
        </p:txBody>
      </p:sp>
      <p:sp>
        <p:nvSpPr>
          <p:cNvPr id="66563" name="Rectangle 3"/>
          <p:cNvSpPr>
            <a:spLocks noGrp="1" noChangeArrowheads="1"/>
          </p:cNvSpPr>
          <p:nvPr>
            <p:ph type="body" idx="1"/>
          </p:nvPr>
        </p:nvSpPr>
        <p:spPr>
          <a:xfrm>
            <a:off x="457200" y="1600200"/>
            <a:ext cx="8229600" cy="4983162"/>
          </a:xfrm>
        </p:spPr>
        <p:txBody>
          <a:bodyPr/>
          <a:lstStyle/>
          <a:p>
            <a:r>
              <a:rPr lang="en-US" dirty="0"/>
              <a:t>Before discussing the main idea of the simplex algorithm we digress briefly to illustrate the different generic forms for an LP. This will help and improve our understanding of the simplex method.</a:t>
            </a:r>
          </a:p>
          <a:p>
            <a:r>
              <a:rPr lang="en-US" dirty="0"/>
              <a:t>An LP is in standard form if it is written as</a:t>
            </a:r>
          </a:p>
          <a:p>
            <a:endParaRPr lang="en-US" dirty="0"/>
          </a:p>
          <a:p>
            <a:endParaRPr lang="en-US" dirty="0"/>
          </a:p>
          <a:p>
            <a:r>
              <a:rPr lang="en-US" dirty="0"/>
              <a:t>Any LP can be converted to standard form </a:t>
            </a:r>
          </a:p>
        </p:txBody>
      </p:sp>
      <p:pic>
        <p:nvPicPr>
          <p:cNvPr id="5" name="Picture 4" descr="txp_fig.png">
            <a:extLst>
              <a:ext uri="{FF2B5EF4-FFF2-40B4-BE49-F238E27FC236}">
                <a16:creationId xmlns:a16="http://schemas.microsoft.com/office/drawing/2014/main" id="{AE21DF79-C84A-4CF3-95A6-BE36281B96BE}"/>
              </a:ext>
            </a:extLst>
          </p:cNvPr>
          <p:cNvPicPr>
            <a:picLocks noChangeAspect="1"/>
          </p:cNvPicPr>
          <p:nvPr>
            <p:custDataLst>
              <p:tags r:id="rId1"/>
            </p:custDataLst>
          </p:nvPr>
        </p:nvPicPr>
        <p:blipFill>
          <a:blip r:embed="rId4" cstate="print">
            <a:lum/>
          </a:blip>
          <a:stretch>
            <a:fillRect/>
          </a:stretch>
        </p:blipFill>
        <p:spPr>
          <a:xfrm>
            <a:off x="3555121" y="4818724"/>
            <a:ext cx="2033758" cy="8781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6E68-AA78-4123-B1BF-47C5723CEDB0}"/>
              </a:ext>
            </a:extLst>
          </p:cNvPr>
          <p:cNvSpPr>
            <a:spLocks noGrp="1"/>
          </p:cNvSpPr>
          <p:nvPr>
            <p:ph type="title"/>
          </p:nvPr>
        </p:nvSpPr>
        <p:spPr/>
        <p:txBody>
          <a:bodyPr/>
          <a:lstStyle/>
          <a:p>
            <a:r>
              <a:rPr lang="en-US" dirty="0"/>
              <a:t>Standard form</a:t>
            </a:r>
          </a:p>
        </p:txBody>
      </p:sp>
      <p:sp>
        <p:nvSpPr>
          <p:cNvPr id="3" name="Content Placeholder 2">
            <a:extLst>
              <a:ext uri="{FF2B5EF4-FFF2-40B4-BE49-F238E27FC236}">
                <a16:creationId xmlns:a16="http://schemas.microsoft.com/office/drawing/2014/main" id="{1F46DEBA-3095-44F6-A6A5-394D706E47AC}"/>
              </a:ext>
            </a:extLst>
          </p:cNvPr>
          <p:cNvSpPr>
            <a:spLocks noGrp="1"/>
          </p:cNvSpPr>
          <p:nvPr>
            <p:ph idx="1"/>
          </p:nvPr>
        </p:nvSpPr>
        <p:spPr/>
        <p:txBody>
          <a:bodyPr/>
          <a:lstStyle/>
          <a:p>
            <a:r>
              <a:rPr lang="en-US" dirty="0"/>
              <a:t>3 conditions are required for standard form:</a:t>
            </a:r>
          </a:p>
          <a:p>
            <a:pPr lvl="1"/>
            <a:r>
              <a:rPr lang="en-US" dirty="0"/>
              <a:t>Non-negativity constraints for all variables. </a:t>
            </a:r>
          </a:p>
          <a:p>
            <a:pPr lvl="1"/>
            <a:r>
              <a:rPr lang="en-US" dirty="0"/>
              <a:t>All remaining constraints are expressed as equality constraints. </a:t>
            </a:r>
          </a:p>
          <a:p>
            <a:pPr lvl="1"/>
            <a:r>
              <a:rPr lang="en-US" dirty="0"/>
              <a:t>The right hand side vector, b, is non-negative. </a:t>
            </a:r>
          </a:p>
          <a:p>
            <a:r>
              <a:rPr lang="en-US" dirty="0"/>
              <a:t>We prefer to have a minimization problem (even though it is not required for the model to be in standard form)</a:t>
            </a:r>
          </a:p>
        </p:txBody>
      </p:sp>
    </p:spTree>
    <p:extLst>
      <p:ext uri="{BB962C8B-B14F-4D97-AF65-F5344CB8AC3E}">
        <p14:creationId xmlns:p14="http://schemas.microsoft.com/office/powerpoint/2010/main" val="16118305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6E68-AA78-4123-B1BF-47C5723CEDB0}"/>
              </a:ext>
            </a:extLst>
          </p:cNvPr>
          <p:cNvSpPr>
            <a:spLocks noGrp="1"/>
          </p:cNvSpPr>
          <p:nvPr>
            <p:ph type="title"/>
          </p:nvPr>
        </p:nvSpPr>
        <p:spPr/>
        <p:txBody>
          <a:bodyPr/>
          <a:lstStyle/>
          <a:p>
            <a:r>
              <a:rPr lang="en-US" dirty="0"/>
              <a:t>Standard form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46DEBA-3095-44F6-A6A5-394D706E47AC}"/>
                  </a:ext>
                </a:extLst>
              </p:cNvPr>
              <p:cNvSpPr>
                <a:spLocks noGrp="1"/>
              </p:cNvSpPr>
              <p:nvPr>
                <p:ph idx="1"/>
              </p:nvPr>
            </p:nvSpPr>
            <p:spPr>
              <a:xfrm>
                <a:off x="457200" y="1600200"/>
                <a:ext cx="3739415" cy="4525963"/>
              </a:xfrm>
            </p:spPr>
            <p:txBody>
              <a:bodyPr/>
              <a:lstStyle/>
              <a:p>
                <a:pPr marL="0" indent="0">
                  <a:buNone/>
                </a:pPr>
                <a:r>
                  <a:rPr lang="en-US" dirty="0"/>
                  <a:t>Consider </a:t>
                </a:r>
              </a:p>
              <a:p>
                <a14:m>
                  <m:oMath xmlns:m="http://schemas.openxmlformats.org/officeDocument/2006/math">
                    <m:r>
                      <a:rPr lang="en-US" b="0" i="1" smtClean="0">
                        <a:latin typeface="Cambria Math" panose="02040503050406030204" pitchFamily="18" charset="0"/>
                      </a:rPr>
                      <m:t>4</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+7 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≤5</m:t>
                    </m:r>
                  </m:oMath>
                </a14:m>
                <a:endParaRPr lang="en-US" b="0" i="1" dirty="0">
                  <a:latin typeface="Cambria Math" panose="02040503050406030204" pitchFamily="18" charset="0"/>
                </a:endParaRPr>
              </a:p>
              <a:p>
                <a14:m>
                  <m:oMath xmlns:m="http://schemas.openxmlformats.org/officeDocument/2006/math">
                    <m:r>
                      <a:rPr lang="en-US" i="1">
                        <a:latin typeface="Cambria Math" panose="02040503050406030204" pitchFamily="18" charset="0"/>
                      </a:rPr>
                      <m:t>4</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+7 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b="0" i="1" smtClean="0">
                        <a:latin typeface="Cambria Math" panose="02040503050406030204" pitchFamily="18" charset="0"/>
                      </a:rPr>
                      <m:t>≥−</m:t>
                    </m:r>
                    <m:r>
                      <a:rPr lang="en-US" i="1">
                        <a:latin typeface="Cambria Math" panose="02040503050406030204" pitchFamily="18" charset="0"/>
                      </a:rPr>
                      <m:t>5</m:t>
                    </m:r>
                  </m:oMath>
                </a14:m>
                <a:endParaRPr lang="en-US" dirty="0"/>
              </a:p>
              <a:p>
                <a:endParaRPr lang="en-US" dirty="0"/>
              </a:p>
              <a:p>
                <a14:m>
                  <m:oMath xmlns:m="http://schemas.openxmlformats.org/officeDocument/2006/math">
                    <m:r>
                      <a:rPr lang="en-US" i="1">
                        <a:latin typeface="Cambria Math" panose="02040503050406030204" pitchFamily="18" charset="0"/>
                      </a:rPr>
                      <m:t>4</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+7 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b="0" i="1" smtClean="0">
                        <a:latin typeface="Cambria Math" panose="02040503050406030204" pitchFamily="18" charset="0"/>
                      </a:rPr>
                      <m:t>≥</m:t>
                    </m:r>
                    <m:r>
                      <a:rPr lang="en-US" i="1">
                        <a:latin typeface="Cambria Math" panose="02040503050406030204" pitchFamily="18" charset="0"/>
                      </a:rPr>
                      <m:t>5</m:t>
                    </m:r>
                  </m:oMath>
                </a14:m>
                <a:endParaRPr lang="en-US" i="1" dirty="0">
                  <a:latin typeface="Cambria Math" panose="02040503050406030204" pitchFamily="18" charset="0"/>
                </a:endParaRPr>
              </a:p>
              <a:p>
                <a:r>
                  <a:rPr lang="en-US" dirty="0"/>
                  <a:t>….</a:t>
                </a:r>
              </a:p>
              <a:p>
                <a:pPr lvl="1"/>
                <a:endParaRPr lang="en-US" dirty="0"/>
              </a:p>
            </p:txBody>
          </p:sp>
        </mc:Choice>
        <mc:Fallback xmlns="">
          <p:sp>
            <p:nvSpPr>
              <p:cNvPr id="3" name="Content Placeholder 2">
                <a:extLst>
                  <a:ext uri="{FF2B5EF4-FFF2-40B4-BE49-F238E27FC236}">
                    <a16:creationId xmlns:a16="http://schemas.microsoft.com/office/drawing/2014/main" id="{1F46DEBA-3095-44F6-A6A5-394D706E47AC}"/>
                  </a:ext>
                </a:extLst>
              </p:cNvPr>
              <p:cNvSpPr>
                <a:spLocks noGrp="1" noRot="1" noChangeAspect="1" noMove="1" noResize="1" noEditPoints="1" noAdjustHandles="1" noChangeArrowheads="1" noChangeShapeType="1" noTextEdit="1"/>
              </p:cNvSpPr>
              <p:nvPr>
                <p:ph idx="1"/>
              </p:nvPr>
            </p:nvSpPr>
            <p:spPr>
              <a:xfrm>
                <a:off x="457200" y="1600200"/>
                <a:ext cx="3739415" cy="4525963"/>
              </a:xfrm>
              <a:blipFill>
                <a:blip r:embed="rId3"/>
                <a:stretch>
                  <a:fillRect l="-4078" t="-17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DC92F638-EF48-45A1-8B49-B18880DCD0A7}"/>
                  </a:ext>
                </a:extLst>
              </p:cNvPr>
              <p:cNvSpPr txBox="1">
                <a:spLocks/>
              </p:cNvSpPr>
              <p:nvPr/>
            </p:nvSpPr>
            <p:spPr>
              <a:xfrm>
                <a:off x="4305701" y="1600199"/>
                <a:ext cx="4597667"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Transformed version</a:t>
                </a:r>
              </a:p>
              <a:p>
                <a14:m>
                  <m:oMath xmlns:m="http://schemas.openxmlformats.org/officeDocument/2006/math">
                    <m:r>
                      <a:rPr lang="en-US" i="1" smtClean="0">
                        <a:latin typeface="Cambria Math" panose="02040503050406030204" pitchFamily="18" charset="0"/>
                      </a:rPr>
                      <m:t>4</m:t>
                    </m:r>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1</m:t>
                        </m:r>
                      </m:sub>
                    </m:sSub>
                    <m:r>
                      <a:rPr lang="en-US" i="1" smtClean="0">
                        <a:latin typeface="Cambria Math" panose="02040503050406030204" pitchFamily="18" charset="0"/>
                      </a:rPr>
                      <m:t>+7 </m:t>
                    </m:r>
                    <m:sSub>
                      <m:sSubPr>
                        <m:ctrlPr>
                          <a:rPr lang="en-US" i="1" smtClean="0">
                            <a:latin typeface="Cambria Math" panose="02040503050406030204" pitchFamily="18" charset="0"/>
                          </a:rPr>
                        </m:ctrlPr>
                      </m:sSubPr>
                      <m:e>
                        <m:r>
                          <a:rPr lang="en-US" i="1" smtClean="0">
                            <a:latin typeface="Cambria Math" panose="02040503050406030204" pitchFamily="18" charset="0"/>
                          </a:rPr>
                          <m:t>𝑥</m:t>
                        </m:r>
                      </m:e>
                      <m:sub>
                        <m:r>
                          <a:rPr lang="en-US"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i="1" smtClean="0">
                        <a:latin typeface="Cambria Math" panose="02040503050406030204" pitchFamily="18" charset="0"/>
                      </a:rPr>
                      <m:t>5</m:t>
                    </m:r>
                  </m:oMath>
                </a14:m>
                <a:endParaRPr lang="en-US" dirty="0"/>
              </a:p>
              <a:p>
                <a14:m>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4</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r>
                      <a:rPr lang="en-US" i="1">
                        <a:latin typeface="Cambria Math" panose="02040503050406030204" pitchFamily="18" charset="0"/>
                      </a:rPr>
                      <m:t>7 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b="0" i="1" smtClean="0">
                        <a:latin typeface="Cambria Math" panose="02040503050406030204" pitchFamily="18" charset="0"/>
                      </a:rPr>
                      <m:t>≤</m:t>
                    </m:r>
                    <m:r>
                      <a:rPr lang="en-US" i="1">
                        <a:latin typeface="Cambria Math" panose="02040503050406030204" pitchFamily="18" charset="0"/>
                      </a:rPr>
                      <m:t>5</m:t>
                    </m:r>
                  </m:oMath>
                </a14:m>
                <a:endParaRPr lang="en-US" dirty="0"/>
              </a:p>
              <a:p>
                <a14:m>
                  <m:oMath xmlns:m="http://schemas.openxmlformats.org/officeDocument/2006/math">
                    <m:r>
                      <a:rPr lang="en-US" i="1">
                        <a:latin typeface="Cambria Math" panose="02040503050406030204" pitchFamily="18" charset="0"/>
                      </a:rPr>
                      <m:t>−4</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−7 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r>
                      <a:rPr lang="en-US" b="0" i="1" smtClean="0">
                        <a:latin typeface="Cambria Math" panose="02040503050406030204" pitchFamily="18" charset="0"/>
                      </a:rPr>
                      <m:t>=</m:t>
                    </m:r>
                    <m:r>
                      <a:rPr lang="en-US" i="1">
                        <a:latin typeface="Cambria Math" panose="02040503050406030204" pitchFamily="18" charset="0"/>
                      </a:rPr>
                      <m:t>5</m:t>
                    </m:r>
                  </m:oMath>
                </a14:m>
                <a:endParaRPr lang="en-US" dirty="0"/>
              </a:p>
              <a:p>
                <a14:m>
                  <m:oMath xmlns:m="http://schemas.openxmlformats.org/officeDocument/2006/math">
                    <m:r>
                      <a:rPr lang="en-US" i="1">
                        <a:latin typeface="Cambria Math" panose="02040503050406030204" pitchFamily="18" charset="0"/>
                      </a:rPr>
                      <m:t>4</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+7 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b="0" i="1" smtClean="0">
                        <a:latin typeface="Cambria Math" panose="02040503050406030204" pitchFamily="18" charset="0"/>
                      </a:rPr>
                      <m:t>−</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3</m:t>
                        </m:r>
                      </m:sub>
                    </m:sSub>
                    <m:r>
                      <a:rPr lang="en-US" i="1">
                        <a:latin typeface="Cambria Math" panose="02040503050406030204" pitchFamily="18" charset="0"/>
                      </a:rPr>
                      <m:t>=5</m:t>
                    </m:r>
                  </m:oMath>
                </a14:m>
                <a:endParaRPr lang="en-US" dirty="0"/>
              </a:p>
              <a:p>
                <a:r>
                  <a:rPr lang="en-US" dirty="0"/>
                  <a:t>….</a:t>
                </a:r>
              </a:p>
              <a:p>
                <a:endParaRPr lang="en-US" dirty="0"/>
              </a:p>
              <a:p>
                <a:pPr lvl="1"/>
                <a:endParaRPr lang="en-US" dirty="0"/>
              </a:p>
            </p:txBody>
          </p:sp>
        </mc:Choice>
        <mc:Fallback xmlns="">
          <p:sp>
            <p:nvSpPr>
              <p:cNvPr id="4" name="Content Placeholder 2">
                <a:extLst>
                  <a:ext uri="{FF2B5EF4-FFF2-40B4-BE49-F238E27FC236}">
                    <a16:creationId xmlns:a16="http://schemas.microsoft.com/office/drawing/2014/main" id="{DC92F638-EF48-45A1-8B49-B18880DCD0A7}"/>
                  </a:ext>
                </a:extLst>
              </p:cNvPr>
              <p:cNvSpPr txBox="1">
                <a:spLocks noRot="1" noChangeAspect="1" noMove="1" noResize="1" noEditPoints="1" noAdjustHandles="1" noChangeArrowheads="1" noChangeShapeType="1" noTextEdit="1"/>
              </p:cNvSpPr>
              <p:nvPr/>
            </p:nvSpPr>
            <p:spPr>
              <a:xfrm>
                <a:off x="4305701" y="1600199"/>
                <a:ext cx="4597667" cy="4525963"/>
              </a:xfrm>
              <a:prstGeom prst="rect">
                <a:avLst/>
              </a:prstGeom>
              <a:blipFill>
                <a:blip r:embed="rId4"/>
                <a:stretch>
                  <a:fillRect l="-3311" t="-1615"/>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E5BE7827-3F99-4EF7-96B7-3C466C3F5982}"/>
              </a:ext>
            </a:extLst>
          </p:cNvPr>
          <p:cNvSpPr/>
          <p:nvPr/>
        </p:nvSpPr>
        <p:spPr>
          <a:xfrm>
            <a:off x="6888480" y="2127183"/>
            <a:ext cx="798897" cy="798897"/>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42B3140-699F-47EF-B30E-4F9D8DD33B8C}"/>
              </a:ext>
            </a:extLst>
          </p:cNvPr>
          <p:cNvSpPr txBox="1"/>
          <p:nvPr/>
        </p:nvSpPr>
        <p:spPr>
          <a:xfrm>
            <a:off x="7892715" y="1896350"/>
            <a:ext cx="1010653" cy="461665"/>
          </a:xfrm>
          <a:prstGeom prst="rect">
            <a:avLst/>
          </a:prstGeom>
          <a:noFill/>
          <a:ln>
            <a:solidFill>
              <a:schemeClr val="bg1"/>
            </a:solidFill>
          </a:ln>
        </p:spPr>
        <p:txBody>
          <a:bodyPr wrap="square" rtlCol="0">
            <a:spAutoFit/>
          </a:bodyPr>
          <a:lstStyle/>
          <a:p>
            <a:r>
              <a:rPr lang="en-US" sz="2400" b="1" dirty="0">
                <a:solidFill>
                  <a:srgbClr val="C00000"/>
                </a:solidFill>
              </a:rPr>
              <a:t>Slack</a:t>
            </a:r>
          </a:p>
        </p:txBody>
      </p:sp>
      <p:sp>
        <p:nvSpPr>
          <p:cNvPr id="7" name="Oval 6">
            <a:extLst>
              <a:ext uri="{FF2B5EF4-FFF2-40B4-BE49-F238E27FC236}">
                <a16:creationId xmlns:a16="http://schemas.microsoft.com/office/drawing/2014/main" id="{45969030-6976-465C-A68C-64C5765AE7E7}"/>
              </a:ext>
            </a:extLst>
          </p:cNvPr>
          <p:cNvSpPr/>
          <p:nvPr/>
        </p:nvSpPr>
        <p:spPr>
          <a:xfrm>
            <a:off x="6888480" y="3898231"/>
            <a:ext cx="798897" cy="798897"/>
          </a:xfrm>
          <a:prstGeom prst="ellipse">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906E699-1C16-4293-BEE0-9BFC4EEA4457}"/>
              </a:ext>
            </a:extLst>
          </p:cNvPr>
          <p:cNvSpPr txBox="1"/>
          <p:nvPr/>
        </p:nvSpPr>
        <p:spPr>
          <a:xfrm>
            <a:off x="7687377" y="4580194"/>
            <a:ext cx="1215991" cy="461665"/>
          </a:xfrm>
          <a:prstGeom prst="rect">
            <a:avLst/>
          </a:prstGeom>
          <a:noFill/>
          <a:ln>
            <a:solidFill>
              <a:schemeClr val="bg1"/>
            </a:solidFill>
          </a:ln>
        </p:spPr>
        <p:txBody>
          <a:bodyPr wrap="square" rtlCol="0">
            <a:spAutoFit/>
          </a:bodyPr>
          <a:lstStyle/>
          <a:p>
            <a:r>
              <a:rPr lang="en-US" sz="2400" b="1" dirty="0">
                <a:solidFill>
                  <a:srgbClr val="00B050"/>
                </a:solidFill>
              </a:rPr>
              <a:t>Surplus</a:t>
            </a:r>
          </a:p>
        </p:txBody>
      </p:sp>
    </p:spTree>
    <p:extLst>
      <p:ext uri="{BB962C8B-B14F-4D97-AF65-F5344CB8AC3E}">
        <p14:creationId xmlns:p14="http://schemas.microsoft.com/office/powerpoint/2010/main" val="301051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dirty="0"/>
              <a:t>Different representations of an LP</a:t>
            </a:r>
          </a:p>
        </p:txBody>
      </p:sp>
      <p:pic>
        <p:nvPicPr>
          <p:cNvPr id="11" name="Picture 10" descr="txp_fig.png"/>
          <p:cNvPicPr>
            <a:picLocks noChangeAspect="1"/>
          </p:cNvPicPr>
          <p:nvPr>
            <p:custDataLst>
              <p:tags r:id="rId1"/>
            </p:custDataLst>
          </p:nvPr>
        </p:nvPicPr>
        <p:blipFill>
          <a:blip r:embed="rId6" cstate="print">
            <a:lum/>
          </a:blip>
          <a:stretch>
            <a:fillRect/>
          </a:stretch>
        </p:blipFill>
        <p:spPr>
          <a:xfrm>
            <a:off x="457245" y="1143025"/>
            <a:ext cx="8091665" cy="1736289"/>
          </a:xfrm>
          <a:prstGeom prst="rect">
            <a:avLst/>
          </a:prstGeom>
        </p:spPr>
      </p:pic>
      <p:pic>
        <p:nvPicPr>
          <p:cNvPr id="13" name="Picture 12" descr="txp_fig.png"/>
          <p:cNvPicPr>
            <a:picLocks noChangeAspect="1"/>
          </p:cNvPicPr>
          <p:nvPr>
            <p:custDataLst>
              <p:tags r:id="rId2"/>
            </p:custDataLst>
          </p:nvPr>
        </p:nvPicPr>
        <p:blipFill>
          <a:blip r:embed="rId7" cstate="print">
            <a:lum/>
          </a:blip>
          <a:stretch>
            <a:fillRect/>
          </a:stretch>
        </p:blipFill>
        <p:spPr>
          <a:xfrm>
            <a:off x="731562" y="4892024"/>
            <a:ext cx="7670585" cy="937516"/>
          </a:xfrm>
          <a:prstGeom prst="rect">
            <a:avLst/>
          </a:prstGeom>
        </p:spPr>
      </p:pic>
      <p:sp>
        <p:nvSpPr>
          <p:cNvPr id="14" name="Down Arrow 13"/>
          <p:cNvSpPr/>
          <p:nvPr/>
        </p:nvSpPr>
        <p:spPr>
          <a:xfrm>
            <a:off x="4389123" y="3337561"/>
            <a:ext cx="274316" cy="4571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274367" y="3048940"/>
            <a:ext cx="3383243" cy="1477328"/>
          </a:xfrm>
          <a:prstGeom prst="rect">
            <a:avLst/>
          </a:prstGeom>
          <a:noFill/>
        </p:spPr>
        <p:txBody>
          <a:bodyPr wrap="square" rtlCol="0">
            <a:spAutoFit/>
          </a:bodyPr>
          <a:lstStyle/>
          <a:p>
            <a:r>
              <a:rPr lang="en-US" dirty="0"/>
              <a:t>We know how to manipulate the sense of the objective function, the inequality constraints, and the non-positive / unrestricted variables.</a:t>
            </a:r>
          </a:p>
        </p:txBody>
      </p:sp>
      <p:pic>
        <p:nvPicPr>
          <p:cNvPr id="7" name="Picture 6" descr="txp_fig.png"/>
          <p:cNvPicPr>
            <a:picLocks noChangeAspect="1"/>
          </p:cNvPicPr>
          <p:nvPr>
            <p:custDataLst>
              <p:tags r:id="rId3"/>
            </p:custDataLst>
          </p:nvPr>
        </p:nvPicPr>
        <p:blipFill>
          <a:blip r:embed="rId8" cstate="print">
            <a:lum/>
          </a:blip>
          <a:stretch>
            <a:fillRect/>
          </a:stretch>
        </p:blipFill>
        <p:spPr>
          <a:xfrm>
            <a:off x="2103147" y="4526268"/>
            <a:ext cx="4970638" cy="1872833"/>
          </a:xfrm>
          <a:prstGeom prst="rect">
            <a:avLst/>
          </a:prstGeom>
        </p:spPr>
      </p:pic>
      <p:sp>
        <p:nvSpPr>
          <p:cNvPr id="8"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28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dirty="0"/>
              <a:t>Different representations of an LP</a:t>
            </a:r>
          </a:p>
        </p:txBody>
      </p:sp>
      <p:pic>
        <p:nvPicPr>
          <p:cNvPr id="13" name="Picture 12" descr="txp_fig.png"/>
          <p:cNvPicPr>
            <a:picLocks noChangeAspect="1"/>
          </p:cNvPicPr>
          <p:nvPr>
            <p:custDataLst>
              <p:tags r:id="rId1"/>
            </p:custDataLst>
          </p:nvPr>
        </p:nvPicPr>
        <p:blipFill>
          <a:blip r:embed="rId9" cstate="print">
            <a:lum/>
          </a:blip>
          <a:stretch>
            <a:fillRect/>
          </a:stretch>
        </p:blipFill>
        <p:spPr>
          <a:xfrm>
            <a:off x="548684" y="1234464"/>
            <a:ext cx="7670585" cy="937516"/>
          </a:xfrm>
          <a:prstGeom prst="rect">
            <a:avLst/>
          </a:prstGeom>
        </p:spPr>
      </p:pic>
      <p:sp>
        <p:nvSpPr>
          <p:cNvPr id="14" name="Down Arrow 13"/>
          <p:cNvSpPr/>
          <p:nvPr/>
        </p:nvSpPr>
        <p:spPr>
          <a:xfrm>
            <a:off x="4297638" y="4526268"/>
            <a:ext cx="274316" cy="4571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txp_fig.png"/>
          <p:cNvPicPr>
            <a:picLocks noChangeAspect="1"/>
          </p:cNvPicPr>
          <p:nvPr>
            <p:custDataLst>
              <p:tags r:id="rId2"/>
            </p:custDataLst>
          </p:nvPr>
        </p:nvPicPr>
        <p:blipFill>
          <a:blip r:embed="rId10" cstate="print">
            <a:lum/>
          </a:blip>
          <a:stretch>
            <a:fillRect/>
          </a:stretch>
        </p:blipFill>
        <p:spPr>
          <a:xfrm>
            <a:off x="448544" y="2895539"/>
            <a:ext cx="3300505" cy="1301118"/>
          </a:xfrm>
          <a:prstGeom prst="rect">
            <a:avLst/>
          </a:prstGeom>
        </p:spPr>
      </p:pic>
      <p:pic>
        <p:nvPicPr>
          <p:cNvPr id="20" name="Picture 19" descr="txp_fig.png"/>
          <p:cNvPicPr>
            <a:picLocks noChangeAspect="1"/>
          </p:cNvPicPr>
          <p:nvPr>
            <p:custDataLst>
              <p:tags r:id="rId3"/>
            </p:custDataLst>
          </p:nvPr>
        </p:nvPicPr>
        <p:blipFill>
          <a:blip r:embed="rId11" cstate="print">
            <a:lum/>
          </a:blip>
          <a:stretch>
            <a:fillRect/>
          </a:stretch>
        </p:blipFill>
        <p:spPr>
          <a:xfrm>
            <a:off x="4339001" y="2874567"/>
            <a:ext cx="1251965" cy="1301118"/>
          </a:xfrm>
          <a:prstGeom prst="rect">
            <a:avLst/>
          </a:prstGeom>
        </p:spPr>
      </p:pic>
      <p:pic>
        <p:nvPicPr>
          <p:cNvPr id="22" name="Picture 21" descr="txp_fig.png"/>
          <p:cNvPicPr>
            <a:picLocks noChangeAspect="1"/>
          </p:cNvPicPr>
          <p:nvPr>
            <p:custDataLst>
              <p:tags r:id="rId4"/>
            </p:custDataLst>
          </p:nvPr>
        </p:nvPicPr>
        <p:blipFill>
          <a:blip r:embed="rId12" cstate="print">
            <a:lum/>
          </a:blip>
          <a:stretch>
            <a:fillRect/>
          </a:stretch>
        </p:blipFill>
        <p:spPr>
          <a:xfrm>
            <a:off x="548684" y="2423171"/>
            <a:ext cx="2553084" cy="312268"/>
          </a:xfrm>
          <a:prstGeom prst="rect">
            <a:avLst/>
          </a:prstGeom>
        </p:spPr>
      </p:pic>
      <p:pic>
        <p:nvPicPr>
          <p:cNvPr id="24" name="Picture 23" descr="txp_fig.png"/>
          <p:cNvPicPr>
            <a:picLocks noChangeAspect="1"/>
          </p:cNvPicPr>
          <p:nvPr>
            <p:custDataLst>
              <p:tags r:id="rId5"/>
            </p:custDataLst>
          </p:nvPr>
        </p:nvPicPr>
        <p:blipFill>
          <a:blip r:embed="rId13" cstate="print">
            <a:lum/>
          </a:blip>
          <a:stretch>
            <a:fillRect/>
          </a:stretch>
        </p:blipFill>
        <p:spPr>
          <a:xfrm>
            <a:off x="6246084" y="2874568"/>
            <a:ext cx="1251964" cy="1301117"/>
          </a:xfrm>
          <a:prstGeom prst="rect">
            <a:avLst/>
          </a:prstGeom>
        </p:spPr>
      </p:pic>
      <p:pic>
        <p:nvPicPr>
          <p:cNvPr id="23" name="Picture 22" descr="txp_fig.png"/>
          <p:cNvPicPr>
            <a:picLocks noChangeAspect="1"/>
          </p:cNvPicPr>
          <p:nvPr>
            <p:custDataLst>
              <p:tags r:id="rId6"/>
            </p:custDataLst>
          </p:nvPr>
        </p:nvPicPr>
        <p:blipFill>
          <a:blip r:embed="rId14" cstate="print">
            <a:lum/>
          </a:blip>
          <a:stretch>
            <a:fillRect/>
          </a:stretch>
        </p:blipFill>
        <p:spPr>
          <a:xfrm>
            <a:off x="3656686" y="5103865"/>
            <a:ext cx="2033758" cy="878151"/>
          </a:xfrm>
          <a:prstGeom prst="rect">
            <a:avLst/>
          </a:prstGeom>
        </p:spPr>
      </p:pic>
      <p:sp>
        <p:nvSpPr>
          <p:cNvPr id="25" name="TextBox 24"/>
          <p:cNvSpPr txBox="1"/>
          <p:nvPr/>
        </p:nvSpPr>
        <p:spPr>
          <a:xfrm>
            <a:off x="5943540" y="4617707"/>
            <a:ext cx="2651731" cy="1754326"/>
          </a:xfrm>
          <a:prstGeom prst="rect">
            <a:avLst/>
          </a:prstGeom>
          <a:noFill/>
        </p:spPr>
        <p:txBody>
          <a:bodyPr wrap="square" rtlCol="0">
            <a:spAutoFit/>
          </a:bodyPr>
          <a:lstStyle/>
          <a:p>
            <a:r>
              <a:rPr lang="en-US" dirty="0"/>
              <a:t>The simplex method is designed to work with this </a:t>
            </a:r>
            <a:r>
              <a:rPr lang="en-US" dirty="0">
                <a:solidFill>
                  <a:srgbClr val="0070C0"/>
                </a:solidFill>
              </a:rPr>
              <a:t>standard </a:t>
            </a:r>
            <a:r>
              <a:rPr lang="en-US" dirty="0"/>
              <a:t>format. In this format, all restrictions are </a:t>
            </a:r>
            <a:r>
              <a:rPr lang="en-US" dirty="0">
                <a:solidFill>
                  <a:srgbClr val="FF0000"/>
                </a:solidFill>
              </a:rPr>
              <a:t>equalities</a:t>
            </a:r>
            <a:r>
              <a:rPr lang="en-US" dirty="0"/>
              <a:t> and all variables are </a:t>
            </a:r>
            <a:r>
              <a:rPr lang="en-US" dirty="0">
                <a:solidFill>
                  <a:srgbClr val="FF0000"/>
                </a:solidFill>
              </a:rPr>
              <a:t>nonnegative</a:t>
            </a:r>
            <a:r>
              <a:rPr lang="en-US" dirty="0"/>
              <a:t>.</a:t>
            </a:r>
          </a:p>
        </p:txBody>
      </p:sp>
      <p:sp>
        <p:nvSpPr>
          <p:cNvPr id="19"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29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txp_fig.png"/>
          <p:cNvPicPr>
            <a:picLocks noChangeAspect="1"/>
          </p:cNvPicPr>
          <p:nvPr>
            <p:custDataLst>
              <p:tags r:id="rId1"/>
            </p:custDataLst>
          </p:nvPr>
        </p:nvPicPr>
        <p:blipFill>
          <a:blip r:embed="rId10" cstate="print">
            <a:lum/>
          </a:blip>
          <a:stretch>
            <a:fillRect/>
          </a:stretch>
        </p:blipFill>
        <p:spPr>
          <a:xfrm>
            <a:off x="2710303" y="3601644"/>
            <a:ext cx="4535594" cy="3181822"/>
          </a:xfrm>
          <a:prstGeom prst="rect">
            <a:avLst/>
          </a:prstGeom>
        </p:spPr>
      </p:pic>
      <p:sp>
        <p:nvSpPr>
          <p:cNvPr id="6" name="Slide Number Placeholder 5"/>
          <p:cNvSpPr>
            <a:spLocks noGrp="1"/>
          </p:cNvSpPr>
          <p:nvPr>
            <p:ph type="sldNum" sz="quarter" idx="12"/>
          </p:nvPr>
        </p:nvSpPr>
        <p:spPr/>
        <p:txBody>
          <a:bodyPr/>
          <a:lstStyle/>
          <a:p>
            <a:fld id="{2D837443-811D-4E89-8616-63FC4D41BA0A}" type="slidenum">
              <a:rPr lang="en-US"/>
              <a:pPr/>
              <a:t>30</a:t>
            </a:fld>
            <a:endParaRPr lang="en-US" dirty="0"/>
          </a:p>
        </p:txBody>
      </p:sp>
      <p:sp>
        <p:nvSpPr>
          <p:cNvPr id="66562" name="Rectangle 2"/>
          <p:cNvSpPr>
            <a:spLocks noGrp="1" noChangeArrowheads="1"/>
          </p:cNvSpPr>
          <p:nvPr>
            <p:ph type="title"/>
          </p:nvPr>
        </p:nvSpPr>
        <p:spPr/>
        <p:txBody>
          <a:bodyPr/>
          <a:lstStyle/>
          <a:p>
            <a:r>
              <a:rPr lang="en-US" dirty="0"/>
              <a:t>Different representations of an LP</a:t>
            </a:r>
          </a:p>
        </p:txBody>
      </p:sp>
      <p:sp>
        <p:nvSpPr>
          <p:cNvPr id="14" name="Down Arrow 13"/>
          <p:cNvSpPr/>
          <p:nvPr/>
        </p:nvSpPr>
        <p:spPr>
          <a:xfrm>
            <a:off x="4846318" y="3063244"/>
            <a:ext cx="274316" cy="4571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Content Placeholder 7" descr="txp_fig.png"/>
          <p:cNvPicPr>
            <a:picLocks noGrp="1" noChangeAspect="1"/>
          </p:cNvPicPr>
          <p:nvPr>
            <p:ph idx="1"/>
            <p:custDataLst>
              <p:tags r:id="rId2"/>
            </p:custDataLst>
          </p:nvPr>
        </p:nvPicPr>
        <p:blipFill>
          <a:blip r:embed="rId11" cstate="print">
            <a:lum/>
          </a:blip>
          <a:stretch>
            <a:fillRect/>
          </a:stretch>
        </p:blipFill>
        <p:spPr>
          <a:xfrm>
            <a:off x="3260456" y="1284989"/>
            <a:ext cx="2774568" cy="1595377"/>
          </a:xfrm>
        </p:spPr>
      </p:pic>
      <p:pic>
        <p:nvPicPr>
          <p:cNvPr id="12" name="Picture 11" descr="txp_fig.png"/>
          <p:cNvPicPr>
            <a:picLocks noChangeAspect="1"/>
          </p:cNvPicPr>
          <p:nvPr>
            <p:custDataLst>
              <p:tags r:id="rId3"/>
            </p:custDataLst>
          </p:nvPr>
        </p:nvPicPr>
        <p:blipFill>
          <a:blip r:embed="rId12" cstate="print">
            <a:lum/>
          </a:blip>
          <a:stretch>
            <a:fillRect/>
          </a:stretch>
        </p:blipFill>
        <p:spPr>
          <a:xfrm>
            <a:off x="7724091" y="2428664"/>
            <a:ext cx="1419909" cy="1731848"/>
          </a:xfrm>
          <a:prstGeom prst="rect">
            <a:avLst/>
          </a:prstGeom>
        </p:spPr>
      </p:pic>
      <p:pic>
        <p:nvPicPr>
          <p:cNvPr id="15" name="Picture 14" descr="txp_fig.png"/>
          <p:cNvPicPr>
            <a:picLocks noChangeAspect="1"/>
          </p:cNvPicPr>
          <p:nvPr>
            <p:custDataLst>
              <p:tags r:id="rId4"/>
            </p:custDataLst>
          </p:nvPr>
        </p:nvPicPr>
        <p:blipFill>
          <a:blip r:embed="rId13" cstate="print">
            <a:lum/>
          </a:blip>
          <a:stretch>
            <a:fillRect/>
          </a:stretch>
        </p:blipFill>
        <p:spPr>
          <a:xfrm>
            <a:off x="6169577" y="2744738"/>
            <a:ext cx="1419910" cy="1050018"/>
          </a:xfrm>
          <a:prstGeom prst="rect">
            <a:avLst/>
          </a:prstGeom>
        </p:spPr>
      </p:pic>
      <p:pic>
        <p:nvPicPr>
          <p:cNvPr id="21" name="Picture 20" descr="txp_fig.png"/>
          <p:cNvPicPr>
            <a:picLocks noChangeAspect="1"/>
          </p:cNvPicPr>
          <p:nvPr>
            <p:custDataLst>
              <p:tags r:id="rId5"/>
            </p:custDataLst>
          </p:nvPr>
        </p:nvPicPr>
        <p:blipFill>
          <a:blip r:embed="rId14" cstate="print">
            <a:lum/>
          </a:blip>
          <a:stretch>
            <a:fillRect/>
          </a:stretch>
        </p:blipFill>
        <p:spPr>
          <a:xfrm>
            <a:off x="182928" y="1921787"/>
            <a:ext cx="3068235" cy="1050018"/>
          </a:xfrm>
          <a:prstGeom prst="rect">
            <a:avLst/>
          </a:prstGeom>
        </p:spPr>
      </p:pic>
      <p:pic>
        <p:nvPicPr>
          <p:cNvPr id="31" name="Picture 30" descr="txp_fig.png"/>
          <p:cNvPicPr>
            <a:picLocks noChangeAspect="1"/>
          </p:cNvPicPr>
          <p:nvPr>
            <p:custDataLst>
              <p:tags r:id="rId6"/>
            </p:custDataLst>
          </p:nvPr>
        </p:nvPicPr>
        <p:blipFill>
          <a:blip r:embed="rId15" cstate="print">
            <a:lum/>
          </a:blip>
          <a:stretch>
            <a:fillRect/>
          </a:stretch>
        </p:blipFill>
        <p:spPr>
          <a:xfrm>
            <a:off x="182048" y="4006597"/>
            <a:ext cx="2033758" cy="878151"/>
          </a:xfrm>
          <a:prstGeom prst="rect">
            <a:avLst/>
          </a:prstGeom>
        </p:spPr>
      </p:pic>
      <p:pic>
        <p:nvPicPr>
          <p:cNvPr id="13" name="Picture 12" descr="txp_fig.png"/>
          <p:cNvPicPr>
            <a:picLocks noChangeAspect="1"/>
          </p:cNvPicPr>
          <p:nvPr>
            <p:custDataLst>
              <p:tags r:id="rId7"/>
            </p:custDataLst>
          </p:nvPr>
        </p:nvPicPr>
        <p:blipFill>
          <a:blip r:embed="rId16" cstate="print">
            <a:lum/>
          </a:blip>
          <a:stretch>
            <a:fillRect/>
          </a:stretch>
        </p:blipFill>
        <p:spPr>
          <a:xfrm>
            <a:off x="274367" y="3146759"/>
            <a:ext cx="3579606" cy="3681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D837443-811D-4E89-8616-63FC4D41BA0A}" type="slidenum">
              <a:rPr lang="en-US"/>
              <a:pPr/>
              <a:t>31</a:t>
            </a:fld>
            <a:endParaRPr lang="en-US"/>
          </a:p>
        </p:txBody>
      </p:sp>
      <p:sp>
        <p:nvSpPr>
          <p:cNvPr id="66562" name="Rectangle 2"/>
          <p:cNvSpPr>
            <a:spLocks noGrp="1" noChangeArrowheads="1"/>
          </p:cNvSpPr>
          <p:nvPr>
            <p:ph type="title"/>
          </p:nvPr>
        </p:nvSpPr>
        <p:spPr>
          <a:xfrm>
            <a:off x="457200" y="-45682"/>
            <a:ext cx="8229600" cy="1143000"/>
          </a:xfrm>
        </p:spPr>
        <p:txBody>
          <a:bodyPr/>
          <a:lstStyle/>
          <a:p>
            <a:r>
              <a:rPr lang="en-US" dirty="0"/>
              <a:t>Different representations of an LP</a:t>
            </a:r>
          </a:p>
        </p:txBody>
      </p:sp>
      <p:sp>
        <p:nvSpPr>
          <p:cNvPr id="14" name="Down Arrow 13"/>
          <p:cNvSpPr/>
          <p:nvPr/>
        </p:nvSpPr>
        <p:spPr>
          <a:xfrm>
            <a:off x="4206244" y="3337561"/>
            <a:ext cx="274316" cy="4571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descr="txp_fig.png"/>
          <p:cNvPicPr>
            <a:picLocks noChangeAspect="1"/>
          </p:cNvPicPr>
          <p:nvPr>
            <p:custDataLst>
              <p:tags r:id="rId1"/>
            </p:custDataLst>
          </p:nvPr>
        </p:nvPicPr>
        <p:blipFill>
          <a:blip r:embed="rId9" cstate="print">
            <a:lum/>
          </a:blip>
          <a:stretch>
            <a:fillRect/>
          </a:stretch>
        </p:blipFill>
        <p:spPr>
          <a:xfrm>
            <a:off x="1075218" y="5385458"/>
            <a:ext cx="2033758" cy="878151"/>
          </a:xfrm>
          <a:prstGeom prst="rect">
            <a:avLst/>
          </a:prstGeom>
        </p:spPr>
      </p:pic>
      <p:pic>
        <p:nvPicPr>
          <p:cNvPr id="23" name="Picture 22" descr="txp_fig.png"/>
          <p:cNvPicPr>
            <a:picLocks noChangeAspect="1"/>
          </p:cNvPicPr>
          <p:nvPr>
            <p:custDataLst>
              <p:tags r:id="rId2"/>
            </p:custDataLst>
          </p:nvPr>
        </p:nvPicPr>
        <p:blipFill>
          <a:blip r:embed="rId10" cstate="print">
            <a:lum/>
          </a:blip>
          <a:stretch>
            <a:fillRect/>
          </a:stretch>
        </p:blipFill>
        <p:spPr>
          <a:xfrm>
            <a:off x="1371635" y="3886195"/>
            <a:ext cx="5991938" cy="1031833"/>
          </a:xfrm>
          <a:prstGeom prst="rect">
            <a:avLst/>
          </a:prstGeom>
        </p:spPr>
      </p:pic>
      <p:pic>
        <p:nvPicPr>
          <p:cNvPr id="24" name="Picture 23" descr="txp_fig.png"/>
          <p:cNvPicPr>
            <a:picLocks noChangeAspect="1"/>
          </p:cNvPicPr>
          <p:nvPr>
            <p:custDataLst>
              <p:tags r:id="rId3"/>
            </p:custDataLst>
          </p:nvPr>
        </p:nvPicPr>
        <p:blipFill>
          <a:blip r:embed="rId11" cstate="print">
            <a:lum/>
          </a:blip>
          <a:stretch>
            <a:fillRect/>
          </a:stretch>
        </p:blipFill>
        <p:spPr>
          <a:xfrm>
            <a:off x="2756133" y="777270"/>
            <a:ext cx="3187452" cy="2387351"/>
          </a:xfrm>
          <a:prstGeom prst="rect">
            <a:avLst/>
          </a:prstGeom>
        </p:spPr>
      </p:pic>
      <p:sp>
        <p:nvSpPr>
          <p:cNvPr id="27" name="TextBox 26"/>
          <p:cNvSpPr txBox="1"/>
          <p:nvPr/>
        </p:nvSpPr>
        <p:spPr>
          <a:xfrm>
            <a:off x="3566171" y="5557511"/>
            <a:ext cx="1005829" cy="523220"/>
          </a:xfrm>
          <a:prstGeom prst="rect">
            <a:avLst/>
          </a:prstGeom>
          <a:noFill/>
        </p:spPr>
        <p:txBody>
          <a:bodyPr wrap="square" rtlCol="0">
            <a:spAutoFit/>
          </a:bodyPr>
          <a:lstStyle/>
          <a:p>
            <a:pPr algn="ctr"/>
            <a:r>
              <a:rPr lang="en-US" sz="2800" dirty="0"/>
              <a:t>or</a:t>
            </a:r>
          </a:p>
        </p:txBody>
      </p:sp>
      <p:pic>
        <p:nvPicPr>
          <p:cNvPr id="28" name="Picture 27" descr="txp_fig.png"/>
          <p:cNvPicPr>
            <a:picLocks noChangeAspect="1"/>
          </p:cNvPicPr>
          <p:nvPr>
            <p:custDataLst>
              <p:tags r:id="rId4"/>
            </p:custDataLst>
          </p:nvPr>
        </p:nvPicPr>
        <p:blipFill>
          <a:blip r:embed="rId12" cstate="print">
            <a:lum/>
          </a:blip>
          <a:stretch>
            <a:fillRect/>
          </a:stretch>
        </p:blipFill>
        <p:spPr>
          <a:xfrm>
            <a:off x="4898993" y="5017734"/>
            <a:ext cx="4197404" cy="1611631"/>
          </a:xfrm>
          <a:prstGeom prst="rect">
            <a:avLst/>
          </a:prstGeom>
        </p:spPr>
      </p:pic>
      <p:pic>
        <p:nvPicPr>
          <p:cNvPr id="30" name="Picture 29" descr="txp_fig.png"/>
          <p:cNvPicPr>
            <a:picLocks noChangeAspect="1"/>
          </p:cNvPicPr>
          <p:nvPr>
            <p:custDataLst>
              <p:tags r:id="rId5"/>
            </p:custDataLst>
          </p:nvPr>
        </p:nvPicPr>
        <p:blipFill>
          <a:blip r:embed="rId13" cstate="print">
            <a:lum/>
          </a:blip>
          <a:stretch>
            <a:fillRect/>
          </a:stretch>
        </p:blipFill>
        <p:spPr>
          <a:xfrm>
            <a:off x="2011708" y="3520439"/>
            <a:ext cx="298449" cy="198170"/>
          </a:xfrm>
          <a:prstGeom prst="rect">
            <a:avLst/>
          </a:prstGeom>
        </p:spPr>
      </p:pic>
      <p:pic>
        <p:nvPicPr>
          <p:cNvPr id="33" name="Picture 32" descr="txp_fig.png"/>
          <p:cNvPicPr>
            <a:picLocks noChangeAspect="1"/>
          </p:cNvPicPr>
          <p:nvPr>
            <p:custDataLst>
              <p:tags r:id="rId6"/>
            </p:custDataLst>
          </p:nvPr>
        </p:nvPicPr>
        <p:blipFill>
          <a:blip r:embed="rId14" cstate="print">
            <a:lum/>
          </a:blip>
          <a:stretch>
            <a:fillRect/>
          </a:stretch>
        </p:blipFill>
        <p:spPr>
          <a:xfrm>
            <a:off x="2810527" y="3520439"/>
            <a:ext cx="298449" cy="198170"/>
          </a:xfrm>
          <a:prstGeom prst="rect">
            <a:avLst/>
          </a:prstGeom>
        </p:spPr>
      </p:pic>
      <p:sp>
        <p:nvSpPr>
          <p:cNvPr id="34" name="Oval 33"/>
          <p:cNvSpPr/>
          <p:nvPr/>
        </p:nvSpPr>
        <p:spPr>
          <a:xfrm>
            <a:off x="2286025" y="3886195"/>
            <a:ext cx="548634" cy="1097268"/>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p:cNvCxnSpPr/>
          <p:nvPr/>
        </p:nvCxnSpPr>
        <p:spPr>
          <a:xfrm>
            <a:off x="2286025" y="3794756"/>
            <a:ext cx="182878" cy="274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3200415" y="3886195"/>
            <a:ext cx="548634" cy="1097268"/>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p:cNvCxnSpPr/>
          <p:nvPr/>
        </p:nvCxnSpPr>
        <p:spPr>
          <a:xfrm>
            <a:off x="3108976" y="3794756"/>
            <a:ext cx="182878" cy="274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485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4" grpId="0" animBg="1"/>
      <p:bldP spid="3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16E68-AA78-4123-B1BF-47C5723CEDB0}"/>
              </a:ext>
            </a:extLst>
          </p:cNvPr>
          <p:cNvSpPr>
            <a:spLocks noGrp="1"/>
          </p:cNvSpPr>
          <p:nvPr>
            <p:ph type="title"/>
          </p:nvPr>
        </p:nvSpPr>
        <p:spPr/>
        <p:txBody>
          <a:bodyPr/>
          <a:lstStyle/>
          <a:p>
            <a:r>
              <a:rPr lang="en-US" dirty="0"/>
              <a:t>Extreme Points (Vertices)</a:t>
            </a:r>
          </a:p>
        </p:txBody>
      </p:sp>
      <p:sp>
        <p:nvSpPr>
          <p:cNvPr id="3" name="Content Placeholder 2">
            <a:extLst>
              <a:ext uri="{FF2B5EF4-FFF2-40B4-BE49-F238E27FC236}">
                <a16:creationId xmlns:a16="http://schemas.microsoft.com/office/drawing/2014/main" id="{1F46DEBA-3095-44F6-A6A5-394D706E47AC}"/>
              </a:ext>
            </a:extLst>
          </p:cNvPr>
          <p:cNvSpPr>
            <a:spLocks noGrp="1"/>
          </p:cNvSpPr>
          <p:nvPr>
            <p:ph idx="1"/>
          </p:nvPr>
        </p:nvSpPr>
        <p:spPr/>
        <p:txBody>
          <a:bodyPr>
            <a:normAutofit fontScale="92500"/>
          </a:bodyPr>
          <a:lstStyle/>
          <a:p>
            <a:r>
              <a:rPr lang="en-US" dirty="0"/>
              <a:t>For a system with </a:t>
            </a:r>
            <a:r>
              <a:rPr lang="en-US" i="1" dirty="0"/>
              <a:t>m</a:t>
            </a:r>
            <a:r>
              <a:rPr lang="en-US" dirty="0"/>
              <a:t> equations and </a:t>
            </a:r>
            <a:r>
              <a:rPr lang="en-US" i="1" dirty="0"/>
              <a:t>n</a:t>
            </a:r>
            <a:r>
              <a:rPr lang="en-US" dirty="0"/>
              <a:t> variables, where </a:t>
            </a:r>
            <a:r>
              <a:rPr lang="en-US" i="1" dirty="0"/>
              <a:t>n&gt;m</a:t>
            </a:r>
          </a:p>
          <a:p>
            <a:pPr lvl="1"/>
            <a:r>
              <a:rPr lang="en-US" dirty="0"/>
              <a:t>By fixing </a:t>
            </a:r>
            <a:r>
              <a:rPr lang="en-US" i="1" dirty="0"/>
              <a:t>n-m</a:t>
            </a:r>
            <a:r>
              <a:rPr lang="en-US" dirty="0"/>
              <a:t> variables to some value, we can obtain a unique solution for the remaining variables</a:t>
            </a:r>
          </a:p>
          <a:p>
            <a:pPr lvl="1"/>
            <a:r>
              <a:rPr lang="en-US" dirty="0"/>
              <a:t>By fixing </a:t>
            </a:r>
            <a:r>
              <a:rPr lang="en-US" i="1" dirty="0"/>
              <a:t>n-m</a:t>
            </a:r>
            <a:r>
              <a:rPr lang="en-US" dirty="0"/>
              <a:t> variables to 0, we can obtain a unique solution for the remaining variables that correspond to an extreme point of the </a:t>
            </a:r>
            <a:r>
              <a:rPr lang="en-US" b="1" dirty="0"/>
              <a:t>feasible region</a:t>
            </a:r>
          </a:p>
          <a:p>
            <a:pPr lvl="1"/>
            <a:r>
              <a:rPr lang="en-US" dirty="0"/>
              <a:t>By fixing </a:t>
            </a:r>
            <a:r>
              <a:rPr lang="en-US" i="1" dirty="0"/>
              <a:t>n-m</a:t>
            </a:r>
            <a:r>
              <a:rPr lang="en-US" dirty="0"/>
              <a:t> variables to 0, it is possible to obtain infeasible points as well.</a:t>
            </a:r>
          </a:p>
        </p:txBody>
      </p:sp>
    </p:spTree>
    <p:extLst>
      <p:ext uri="{BB962C8B-B14F-4D97-AF65-F5344CB8AC3E}">
        <p14:creationId xmlns:p14="http://schemas.microsoft.com/office/powerpoint/2010/main" val="4213888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D837443-811D-4E89-8616-63FC4D41BA0A}" type="slidenum">
              <a:rPr lang="en-US"/>
              <a:pPr/>
              <a:t>33</a:t>
            </a:fld>
            <a:endParaRPr lang="en-US"/>
          </a:p>
        </p:txBody>
      </p:sp>
      <p:sp>
        <p:nvSpPr>
          <p:cNvPr id="66562" name="Rectangle 2"/>
          <p:cNvSpPr>
            <a:spLocks noGrp="1" noChangeArrowheads="1"/>
          </p:cNvSpPr>
          <p:nvPr>
            <p:ph type="title"/>
          </p:nvPr>
        </p:nvSpPr>
        <p:spPr>
          <a:xfrm>
            <a:off x="457200" y="-45682"/>
            <a:ext cx="8229600" cy="1143000"/>
          </a:xfrm>
        </p:spPr>
        <p:txBody>
          <a:bodyPr/>
          <a:lstStyle/>
          <a:p>
            <a:r>
              <a:rPr lang="en-US" dirty="0"/>
              <a:t>Different representations of an LP</a:t>
            </a:r>
          </a:p>
        </p:txBody>
      </p:sp>
      <p:sp>
        <p:nvSpPr>
          <p:cNvPr id="14" name="Down Arrow 13"/>
          <p:cNvSpPr/>
          <p:nvPr/>
        </p:nvSpPr>
        <p:spPr>
          <a:xfrm>
            <a:off x="4206244" y="3337561"/>
            <a:ext cx="274316" cy="45719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descr="txp_fig.png"/>
          <p:cNvPicPr>
            <a:picLocks noChangeAspect="1"/>
          </p:cNvPicPr>
          <p:nvPr>
            <p:custDataLst>
              <p:tags r:id="rId1"/>
            </p:custDataLst>
          </p:nvPr>
        </p:nvPicPr>
        <p:blipFill>
          <a:blip r:embed="rId9" cstate="print">
            <a:lum/>
          </a:blip>
          <a:stretch>
            <a:fillRect/>
          </a:stretch>
        </p:blipFill>
        <p:spPr>
          <a:xfrm>
            <a:off x="1075218" y="5385458"/>
            <a:ext cx="2033758" cy="878151"/>
          </a:xfrm>
          <a:prstGeom prst="rect">
            <a:avLst/>
          </a:prstGeom>
        </p:spPr>
      </p:pic>
      <p:pic>
        <p:nvPicPr>
          <p:cNvPr id="23" name="Picture 22" descr="txp_fig.png"/>
          <p:cNvPicPr>
            <a:picLocks noChangeAspect="1"/>
          </p:cNvPicPr>
          <p:nvPr>
            <p:custDataLst>
              <p:tags r:id="rId2"/>
            </p:custDataLst>
          </p:nvPr>
        </p:nvPicPr>
        <p:blipFill>
          <a:blip r:embed="rId10" cstate="print">
            <a:lum/>
          </a:blip>
          <a:stretch>
            <a:fillRect/>
          </a:stretch>
        </p:blipFill>
        <p:spPr>
          <a:xfrm>
            <a:off x="1371635" y="3886195"/>
            <a:ext cx="5991938" cy="1031833"/>
          </a:xfrm>
          <a:prstGeom prst="rect">
            <a:avLst/>
          </a:prstGeom>
        </p:spPr>
      </p:pic>
      <p:pic>
        <p:nvPicPr>
          <p:cNvPr id="24" name="Picture 23" descr="txp_fig.png"/>
          <p:cNvPicPr>
            <a:picLocks noChangeAspect="1"/>
          </p:cNvPicPr>
          <p:nvPr>
            <p:custDataLst>
              <p:tags r:id="rId3"/>
            </p:custDataLst>
          </p:nvPr>
        </p:nvPicPr>
        <p:blipFill>
          <a:blip r:embed="rId11" cstate="print">
            <a:lum/>
          </a:blip>
          <a:stretch>
            <a:fillRect/>
          </a:stretch>
        </p:blipFill>
        <p:spPr>
          <a:xfrm>
            <a:off x="2756133" y="777270"/>
            <a:ext cx="3187452" cy="2387351"/>
          </a:xfrm>
          <a:prstGeom prst="rect">
            <a:avLst/>
          </a:prstGeom>
        </p:spPr>
      </p:pic>
      <p:sp>
        <p:nvSpPr>
          <p:cNvPr id="27" name="TextBox 26"/>
          <p:cNvSpPr txBox="1"/>
          <p:nvPr/>
        </p:nvSpPr>
        <p:spPr>
          <a:xfrm>
            <a:off x="3566171" y="5557511"/>
            <a:ext cx="1005829" cy="523220"/>
          </a:xfrm>
          <a:prstGeom prst="rect">
            <a:avLst/>
          </a:prstGeom>
          <a:noFill/>
        </p:spPr>
        <p:txBody>
          <a:bodyPr wrap="square" rtlCol="0">
            <a:spAutoFit/>
          </a:bodyPr>
          <a:lstStyle/>
          <a:p>
            <a:pPr algn="ctr"/>
            <a:r>
              <a:rPr lang="en-US" sz="2800" dirty="0"/>
              <a:t>or</a:t>
            </a:r>
          </a:p>
        </p:txBody>
      </p:sp>
      <p:pic>
        <p:nvPicPr>
          <p:cNvPr id="28" name="Picture 27" descr="txp_fig.png"/>
          <p:cNvPicPr>
            <a:picLocks noChangeAspect="1"/>
          </p:cNvPicPr>
          <p:nvPr>
            <p:custDataLst>
              <p:tags r:id="rId4"/>
            </p:custDataLst>
          </p:nvPr>
        </p:nvPicPr>
        <p:blipFill>
          <a:blip r:embed="rId12" cstate="print">
            <a:lum/>
          </a:blip>
          <a:stretch>
            <a:fillRect/>
          </a:stretch>
        </p:blipFill>
        <p:spPr>
          <a:xfrm>
            <a:off x="4898993" y="5017734"/>
            <a:ext cx="4197404" cy="1611631"/>
          </a:xfrm>
          <a:prstGeom prst="rect">
            <a:avLst/>
          </a:prstGeom>
        </p:spPr>
      </p:pic>
      <p:pic>
        <p:nvPicPr>
          <p:cNvPr id="30" name="Picture 29" descr="txp_fig.png"/>
          <p:cNvPicPr>
            <a:picLocks noChangeAspect="1"/>
          </p:cNvPicPr>
          <p:nvPr>
            <p:custDataLst>
              <p:tags r:id="rId5"/>
            </p:custDataLst>
          </p:nvPr>
        </p:nvPicPr>
        <p:blipFill>
          <a:blip r:embed="rId13" cstate="print">
            <a:lum/>
          </a:blip>
          <a:stretch>
            <a:fillRect/>
          </a:stretch>
        </p:blipFill>
        <p:spPr>
          <a:xfrm>
            <a:off x="2011708" y="3520439"/>
            <a:ext cx="298449" cy="198170"/>
          </a:xfrm>
          <a:prstGeom prst="rect">
            <a:avLst/>
          </a:prstGeom>
        </p:spPr>
      </p:pic>
      <p:pic>
        <p:nvPicPr>
          <p:cNvPr id="33" name="Picture 32" descr="txp_fig.png"/>
          <p:cNvPicPr>
            <a:picLocks noChangeAspect="1"/>
          </p:cNvPicPr>
          <p:nvPr>
            <p:custDataLst>
              <p:tags r:id="rId6"/>
            </p:custDataLst>
          </p:nvPr>
        </p:nvPicPr>
        <p:blipFill>
          <a:blip r:embed="rId14" cstate="print">
            <a:lum/>
          </a:blip>
          <a:stretch>
            <a:fillRect/>
          </a:stretch>
        </p:blipFill>
        <p:spPr>
          <a:xfrm>
            <a:off x="2810527" y="3520439"/>
            <a:ext cx="298449" cy="198170"/>
          </a:xfrm>
          <a:prstGeom prst="rect">
            <a:avLst/>
          </a:prstGeom>
        </p:spPr>
      </p:pic>
      <p:sp>
        <p:nvSpPr>
          <p:cNvPr id="34" name="Oval 33"/>
          <p:cNvSpPr/>
          <p:nvPr/>
        </p:nvSpPr>
        <p:spPr>
          <a:xfrm>
            <a:off x="2286025" y="3886195"/>
            <a:ext cx="548634" cy="1097268"/>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p:cNvCxnSpPr/>
          <p:nvPr/>
        </p:nvCxnSpPr>
        <p:spPr>
          <a:xfrm>
            <a:off x="2286025" y="3794756"/>
            <a:ext cx="182878" cy="274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3200415" y="3886195"/>
            <a:ext cx="548634" cy="1097268"/>
          </a:xfrm>
          <a:prstGeom prst="ellipse">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p:cNvCxnSpPr/>
          <p:nvPr/>
        </p:nvCxnSpPr>
        <p:spPr>
          <a:xfrm>
            <a:off x="3108976" y="3794756"/>
            <a:ext cx="182878" cy="274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4" grpId="0" animBg="1"/>
      <p:bldP spid="3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36A80-E80B-4902-A7C1-19AEFEF2F1C0}"/>
              </a:ext>
            </a:extLst>
          </p:cNvPr>
          <p:cNvSpPr>
            <a:spLocks noGrp="1"/>
          </p:cNvSpPr>
          <p:nvPr>
            <p:ph type="title"/>
          </p:nvPr>
        </p:nvSpPr>
        <p:spPr/>
        <p:txBody>
          <a:bodyPr/>
          <a:lstStyle/>
          <a:p>
            <a:r>
              <a:rPr lang="en-US" dirty="0"/>
              <a:t>Example</a:t>
            </a:r>
          </a:p>
        </p:txBody>
      </p:sp>
      <p:pic>
        <p:nvPicPr>
          <p:cNvPr id="111618" name="Picture 2" descr="https://latex2png.com/pngs/34e0b0f22a5f8e43653df62009830dfa.png">
            <a:extLst>
              <a:ext uri="{FF2B5EF4-FFF2-40B4-BE49-F238E27FC236}">
                <a16:creationId xmlns:a16="http://schemas.microsoft.com/office/drawing/2014/main" id="{6A0C48FA-D329-4E8A-9150-3A99636705C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368" y="1657807"/>
            <a:ext cx="3599849" cy="1577434"/>
          </a:xfrm>
          <a:prstGeom prst="rect">
            <a:avLst/>
          </a:prstGeom>
          <a:noFill/>
          <a:extLst>
            <a:ext uri="{909E8E84-426E-40DD-AFC4-6F175D3DCCD1}">
              <a14:hiddenFill xmlns:a14="http://schemas.microsoft.com/office/drawing/2010/main">
                <a:solidFill>
                  <a:srgbClr val="FFFFFF"/>
                </a:solidFill>
              </a14:hiddenFill>
            </a:ext>
          </a:extLst>
        </p:spPr>
      </p:pic>
      <p:pic>
        <p:nvPicPr>
          <p:cNvPr id="111622" name="Picture 6" descr="https://latex2png.com/pngs/cfd17599523e90b2ed621c23251bd0bf.png">
            <a:extLst>
              <a:ext uri="{FF2B5EF4-FFF2-40B4-BE49-F238E27FC236}">
                <a16:creationId xmlns:a16="http://schemas.microsoft.com/office/drawing/2014/main" id="{5FE2E019-056D-4B71-B754-1A3FA09D58E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5867" y="1657807"/>
            <a:ext cx="4257740" cy="157743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F6A2AE52-477C-4D87-8799-9034B231A215}"/>
              </a:ext>
            </a:extLst>
          </p:cNvPr>
          <p:cNvCxnSpPr/>
          <p:nvPr/>
        </p:nvCxnSpPr>
        <p:spPr>
          <a:xfrm>
            <a:off x="3917482" y="2446524"/>
            <a:ext cx="500514"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81ACA36-6FF4-481E-A184-4C5C3FB65B02}"/>
              </a:ext>
            </a:extLst>
          </p:cNvPr>
          <p:cNvSpPr txBox="1"/>
          <p:nvPr/>
        </p:nvSpPr>
        <p:spPr>
          <a:xfrm>
            <a:off x="721894" y="3821228"/>
            <a:ext cx="7964905" cy="1477328"/>
          </a:xfrm>
          <a:prstGeom prst="rect">
            <a:avLst/>
          </a:prstGeom>
          <a:noFill/>
        </p:spPr>
        <p:txBody>
          <a:bodyPr wrap="square" rtlCol="0">
            <a:spAutoFit/>
          </a:bodyPr>
          <a:lstStyle/>
          <a:p>
            <a:pPr marL="285750" indent="-285750">
              <a:buFont typeface="Arial" panose="020B0604020202020204" pitchFamily="34" charset="0"/>
              <a:buChar char="•"/>
            </a:pPr>
            <a:r>
              <a:rPr lang="en-US" i="1" dirty="0"/>
              <a:t>n = 4</a:t>
            </a:r>
            <a:r>
              <a:rPr lang="en-US" dirty="0"/>
              <a:t> variables, </a:t>
            </a:r>
            <a:r>
              <a:rPr lang="en-US" i="1" dirty="0"/>
              <a:t>m = 2 </a:t>
            </a:r>
            <a:r>
              <a:rPr lang="en-US" dirty="0"/>
              <a:t>equations</a:t>
            </a:r>
          </a:p>
          <a:p>
            <a:pPr marL="285750" indent="-285750">
              <a:buFont typeface="Arial" panose="020B0604020202020204" pitchFamily="34" charset="0"/>
              <a:buChar char="•"/>
            </a:pPr>
            <a:r>
              <a:rPr lang="en-US" dirty="0"/>
              <a:t>Set any n-m = 2 variables to 0 and solve the remaining system.</a:t>
            </a:r>
          </a:p>
          <a:p>
            <a:pPr marL="742950" lvl="1" indent="-285750">
              <a:buFont typeface="Arial" panose="020B0604020202020204" pitchFamily="34" charset="0"/>
              <a:buChar char="•"/>
            </a:pPr>
            <a:r>
              <a:rPr lang="en-US" dirty="0"/>
              <a:t>x1 = x2 = 0 means x3 = 24 and x4 = 6, objective value 0</a:t>
            </a:r>
          </a:p>
          <a:p>
            <a:pPr marL="742950" lvl="1" indent="-285750">
              <a:buFont typeface="Arial" panose="020B0604020202020204" pitchFamily="34" charset="0"/>
              <a:buChar char="•"/>
            </a:pPr>
            <a:r>
              <a:rPr lang="en-US" dirty="0"/>
              <a:t>x2 = x3 = 0 means x1 = 4 and x4 = -6, infeasible</a:t>
            </a:r>
          </a:p>
          <a:p>
            <a:pPr marL="742950" lvl="1" indent="-285750">
              <a:buFont typeface="Arial" panose="020B0604020202020204" pitchFamily="34" charset="0"/>
              <a:buChar char="•"/>
            </a:pPr>
            <a:r>
              <a:rPr lang="en-US" dirty="0"/>
              <a:t>x3 = x4 = 0 means x1 = 3 and x2 = 1.5, objective value 4.5</a:t>
            </a:r>
          </a:p>
        </p:txBody>
      </p:sp>
    </p:spTree>
    <p:extLst>
      <p:ext uri="{BB962C8B-B14F-4D97-AF65-F5344CB8AC3E}">
        <p14:creationId xmlns:p14="http://schemas.microsoft.com/office/powerpoint/2010/main" val="30270048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to the simplex method</a:t>
            </a:r>
          </a:p>
        </p:txBody>
      </p:sp>
      <p:sp>
        <p:nvSpPr>
          <p:cNvPr id="3" name="Content Placeholder 2"/>
          <p:cNvSpPr>
            <a:spLocks noGrp="1"/>
          </p:cNvSpPr>
          <p:nvPr>
            <p:ph idx="1"/>
          </p:nvPr>
        </p:nvSpPr>
        <p:spPr>
          <a:xfrm>
            <a:off x="457199" y="1600200"/>
            <a:ext cx="8503873" cy="5029165"/>
          </a:xfrm>
        </p:spPr>
        <p:txBody>
          <a:bodyPr>
            <a:normAutofit fontScale="92500"/>
          </a:bodyPr>
          <a:lstStyle/>
          <a:p>
            <a:r>
              <a:rPr lang="en-US" dirty="0"/>
              <a:t>How do we express </a:t>
            </a:r>
            <a:r>
              <a:rPr lang="en-US" b="1" dirty="0"/>
              <a:t>b</a:t>
            </a:r>
            <a:r>
              <a:rPr lang="en-US" dirty="0"/>
              <a:t> as a linear (not necessarily non-negative) combination of </a:t>
            </a:r>
            <a:r>
              <a:rPr lang="en-US" b="1" dirty="0"/>
              <a:t>A</a:t>
            </a:r>
            <a:r>
              <a:rPr lang="en-US" b="1" baseline="-25000" dirty="0"/>
              <a:t>.1</a:t>
            </a:r>
            <a:r>
              <a:rPr lang="en-US" dirty="0"/>
              <a:t>, </a:t>
            </a:r>
            <a:r>
              <a:rPr lang="en-US" b="1" dirty="0"/>
              <a:t>A</a:t>
            </a:r>
            <a:r>
              <a:rPr lang="en-US" b="1" baseline="-25000" dirty="0"/>
              <a:t>.2</a:t>
            </a:r>
            <a:r>
              <a:rPr lang="en-US" dirty="0"/>
              <a:t>, …, </a:t>
            </a:r>
            <a:r>
              <a:rPr lang="en-US" b="1" dirty="0" err="1"/>
              <a:t>A</a:t>
            </a:r>
            <a:r>
              <a:rPr lang="en-US" b="1" baseline="-25000" dirty="0" err="1"/>
              <a:t>.</a:t>
            </a:r>
            <a:r>
              <a:rPr lang="en-US" b="1" i="1" baseline="-25000" dirty="0" err="1"/>
              <a:t>n</a:t>
            </a:r>
            <a:r>
              <a:rPr lang="en-US" dirty="0"/>
              <a:t>?</a:t>
            </a:r>
          </a:p>
          <a:p>
            <a:pPr lvl="1"/>
            <a:r>
              <a:rPr lang="en-US" dirty="0"/>
              <a:t>We need to recall how to solve a system of linear equations               from our linear algebra courses.</a:t>
            </a:r>
          </a:p>
          <a:p>
            <a:pPr lvl="1"/>
            <a:r>
              <a:rPr lang="en-US" dirty="0"/>
              <a:t>Note that we have </a:t>
            </a:r>
            <a:r>
              <a:rPr lang="en-US" i="1" dirty="0"/>
              <a:t>n </a:t>
            </a:r>
            <a:r>
              <a:rPr lang="en-US" dirty="0"/>
              <a:t>variables and </a:t>
            </a:r>
            <a:r>
              <a:rPr lang="en-US" i="1" dirty="0"/>
              <a:t>m</a:t>
            </a:r>
            <a:r>
              <a:rPr lang="en-US" dirty="0"/>
              <a:t> constraints, where </a:t>
            </a:r>
            <a:r>
              <a:rPr lang="en-US" i="1" dirty="0"/>
              <a:t>n</a:t>
            </a:r>
            <a:r>
              <a:rPr lang="en-US" dirty="0"/>
              <a:t> &gt; </a:t>
            </a:r>
            <a:r>
              <a:rPr lang="en-US" i="1" dirty="0"/>
              <a:t>m</a:t>
            </a:r>
            <a:r>
              <a:rPr lang="en-US" dirty="0"/>
              <a:t> </a:t>
            </a:r>
            <a:r>
              <a:rPr lang="en-US" dirty="0">
                <a:latin typeface="cmbsy9"/>
              </a:rPr>
              <a:t>!    </a:t>
            </a:r>
            <a:r>
              <a:rPr lang="en-US" dirty="0">
                <a:latin typeface="+mj-lt"/>
              </a:rPr>
              <a:t>              has </a:t>
            </a:r>
            <a:r>
              <a:rPr lang="en-US" dirty="0">
                <a:latin typeface="cmbsy9"/>
              </a:rPr>
              <a:t>  </a:t>
            </a:r>
            <a:r>
              <a:rPr lang="en-US" dirty="0">
                <a:latin typeface="+mj-lt"/>
              </a:rPr>
              <a:t>infinitely many solutions.</a:t>
            </a:r>
            <a:endParaRPr lang="en-US" dirty="0"/>
          </a:p>
          <a:p>
            <a:pPr lvl="1"/>
            <a:r>
              <a:rPr lang="en-US" dirty="0"/>
              <a:t>However, if we can select </a:t>
            </a:r>
            <a:r>
              <a:rPr lang="en-US" i="1" dirty="0"/>
              <a:t>m</a:t>
            </a:r>
            <a:r>
              <a:rPr lang="en-US" dirty="0"/>
              <a:t> </a:t>
            </a:r>
            <a:r>
              <a:rPr lang="en-US" b="1" dirty="0">
                <a:solidFill>
                  <a:srgbClr val="FF0000"/>
                </a:solidFill>
              </a:rPr>
              <a:t>linearly independent</a:t>
            </a:r>
            <a:r>
              <a:rPr lang="en-US" dirty="0"/>
              <a:t> vectors out of </a:t>
            </a:r>
            <a:r>
              <a:rPr lang="en-US" b="1" dirty="0"/>
              <a:t>A</a:t>
            </a:r>
            <a:r>
              <a:rPr lang="en-US" b="1" baseline="-25000" dirty="0"/>
              <a:t>.1</a:t>
            </a:r>
            <a:r>
              <a:rPr lang="en-US" dirty="0"/>
              <a:t>, </a:t>
            </a:r>
            <a:r>
              <a:rPr lang="en-US" b="1" dirty="0"/>
              <a:t>A</a:t>
            </a:r>
            <a:r>
              <a:rPr lang="en-US" b="1" baseline="-25000" dirty="0"/>
              <a:t>.2</a:t>
            </a:r>
            <a:r>
              <a:rPr lang="en-US" dirty="0"/>
              <a:t>, …, </a:t>
            </a:r>
            <a:r>
              <a:rPr lang="en-US" b="1" dirty="0" err="1"/>
              <a:t>A</a:t>
            </a:r>
            <a:r>
              <a:rPr lang="en-US" b="1" baseline="-25000" dirty="0" err="1"/>
              <a:t>.</a:t>
            </a:r>
            <a:r>
              <a:rPr lang="en-US" b="1" i="1" baseline="-25000" dirty="0" err="1"/>
              <a:t>n</a:t>
            </a:r>
            <a:r>
              <a:rPr lang="en-US" dirty="0"/>
              <a:t>, then </a:t>
            </a:r>
            <a:r>
              <a:rPr lang="en-US" b="1" dirty="0"/>
              <a:t>b</a:t>
            </a:r>
            <a:r>
              <a:rPr lang="en-US" dirty="0"/>
              <a:t> can be represented uniquely by these vectors.</a:t>
            </a:r>
          </a:p>
          <a:p>
            <a:pPr lvl="2"/>
            <a:r>
              <a:rPr lang="en-US" dirty="0"/>
              <a:t>Such solutions of                 are referred to as </a:t>
            </a:r>
            <a:r>
              <a:rPr lang="en-US" b="1" dirty="0">
                <a:solidFill>
                  <a:srgbClr val="FF0000"/>
                </a:solidFill>
              </a:rPr>
              <a:t>basic solutions</a:t>
            </a:r>
            <a:r>
              <a:rPr lang="en-US" dirty="0"/>
              <a:t>. </a:t>
            </a:r>
          </a:p>
          <a:p>
            <a:pPr lvl="2"/>
            <a:r>
              <a:rPr lang="en-US" dirty="0"/>
              <a:t>Let the index set of these </a:t>
            </a:r>
            <a:r>
              <a:rPr lang="en-US" i="1" dirty="0"/>
              <a:t>m</a:t>
            </a:r>
            <a:r>
              <a:rPr lang="en-US" dirty="0"/>
              <a:t> linearly independent vectors be </a:t>
            </a:r>
            <a:r>
              <a:rPr lang="en-US" i="1" dirty="0"/>
              <a:t>B</a:t>
            </a:r>
            <a:r>
              <a:rPr lang="en-US" dirty="0"/>
              <a:t>.</a:t>
            </a:r>
          </a:p>
        </p:txBody>
      </p:sp>
      <p:pic>
        <p:nvPicPr>
          <p:cNvPr id="5" name="Picture 4" descr="txp_fig.png"/>
          <p:cNvPicPr>
            <a:picLocks noChangeAspect="1"/>
          </p:cNvPicPr>
          <p:nvPr>
            <p:custDataLst>
              <p:tags r:id="rId1"/>
            </p:custDataLst>
          </p:nvPr>
        </p:nvPicPr>
        <p:blipFill>
          <a:blip r:embed="rId6" cstate="print">
            <a:lum/>
          </a:blip>
          <a:stretch>
            <a:fillRect/>
          </a:stretch>
        </p:blipFill>
        <p:spPr>
          <a:xfrm>
            <a:off x="2653513" y="3123626"/>
            <a:ext cx="991974" cy="233096"/>
          </a:xfrm>
          <a:prstGeom prst="rect">
            <a:avLst/>
          </a:prstGeom>
        </p:spPr>
      </p:pic>
      <p:pic>
        <p:nvPicPr>
          <p:cNvPr id="6" name="Picture 5" descr="txp_fig.png"/>
          <p:cNvPicPr>
            <a:picLocks noChangeAspect="1"/>
          </p:cNvPicPr>
          <p:nvPr>
            <p:custDataLst>
              <p:tags r:id="rId2"/>
            </p:custDataLst>
          </p:nvPr>
        </p:nvPicPr>
        <p:blipFill>
          <a:blip r:embed="rId6" cstate="print">
            <a:lum/>
          </a:blip>
          <a:stretch>
            <a:fillRect/>
          </a:stretch>
        </p:blipFill>
        <p:spPr>
          <a:xfrm>
            <a:off x="2364791" y="3998234"/>
            <a:ext cx="991974" cy="233096"/>
          </a:xfrm>
          <a:prstGeom prst="rect">
            <a:avLst/>
          </a:prstGeom>
        </p:spPr>
      </p:pic>
      <p:pic>
        <p:nvPicPr>
          <p:cNvPr id="7" name="Picture 6" descr="txp_fig.png"/>
          <p:cNvPicPr>
            <a:picLocks noChangeAspect="1"/>
          </p:cNvPicPr>
          <p:nvPr>
            <p:custDataLst>
              <p:tags r:id="rId3"/>
            </p:custDataLst>
          </p:nvPr>
        </p:nvPicPr>
        <p:blipFill>
          <a:blip r:embed="rId6" cstate="print">
            <a:lum/>
          </a:blip>
          <a:stretch>
            <a:fillRect/>
          </a:stretch>
        </p:blipFill>
        <p:spPr>
          <a:xfrm>
            <a:off x="3640933" y="5686241"/>
            <a:ext cx="991974" cy="233096"/>
          </a:xfrm>
          <a:prstGeom prst="rect">
            <a:avLst/>
          </a:prstGeom>
        </p:spPr>
      </p:pic>
      <p:sp>
        <p:nvSpPr>
          <p:cNvPr id="8"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35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Straight Connector 92"/>
          <p:cNvCxnSpPr/>
          <p:nvPr/>
        </p:nvCxnSpPr>
        <p:spPr>
          <a:xfrm flipH="1" flipV="1">
            <a:off x="764932" y="3886195"/>
            <a:ext cx="3474682" cy="13715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1496444" y="3520439"/>
            <a:ext cx="2468853" cy="24688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a:xfrm>
            <a:off x="457200" y="45757"/>
            <a:ext cx="8229600" cy="1143000"/>
          </a:xfrm>
        </p:spPr>
        <p:txBody>
          <a:bodyPr/>
          <a:lstStyle/>
          <a:p>
            <a:r>
              <a:rPr lang="en-US" dirty="0"/>
              <a:t>Key to the simplex method</a:t>
            </a:r>
          </a:p>
        </p:txBody>
      </p:sp>
      <p:pic>
        <p:nvPicPr>
          <p:cNvPr id="8" name="Content Placeholder 7" descr="txp_fig.png"/>
          <p:cNvPicPr>
            <a:picLocks noGrp="1" noChangeAspect="1"/>
          </p:cNvPicPr>
          <p:nvPr>
            <p:ph idx="1"/>
            <p:custDataLst>
              <p:tags r:id="rId1"/>
            </p:custDataLst>
          </p:nvPr>
        </p:nvPicPr>
        <p:blipFill>
          <a:blip r:embed="rId17" cstate="print">
            <a:lum/>
          </a:blip>
          <a:stretch>
            <a:fillRect/>
          </a:stretch>
        </p:blipFill>
        <p:spPr>
          <a:xfrm>
            <a:off x="5943585" y="960147"/>
            <a:ext cx="2774568" cy="1595377"/>
          </a:xfrm>
        </p:spPr>
      </p:pic>
      <p:sp>
        <p:nvSpPr>
          <p:cNvPr id="105" name="Slide Number Placeholder 5"/>
          <p:cNvSpPr>
            <a:spLocks noGrp="1"/>
          </p:cNvSpPr>
          <p:nvPr>
            <p:ph type="sldNum" sz="quarter" idx="12"/>
          </p:nvPr>
        </p:nvSpPr>
        <p:spPr>
          <a:xfrm>
            <a:off x="6553200" y="6356350"/>
            <a:ext cx="2133600" cy="365125"/>
          </a:xfrm>
        </p:spPr>
        <p:txBody>
          <a:bodyPr/>
          <a:lstStyle/>
          <a:p>
            <a:fld id="{4D377B0C-25D5-4B61-BE6E-827E9725F9FB}" type="slidenum">
              <a:rPr lang="en-US" smtClean="0"/>
              <a:pPr/>
              <a:t>36</a:t>
            </a:fld>
            <a:endParaRPr lang="en-US" dirty="0"/>
          </a:p>
        </p:txBody>
      </p:sp>
      <p:sp>
        <p:nvSpPr>
          <p:cNvPr id="46" name="Oval 45"/>
          <p:cNvSpPr/>
          <p:nvPr/>
        </p:nvSpPr>
        <p:spPr>
          <a:xfrm flipV="1">
            <a:off x="2533345" y="4579493"/>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57" descr="txp_fig.png"/>
          <p:cNvPicPr>
            <a:picLocks noChangeAspect="1"/>
          </p:cNvPicPr>
          <p:nvPr>
            <p:custDataLst>
              <p:tags r:id="rId2"/>
            </p:custDataLst>
          </p:nvPr>
        </p:nvPicPr>
        <p:blipFill>
          <a:blip r:embed="rId18" cstate="print">
            <a:lum/>
          </a:blip>
          <a:stretch>
            <a:fillRect/>
          </a:stretch>
        </p:blipFill>
        <p:spPr>
          <a:xfrm>
            <a:off x="7204748" y="2698148"/>
            <a:ext cx="1079070" cy="797968"/>
          </a:xfrm>
          <a:prstGeom prst="rect">
            <a:avLst/>
          </a:prstGeom>
        </p:spPr>
      </p:pic>
      <p:pic>
        <p:nvPicPr>
          <p:cNvPr id="60" name="Picture 59" descr="txp_fig.png"/>
          <p:cNvPicPr>
            <a:picLocks noChangeAspect="1"/>
          </p:cNvPicPr>
          <p:nvPr>
            <p:custDataLst>
              <p:tags r:id="rId3"/>
            </p:custDataLst>
          </p:nvPr>
        </p:nvPicPr>
        <p:blipFill>
          <a:blip r:embed="rId19" cstate="print">
            <a:lum/>
          </a:blip>
          <a:stretch>
            <a:fillRect/>
          </a:stretch>
        </p:blipFill>
        <p:spPr>
          <a:xfrm>
            <a:off x="4668665" y="2715420"/>
            <a:ext cx="2331725" cy="797968"/>
          </a:xfrm>
          <a:prstGeom prst="rect">
            <a:avLst/>
          </a:prstGeom>
        </p:spPr>
      </p:pic>
      <p:pic>
        <p:nvPicPr>
          <p:cNvPr id="69" name="Picture 68" descr="txp_fig.png"/>
          <p:cNvPicPr>
            <a:picLocks noChangeAspect="1"/>
          </p:cNvPicPr>
          <p:nvPr>
            <p:custDataLst>
              <p:tags r:id="rId4"/>
            </p:custDataLst>
          </p:nvPr>
        </p:nvPicPr>
        <p:blipFill>
          <a:blip r:embed="rId20" cstate="print">
            <a:lum/>
          </a:blip>
          <a:stretch>
            <a:fillRect/>
          </a:stretch>
        </p:blipFill>
        <p:spPr>
          <a:xfrm>
            <a:off x="4687484" y="3620733"/>
            <a:ext cx="1534116" cy="311936"/>
          </a:xfrm>
          <a:prstGeom prst="rect">
            <a:avLst/>
          </a:prstGeom>
        </p:spPr>
      </p:pic>
      <p:pic>
        <p:nvPicPr>
          <p:cNvPr id="75" name="Picture 74" descr="txp_fig.png"/>
          <p:cNvPicPr>
            <a:picLocks noChangeAspect="1"/>
          </p:cNvPicPr>
          <p:nvPr>
            <p:custDataLst>
              <p:tags r:id="rId5"/>
            </p:custDataLst>
          </p:nvPr>
        </p:nvPicPr>
        <p:blipFill>
          <a:blip r:embed="rId21" cstate="print">
            <a:lum/>
          </a:blip>
          <a:stretch>
            <a:fillRect/>
          </a:stretch>
        </p:blipFill>
        <p:spPr>
          <a:xfrm>
            <a:off x="4697143" y="4038944"/>
            <a:ext cx="3503759" cy="625599"/>
          </a:xfrm>
          <a:prstGeom prst="rect">
            <a:avLst/>
          </a:prstGeom>
        </p:spPr>
      </p:pic>
      <p:cxnSp>
        <p:nvCxnSpPr>
          <p:cNvPr id="76" name="Straight Arrow Connector 75"/>
          <p:cNvCxnSpPr/>
          <p:nvPr/>
        </p:nvCxnSpPr>
        <p:spPr>
          <a:xfrm>
            <a:off x="582054" y="5257780"/>
            <a:ext cx="42061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V="1">
            <a:off x="1496444" y="1234464"/>
            <a:ext cx="0" cy="49377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313566" y="1234464"/>
            <a:ext cx="2377414" cy="47548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2" name="Picture 81" descr="txp_fig.png"/>
          <p:cNvPicPr>
            <a:picLocks noChangeAspect="1"/>
          </p:cNvPicPr>
          <p:nvPr>
            <p:custDataLst>
              <p:tags r:id="rId6"/>
            </p:custDataLst>
          </p:nvPr>
        </p:nvPicPr>
        <p:blipFill>
          <a:blip r:embed="rId22" cstate="print">
            <a:lum/>
          </a:blip>
          <a:stretch>
            <a:fillRect/>
          </a:stretch>
        </p:blipFill>
        <p:spPr>
          <a:xfrm>
            <a:off x="673493" y="1051586"/>
            <a:ext cx="1069707" cy="161428"/>
          </a:xfrm>
          <a:prstGeom prst="rect">
            <a:avLst/>
          </a:prstGeom>
        </p:spPr>
      </p:pic>
      <p:cxnSp>
        <p:nvCxnSpPr>
          <p:cNvPr id="83" name="Straight Arrow Connector 82"/>
          <p:cNvCxnSpPr/>
          <p:nvPr/>
        </p:nvCxnSpPr>
        <p:spPr>
          <a:xfrm flipH="1">
            <a:off x="1039249" y="1234464"/>
            <a:ext cx="274317" cy="182878"/>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pic>
        <p:nvPicPr>
          <p:cNvPr id="86" name="Picture 85" descr="txp_fig.png"/>
          <p:cNvPicPr>
            <a:picLocks noChangeAspect="1"/>
          </p:cNvPicPr>
          <p:nvPr>
            <p:custDataLst>
              <p:tags r:id="rId7"/>
            </p:custDataLst>
          </p:nvPr>
        </p:nvPicPr>
        <p:blipFill>
          <a:blip r:embed="rId23" cstate="print">
            <a:lum/>
          </a:blip>
          <a:stretch>
            <a:fillRect/>
          </a:stretch>
        </p:blipFill>
        <p:spPr>
          <a:xfrm>
            <a:off x="124859" y="3703317"/>
            <a:ext cx="1069707" cy="145869"/>
          </a:xfrm>
          <a:prstGeom prst="rect">
            <a:avLst/>
          </a:prstGeom>
        </p:spPr>
      </p:pic>
      <p:pic>
        <p:nvPicPr>
          <p:cNvPr id="87" name="Picture 86" descr="txp_fig.png"/>
          <p:cNvPicPr>
            <a:picLocks noChangeAspect="1"/>
          </p:cNvPicPr>
          <p:nvPr>
            <p:custDataLst>
              <p:tags r:id="rId8"/>
            </p:custDataLst>
          </p:nvPr>
        </p:nvPicPr>
        <p:blipFill>
          <a:blip r:embed="rId24" cstate="print">
            <a:lum/>
          </a:blip>
          <a:stretch>
            <a:fillRect/>
          </a:stretch>
        </p:blipFill>
        <p:spPr>
          <a:xfrm>
            <a:off x="3965297" y="5806414"/>
            <a:ext cx="1069707" cy="161428"/>
          </a:xfrm>
          <a:prstGeom prst="rect">
            <a:avLst/>
          </a:prstGeom>
        </p:spPr>
      </p:pic>
      <p:pic>
        <p:nvPicPr>
          <p:cNvPr id="88" name="Picture 87" descr="txp_fig.png"/>
          <p:cNvPicPr>
            <a:picLocks noChangeAspect="1"/>
          </p:cNvPicPr>
          <p:nvPr>
            <p:custDataLst>
              <p:tags r:id="rId9"/>
            </p:custDataLst>
          </p:nvPr>
        </p:nvPicPr>
        <p:blipFill>
          <a:blip r:embed="rId25" cstate="print">
            <a:lum/>
          </a:blip>
          <a:stretch>
            <a:fillRect/>
          </a:stretch>
        </p:blipFill>
        <p:spPr>
          <a:xfrm>
            <a:off x="1957667" y="2094424"/>
            <a:ext cx="453167" cy="145869"/>
          </a:xfrm>
          <a:prstGeom prst="rect">
            <a:avLst/>
          </a:prstGeom>
        </p:spPr>
      </p:pic>
      <p:pic>
        <p:nvPicPr>
          <p:cNvPr id="91" name="Picture 90" descr="txp_fig.png"/>
          <p:cNvPicPr>
            <a:picLocks noChangeAspect="1"/>
          </p:cNvPicPr>
          <p:nvPr>
            <p:custDataLst>
              <p:tags r:id="rId10"/>
            </p:custDataLst>
          </p:nvPr>
        </p:nvPicPr>
        <p:blipFill>
          <a:blip r:embed="rId26" cstate="print">
            <a:lum/>
          </a:blip>
          <a:stretch>
            <a:fillRect/>
          </a:stretch>
        </p:blipFill>
        <p:spPr>
          <a:xfrm>
            <a:off x="4605370" y="4983463"/>
            <a:ext cx="453167" cy="145869"/>
          </a:xfrm>
          <a:prstGeom prst="rect">
            <a:avLst/>
          </a:prstGeom>
        </p:spPr>
      </p:pic>
      <p:cxnSp>
        <p:nvCxnSpPr>
          <p:cNvPr id="96" name="Straight Arrow Connector 95"/>
          <p:cNvCxnSpPr/>
          <p:nvPr/>
        </p:nvCxnSpPr>
        <p:spPr>
          <a:xfrm flipH="1">
            <a:off x="582054" y="3886195"/>
            <a:ext cx="182880" cy="365756"/>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flipH="1">
            <a:off x="3690980" y="5989292"/>
            <a:ext cx="274319" cy="274317"/>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flipH="1" flipV="1">
            <a:off x="4513931" y="4709146"/>
            <a:ext cx="2" cy="548634"/>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a:off x="1496446" y="2331732"/>
            <a:ext cx="548632" cy="0"/>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2406806"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3321196"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4235586"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2315367" y="5349219"/>
            <a:ext cx="182878" cy="184666"/>
          </a:xfrm>
          <a:prstGeom prst="rect">
            <a:avLst/>
          </a:prstGeom>
          <a:noFill/>
        </p:spPr>
        <p:txBody>
          <a:bodyPr wrap="square" lIns="0" tIns="0" rIns="0" bIns="0" rtlCol="0">
            <a:spAutoFit/>
          </a:bodyPr>
          <a:lstStyle/>
          <a:p>
            <a:r>
              <a:rPr lang="en-US" sz="1200" dirty="0"/>
              <a:t>10</a:t>
            </a:r>
          </a:p>
        </p:txBody>
      </p:sp>
      <p:sp>
        <p:nvSpPr>
          <p:cNvPr id="110" name="TextBox 109"/>
          <p:cNvSpPr txBox="1"/>
          <p:nvPr/>
        </p:nvSpPr>
        <p:spPr>
          <a:xfrm>
            <a:off x="3229757" y="5349219"/>
            <a:ext cx="182878" cy="184666"/>
          </a:xfrm>
          <a:prstGeom prst="rect">
            <a:avLst/>
          </a:prstGeom>
          <a:noFill/>
        </p:spPr>
        <p:txBody>
          <a:bodyPr wrap="square" lIns="0" tIns="0" rIns="0" bIns="0" rtlCol="0">
            <a:spAutoFit/>
          </a:bodyPr>
          <a:lstStyle/>
          <a:p>
            <a:r>
              <a:rPr lang="en-US" sz="1200" dirty="0"/>
              <a:t>20</a:t>
            </a:r>
          </a:p>
        </p:txBody>
      </p:sp>
      <p:sp>
        <p:nvSpPr>
          <p:cNvPr id="111" name="TextBox 110"/>
          <p:cNvSpPr txBox="1"/>
          <p:nvPr/>
        </p:nvSpPr>
        <p:spPr>
          <a:xfrm>
            <a:off x="4144147" y="5349219"/>
            <a:ext cx="182878" cy="184666"/>
          </a:xfrm>
          <a:prstGeom prst="rect">
            <a:avLst/>
          </a:prstGeom>
          <a:noFill/>
        </p:spPr>
        <p:txBody>
          <a:bodyPr wrap="square" lIns="0" tIns="0" rIns="0" bIns="0" rtlCol="0">
            <a:spAutoFit/>
          </a:bodyPr>
          <a:lstStyle/>
          <a:p>
            <a:r>
              <a:rPr lang="en-US" sz="1200" dirty="0"/>
              <a:t>30</a:t>
            </a:r>
          </a:p>
        </p:txBody>
      </p:sp>
      <p:cxnSp>
        <p:nvCxnSpPr>
          <p:cNvPr id="113" name="Straight Connector 112"/>
          <p:cNvCxnSpPr/>
          <p:nvPr/>
        </p:nvCxnSpPr>
        <p:spPr>
          <a:xfrm flipH="1">
            <a:off x="1400977" y="434339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1400977" y="342900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flipH="1">
            <a:off x="1400977" y="251461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flipH="1">
            <a:off x="1400977" y="160022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TextBox 117"/>
          <p:cNvSpPr txBox="1"/>
          <p:nvPr/>
        </p:nvSpPr>
        <p:spPr>
          <a:xfrm>
            <a:off x="1218099" y="4251951"/>
            <a:ext cx="182878" cy="184666"/>
          </a:xfrm>
          <a:prstGeom prst="rect">
            <a:avLst/>
          </a:prstGeom>
          <a:noFill/>
        </p:spPr>
        <p:txBody>
          <a:bodyPr wrap="square" lIns="0" tIns="0" rIns="0" bIns="0" rtlCol="0">
            <a:spAutoFit/>
          </a:bodyPr>
          <a:lstStyle/>
          <a:p>
            <a:r>
              <a:rPr lang="en-US" sz="1200" dirty="0"/>
              <a:t>10</a:t>
            </a:r>
          </a:p>
        </p:txBody>
      </p:sp>
      <p:sp>
        <p:nvSpPr>
          <p:cNvPr id="119" name="TextBox 118"/>
          <p:cNvSpPr txBox="1"/>
          <p:nvPr/>
        </p:nvSpPr>
        <p:spPr>
          <a:xfrm>
            <a:off x="1218099" y="3337561"/>
            <a:ext cx="182878" cy="184666"/>
          </a:xfrm>
          <a:prstGeom prst="rect">
            <a:avLst/>
          </a:prstGeom>
          <a:noFill/>
        </p:spPr>
        <p:txBody>
          <a:bodyPr wrap="square" lIns="0" tIns="0" rIns="0" bIns="0" rtlCol="0">
            <a:spAutoFit/>
          </a:bodyPr>
          <a:lstStyle/>
          <a:p>
            <a:r>
              <a:rPr lang="en-US" sz="1200" dirty="0"/>
              <a:t>20</a:t>
            </a:r>
          </a:p>
        </p:txBody>
      </p:sp>
      <p:sp>
        <p:nvSpPr>
          <p:cNvPr id="120" name="TextBox 119"/>
          <p:cNvSpPr txBox="1"/>
          <p:nvPr/>
        </p:nvSpPr>
        <p:spPr>
          <a:xfrm>
            <a:off x="1218099" y="2423171"/>
            <a:ext cx="182878" cy="184666"/>
          </a:xfrm>
          <a:prstGeom prst="rect">
            <a:avLst/>
          </a:prstGeom>
          <a:noFill/>
        </p:spPr>
        <p:txBody>
          <a:bodyPr wrap="square" lIns="0" tIns="0" rIns="0" bIns="0" rtlCol="0">
            <a:spAutoFit/>
          </a:bodyPr>
          <a:lstStyle/>
          <a:p>
            <a:r>
              <a:rPr lang="en-US" sz="1200" dirty="0"/>
              <a:t>30</a:t>
            </a:r>
          </a:p>
        </p:txBody>
      </p:sp>
      <p:sp>
        <p:nvSpPr>
          <p:cNvPr id="121" name="TextBox 120"/>
          <p:cNvSpPr txBox="1"/>
          <p:nvPr/>
        </p:nvSpPr>
        <p:spPr>
          <a:xfrm>
            <a:off x="1218099" y="1508781"/>
            <a:ext cx="182878" cy="184666"/>
          </a:xfrm>
          <a:prstGeom prst="rect">
            <a:avLst/>
          </a:prstGeom>
          <a:noFill/>
        </p:spPr>
        <p:txBody>
          <a:bodyPr wrap="square" lIns="0" tIns="0" rIns="0" bIns="0" rtlCol="0">
            <a:spAutoFit/>
          </a:bodyPr>
          <a:lstStyle/>
          <a:p>
            <a:r>
              <a:rPr lang="en-US" sz="1200" dirty="0"/>
              <a:t>40</a:t>
            </a:r>
          </a:p>
        </p:txBody>
      </p:sp>
      <p:pic>
        <p:nvPicPr>
          <p:cNvPr id="127" name="Picture 126" descr="txp_fig.png"/>
          <p:cNvPicPr>
            <a:picLocks noChangeAspect="1"/>
          </p:cNvPicPr>
          <p:nvPr>
            <p:custDataLst>
              <p:tags r:id="rId11"/>
            </p:custDataLst>
          </p:nvPr>
        </p:nvPicPr>
        <p:blipFill>
          <a:blip r:embed="rId27" cstate="print">
            <a:lum/>
          </a:blip>
          <a:stretch>
            <a:fillRect/>
          </a:stretch>
        </p:blipFill>
        <p:spPr>
          <a:xfrm>
            <a:off x="4688097" y="3596919"/>
            <a:ext cx="1534115" cy="311936"/>
          </a:xfrm>
          <a:prstGeom prst="rect">
            <a:avLst/>
          </a:prstGeom>
        </p:spPr>
      </p:pic>
      <p:pic>
        <p:nvPicPr>
          <p:cNvPr id="128" name="Picture 127" descr="txp_fig.png"/>
          <p:cNvPicPr>
            <a:picLocks noChangeAspect="1"/>
          </p:cNvPicPr>
          <p:nvPr>
            <p:custDataLst>
              <p:tags r:id="rId12"/>
            </p:custDataLst>
          </p:nvPr>
        </p:nvPicPr>
        <p:blipFill>
          <a:blip r:embed="rId28" cstate="print">
            <a:lum/>
          </a:blip>
          <a:stretch>
            <a:fillRect/>
          </a:stretch>
        </p:blipFill>
        <p:spPr>
          <a:xfrm>
            <a:off x="4183211" y="4079709"/>
            <a:ext cx="4078578" cy="625599"/>
          </a:xfrm>
          <a:prstGeom prst="rect">
            <a:avLst/>
          </a:prstGeom>
        </p:spPr>
      </p:pic>
      <p:pic>
        <p:nvPicPr>
          <p:cNvPr id="131" name="Picture 130" descr="txp_fig.png"/>
          <p:cNvPicPr>
            <a:picLocks noChangeAspect="1"/>
          </p:cNvPicPr>
          <p:nvPr>
            <p:custDataLst>
              <p:tags r:id="rId13"/>
            </p:custDataLst>
          </p:nvPr>
        </p:nvPicPr>
        <p:blipFill>
          <a:blip r:embed="rId29" cstate="print">
            <a:lum/>
          </a:blip>
          <a:stretch>
            <a:fillRect/>
          </a:stretch>
        </p:blipFill>
        <p:spPr>
          <a:xfrm>
            <a:off x="4696804" y="3614282"/>
            <a:ext cx="1534115" cy="311936"/>
          </a:xfrm>
          <a:prstGeom prst="rect">
            <a:avLst/>
          </a:prstGeom>
        </p:spPr>
      </p:pic>
      <p:pic>
        <p:nvPicPr>
          <p:cNvPr id="132" name="Picture 131" descr="txp_fig.png"/>
          <p:cNvPicPr>
            <a:picLocks noChangeAspect="1"/>
          </p:cNvPicPr>
          <p:nvPr>
            <p:custDataLst>
              <p:tags r:id="rId14"/>
            </p:custDataLst>
          </p:nvPr>
        </p:nvPicPr>
        <p:blipFill>
          <a:blip r:embed="rId30" cstate="print">
            <a:lum/>
          </a:blip>
          <a:stretch>
            <a:fillRect/>
          </a:stretch>
        </p:blipFill>
        <p:spPr>
          <a:xfrm>
            <a:off x="4712241" y="4028061"/>
            <a:ext cx="3503759" cy="625599"/>
          </a:xfrm>
          <a:prstGeom prst="rect">
            <a:avLst/>
          </a:prstGeom>
        </p:spPr>
      </p:pic>
      <p:sp>
        <p:nvSpPr>
          <p:cNvPr id="133" name="Oval 132"/>
          <p:cNvSpPr/>
          <p:nvPr/>
        </p:nvSpPr>
        <p:spPr>
          <a:xfrm flipV="1">
            <a:off x="3194679" y="5232201"/>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6780283" y="4218192"/>
            <a:ext cx="621102" cy="293298"/>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6485009" y="4692294"/>
            <a:ext cx="1299410" cy="369332"/>
          </a:xfrm>
          <a:prstGeom prst="rect">
            <a:avLst/>
          </a:prstGeom>
          <a:noFill/>
        </p:spPr>
        <p:txBody>
          <a:bodyPr wrap="square" rtlCol="0">
            <a:spAutoFit/>
          </a:bodyPr>
          <a:lstStyle/>
          <a:p>
            <a:pPr algn="ctr"/>
            <a:r>
              <a:rPr lang="en-US" dirty="0"/>
              <a:t>infeasible</a:t>
            </a:r>
          </a:p>
        </p:txBody>
      </p:sp>
      <p:sp>
        <p:nvSpPr>
          <p:cNvPr id="47" name="Oval 46">
            <a:extLst>
              <a:ext uri="{FF2B5EF4-FFF2-40B4-BE49-F238E27FC236}">
                <a16:creationId xmlns:a16="http://schemas.microsoft.com/office/drawing/2014/main" id="{DD78C7E5-C2FE-4566-A309-4055DE0D3FEE}"/>
              </a:ext>
            </a:extLst>
          </p:cNvPr>
          <p:cNvSpPr/>
          <p:nvPr/>
        </p:nvSpPr>
        <p:spPr>
          <a:xfrm flipV="1">
            <a:off x="1482587" y="3528736"/>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2"/>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69"/>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7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8"/>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132"/>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31"/>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133" grpId="0" animBg="1"/>
      <p:bldP spid="134" grpId="0" animBg="1"/>
      <p:bldP spid="45" grpId="0"/>
      <p:bldP spid="4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to the simplex method</a:t>
            </a:r>
          </a:p>
        </p:txBody>
      </p:sp>
      <p:sp>
        <p:nvSpPr>
          <p:cNvPr id="3" name="Content Placeholder 2"/>
          <p:cNvSpPr>
            <a:spLocks noGrp="1"/>
          </p:cNvSpPr>
          <p:nvPr>
            <p:ph idx="1"/>
          </p:nvPr>
        </p:nvSpPr>
        <p:spPr>
          <a:xfrm>
            <a:off x="457200" y="1600200"/>
            <a:ext cx="8229600" cy="4964502"/>
          </a:xfrm>
        </p:spPr>
        <p:txBody>
          <a:bodyPr>
            <a:normAutofit lnSpcReduction="10000"/>
          </a:bodyPr>
          <a:lstStyle/>
          <a:p>
            <a:r>
              <a:rPr lang="en-US" dirty="0"/>
              <a:t>All this is very good news!</a:t>
            </a:r>
          </a:p>
          <a:p>
            <a:pPr lvl="1"/>
            <a:r>
              <a:rPr lang="en-US" dirty="0"/>
              <a:t>We know that if an LP has an optimal solution, then there exists an extreme point optimal solution.</a:t>
            </a:r>
          </a:p>
          <a:p>
            <a:pPr lvl="1"/>
            <a:r>
              <a:rPr lang="en-US" dirty="0"/>
              <a:t>It turns out that each </a:t>
            </a:r>
            <a:r>
              <a:rPr lang="en-US" dirty="0">
                <a:solidFill>
                  <a:srgbClr val="FF0000"/>
                </a:solidFill>
              </a:rPr>
              <a:t>basic solution  </a:t>
            </a:r>
            <a:r>
              <a:rPr lang="en-US" dirty="0"/>
              <a:t>of           which is also </a:t>
            </a:r>
            <a:r>
              <a:rPr lang="en-US" b="1" dirty="0">
                <a:solidFill>
                  <a:srgbClr val="FF0000"/>
                </a:solidFill>
              </a:rPr>
              <a:t>feasible</a:t>
            </a:r>
            <a:r>
              <a:rPr lang="en-US" dirty="0"/>
              <a:t> with respect to the non-negativity constraints corresponds to an extreme point of the feasible region.</a:t>
            </a:r>
          </a:p>
          <a:p>
            <a:pPr lvl="1"/>
            <a:r>
              <a:rPr lang="en-US" dirty="0">
                <a:solidFill>
                  <a:srgbClr val="FF0000"/>
                </a:solidFill>
              </a:rPr>
              <a:t>Thus, we have an algebraic method of characterizing the extreme points of the feasible region.</a:t>
            </a:r>
          </a:p>
        </p:txBody>
      </p:sp>
      <p:pic>
        <p:nvPicPr>
          <p:cNvPr id="4" name="Picture 3" descr="txp_fig.png"/>
          <p:cNvPicPr>
            <a:picLocks noChangeAspect="1"/>
          </p:cNvPicPr>
          <p:nvPr>
            <p:custDataLst>
              <p:tags r:id="rId1"/>
            </p:custDataLst>
          </p:nvPr>
        </p:nvPicPr>
        <p:blipFill>
          <a:blip r:embed="rId4" cstate="print">
            <a:lum/>
          </a:blip>
          <a:stretch>
            <a:fillRect/>
          </a:stretch>
        </p:blipFill>
        <p:spPr>
          <a:xfrm>
            <a:off x="6958018" y="3471742"/>
            <a:ext cx="991974" cy="233096"/>
          </a:xfrm>
          <a:prstGeom prst="rect">
            <a:avLst/>
          </a:prstGeom>
        </p:spPr>
      </p:pic>
      <p:sp>
        <p:nvSpPr>
          <p:cNvPr id="5"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Rudimentary algorithm for LP</a:t>
            </a:r>
          </a:p>
        </p:txBody>
      </p:sp>
      <p:sp>
        <p:nvSpPr>
          <p:cNvPr id="3" name="Content Placeholder 2"/>
          <p:cNvSpPr>
            <a:spLocks noGrp="1"/>
          </p:cNvSpPr>
          <p:nvPr>
            <p:ph idx="1"/>
          </p:nvPr>
        </p:nvSpPr>
        <p:spPr>
          <a:xfrm>
            <a:off x="457200" y="1414733"/>
            <a:ext cx="8229600" cy="5253486"/>
          </a:xfrm>
        </p:spPr>
        <p:txBody>
          <a:bodyPr>
            <a:normAutofit fontScale="85000" lnSpcReduction="20000"/>
          </a:bodyPr>
          <a:lstStyle/>
          <a:p>
            <a:r>
              <a:rPr lang="en-US" dirty="0"/>
              <a:t>Enumerate all basic solutions of              and evaluate them one by one.</a:t>
            </a:r>
          </a:p>
          <a:p>
            <a:pPr lvl="1"/>
            <a:r>
              <a:rPr lang="en-US" dirty="0"/>
              <a:t>There are </a:t>
            </a:r>
            <a:r>
              <a:rPr lang="en-US" i="1" dirty="0"/>
              <a:t>at most</a:t>
            </a:r>
            <a:r>
              <a:rPr lang="en-US" dirty="0"/>
              <a:t>       basic solutions.</a:t>
            </a:r>
          </a:p>
          <a:p>
            <a:pPr lvl="1"/>
            <a:r>
              <a:rPr lang="en-US" dirty="0"/>
              <a:t>Some sets of </a:t>
            </a:r>
            <a:r>
              <a:rPr lang="en-US" i="1" dirty="0"/>
              <a:t>m </a:t>
            </a:r>
            <a:r>
              <a:rPr lang="en-US" dirty="0"/>
              <a:t>columns may be </a:t>
            </a:r>
            <a:r>
              <a:rPr lang="en-US" dirty="0">
                <a:solidFill>
                  <a:srgbClr val="FF0000"/>
                </a:solidFill>
              </a:rPr>
              <a:t>linearly dependent</a:t>
            </a:r>
            <a:r>
              <a:rPr lang="en-US" dirty="0"/>
              <a:t>.</a:t>
            </a:r>
          </a:p>
          <a:p>
            <a:pPr lvl="1"/>
            <a:r>
              <a:rPr lang="en-US" dirty="0"/>
              <a:t>Some basic solutions may be infeasible.</a:t>
            </a:r>
          </a:p>
          <a:p>
            <a:pPr lvl="2"/>
            <a:r>
              <a:rPr lang="en-US" dirty="0"/>
              <a:t>This was just illustrated.</a:t>
            </a:r>
          </a:p>
          <a:p>
            <a:pPr lvl="2"/>
            <a:r>
              <a:rPr lang="en-US" dirty="0"/>
              <a:t>Recall that we require all variables to be nonnegative.</a:t>
            </a:r>
          </a:p>
          <a:p>
            <a:pPr lvl="1"/>
            <a:r>
              <a:rPr lang="en-US" i="1" dirty="0"/>
              <a:t>If all basic solutions are infeasible, then we know that the LP instance at hand is infeasible</a:t>
            </a:r>
            <a:r>
              <a:rPr lang="en-US" dirty="0"/>
              <a:t>.</a:t>
            </a:r>
          </a:p>
          <a:p>
            <a:pPr lvl="1"/>
            <a:r>
              <a:rPr lang="en-US" i="1" dirty="0"/>
              <a:t>Unfortunately, there is no clear way of detecting </a:t>
            </a:r>
            <a:r>
              <a:rPr lang="en-US" i="1" dirty="0" err="1"/>
              <a:t>unboundedness</a:t>
            </a:r>
            <a:r>
              <a:rPr lang="en-US" i="1" dirty="0"/>
              <a:t> with this algorithm.</a:t>
            </a:r>
          </a:p>
          <a:p>
            <a:pPr lvl="1"/>
            <a:r>
              <a:rPr lang="en-US" dirty="0"/>
              <a:t>                                                          </a:t>
            </a:r>
          </a:p>
          <a:p>
            <a:pPr lvl="1"/>
            <a:r>
              <a:rPr lang="en-US" i="1" dirty="0"/>
              <a:t>There may be a huge number of basic solutions. This algorithm is not practical for any problem of meaningful size</a:t>
            </a:r>
            <a:r>
              <a:rPr lang="en-US" dirty="0"/>
              <a:t>.</a:t>
            </a:r>
          </a:p>
          <a:p>
            <a:pPr lvl="1"/>
            <a:endParaRPr lang="en-US" dirty="0"/>
          </a:p>
        </p:txBody>
      </p:sp>
      <p:pic>
        <p:nvPicPr>
          <p:cNvPr id="4" name="Picture 3" descr="txp_fig.png"/>
          <p:cNvPicPr>
            <a:picLocks noChangeAspect="1"/>
          </p:cNvPicPr>
          <p:nvPr>
            <p:custDataLst>
              <p:tags r:id="rId1"/>
            </p:custDataLst>
          </p:nvPr>
        </p:nvPicPr>
        <p:blipFill>
          <a:blip r:embed="rId7" cstate="print">
            <a:lum/>
          </a:blip>
          <a:stretch>
            <a:fillRect/>
          </a:stretch>
        </p:blipFill>
        <p:spPr>
          <a:xfrm>
            <a:off x="5331753" y="1485191"/>
            <a:ext cx="991974" cy="233096"/>
          </a:xfrm>
          <a:prstGeom prst="rect">
            <a:avLst/>
          </a:prstGeom>
        </p:spPr>
      </p:pic>
      <p:pic>
        <p:nvPicPr>
          <p:cNvPr id="6" name="Picture 5" descr="txp_fig.png"/>
          <p:cNvPicPr>
            <a:picLocks noChangeAspect="1"/>
          </p:cNvPicPr>
          <p:nvPr>
            <p:custDataLst>
              <p:tags r:id="rId2"/>
            </p:custDataLst>
          </p:nvPr>
        </p:nvPicPr>
        <p:blipFill>
          <a:blip r:embed="rId8" cstate="print">
            <a:lum/>
          </a:blip>
          <a:stretch>
            <a:fillRect/>
          </a:stretch>
        </p:blipFill>
        <p:spPr>
          <a:xfrm>
            <a:off x="3506496" y="2157824"/>
            <a:ext cx="408355" cy="378561"/>
          </a:xfrm>
          <a:prstGeom prst="rect">
            <a:avLst/>
          </a:prstGeom>
        </p:spPr>
      </p:pic>
      <p:pic>
        <p:nvPicPr>
          <p:cNvPr id="8" name="Picture 7" descr="txp_fig.png"/>
          <p:cNvPicPr>
            <a:picLocks noChangeAspect="1"/>
          </p:cNvPicPr>
          <p:nvPr>
            <p:custDataLst>
              <p:tags r:id="rId3"/>
            </p:custDataLst>
          </p:nvPr>
        </p:nvPicPr>
        <p:blipFill>
          <a:blip r:embed="rId9" cstate="print">
            <a:lum/>
          </a:blip>
          <a:stretch>
            <a:fillRect/>
          </a:stretch>
        </p:blipFill>
        <p:spPr>
          <a:xfrm>
            <a:off x="1285016" y="5171511"/>
            <a:ext cx="1927861" cy="438149"/>
          </a:xfrm>
          <a:prstGeom prst="rect">
            <a:avLst/>
          </a:prstGeom>
        </p:spPr>
      </p:pic>
      <p:pic>
        <p:nvPicPr>
          <p:cNvPr id="10" name="Picture 9" descr="txp_fig.png"/>
          <p:cNvPicPr>
            <a:picLocks noChangeAspect="1"/>
          </p:cNvPicPr>
          <p:nvPr>
            <p:custDataLst>
              <p:tags r:id="rId4"/>
            </p:custDataLst>
          </p:nvPr>
        </p:nvPicPr>
        <p:blipFill>
          <a:blip r:embed="rId10" cstate="print">
            <a:lum/>
          </a:blip>
          <a:stretch>
            <a:fillRect/>
          </a:stretch>
        </p:blipFill>
        <p:spPr>
          <a:xfrm>
            <a:off x="3413451" y="5180341"/>
            <a:ext cx="2015490" cy="408355"/>
          </a:xfrm>
          <a:prstGeom prst="rect">
            <a:avLst/>
          </a:prstGeom>
        </p:spPr>
      </p:pic>
      <p:sp>
        <p:nvSpPr>
          <p:cNvPr id="11"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38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Simplex algorithm</a:t>
            </a:r>
          </a:p>
        </p:txBody>
      </p:sp>
      <p:sp>
        <p:nvSpPr>
          <p:cNvPr id="3" name="Content Placeholder 2"/>
          <p:cNvSpPr>
            <a:spLocks noGrp="1"/>
          </p:cNvSpPr>
          <p:nvPr>
            <p:ph idx="1"/>
          </p:nvPr>
        </p:nvSpPr>
        <p:spPr>
          <a:xfrm>
            <a:off x="457200" y="1600200"/>
            <a:ext cx="8229600" cy="4904117"/>
          </a:xfrm>
        </p:spPr>
        <p:txBody>
          <a:bodyPr>
            <a:normAutofit fontScale="92500" lnSpcReduction="20000"/>
          </a:bodyPr>
          <a:lstStyle/>
          <a:p>
            <a:r>
              <a:rPr lang="en-US" dirty="0"/>
              <a:t>The simplex algorithm traverses the basic feasible solutions of the feasible region in an efficient manner.</a:t>
            </a:r>
          </a:p>
          <a:p>
            <a:r>
              <a:rPr lang="en-US" dirty="0"/>
              <a:t>Given an initial basic feasible solution, </a:t>
            </a:r>
          </a:p>
          <a:p>
            <a:pPr lvl="1"/>
            <a:r>
              <a:rPr lang="en-US" dirty="0"/>
              <a:t>The algorithm moves from the current basic feasible solution to a </a:t>
            </a:r>
            <a:r>
              <a:rPr lang="en-US" i="1" dirty="0"/>
              <a:t>neighboring</a:t>
            </a:r>
            <a:r>
              <a:rPr lang="en-US" dirty="0"/>
              <a:t> basic feasible solution.</a:t>
            </a:r>
            <a:endParaRPr lang="en-US" b="1" i="1" dirty="0"/>
          </a:p>
          <a:p>
            <a:pPr lvl="1"/>
            <a:r>
              <a:rPr lang="en-US" dirty="0"/>
              <a:t>The next basic feasible solution does never have a worse objective function value.</a:t>
            </a:r>
          </a:p>
          <a:p>
            <a:pPr lvl="1"/>
            <a:r>
              <a:rPr lang="en-US" dirty="0"/>
              <a:t>The algorithm includes provisions for detecting </a:t>
            </a:r>
            <a:r>
              <a:rPr lang="en-US" dirty="0" err="1"/>
              <a:t>unboundedness</a:t>
            </a:r>
            <a:r>
              <a:rPr lang="en-US" dirty="0"/>
              <a:t>. For an unbounded problem, it identifies an extreme point and a direction along which the objective function is always improved.</a:t>
            </a:r>
          </a:p>
          <a:p>
            <a:pPr lvl="1"/>
            <a:r>
              <a:rPr lang="en-US" dirty="0"/>
              <a:t>It solves an auxiliary LP to detect infeasibility. </a:t>
            </a:r>
          </a:p>
          <a:p>
            <a:pPr lvl="1"/>
            <a:endParaRPr lang="en-US" b="1" dirty="0"/>
          </a:p>
        </p:txBody>
      </p:sp>
      <p:sp>
        <p:nvSpPr>
          <p:cNvPr id="4"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39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6"/>
          <p:cNvSpPr>
            <a:spLocks noGrp="1"/>
          </p:cNvSpPr>
          <p:nvPr>
            <p:ph type="sldNum" sz="quarter" idx="12"/>
          </p:nvPr>
        </p:nvSpPr>
        <p:spPr/>
        <p:txBody>
          <a:bodyPr/>
          <a:lstStyle/>
          <a:p>
            <a:fld id="{0FB7F481-BE5C-4264-A5FA-1B82BF6A79D1}" type="slidenum">
              <a:rPr lang="en-US"/>
              <a:pPr/>
              <a:t>40</a:t>
            </a:fld>
            <a:endParaRPr lang="en-US"/>
          </a:p>
        </p:txBody>
      </p:sp>
      <p:sp>
        <p:nvSpPr>
          <p:cNvPr id="31747" name="Rectangle 3"/>
          <p:cNvSpPr>
            <a:spLocks noGrp="1" noChangeArrowheads="1"/>
          </p:cNvSpPr>
          <p:nvPr>
            <p:ph type="body" sz="half" idx="2"/>
          </p:nvPr>
        </p:nvSpPr>
        <p:spPr>
          <a:xfrm>
            <a:off x="5105400" y="1417638"/>
            <a:ext cx="3962400" cy="5190196"/>
          </a:xfrm>
        </p:spPr>
        <p:txBody>
          <a:bodyPr>
            <a:normAutofit fontScale="92500" lnSpcReduction="10000"/>
          </a:bodyPr>
          <a:lstStyle/>
          <a:p>
            <a:pPr>
              <a:lnSpc>
                <a:spcPct val="90000"/>
              </a:lnSpc>
            </a:pPr>
            <a:r>
              <a:rPr lang="en-US" sz="2400" dirty="0"/>
              <a:t>Locate an initial feasible solution which is a corner point.</a:t>
            </a:r>
          </a:p>
          <a:p>
            <a:pPr>
              <a:lnSpc>
                <a:spcPct val="90000"/>
              </a:lnSpc>
            </a:pPr>
            <a:r>
              <a:rPr lang="en-US" sz="2400" dirty="0"/>
              <a:t>Pick a direction in order to move to an adjacent corner point such that the objective is decreased. </a:t>
            </a:r>
          </a:p>
          <a:p>
            <a:pPr>
              <a:lnSpc>
                <a:spcPct val="90000"/>
              </a:lnSpc>
            </a:pPr>
            <a:r>
              <a:rPr lang="en-US" sz="2400" dirty="0"/>
              <a:t>Continue until optimality or </a:t>
            </a:r>
            <a:r>
              <a:rPr lang="en-US" sz="2400" dirty="0" err="1"/>
              <a:t>unboundedness</a:t>
            </a:r>
            <a:r>
              <a:rPr lang="en-US" sz="2400" dirty="0"/>
              <a:t> is proven.</a:t>
            </a:r>
          </a:p>
          <a:p>
            <a:pPr>
              <a:lnSpc>
                <a:spcPct val="90000"/>
              </a:lnSpc>
            </a:pPr>
            <a:r>
              <a:rPr lang="en-US" sz="2400" dirty="0">
                <a:solidFill>
                  <a:srgbClr val="FF0000"/>
                </a:solidFill>
              </a:rPr>
              <a:t>At the optimal solution </a:t>
            </a:r>
            <a:r>
              <a:rPr lang="en-US" sz="2400" i="1" dirty="0">
                <a:solidFill>
                  <a:srgbClr val="FF0000"/>
                </a:solidFill>
              </a:rPr>
              <a:t>x</a:t>
            </a:r>
            <a:r>
              <a:rPr lang="en-US" sz="2400" baseline="30000" dirty="0">
                <a:solidFill>
                  <a:srgbClr val="FF0000"/>
                </a:solidFill>
              </a:rPr>
              <a:t>*</a:t>
            </a:r>
            <a:r>
              <a:rPr lang="en-US" sz="2400" dirty="0">
                <a:solidFill>
                  <a:srgbClr val="FF0000"/>
                </a:solidFill>
              </a:rPr>
              <a:t>, there is no way to improve the objective function value without leaving the feasible region.</a:t>
            </a:r>
            <a:endParaRPr lang="en-US" sz="2400" dirty="0"/>
          </a:p>
          <a:p>
            <a:pPr lvl="1">
              <a:lnSpc>
                <a:spcPct val="90000"/>
              </a:lnSpc>
            </a:pPr>
            <a:r>
              <a:rPr lang="en-US" sz="2000" dirty="0"/>
              <a:t>This is a necessary and sufficient condition for </a:t>
            </a:r>
            <a:r>
              <a:rPr lang="en-US" sz="2000" i="1" dirty="0"/>
              <a:t>x</a:t>
            </a:r>
            <a:r>
              <a:rPr lang="en-US" sz="2000" baseline="30000" dirty="0"/>
              <a:t>*</a:t>
            </a:r>
            <a:r>
              <a:rPr lang="en-US" sz="2000" dirty="0"/>
              <a:t> to be optimal.</a:t>
            </a:r>
          </a:p>
          <a:p>
            <a:pPr>
              <a:lnSpc>
                <a:spcPct val="90000"/>
              </a:lnSpc>
            </a:pPr>
            <a:endParaRPr lang="en-US" sz="2400" dirty="0"/>
          </a:p>
        </p:txBody>
      </p:sp>
      <p:sp>
        <p:nvSpPr>
          <p:cNvPr id="31748" name="Line 4"/>
          <p:cNvSpPr>
            <a:spLocks noChangeShapeType="1"/>
          </p:cNvSpPr>
          <p:nvPr/>
        </p:nvSpPr>
        <p:spPr bwMode="auto">
          <a:xfrm flipV="1">
            <a:off x="914400" y="2819400"/>
            <a:ext cx="0" cy="2590800"/>
          </a:xfrm>
          <a:prstGeom prst="line">
            <a:avLst/>
          </a:prstGeom>
          <a:noFill/>
          <a:ln w="9525">
            <a:solidFill>
              <a:schemeClr val="tx1"/>
            </a:solidFill>
            <a:round/>
            <a:headEnd/>
            <a:tailEnd type="triangle" w="med" len="med"/>
          </a:ln>
          <a:effectLst/>
        </p:spPr>
        <p:txBody>
          <a:bodyPr/>
          <a:lstStyle/>
          <a:p>
            <a:endParaRPr lang="en-US"/>
          </a:p>
        </p:txBody>
      </p:sp>
      <p:sp>
        <p:nvSpPr>
          <p:cNvPr id="31749" name="Line 5"/>
          <p:cNvSpPr>
            <a:spLocks noChangeShapeType="1"/>
          </p:cNvSpPr>
          <p:nvPr/>
        </p:nvSpPr>
        <p:spPr bwMode="auto">
          <a:xfrm>
            <a:off x="914400" y="5410200"/>
            <a:ext cx="4724400" cy="0"/>
          </a:xfrm>
          <a:prstGeom prst="line">
            <a:avLst/>
          </a:prstGeom>
          <a:noFill/>
          <a:ln w="9525">
            <a:solidFill>
              <a:schemeClr val="tx1"/>
            </a:solidFill>
            <a:round/>
            <a:headEnd/>
            <a:tailEnd type="triangle" w="med" len="med"/>
          </a:ln>
          <a:effectLst/>
        </p:spPr>
        <p:txBody>
          <a:bodyPr/>
          <a:lstStyle/>
          <a:p>
            <a:endParaRPr lang="en-US"/>
          </a:p>
        </p:txBody>
      </p:sp>
      <p:sp>
        <p:nvSpPr>
          <p:cNvPr id="31750" name="Line 6"/>
          <p:cNvSpPr>
            <a:spLocks noChangeShapeType="1"/>
          </p:cNvSpPr>
          <p:nvPr/>
        </p:nvSpPr>
        <p:spPr bwMode="auto">
          <a:xfrm>
            <a:off x="457200" y="2971800"/>
            <a:ext cx="3810000" cy="762000"/>
          </a:xfrm>
          <a:prstGeom prst="line">
            <a:avLst/>
          </a:prstGeom>
          <a:noFill/>
          <a:ln w="9525">
            <a:solidFill>
              <a:schemeClr val="tx1"/>
            </a:solidFill>
            <a:round/>
            <a:headEnd/>
            <a:tailEnd/>
          </a:ln>
          <a:effectLst/>
        </p:spPr>
        <p:txBody>
          <a:bodyPr/>
          <a:lstStyle/>
          <a:p>
            <a:endParaRPr lang="en-US"/>
          </a:p>
        </p:txBody>
      </p:sp>
      <p:sp>
        <p:nvSpPr>
          <p:cNvPr id="31751" name="Line 7"/>
          <p:cNvSpPr>
            <a:spLocks noChangeShapeType="1"/>
          </p:cNvSpPr>
          <p:nvPr/>
        </p:nvSpPr>
        <p:spPr bwMode="auto">
          <a:xfrm flipV="1">
            <a:off x="609600" y="2895600"/>
            <a:ext cx="1828800" cy="1066800"/>
          </a:xfrm>
          <a:prstGeom prst="line">
            <a:avLst/>
          </a:prstGeom>
          <a:noFill/>
          <a:ln w="9525">
            <a:solidFill>
              <a:schemeClr val="tx1"/>
            </a:solidFill>
            <a:round/>
            <a:headEnd/>
            <a:tailEnd/>
          </a:ln>
          <a:effectLst/>
        </p:spPr>
        <p:txBody>
          <a:bodyPr/>
          <a:lstStyle/>
          <a:p>
            <a:endParaRPr lang="en-US"/>
          </a:p>
        </p:txBody>
      </p:sp>
      <p:sp>
        <p:nvSpPr>
          <p:cNvPr id="31752" name="Line 8"/>
          <p:cNvSpPr>
            <a:spLocks noChangeShapeType="1"/>
          </p:cNvSpPr>
          <p:nvPr/>
        </p:nvSpPr>
        <p:spPr bwMode="auto">
          <a:xfrm>
            <a:off x="3276600" y="2971800"/>
            <a:ext cx="2362200" cy="2743200"/>
          </a:xfrm>
          <a:prstGeom prst="line">
            <a:avLst/>
          </a:prstGeom>
          <a:noFill/>
          <a:ln w="9525">
            <a:solidFill>
              <a:schemeClr val="tx1"/>
            </a:solidFill>
            <a:round/>
            <a:headEnd/>
            <a:tailEnd/>
          </a:ln>
          <a:effectLst/>
        </p:spPr>
        <p:txBody>
          <a:bodyPr/>
          <a:lstStyle/>
          <a:p>
            <a:endParaRPr lang="en-US"/>
          </a:p>
        </p:txBody>
      </p:sp>
      <p:sp>
        <p:nvSpPr>
          <p:cNvPr id="31762" name="Text Box 18"/>
          <p:cNvSpPr txBox="1">
            <a:spLocks noChangeArrowheads="1"/>
          </p:cNvSpPr>
          <p:nvPr/>
        </p:nvSpPr>
        <p:spPr bwMode="auto">
          <a:xfrm>
            <a:off x="3886200" y="3367088"/>
            <a:ext cx="381000" cy="366712"/>
          </a:xfrm>
          <a:prstGeom prst="rect">
            <a:avLst/>
          </a:prstGeom>
          <a:noFill/>
          <a:ln w="9525">
            <a:noFill/>
            <a:miter lim="800000"/>
            <a:headEnd/>
            <a:tailEnd/>
          </a:ln>
          <a:effectLst/>
        </p:spPr>
        <p:txBody>
          <a:bodyPr>
            <a:spAutoFit/>
          </a:bodyPr>
          <a:lstStyle/>
          <a:p>
            <a:pPr>
              <a:spcBef>
                <a:spcPct val="50000"/>
              </a:spcBef>
            </a:pPr>
            <a:r>
              <a:rPr lang="en-US" i="1">
                <a:solidFill>
                  <a:srgbClr val="CC3300"/>
                </a:solidFill>
              </a:rPr>
              <a:t>x</a:t>
            </a:r>
            <a:r>
              <a:rPr lang="en-US" i="1" baseline="30000">
                <a:solidFill>
                  <a:srgbClr val="CC3300"/>
                </a:solidFill>
              </a:rPr>
              <a:t>*</a:t>
            </a:r>
          </a:p>
        </p:txBody>
      </p:sp>
      <p:sp>
        <p:nvSpPr>
          <p:cNvPr id="31765" name="Line 21"/>
          <p:cNvSpPr>
            <a:spLocks noChangeShapeType="1"/>
          </p:cNvSpPr>
          <p:nvPr/>
        </p:nvSpPr>
        <p:spPr bwMode="auto">
          <a:xfrm>
            <a:off x="76200" y="4954588"/>
            <a:ext cx="2255838" cy="1765300"/>
          </a:xfrm>
          <a:prstGeom prst="line">
            <a:avLst/>
          </a:prstGeom>
          <a:noFill/>
          <a:ln w="9525">
            <a:solidFill>
              <a:schemeClr val="tx1"/>
            </a:solidFill>
            <a:prstDash val="sysDot"/>
            <a:round/>
            <a:headEnd/>
            <a:tailEnd/>
          </a:ln>
          <a:effectLst/>
        </p:spPr>
        <p:txBody>
          <a:bodyPr/>
          <a:lstStyle/>
          <a:p>
            <a:endParaRPr lang="en-US"/>
          </a:p>
        </p:txBody>
      </p:sp>
      <p:grpSp>
        <p:nvGrpSpPr>
          <p:cNvPr id="2" name="Group 29"/>
          <p:cNvGrpSpPr>
            <a:grpSpLocks/>
          </p:cNvGrpSpPr>
          <p:nvPr/>
        </p:nvGrpSpPr>
        <p:grpSpPr bwMode="auto">
          <a:xfrm>
            <a:off x="914400" y="5167313"/>
            <a:ext cx="182563" cy="242887"/>
            <a:chOff x="576" y="3255"/>
            <a:chExt cx="115" cy="153"/>
          </a:xfrm>
        </p:grpSpPr>
        <p:sp>
          <p:nvSpPr>
            <p:cNvPr id="31763" name="Oval 19"/>
            <p:cNvSpPr>
              <a:spLocks noChangeArrowheads="1"/>
            </p:cNvSpPr>
            <p:nvPr/>
          </p:nvSpPr>
          <p:spPr bwMode="auto">
            <a:xfrm>
              <a:off x="576" y="3360"/>
              <a:ext cx="48" cy="48"/>
            </a:xfrm>
            <a:prstGeom prst="ellipse">
              <a:avLst/>
            </a:prstGeom>
            <a:solidFill>
              <a:srgbClr val="CC3300"/>
            </a:solidFill>
            <a:ln w="9525">
              <a:solidFill>
                <a:schemeClr val="tx1"/>
              </a:solidFill>
              <a:round/>
              <a:headEnd/>
              <a:tailEnd/>
            </a:ln>
            <a:effectLst/>
          </p:spPr>
          <p:txBody>
            <a:bodyPr wrap="none" anchor="ctr"/>
            <a:lstStyle/>
            <a:p>
              <a:pPr algn="ctr"/>
              <a:endParaRPr lang="tr-TR"/>
            </a:p>
          </p:txBody>
        </p:sp>
        <p:sp>
          <p:nvSpPr>
            <p:cNvPr id="31766" name="Line 22"/>
            <p:cNvSpPr>
              <a:spLocks noChangeShapeType="1"/>
            </p:cNvSpPr>
            <p:nvPr/>
          </p:nvSpPr>
          <p:spPr bwMode="auto">
            <a:xfrm flipV="1">
              <a:off x="576" y="3255"/>
              <a:ext cx="115" cy="153"/>
            </a:xfrm>
            <a:prstGeom prst="line">
              <a:avLst/>
            </a:prstGeom>
            <a:noFill/>
            <a:ln w="9525">
              <a:solidFill>
                <a:schemeClr val="tx1"/>
              </a:solidFill>
              <a:round/>
              <a:headEnd/>
              <a:tailEnd type="triangle" w="med" len="med"/>
            </a:ln>
            <a:effectLst/>
          </p:spPr>
          <p:txBody>
            <a:bodyPr/>
            <a:lstStyle/>
            <a:p>
              <a:endParaRPr lang="en-US"/>
            </a:p>
          </p:txBody>
        </p:sp>
      </p:grpSp>
      <p:sp>
        <p:nvSpPr>
          <p:cNvPr id="31767" name="Line 23"/>
          <p:cNvSpPr>
            <a:spLocks noChangeShapeType="1"/>
          </p:cNvSpPr>
          <p:nvPr/>
        </p:nvSpPr>
        <p:spPr bwMode="auto">
          <a:xfrm flipV="1">
            <a:off x="76200" y="4724400"/>
            <a:ext cx="152400" cy="230188"/>
          </a:xfrm>
          <a:prstGeom prst="line">
            <a:avLst/>
          </a:prstGeom>
          <a:noFill/>
          <a:ln w="9525">
            <a:solidFill>
              <a:schemeClr val="tx1"/>
            </a:solidFill>
            <a:round/>
            <a:headEnd/>
            <a:tailEnd type="triangle" w="med" len="med"/>
          </a:ln>
          <a:effectLst/>
        </p:spPr>
        <p:txBody>
          <a:bodyPr/>
          <a:lstStyle/>
          <a:p>
            <a:endParaRPr lang="en-US"/>
          </a:p>
        </p:txBody>
      </p:sp>
      <p:sp>
        <p:nvSpPr>
          <p:cNvPr id="31768" name="Text Box 24"/>
          <p:cNvSpPr txBox="1">
            <a:spLocks noChangeArrowheads="1"/>
          </p:cNvSpPr>
          <p:nvPr/>
        </p:nvSpPr>
        <p:spPr bwMode="auto">
          <a:xfrm>
            <a:off x="2473325" y="6411913"/>
            <a:ext cx="422275" cy="366712"/>
          </a:xfrm>
          <a:prstGeom prst="rect">
            <a:avLst/>
          </a:prstGeom>
          <a:noFill/>
          <a:ln w="9525">
            <a:noFill/>
            <a:miter lim="800000"/>
            <a:headEnd/>
            <a:tailEnd/>
          </a:ln>
          <a:effectLst/>
        </p:spPr>
        <p:txBody>
          <a:bodyPr>
            <a:spAutoFit/>
          </a:bodyPr>
          <a:lstStyle/>
          <a:p>
            <a:pPr>
              <a:spcBef>
                <a:spcPct val="50000"/>
              </a:spcBef>
            </a:pPr>
            <a:r>
              <a:rPr lang="en-US" i="1"/>
              <a:t>-c</a:t>
            </a:r>
          </a:p>
        </p:txBody>
      </p:sp>
      <p:sp>
        <p:nvSpPr>
          <p:cNvPr id="31774" name="Line 30"/>
          <p:cNvSpPr>
            <a:spLocks noChangeShapeType="1"/>
          </p:cNvSpPr>
          <p:nvPr/>
        </p:nvSpPr>
        <p:spPr bwMode="auto">
          <a:xfrm flipV="1">
            <a:off x="914400" y="3640348"/>
            <a:ext cx="228600" cy="152400"/>
          </a:xfrm>
          <a:prstGeom prst="line">
            <a:avLst/>
          </a:prstGeom>
          <a:noFill/>
          <a:ln w="9525">
            <a:solidFill>
              <a:schemeClr val="tx1"/>
            </a:solidFill>
            <a:round/>
            <a:headEnd/>
            <a:tailEnd type="triangle" w="med" len="med"/>
          </a:ln>
          <a:effectLst/>
        </p:spPr>
        <p:txBody>
          <a:bodyPr/>
          <a:lstStyle/>
          <a:p>
            <a:endParaRPr lang="en-US"/>
          </a:p>
        </p:txBody>
      </p:sp>
      <p:sp>
        <p:nvSpPr>
          <p:cNvPr id="31775" name="Line 31"/>
          <p:cNvSpPr>
            <a:spLocks noChangeShapeType="1"/>
          </p:cNvSpPr>
          <p:nvPr/>
        </p:nvSpPr>
        <p:spPr bwMode="auto">
          <a:xfrm>
            <a:off x="1828800" y="3250722"/>
            <a:ext cx="381000" cy="76200"/>
          </a:xfrm>
          <a:prstGeom prst="line">
            <a:avLst/>
          </a:prstGeom>
          <a:noFill/>
          <a:ln w="9525">
            <a:solidFill>
              <a:schemeClr val="tx1"/>
            </a:solidFill>
            <a:round/>
            <a:headEnd/>
            <a:tailEnd type="triangle" w="med" len="med"/>
          </a:ln>
          <a:effectLst/>
        </p:spPr>
        <p:txBody>
          <a:bodyPr/>
          <a:lstStyle/>
          <a:p>
            <a:endParaRPr lang="en-US"/>
          </a:p>
        </p:txBody>
      </p:sp>
      <p:sp>
        <p:nvSpPr>
          <p:cNvPr id="31776" name="Line 32"/>
          <p:cNvSpPr>
            <a:spLocks noChangeShapeType="1"/>
          </p:cNvSpPr>
          <p:nvPr/>
        </p:nvSpPr>
        <p:spPr bwMode="auto">
          <a:xfrm flipH="1">
            <a:off x="609600" y="3810000"/>
            <a:ext cx="304800" cy="0"/>
          </a:xfrm>
          <a:prstGeom prst="line">
            <a:avLst/>
          </a:prstGeom>
          <a:noFill/>
          <a:ln w="9525">
            <a:solidFill>
              <a:schemeClr val="tx1"/>
            </a:solidFill>
            <a:round/>
            <a:headEnd/>
            <a:tailEnd type="triangle" w="med" len="med"/>
          </a:ln>
          <a:effectLst/>
        </p:spPr>
        <p:txBody>
          <a:bodyPr/>
          <a:lstStyle/>
          <a:p>
            <a:endParaRPr lang="en-US"/>
          </a:p>
        </p:txBody>
      </p:sp>
      <p:sp>
        <p:nvSpPr>
          <p:cNvPr id="31777" name="Line 33"/>
          <p:cNvSpPr>
            <a:spLocks noChangeShapeType="1"/>
          </p:cNvSpPr>
          <p:nvPr/>
        </p:nvSpPr>
        <p:spPr bwMode="auto">
          <a:xfrm flipH="1" flipV="1">
            <a:off x="762000" y="3581400"/>
            <a:ext cx="152400" cy="228600"/>
          </a:xfrm>
          <a:prstGeom prst="line">
            <a:avLst/>
          </a:prstGeom>
          <a:noFill/>
          <a:ln w="9525">
            <a:solidFill>
              <a:schemeClr val="tx1"/>
            </a:solidFill>
            <a:round/>
            <a:headEnd/>
            <a:tailEnd type="triangle" w="med" len="med"/>
          </a:ln>
          <a:effectLst/>
        </p:spPr>
        <p:txBody>
          <a:bodyPr/>
          <a:lstStyle/>
          <a:p>
            <a:endParaRPr lang="en-US"/>
          </a:p>
        </p:txBody>
      </p:sp>
      <p:grpSp>
        <p:nvGrpSpPr>
          <p:cNvPr id="3" name="Group 37"/>
          <p:cNvGrpSpPr>
            <a:grpSpLocks/>
          </p:cNvGrpSpPr>
          <p:nvPr/>
        </p:nvGrpSpPr>
        <p:grpSpPr bwMode="auto">
          <a:xfrm>
            <a:off x="1600200" y="2895600"/>
            <a:ext cx="304800" cy="381000"/>
            <a:chOff x="1296" y="1632"/>
            <a:chExt cx="192" cy="240"/>
          </a:xfrm>
        </p:grpSpPr>
        <p:sp>
          <p:nvSpPr>
            <p:cNvPr id="31779" name="Line 35"/>
            <p:cNvSpPr>
              <a:spLocks noChangeShapeType="1"/>
            </p:cNvSpPr>
            <p:nvPr/>
          </p:nvSpPr>
          <p:spPr bwMode="auto">
            <a:xfrm flipH="1" flipV="1">
              <a:off x="1296" y="1680"/>
              <a:ext cx="144" cy="192"/>
            </a:xfrm>
            <a:prstGeom prst="line">
              <a:avLst/>
            </a:prstGeom>
            <a:noFill/>
            <a:ln w="9525">
              <a:solidFill>
                <a:schemeClr val="tx1"/>
              </a:solidFill>
              <a:round/>
              <a:headEnd/>
              <a:tailEnd type="triangle" w="med" len="med"/>
            </a:ln>
            <a:effectLst/>
          </p:spPr>
          <p:txBody>
            <a:bodyPr/>
            <a:lstStyle/>
            <a:p>
              <a:endParaRPr lang="en-US"/>
            </a:p>
          </p:txBody>
        </p:sp>
        <p:sp>
          <p:nvSpPr>
            <p:cNvPr id="31780" name="Line 36"/>
            <p:cNvSpPr>
              <a:spLocks noChangeShapeType="1"/>
            </p:cNvSpPr>
            <p:nvPr/>
          </p:nvSpPr>
          <p:spPr bwMode="auto">
            <a:xfrm flipV="1">
              <a:off x="1440" y="1632"/>
              <a:ext cx="48" cy="240"/>
            </a:xfrm>
            <a:prstGeom prst="line">
              <a:avLst/>
            </a:prstGeom>
            <a:noFill/>
            <a:ln w="9525">
              <a:solidFill>
                <a:schemeClr val="tx1"/>
              </a:solidFill>
              <a:round/>
              <a:headEnd/>
              <a:tailEnd type="triangle" w="med" len="med"/>
            </a:ln>
            <a:effectLst/>
          </p:spPr>
          <p:txBody>
            <a:bodyPr/>
            <a:lstStyle/>
            <a:p>
              <a:endParaRPr lang="en-US"/>
            </a:p>
          </p:txBody>
        </p:sp>
      </p:grpSp>
      <p:grpSp>
        <p:nvGrpSpPr>
          <p:cNvPr id="4" name="Group 40"/>
          <p:cNvGrpSpPr>
            <a:grpSpLocks/>
          </p:cNvGrpSpPr>
          <p:nvPr/>
        </p:nvGrpSpPr>
        <p:grpSpPr bwMode="auto">
          <a:xfrm>
            <a:off x="3810000" y="3352800"/>
            <a:ext cx="304800" cy="304800"/>
            <a:chOff x="2160" y="1776"/>
            <a:chExt cx="192" cy="192"/>
          </a:xfrm>
        </p:grpSpPr>
        <p:sp>
          <p:nvSpPr>
            <p:cNvPr id="31782" name="Line 38"/>
            <p:cNvSpPr>
              <a:spLocks noChangeShapeType="1"/>
            </p:cNvSpPr>
            <p:nvPr/>
          </p:nvSpPr>
          <p:spPr bwMode="auto">
            <a:xfrm flipV="1">
              <a:off x="2160" y="1824"/>
              <a:ext cx="192" cy="144"/>
            </a:xfrm>
            <a:prstGeom prst="line">
              <a:avLst/>
            </a:prstGeom>
            <a:noFill/>
            <a:ln w="9525">
              <a:solidFill>
                <a:schemeClr val="tx1"/>
              </a:solidFill>
              <a:round/>
              <a:headEnd/>
              <a:tailEnd type="triangle" w="med" len="med"/>
            </a:ln>
            <a:effectLst/>
          </p:spPr>
          <p:txBody>
            <a:bodyPr/>
            <a:lstStyle/>
            <a:p>
              <a:endParaRPr lang="en-US"/>
            </a:p>
          </p:txBody>
        </p:sp>
        <p:sp>
          <p:nvSpPr>
            <p:cNvPr id="31783" name="Line 39"/>
            <p:cNvSpPr>
              <a:spLocks noChangeShapeType="1"/>
            </p:cNvSpPr>
            <p:nvPr/>
          </p:nvSpPr>
          <p:spPr bwMode="auto">
            <a:xfrm flipV="1">
              <a:off x="2160" y="1776"/>
              <a:ext cx="48" cy="192"/>
            </a:xfrm>
            <a:prstGeom prst="line">
              <a:avLst/>
            </a:prstGeom>
            <a:noFill/>
            <a:ln w="9525">
              <a:solidFill>
                <a:schemeClr val="tx1"/>
              </a:solidFill>
              <a:round/>
              <a:headEnd/>
              <a:tailEnd type="triangle" w="med" len="med"/>
            </a:ln>
            <a:effectLst/>
          </p:spPr>
          <p:txBody>
            <a:bodyPr/>
            <a:lstStyle/>
            <a:p>
              <a:endParaRPr lang="en-US"/>
            </a:p>
          </p:txBody>
        </p:sp>
      </p:grpSp>
      <p:sp>
        <p:nvSpPr>
          <p:cNvPr id="31785" name="Line 41"/>
          <p:cNvSpPr>
            <a:spLocks noChangeShapeType="1"/>
          </p:cNvSpPr>
          <p:nvPr/>
        </p:nvSpPr>
        <p:spPr bwMode="auto">
          <a:xfrm flipV="1">
            <a:off x="2362200" y="6477000"/>
            <a:ext cx="152400" cy="230188"/>
          </a:xfrm>
          <a:prstGeom prst="line">
            <a:avLst/>
          </a:prstGeom>
          <a:noFill/>
          <a:ln w="9525">
            <a:solidFill>
              <a:schemeClr val="tx1"/>
            </a:solidFill>
            <a:round/>
            <a:headEnd/>
            <a:tailEnd type="triangle" w="med" len="med"/>
          </a:ln>
          <a:effectLst/>
        </p:spPr>
        <p:txBody>
          <a:bodyPr/>
          <a:lstStyle/>
          <a:p>
            <a:endParaRPr lang="en-US"/>
          </a:p>
        </p:txBody>
      </p:sp>
      <p:sp>
        <p:nvSpPr>
          <p:cNvPr id="29" name="Title 28"/>
          <p:cNvSpPr>
            <a:spLocks noGrp="1"/>
          </p:cNvSpPr>
          <p:nvPr>
            <p:ph type="title"/>
          </p:nvPr>
        </p:nvSpPr>
        <p:spPr/>
        <p:txBody>
          <a:bodyPr vert="horz" lIns="91440" tIns="45720" rIns="91440" bIns="45720" rtlCol="0" anchor="ctr">
            <a:normAutofit/>
          </a:bodyPr>
          <a:lstStyle/>
          <a:p>
            <a:pPr algn="l"/>
            <a:r>
              <a:rPr lang="en-US" sz="3200" b="1" dirty="0"/>
              <a:t>The geometrical illustration of the simplex method</a:t>
            </a:r>
          </a:p>
        </p:txBody>
      </p:sp>
      <p:sp>
        <p:nvSpPr>
          <p:cNvPr id="33" name="Line 28"/>
          <p:cNvSpPr>
            <a:spLocks noChangeShapeType="1"/>
          </p:cNvSpPr>
          <p:nvPr/>
        </p:nvSpPr>
        <p:spPr bwMode="auto">
          <a:xfrm flipH="1" flipV="1">
            <a:off x="533400" y="5410200"/>
            <a:ext cx="381000" cy="0"/>
          </a:xfrm>
          <a:prstGeom prst="line">
            <a:avLst/>
          </a:prstGeom>
          <a:noFill/>
          <a:ln w="9525">
            <a:solidFill>
              <a:schemeClr val="tx1"/>
            </a:solidFill>
            <a:round/>
            <a:headEnd/>
            <a:tailEnd type="triangle" w="med" len="med"/>
          </a:ln>
          <a:effectLst/>
        </p:spPr>
        <p:txBody>
          <a:bodyPr/>
          <a:lstStyle/>
          <a:p>
            <a:endParaRPr lang="en-US"/>
          </a:p>
        </p:txBody>
      </p:sp>
      <p:sp>
        <p:nvSpPr>
          <p:cNvPr id="34" name="Line 28"/>
          <p:cNvSpPr>
            <a:spLocks noChangeShapeType="1"/>
          </p:cNvSpPr>
          <p:nvPr/>
        </p:nvSpPr>
        <p:spPr bwMode="auto">
          <a:xfrm flipH="1">
            <a:off x="914400" y="5410200"/>
            <a:ext cx="0" cy="381000"/>
          </a:xfrm>
          <a:prstGeom prst="line">
            <a:avLst/>
          </a:prstGeom>
          <a:noFill/>
          <a:ln w="9525">
            <a:solidFill>
              <a:schemeClr val="tx1"/>
            </a:solidFill>
            <a:round/>
            <a:headEnd/>
            <a:tailEnd type="triangle" w="med" len="med"/>
          </a:ln>
          <a:effectLst/>
        </p:spPr>
        <p:txBody>
          <a:bodyPr/>
          <a:lstStyle/>
          <a:p>
            <a:endParaRPr lang="en-US"/>
          </a:p>
        </p:txBody>
      </p:sp>
      <p:sp>
        <p:nvSpPr>
          <p:cNvPr id="35" name="Content Placeholder 2"/>
          <p:cNvSpPr>
            <a:spLocks noGrp="1"/>
          </p:cNvSpPr>
          <p:nvPr>
            <p:ph idx="1"/>
          </p:nvPr>
        </p:nvSpPr>
        <p:spPr>
          <a:xfrm>
            <a:off x="1233890" y="3840622"/>
            <a:ext cx="3095740" cy="1608462"/>
          </a:xfrm>
        </p:spPr>
        <p:txBody>
          <a:bodyPr>
            <a:normAutofit fontScale="70000" lnSpcReduction="20000"/>
          </a:bodyPr>
          <a:lstStyle/>
          <a:p>
            <a:pPr>
              <a:buNone/>
            </a:pPr>
            <a:r>
              <a:rPr lang="en-US" dirty="0"/>
              <a:t>	If the direction picked makes an acute angle with a normal of a constraint, then we move out of the feasible region.</a:t>
            </a:r>
            <a:endParaRPr lang="en-US" dirty="0">
              <a:solidFill>
                <a:srgbClr val="FF0000"/>
              </a:solidFill>
            </a:endParaRPr>
          </a:p>
        </p:txBody>
      </p:sp>
      <p:sp>
        <p:nvSpPr>
          <p:cNvPr id="36" name="Line 28"/>
          <p:cNvSpPr>
            <a:spLocks noChangeShapeType="1"/>
          </p:cNvSpPr>
          <p:nvPr/>
        </p:nvSpPr>
        <p:spPr bwMode="auto">
          <a:xfrm flipV="1">
            <a:off x="912562" y="4924538"/>
            <a:ext cx="1836" cy="483824"/>
          </a:xfrm>
          <a:prstGeom prst="line">
            <a:avLst/>
          </a:prstGeom>
          <a:noFill/>
          <a:ln w="9525">
            <a:solidFill>
              <a:schemeClr val="tx1"/>
            </a:solidFill>
            <a:round/>
            <a:headEnd/>
            <a:tailEnd type="triangle" w="med" len="me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4.16667E-6 -1.70483E-6 L -4.16667E-6 -0.23317 " pathEditMode="relative" ptsTypes="AA">
                                      <p:cBhvr>
                                        <p:cTn id="6" dur="2000" fill="hold"/>
                                        <p:tgtEl>
                                          <p:spTgt spid="2"/>
                                        </p:tgtEl>
                                        <p:attrNameLst>
                                          <p:attrName>ppt_x</p:attrName>
                                          <p:attrName>ppt_y</p:attrName>
                                        </p:attrNameLst>
                                      </p:cBhvr>
                                    </p:animMotion>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7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nodeType="clickEffect">
                                  <p:stCondLst>
                                    <p:cond delay="0"/>
                                  </p:stCondLst>
                                  <p:childTnLst>
                                    <p:animMotion origin="layout" path="M -4.16667E-6 -0.23317 L 0.1 -0.31089 " pathEditMode="relative" rAng="0" ptsTypes="AA">
                                      <p:cBhvr>
                                        <p:cTn id="20" dur="2000" fill="hold"/>
                                        <p:tgtEl>
                                          <p:spTgt spid="2"/>
                                        </p:tgtEl>
                                        <p:attrNameLst>
                                          <p:attrName>ppt_x</p:attrName>
                                          <p:attrName>ppt_y</p:attrName>
                                        </p:attrNameLst>
                                      </p:cBhvr>
                                      <p:rCtr x="0" y="0"/>
                                    </p:animMotion>
                                  </p:childTnLst>
                                </p:cTn>
                              </p:par>
                              <p:par>
                                <p:cTn id="21" presetID="1" presetClass="entr" presetSubtype="0" fill="hold" grpId="0" nodeType="withEffect">
                                  <p:stCondLst>
                                    <p:cond delay="0"/>
                                  </p:stCondLst>
                                  <p:childTnLst>
                                    <p:set>
                                      <p:cBhvr>
                                        <p:cTn id="22" dur="1" fill="hold">
                                          <p:stCondLst>
                                            <p:cond delay="0"/>
                                          </p:stCondLst>
                                        </p:cTn>
                                        <p:tgtEl>
                                          <p:spTgt spid="317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nodeType="clickEffect">
                                  <p:stCondLst>
                                    <p:cond delay="0"/>
                                  </p:stCondLst>
                                  <p:childTnLst>
                                    <p:animMotion origin="layout" path="M 0.1 -0.31089 L 0.31667 -0.25538 " pathEditMode="relative" ptsTypes="AA">
                                      <p:cBhvr>
                                        <p:cTn id="30" dur="2000" fill="hold"/>
                                        <p:tgtEl>
                                          <p:spTgt spid="2"/>
                                        </p:tgtEl>
                                        <p:attrNameLst>
                                          <p:attrName>ppt_x</p:attrName>
                                          <p:attrName>ppt_y</p:attrName>
                                        </p:attrNameLst>
                                      </p:cBhvr>
                                    </p:animMotion>
                                  </p:childTnLst>
                                </p:cTn>
                              </p:par>
                              <p:par>
                                <p:cTn id="31" presetID="1" presetClass="entr" presetSubtype="0" fill="hold" grpId="0" nodeType="withEffect">
                                  <p:stCondLst>
                                    <p:cond delay="0"/>
                                  </p:stCondLst>
                                  <p:childTnLst>
                                    <p:set>
                                      <p:cBhvr>
                                        <p:cTn id="32" dur="1" fill="hold">
                                          <p:stCondLst>
                                            <p:cond delay="0"/>
                                          </p:stCondLst>
                                        </p:cTn>
                                        <p:tgtEl>
                                          <p:spTgt spid="3177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176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1747">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747">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7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62" grpId="0"/>
      <p:bldP spid="31774" grpId="0" animBg="1"/>
      <p:bldP spid="31775" grpId="0" animBg="1"/>
      <p:bldP spid="31776" grpId="0" animBg="1"/>
      <p:bldP spid="31777" grpId="0" animBg="1"/>
      <p:bldP spid="3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Simplex algorithm</a:t>
            </a:r>
          </a:p>
        </p:txBody>
      </p:sp>
      <p:sp>
        <p:nvSpPr>
          <p:cNvPr id="3" name="Content Placeholder 2"/>
          <p:cNvSpPr>
            <a:spLocks noGrp="1"/>
          </p:cNvSpPr>
          <p:nvPr>
            <p:ph idx="1"/>
          </p:nvPr>
        </p:nvSpPr>
        <p:spPr>
          <a:xfrm>
            <a:off x="457200" y="1600200"/>
            <a:ext cx="8229600" cy="4904117"/>
          </a:xfrm>
        </p:spPr>
        <p:txBody>
          <a:bodyPr>
            <a:normAutofit/>
          </a:bodyPr>
          <a:lstStyle/>
          <a:p>
            <a:r>
              <a:rPr lang="en-US" dirty="0"/>
              <a:t>The simplex algorithm traverses the basic feasible solutions of the feasible region in an efficient manner. Given an initial basic feasible solution, </a:t>
            </a:r>
          </a:p>
          <a:p>
            <a:pPr lvl="1"/>
            <a:r>
              <a:rPr lang="en-US" dirty="0"/>
              <a:t>The algorithm moves from the current basic feasible solution to a </a:t>
            </a:r>
            <a:r>
              <a:rPr lang="en-US" i="1" dirty="0">
                <a:solidFill>
                  <a:srgbClr val="FF0000"/>
                </a:solidFill>
              </a:rPr>
              <a:t>neighboring</a:t>
            </a:r>
            <a:r>
              <a:rPr lang="en-US" dirty="0"/>
              <a:t> basic feasible solution.</a:t>
            </a:r>
            <a:endParaRPr lang="en-US" b="1" i="1" dirty="0"/>
          </a:p>
          <a:p>
            <a:pPr lvl="1"/>
            <a:r>
              <a:rPr lang="en-US" dirty="0"/>
              <a:t>The next basic feasible solution does </a:t>
            </a:r>
            <a:r>
              <a:rPr lang="en-US" dirty="0">
                <a:solidFill>
                  <a:srgbClr val="FF0000"/>
                </a:solidFill>
              </a:rPr>
              <a:t>never have a worse objective function value</a:t>
            </a:r>
            <a:r>
              <a:rPr lang="en-US" dirty="0"/>
              <a:t>.</a:t>
            </a:r>
          </a:p>
        </p:txBody>
      </p:sp>
      <p:sp>
        <p:nvSpPr>
          <p:cNvPr id="4"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41</a:t>
            </a:fld>
            <a:endParaRPr lang="en-US" dirty="0"/>
          </a:p>
        </p:txBody>
      </p:sp>
    </p:spTree>
    <p:extLst>
      <p:ext uri="{BB962C8B-B14F-4D97-AF65-F5344CB8AC3E}">
        <p14:creationId xmlns:p14="http://schemas.microsoft.com/office/powerpoint/2010/main" val="3295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D837443-811D-4E89-8616-63FC4D41BA0A}" type="slidenum">
              <a:rPr lang="en-US"/>
              <a:pPr/>
              <a:t>42</a:t>
            </a:fld>
            <a:endParaRPr lang="en-US"/>
          </a:p>
        </p:txBody>
      </p:sp>
      <p:sp>
        <p:nvSpPr>
          <p:cNvPr id="66562" name="Rectangle 2"/>
          <p:cNvSpPr>
            <a:spLocks noGrp="1" noChangeArrowheads="1"/>
          </p:cNvSpPr>
          <p:nvPr>
            <p:ph type="title"/>
          </p:nvPr>
        </p:nvSpPr>
        <p:spPr/>
        <p:txBody>
          <a:bodyPr/>
          <a:lstStyle/>
          <a:p>
            <a:r>
              <a:rPr lang="en-US" dirty="0"/>
              <a:t>Observation on Linear Programming</a:t>
            </a:r>
          </a:p>
        </p:txBody>
      </p:sp>
      <p:sp>
        <p:nvSpPr>
          <p:cNvPr id="66563" name="Rectangle 3"/>
          <p:cNvSpPr>
            <a:spLocks noGrp="1" noChangeArrowheads="1"/>
          </p:cNvSpPr>
          <p:nvPr>
            <p:ph type="body" idx="1"/>
          </p:nvPr>
        </p:nvSpPr>
        <p:spPr/>
        <p:txBody>
          <a:bodyPr/>
          <a:lstStyle/>
          <a:p>
            <a:r>
              <a:rPr lang="en-US" dirty="0">
                <a:solidFill>
                  <a:srgbClr val="FF0000"/>
                </a:solidFill>
              </a:rPr>
              <a:t>LP is at the boundary of continuous and combinatorial problems</a:t>
            </a:r>
          </a:p>
          <a:p>
            <a:pPr lvl="1"/>
            <a:r>
              <a:rPr lang="en-US" dirty="0"/>
              <a:t>The general statement of the problem is continuous, but the search for an optimal solution can be restricted to a finite set of corner points.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7" name="Straight Arrow Connector 6"/>
          <p:cNvCxnSpPr/>
          <p:nvPr/>
        </p:nvCxnSpPr>
        <p:spPr>
          <a:xfrm>
            <a:off x="582054" y="5257780"/>
            <a:ext cx="420619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1496444" y="1234464"/>
            <a:ext cx="0" cy="49377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53874"/>
            <a:ext cx="8229600" cy="1143000"/>
          </a:xfrm>
        </p:spPr>
        <p:txBody>
          <a:bodyPr/>
          <a:lstStyle/>
          <a:p>
            <a:r>
              <a:rPr lang="en-US" dirty="0"/>
              <a:t>The mechanics of the simplex method</a:t>
            </a:r>
          </a:p>
        </p:txBody>
      </p:sp>
      <p:sp>
        <p:nvSpPr>
          <p:cNvPr id="3" name="Content Placeholder 2"/>
          <p:cNvSpPr>
            <a:spLocks noGrp="1"/>
          </p:cNvSpPr>
          <p:nvPr>
            <p:ph idx="1"/>
          </p:nvPr>
        </p:nvSpPr>
        <p:spPr>
          <a:xfrm>
            <a:off x="2560342" y="1143026"/>
            <a:ext cx="6126457" cy="1645902"/>
          </a:xfrm>
        </p:spPr>
        <p:txBody>
          <a:bodyPr>
            <a:normAutofit/>
          </a:bodyPr>
          <a:lstStyle/>
          <a:p>
            <a:r>
              <a:rPr lang="en-US" sz="2800" dirty="0"/>
              <a:t>Follow my handwritten notes. Let me know if something is illegible.</a:t>
            </a:r>
          </a:p>
          <a:p>
            <a:r>
              <a:rPr lang="en-US" sz="2800" dirty="0">
                <a:solidFill>
                  <a:srgbClr val="FF0000"/>
                </a:solidFill>
              </a:rPr>
              <a:t>Try to carry out one more iteration.</a:t>
            </a:r>
            <a:endParaRPr lang="en-US" sz="2400" dirty="0">
              <a:solidFill>
                <a:srgbClr val="FF0000"/>
              </a:solidFill>
            </a:endParaRPr>
          </a:p>
        </p:txBody>
      </p:sp>
      <p:cxnSp>
        <p:nvCxnSpPr>
          <p:cNvPr id="4" name="Straight Connector 3"/>
          <p:cNvCxnSpPr/>
          <p:nvPr/>
        </p:nvCxnSpPr>
        <p:spPr>
          <a:xfrm flipH="1" flipV="1">
            <a:off x="764932" y="3886195"/>
            <a:ext cx="3474682" cy="137158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1496444" y="3520439"/>
            <a:ext cx="2468853" cy="24688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313566" y="1234464"/>
            <a:ext cx="2377414" cy="47548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txp_fig.png"/>
          <p:cNvPicPr>
            <a:picLocks noChangeAspect="1"/>
          </p:cNvPicPr>
          <p:nvPr>
            <p:custDataLst>
              <p:tags r:id="rId1"/>
            </p:custDataLst>
          </p:nvPr>
        </p:nvPicPr>
        <p:blipFill>
          <a:blip r:embed="rId8" cstate="print">
            <a:lum/>
          </a:blip>
          <a:stretch>
            <a:fillRect/>
          </a:stretch>
        </p:blipFill>
        <p:spPr>
          <a:xfrm>
            <a:off x="673493" y="1051586"/>
            <a:ext cx="1069707" cy="161428"/>
          </a:xfrm>
          <a:prstGeom prst="rect">
            <a:avLst/>
          </a:prstGeom>
        </p:spPr>
      </p:pic>
      <p:cxnSp>
        <p:nvCxnSpPr>
          <p:cNvPr id="11" name="Straight Arrow Connector 10"/>
          <p:cNvCxnSpPr/>
          <p:nvPr/>
        </p:nvCxnSpPr>
        <p:spPr>
          <a:xfrm flipH="1">
            <a:off x="1039249" y="1234464"/>
            <a:ext cx="274317" cy="182878"/>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pic>
        <p:nvPicPr>
          <p:cNvPr id="12" name="Picture 11" descr="txp_fig.png"/>
          <p:cNvPicPr>
            <a:picLocks noChangeAspect="1"/>
          </p:cNvPicPr>
          <p:nvPr>
            <p:custDataLst>
              <p:tags r:id="rId2"/>
            </p:custDataLst>
          </p:nvPr>
        </p:nvPicPr>
        <p:blipFill>
          <a:blip r:embed="rId9" cstate="print">
            <a:lum/>
          </a:blip>
          <a:stretch>
            <a:fillRect/>
          </a:stretch>
        </p:blipFill>
        <p:spPr>
          <a:xfrm>
            <a:off x="124859" y="3703317"/>
            <a:ext cx="1069707" cy="145869"/>
          </a:xfrm>
          <a:prstGeom prst="rect">
            <a:avLst/>
          </a:prstGeom>
        </p:spPr>
      </p:pic>
      <p:pic>
        <p:nvPicPr>
          <p:cNvPr id="13" name="Picture 12" descr="txp_fig.png"/>
          <p:cNvPicPr>
            <a:picLocks noChangeAspect="1"/>
          </p:cNvPicPr>
          <p:nvPr>
            <p:custDataLst>
              <p:tags r:id="rId3"/>
            </p:custDataLst>
          </p:nvPr>
        </p:nvPicPr>
        <p:blipFill>
          <a:blip r:embed="rId10" cstate="print">
            <a:lum/>
          </a:blip>
          <a:stretch>
            <a:fillRect/>
          </a:stretch>
        </p:blipFill>
        <p:spPr>
          <a:xfrm>
            <a:off x="3965297" y="5806414"/>
            <a:ext cx="1069707" cy="161428"/>
          </a:xfrm>
          <a:prstGeom prst="rect">
            <a:avLst/>
          </a:prstGeom>
        </p:spPr>
      </p:pic>
      <p:pic>
        <p:nvPicPr>
          <p:cNvPr id="14" name="Picture 13" descr="txp_fig.png"/>
          <p:cNvPicPr>
            <a:picLocks noChangeAspect="1"/>
          </p:cNvPicPr>
          <p:nvPr>
            <p:custDataLst>
              <p:tags r:id="rId4"/>
            </p:custDataLst>
          </p:nvPr>
        </p:nvPicPr>
        <p:blipFill>
          <a:blip r:embed="rId11" cstate="print">
            <a:lum/>
          </a:blip>
          <a:stretch>
            <a:fillRect/>
          </a:stretch>
        </p:blipFill>
        <p:spPr>
          <a:xfrm>
            <a:off x="1957667" y="2094424"/>
            <a:ext cx="453167" cy="145869"/>
          </a:xfrm>
          <a:prstGeom prst="rect">
            <a:avLst/>
          </a:prstGeom>
        </p:spPr>
      </p:pic>
      <p:pic>
        <p:nvPicPr>
          <p:cNvPr id="15" name="Picture 14" descr="txp_fig.png"/>
          <p:cNvPicPr>
            <a:picLocks noChangeAspect="1"/>
          </p:cNvPicPr>
          <p:nvPr>
            <p:custDataLst>
              <p:tags r:id="rId5"/>
            </p:custDataLst>
          </p:nvPr>
        </p:nvPicPr>
        <p:blipFill>
          <a:blip r:embed="rId12" cstate="print">
            <a:lum/>
          </a:blip>
          <a:stretch>
            <a:fillRect/>
          </a:stretch>
        </p:blipFill>
        <p:spPr>
          <a:xfrm>
            <a:off x="4605370" y="4983463"/>
            <a:ext cx="453167" cy="145869"/>
          </a:xfrm>
          <a:prstGeom prst="rect">
            <a:avLst/>
          </a:prstGeom>
        </p:spPr>
      </p:pic>
      <p:cxnSp>
        <p:nvCxnSpPr>
          <p:cNvPr id="16" name="Straight Arrow Connector 15"/>
          <p:cNvCxnSpPr/>
          <p:nvPr/>
        </p:nvCxnSpPr>
        <p:spPr>
          <a:xfrm flipH="1">
            <a:off x="582054" y="3886195"/>
            <a:ext cx="182880" cy="365756"/>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3690980" y="5989292"/>
            <a:ext cx="274319" cy="274317"/>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flipV="1">
            <a:off x="4513931" y="4709146"/>
            <a:ext cx="2" cy="548634"/>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1496446" y="2331732"/>
            <a:ext cx="548632" cy="0"/>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406806"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321196"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235586" y="5166341"/>
            <a:ext cx="0" cy="18287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315367" y="5349219"/>
            <a:ext cx="182878" cy="184666"/>
          </a:xfrm>
          <a:prstGeom prst="rect">
            <a:avLst/>
          </a:prstGeom>
          <a:noFill/>
        </p:spPr>
        <p:txBody>
          <a:bodyPr wrap="square" lIns="0" tIns="0" rIns="0" bIns="0" rtlCol="0">
            <a:spAutoFit/>
          </a:bodyPr>
          <a:lstStyle/>
          <a:p>
            <a:r>
              <a:rPr lang="en-US" sz="1200" dirty="0"/>
              <a:t>10</a:t>
            </a:r>
          </a:p>
        </p:txBody>
      </p:sp>
      <p:sp>
        <p:nvSpPr>
          <p:cNvPr id="24" name="TextBox 23"/>
          <p:cNvSpPr txBox="1"/>
          <p:nvPr/>
        </p:nvSpPr>
        <p:spPr>
          <a:xfrm>
            <a:off x="3229757" y="5349219"/>
            <a:ext cx="182878" cy="184666"/>
          </a:xfrm>
          <a:prstGeom prst="rect">
            <a:avLst/>
          </a:prstGeom>
          <a:noFill/>
        </p:spPr>
        <p:txBody>
          <a:bodyPr wrap="square" lIns="0" tIns="0" rIns="0" bIns="0" rtlCol="0">
            <a:spAutoFit/>
          </a:bodyPr>
          <a:lstStyle/>
          <a:p>
            <a:r>
              <a:rPr lang="en-US" sz="1200" dirty="0"/>
              <a:t>20</a:t>
            </a:r>
          </a:p>
        </p:txBody>
      </p:sp>
      <p:sp>
        <p:nvSpPr>
          <p:cNvPr id="25" name="TextBox 24"/>
          <p:cNvSpPr txBox="1"/>
          <p:nvPr/>
        </p:nvSpPr>
        <p:spPr>
          <a:xfrm>
            <a:off x="4144147" y="5349219"/>
            <a:ext cx="182878" cy="184666"/>
          </a:xfrm>
          <a:prstGeom prst="rect">
            <a:avLst/>
          </a:prstGeom>
          <a:noFill/>
        </p:spPr>
        <p:txBody>
          <a:bodyPr wrap="square" lIns="0" tIns="0" rIns="0" bIns="0" rtlCol="0">
            <a:spAutoFit/>
          </a:bodyPr>
          <a:lstStyle/>
          <a:p>
            <a:r>
              <a:rPr lang="en-US" sz="1200" dirty="0"/>
              <a:t>30</a:t>
            </a:r>
          </a:p>
        </p:txBody>
      </p:sp>
      <p:cxnSp>
        <p:nvCxnSpPr>
          <p:cNvPr id="26" name="Straight Connector 25"/>
          <p:cNvCxnSpPr/>
          <p:nvPr/>
        </p:nvCxnSpPr>
        <p:spPr>
          <a:xfrm flipH="1">
            <a:off x="1400977" y="434339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1400977" y="342900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1400977" y="251461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a:off x="1400977" y="1600220"/>
            <a:ext cx="1828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218099" y="4251951"/>
            <a:ext cx="182878" cy="184666"/>
          </a:xfrm>
          <a:prstGeom prst="rect">
            <a:avLst/>
          </a:prstGeom>
          <a:noFill/>
        </p:spPr>
        <p:txBody>
          <a:bodyPr wrap="square" lIns="0" tIns="0" rIns="0" bIns="0" rtlCol="0">
            <a:spAutoFit/>
          </a:bodyPr>
          <a:lstStyle/>
          <a:p>
            <a:r>
              <a:rPr lang="en-US" sz="1200" dirty="0"/>
              <a:t>10</a:t>
            </a:r>
          </a:p>
        </p:txBody>
      </p:sp>
      <p:sp>
        <p:nvSpPr>
          <p:cNvPr id="31" name="TextBox 30"/>
          <p:cNvSpPr txBox="1"/>
          <p:nvPr/>
        </p:nvSpPr>
        <p:spPr>
          <a:xfrm>
            <a:off x="1218099" y="3337561"/>
            <a:ext cx="182878" cy="184666"/>
          </a:xfrm>
          <a:prstGeom prst="rect">
            <a:avLst/>
          </a:prstGeom>
          <a:noFill/>
        </p:spPr>
        <p:txBody>
          <a:bodyPr wrap="square" lIns="0" tIns="0" rIns="0" bIns="0" rtlCol="0">
            <a:spAutoFit/>
          </a:bodyPr>
          <a:lstStyle/>
          <a:p>
            <a:r>
              <a:rPr lang="en-US" sz="1200" dirty="0"/>
              <a:t>20</a:t>
            </a:r>
          </a:p>
        </p:txBody>
      </p:sp>
      <p:sp>
        <p:nvSpPr>
          <p:cNvPr id="32" name="TextBox 31"/>
          <p:cNvSpPr txBox="1"/>
          <p:nvPr/>
        </p:nvSpPr>
        <p:spPr>
          <a:xfrm>
            <a:off x="1218099" y="2423171"/>
            <a:ext cx="182878" cy="184666"/>
          </a:xfrm>
          <a:prstGeom prst="rect">
            <a:avLst/>
          </a:prstGeom>
          <a:noFill/>
        </p:spPr>
        <p:txBody>
          <a:bodyPr wrap="square" lIns="0" tIns="0" rIns="0" bIns="0" rtlCol="0">
            <a:spAutoFit/>
          </a:bodyPr>
          <a:lstStyle/>
          <a:p>
            <a:r>
              <a:rPr lang="en-US" sz="1200" dirty="0"/>
              <a:t>30</a:t>
            </a:r>
          </a:p>
        </p:txBody>
      </p:sp>
      <p:sp>
        <p:nvSpPr>
          <p:cNvPr id="33" name="TextBox 32"/>
          <p:cNvSpPr txBox="1"/>
          <p:nvPr/>
        </p:nvSpPr>
        <p:spPr>
          <a:xfrm>
            <a:off x="1218099" y="1508781"/>
            <a:ext cx="182878" cy="184666"/>
          </a:xfrm>
          <a:prstGeom prst="rect">
            <a:avLst/>
          </a:prstGeom>
          <a:noFill/>
        </p:spPr>
        <p:txBody>
          <a:bodyPr wrap="square" lIns="0" tIns="0" rIns="0" bIns="0" rtlCol="0">
            <a:spAutoFit/>
          </a:bodyPr>
          <a:lstStyle/>
          <a:p>
            <a:r>
              <a:rPr lang="en-US" sz="1200" dirty="0"/>
              <a:t>40</a:t>
            </a:r>
          </a:p>
        </p:txBody>
      </p:sp>
      <p:sp>
        <p:nvSpPr>
          <p:cNvPr id="43" name="Oval 42"/>
          <p:cNvSpPr/>
          <p:nvPr/>
        </p:nvSpPr>
        <p:spPr>
          <a:xfrm flipV="1">
            <a:off x="1463074" y="5212060"/>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flipV="1">
            <a:off x="3200415" y="5212060"/>
            <a:ext cx="45719" cy="4572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1280196" y="5074902"/>
            <a:ext cx="182878" cy="184666"/>
          </a:xfrm>
          <a:prstGeom prst="rect">
            <a:avLst/>
          </a:prstGeom>
          <a:noFill/>
        </p:spPr>
        <p:txBody>
          <a:bodyPr wrap="square" lIns="0" tIns="0" rIns="0" bIns="0" rtlCol="0">
            <a:spAutoFit/>
          </a:bodyPr>
          <a:lstStyle/>
          <a:p>
            <a:r>
              <a:rPr lang="en-US" sz="1200" dirty="0"/>
              <a:t>P</a:t>
            </a:r>
            <a:r>
              <a:rPr lang="en-US" sz="1200" baseline="-25000" dirty="0"/>
              <a:t>1</a:t>
            </a:r>
          </a:p>
        </p:txBody>
      </p:sp>
      <p:sp>
        <p:nvSpPr>
          <p:cNvPr id="46" name="TextBox 45"/>
          <p:cNvSpPr txBox="1"/>
          <p:nvPr/>
        </p:nvSpPr>
        <p:spPr>
          <a:xfrm>
            <a:off x="3017537" y="5074902"/>
            <a:ext cx="182878" cy="184666"/>
          </a:xfrm>
          <a:prstGeom prst="rect">
            <a:avLst/>
          </a:prstGeom>
          <a:noFill/>
        </p:spPr>
        <p:txBody>
          <a:bodyPr wrap="square" lIns="0" tIns="0" rIns="0" bIns="0" rtlCol="0">
            <a:spAutoFit/>
          </a:bodyPr>
          <a:lstStyle/>
          <a:p>
            <a:r>
              <a:rPr lang="en-US" sz="1200" dirty="0"/>
              <a:t>P</a:t>
            </a:r>
            <a:r>
              <a:rPr lang="en-US" sz="1200" baseline="-25000" dirty="0"/>
              <a:t>2</a:t>
            </a:r>
          </a:p>
        </p:txBody>
      </p:sp>
      <p:sp>
        <p:nvSpPr>
          <p:cNvPr id="37"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a:t>Economic interpretations</a:t>
            </a:r>
          </a:p>
        </p:txBody>
      </p:sp>
      <p:sp>
        <p:nvSpPr>
          <p:cNvPr id="17411" name="Rectangle 3"/>
          <p:cNvSpPr>
            <a:spLocks noGrp="1" noChangeArrowheads="1"/>
          </p:cNvSpPr>
          <p:nvPr>
            <p:ph type="body" idx="1"/>
          </p:nvPr>
        </p:nvSpPr>
        <p:spPr/>
        <p:txBody>
          <a:bodyPr/>
          <a:lstStyle/>
          <a:p>
            <a:r>
              <a:rPr lang="en-US" dirty="0"/>
              <a:t>We will illustrate the economic concepts that underlie </a:t>
            </a:r>
            <a:r>
              <a:rPr lang="en-US" b="1" dirty="0"/>
              <a:t>any LP problem </a:t>
            </a:r>
            <a:r>
              <a:rPr lang="en-US" dirty="0"/>
              <a:t>using the following product-mix example:</a:t>
            </a:r>
          </a:p>
        </p:txBody>
      </p:sp>
      <p:graphicFrame>
        <p:nvGraphicFramePr>
          <p:cNvPr id="17412" name="Object 4"/>
          <p:cNvGraphicFramePr>
            <a:graphicFrameLocks noChangeAspect="1"/>
          </p:cNvGraphicFramePr>
          <p:nvPr/>
        </p:nvGraphicFramePr>
        <p:xfrm>
          <a:off x="709613" y="3200400"/>
          <a:ext cx="8105775" cy="2246313"/>
        </p:xfrm>
        <a:graphic>
          <a:graphicData uri="http://schemas.openxmlformats.org/presentationml/2006/ole">
            <mc:AlternateContent xmlns:mc="http://schemas.openxmlformats.org/markup-compatibility/2006">
              <mc:Choice xmlns:v="urn:schemas-microsoft-com:vml" Requires="v">
                <p:oleObj name="Equation" r:id="rId3" imgW="6781680" imgH="1879560" progId="Equation.3">
                  <p:embed/>
                </p:oleObj>
              </mc:Choice>
              <mc:Fallback>
                <p:oleObj name="Equation" r:id="rId3" imgW="6781680" imgH="1879560" progId="Equation.3">
                  <p:embed/>
                  <p:pic>
                    <p:nvPicPr>
                      <p:cNvPr id="1741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613" y="3200400"/>
                        <a:ext cx="8105775" cy="224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14" name="Object 6"/>
          <p:cNvGraphicFramePr>
            <a:graphicFrameLocks noChangeAspect="1"/>
          </p:cNvGraphicFramePr>
          <p:nvPr/>
        </p:nvGraphicFramePr>
        <p:xfrm>
          <a:off x="981075" y="5541963"/>
          <a:ext cx="7019925" cy="1163637"/>
        </p:xfrm>
        <a:graphic>
          <a:graphicData uri="http://schemas.openxmlformats.org/presentationml/2006/ole">
            <mc:AlternateContent xmlns:mc="http://schemas.openxmlformats.org/markup-compatibility/2006">
              <mc:Choice xmlns:v="urn:schemas-microsoft-com:vml" Requires="v">
                <p:oleObj name="Equation" r:id="rId5" imgW="4609800" imgH="761760" progId="Equation.3">
                  <p:embed/>
                </p:oleObj>
              </mc:Choice>
              <mc:Fallback>
                <p:oleObj name="Equation" r:id="rId5" imgW="4609800" imgH="761760" progId="Equation.3">
                  <p:embed/>
                  <p:pic>
                    <p:nvPicPr>
                      <p:cNvPr id="17414"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1075" y="5541963"/>
                        <a:ext cx="7019925" cy="1163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5" name="Line 7"/>
          <p:cNvSpPr>
            <a:spLocks noChangeShapeType="1"/>
          </p:cNvSpPr>
          <p:nvPr/>
        </p:nvSpPr>
        <p:spPr bwMode="auto">
          <a:xfrm flipH="1">
            <a:off x="7086600" y="3352800"/>
            <a:ext cx="304800" cy="381000"/>
          </a:xfrm>
          <a:prstGeom prst="line">
            <a:avLst/>
          </a:prstGeom>
          <a:noFill/>
          <a:ln w="9525">
            <a:solidFill>
              <a:schemeClr val="tx1"/>
            </a:solidFill>
            <a:round/>
            <a:headEnd/>
            <a:tailEnd type="triangle" w="med" len="med"/>
          </a:ln>
          <a:effectLst/>
        </p:spPr>
        <p:txBody>
          <a:bodyPr/>
          <a:lstStyle/>
          <a:p>
            <a:endParaRPr lang="en-US"/>
          </a:p>
        </p:txBody>
      </p:sp>
      <p:sp>
        <p:nvSpPr>
          <p:cNvPr id="17417" name="Line 9"/>
          <p:cNvSpPr>
            <a:spLocks noChangeShapeType="1"/>
          </p:cNvSpPr>
          <p:nvPr/>
        </p:nvSpPr>
        <p:spPr bwMode="auto">
          <a:xfrm flipH="1">
            <a:off x="7239000" y="3581400"/>
            <a:ext cx="381000" cy="1066800"/>
          </a:xfrm>
          <a:prstGeom prst="line">
            <a:avLst/>
          </a:prstGeom>
          <a:noFill/>
          <a:ln w="9525">
            <a:solidFill>
              <a:schemeClr val="tx1"/>
            </a:solidFill>
            <a:round/>
            <a:headEnd/>
            <a:tailEnd type="triangle" w="med" len="med"/>
          </a:ln>
          <a:effectLst/>
        </p:spPr>
        <p:txBody>
          <a:bodyPr/>
          <a:lstStyle/>
          <a:p>
            <a:endParaRPr lang="en-US"/>
          </a:p>
        </p:txBody>
      </p:sp>
      <p:sp>
        <p:nvSpPr>
          <p:cNvPr id="17418" name="Text Box 10"/>
          <p:cNvSpPr txBox="1">
            <a:spLocks noChangeArrowheads="1"/>
          </p:cNvSpPr>
          <p:nvPr/>
        </p:nvSpPr>
        <p:spPr bwMode="auto">
          <a:xfrm>
            <a:off x="7391400" y="3048000"/>
            <a:ext cx="838200" cy="366713"/>
          </a:xfrm>
          <a:prstGeom prst="rect">
            <a:avLst/>
          </a:prstGeom>
          <a:noFill/>
          <a:ln w="9525">
            <a:noFill/>
            <a:miter lim="800000"/>
            <a:headEnd/>
            <a:tailEnd/>
          </a:ln>
          <a:effectLst/>
        </p:spPr>
        <p:txBody>
          <a:bodyPr>
            <a:spAutoFit/>
          </a:bodyPr>
          <a:lstStyle/>
          <a:p>
            <a:pPr>
              <a:spcBef>
                <a:spcPct val="50000"/>
              </a:spcBef>
            </a:pPr>
            <a:r>
              <a:rPr lang="en-US"/>
              <a:t>tight</a:t>
            </a:r>
          </a:p>
        </p:txBody>
      </p:sp>
      <p:sp>
        <p:nvSpPr>
          <p:cNvPr id="9"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44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animBg="1"/>
      <p:bldP spid="17417" grpId="0" animBg="1"/>
      <p:bldP spid="1741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Economic interpretations</a:t>
            </a:r>
          </a:p>
        </p:txBody>
      </p:sp>
      <p:sp>
        <p:nvSpPr>
          <p:cNvPr id="20483" name="Rectangle 3"/>
          <p:cNvSpPr>
            <a:spLocks noGrp="1" noChangeArrowheads="1"/>
          </p:cNvSpPr>
          <p:nvPr>
            <p:ph type="body" idx="1"/>
          </p:nvPr>
        </p:nvSpPr>
        <p:spPr/>
        <p:txBody>
          <a:bodyPr/>
          <a:lstStyle/>
          <a:p>
            <a:r>
              <a:rPr lang="en-US" sz="2800" dirty="0"/>
              <a:t>Using the information from the LP solution, can you answer the following questions?</a:t>
            </a:r>
          </a:p>
          <a:p>
            <a:pPr lvl="1"/>
            <a:r>
              <a:rPr lang="en-US" sz="2400" dirty="0"/>
              <a:t>Presumably, the products 3, 4 and 5 are underpriced compared to products 1 and 2. By how much would you have to increase their prices in order for it to be worth to manufacture these products? </a:t>
            </a:r>
          </a:p>
          <a:p>
            <a:pPr lvl="2"/>
            <a:r>
              <a:rPr lang="en-US" sz="2000" dirty="0"/>
              <a:t>Reduced costs</a:t>
            </a:r>
          </a:p>
          <a:p>
            <a:pPr lvl="1"/>
            <a:r>
              <a:rPr lang="en-US" sz="2400" dirty="0"/>
              <a:t>What is the value of an extra hour of grinding, drilling or manpower capacity?</a:t>
            </a:r>
          </a:p>
          <a:p>
            <a:pPr lvl="2"/>
            <a:r>
              <a:rPr lang="en-US" sz="2000" dirty="0"/>
              <a:t>Shadow (dual) prices</a:t>
            </a:r>
          </a:p>
          <a:p>
            <a:pPr lvl="1">
              <a:buFontTx/>
              <a:buNone/>
            </a:pPr>
            <a:endParaRPr lang="en-US" sz="2400" dirty="0"/>
          </a:p>
        </p:txBody>
      </p:sp>
      <p:sp>
        <p:nvSpPr>
          <p:cNvPr id="4"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45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274638"/>
            <a:ext cx="8229600" cy="944562"/>
          </a:xfrm>
        </p:spPr>
        <p:txBody>
          <a:bodyPr/>
          <a:lstStyle/>
          <a:p>
            <a:r>
              <a:rPr lang="en-US" dirty="0"/>
              <a:t>Economic interpretations</a:t>
            </a:r>
          </a:p>
        </p:txBody>
      </p:sp>
      <p:sp>
        <p:nvSpPr>
          <p:cNvPr id="53251" name="Rectangle 3"/>
          <p:cNvSpPr>
            <a:spLocks noGrp="1" noChangeArrowheads="1"/>
          </p:cNvSpPr>
          <p:nvPr>
            <p:ph type="body" idx="1"/>
          </p:nvPr>
        </p:nvSpPr>
        <p:spPr>
          <a:xfrm>
            <a:off x="457200" y="1143000"/>
            <a:ext cx="8229600" cy="5715000"/>
          </a:xfrm>
        </p:spPr>
        <p:txBody>
          <a:bodyPr/>
          <a:lstStyle/>
          <a:p>
            <a:pPr>
              <a:lnSpc>
                <a:spcPct val="90000"/>
              </a:lnSpc>
            </a:pPr>
            <a:r>
              <a:rPr lang="en-US" dirty="0"/>
              <a:t>Suppose that a hypothetical generous factory owner is willing to produce our products for us. </a:t>
            </a:r>
          </a:p>
          <a:p>
            <a:pPr>
              <a:lnSpc>
                <a:spcPct val="90000"/>
              </a:lnSpc>
            </a:pPr>
            <a:r>
              <a:rPr lang="en-US" dirty="0"/>
              <a:t>The owner will charge us for the grinding, drilling and manpower capacity on an hourly basis, and he does not want to scare us away by overcharging us. </a:t>
            </a:r>
          </a:p>
          <a:p>
            <a:pPr>
              <a:lnSpc>
                <a:spcPct val="90000"/>
              </a:lnSpc>
            </a:pPr>
            <a:r>
              <a:rPr lang="en-US" dirty="0"/>
              <a:t>How would the factory owner determine fair prices for his resources so that the </a:t>
            </a:r>
            <a:r>
              <a:rPr lang="en-US" i="1" dirty="0"/>
              <a:t>total amount of money that we pay him </a:t>
            </a:r>
            <a:r>
              <a:rPr lang="en-US" dirty="0"/>
              <a:t>is compatible with the </a:t>
            </a:r>
            <a:r>
              <a:rPr lang="en-US" i="1" dirty="0"/>
              <a:t>total value of our products</a:t>
            </a:r>
            <a:r>
              <a:rPr lang="en-US" dirty="0"/>
              <a:t>?</a:t>
            </a:r>
          </a:p>
        </p:txBody>
      </p:sp>
      <p:sp>
        <p:nvSpPr>
          <p:cNvPr id="4"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46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a:t>Economic interpretations </a:t>
            </a:r>
          </a:p>
        </p:txBody>
      </p:sp>
      <p:sp>
        <p:nvSpPr>
          <p:cNvPr id="23555" name="Rectangle 3"/>
          <p:cNvSpPr>
            <a:spLocks noGrp="1" noChangeArrowheads="1"/>
          </p:cNvSpPr>
          <p:nvPr>
            <p:ph type="body" idx="1"/>
          </p:nvPr>
        </p:nvSpPr>
        <p:spPr>
          <a:xfrm>
            <a:off x="457200" y="1600200"/>
            <a:ext cx="8229600" cy="3352800"/>
          </a:xfrm>
        </p:spPr>
        <p:txBody>
          <a:bodyPr/>
          <a:lstStyle/>
          <a:p>
            <a:pPr>
              <a:lnSpc>
                <a:spcPct val="90000"/>
              </a:lnSpc>
            </a:pPr>
            <a:r>
              <a:rPr lang="en-US"/>
              <a:t>In other words, we are trying to value each of the resources so as to give a minimal overall valuation to the factory compatible with the optimal production plan.</a:t>
            </a:r>
          </a:p>
          <a:p>
            <a:pPr lvl="1">
              <a:lnSpc>
                <a:spcPct val="90000"/>
              </a:lnSpc>
            </a:pPr>
            <a:r>
              <a:rPr lang="en-US"/>
              <a:t>Suppose that the valuation for each hour of each of the capacities were </a:t>
            </a:r>
            <a:r>
              <a:rPr lang="en-US" i="1"/>
              <a:t>y</a:t>
            </a:r>
            <a:r>
              <a:rPr lang="en-US" i="1" baseline="-25000"/>
              <a:t>1</a:t>
            </a:r>
            <a:r>
              <a:rPr lang="en-US" i="1"/>
              <a:t>, y</a:t>
            </a:r>
            <a:r>
              <a:rPr lang="en-US" i="1" baseline="-25000"/>
              <a:t>2</a:t>
            </a:r>
            <a:r>
              <a:rPr lang="en-US" i="1"/>
              <a:t>, y</a:t>
            </a:r>
            <a:r>
              <a:rPr lang="en-US" i="1" baseline="-25000"/>
              <a:t>3.</a:t>
            </a:r>
          </a:p>
          <a:p>
            <a:pPr lvl="1">
              <a:lnSpc>
                <a:spcPct val="90000"/>
              </a:lnSpc>
            </a:pPr>
            <a:r>
              <a:rPr lang="en-US"/>
              <a:t>What would the objective function be?</a:t>
            </a:r>
          </a:p>
        </p:txBody>
      </p:sp>
      <p:graphicFrame>
        <p:nvGraphicFramePr>
          <p:cNvPr id="23556" name="Object 4"/>
          <p:cNvGraphicFramePr>
            <a:graphicFrameLocks noChangeAspect="1"/>
          </p:cNvGraphicFramePr>
          <p:nvPr/>
        </p:nvGraphicFramePr>
        <p:xfrm>
          <a:off x="1447800" y="5029200"/>
          <a:ext cx="5638800" cy="544513"/>
        </p:xfrm>
        <a:graphic>
          <a:graphicData uri="http://schemas.openxmlformats.org/presentationml/2006/ole">
            <mc:AlternateContent xmlns:mc="http://schemas.openxmlformats.org/markup-compatibility/2006">
              <mc:Choice xmlns:v="urn:schemas-microsoft-com:vml" Requires="v">
                <p:oleObj name="Equation" r:id="rId3" imgW="3416040" imgH="330120" progId="Equation.3">
                  <p:embed/>
                </p:oleObj>
              </mc:Choice>
              <mc:Fallback>
                <p:oleObj name="Equation" r:id="rId3" imgW="3416040" imgH="330120" progId="Equation.3">
                  <p:embed/>
                  <p:pic>
                    <p:nvPicPr>
                      <p:cNvPr id="2355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5029200"/>
                        <a:ext cx="5638800" cy="544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47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152400"/>
            <a:ext cx="8229600" cy="960438"/>
          </a:xfrm>
        </p:spPr>
        <p:txBody>
          <a:bodyPr/>
          <a:lstStyle/>
          <a:p>
            <a:r>
              <a:rPr lang="en-US" dirty="0"/>
              <a:t>Economic interpretations</a:t>
            </a:r>
          </a:p>
        </p:txBody>
      </p:sp>
      <p:sp>
        <p:nvSpPr>
          <p:cNvPr id="25603" name="Rectangle 3"/>
          <p:cNvSpPr>
            <a:spLocks noGrp="1" noChangeArrowheads="1"/>
          </p:cNvSpPr>
          <p:nvPr>
            <p:ph type="body" idx="1"/>
          </p:nvPr>
        </p:nvSpPr>
        <p:spPr>
          <a:xfrm>
            <a:off x="228600" y="1066800"/>
            <a:ext cx="8915400" cy="3733800"/>
          </a:xfrm>
        </p:spPr>
        <p:txBody>
          <a:bodyPr/>
          <a:lstStyle/>
          <a:p>
            <a:r>
              <a:rPr lang="en-US" sz="2800"/>
              <a:t>We wish to obtain values for the </a:t>
            </a:r>
            <a:r>
              <a:rPr lang="en-US" sz="2800" i="1"/>
              <a:t>y</a:t>
            </a:r>
            <a:r>
              <a:rPr lang="en-US" sz="2800"/>
              <a:t>-variables that totally explain the optimal production plan.</a:t>
            </a:r>
          </a:p>
          <a:p>
            <a:r>
              <a:rPr lang="en-US" sz="2800"/>
              <a:t>It should be possible to attribute the profit contribution of each product to its usage of resources.</a:t>
            </a:r>
          </a:p>
          <a:p>
            <a:endParaRPr lang="en-US" sz="2800"/>
          </a:p>
        </p:txBody>
      </p:sp>
      <p:graphicFrame>
        <p:nvGraphicFramePr>
          <p:cNvPr id="25605" name="Object 5"/>
          <p:cNvGraphicFramePr>
            <a:graphicFrameLocks noChangeAspect="1"/>
          </p:cNvGraphicFramePr>
          <p:nvPr/>
        </p:nvGraphicFramePr>
        <p:xfrm>
          <a:off x="2652713" y="3513138"/>
          <a:ext cx="3062287" cy="2659062"/>
        </p:xfrm>
        <a:graphic>
          <a:graphicData uri="http://schemas.openxmlformats.org/presentationml/2006/ole">
            <mc:AlternateContent xmlns:mc="http://schemas.openxmlformats.org/markup-compatibility/2006">
              <mc:Choice xmlns:v="urn:schemas-microsoft-com:vml" Requires="v">
                <p:oleObj name="Equation" r:id="rId3" imgW="2603160" imgH="2260440" progId="Equation.3">
                  <p:embed/>
                </p:oleObj>
              </mc:Choice>
              <mc:Fallback>
                <p:oleObj name="Equation" r:id="rId3" imgW="2603160" imgH="2260440" progId="Equation.3">
                  <p:embed/>
                  <p:pic>
                    <p:nvPicPr>
                      <p:cNvPr id="2560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2713" y="3513138"/>
                        <a:ext cx="3062287" cy="2659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48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74638"/>
            <a:ext cx="8229600" cy="715962"/>
          </a:xfrm>
        </p:spPr>
        <p:txBody>
          <a:bodyPr/>
          <a:lstStyle/>
          <a:p>
            <a:r>
              <a:rPr lang="en-US" sz="4000" dirty="0"/>
              <a:t>Primal-Dual LP models</a:t>
            </a:r>
          </a:p>
        </p:txBody>
      </p:sp>
      <p:sp>
        <p:nvSpPr>
          <p:cNvPr id="27651" name="Rectangle 3"/>
          <p:cNvSpPr>
            <a:spLocks noGrp="1" noChangeArrowheads="1"/>
          </p:cNvSpPr>
          <p:nvPr>
            <p:ph type="body" idx="1"/>
          </p:nvPr>
        </p:nvSpPr>
        <p:spPr>
          <a:xfrm>
            <a:off x="381000" y="914400"/>
            <a:ext cx="8229600" cy="685800"/>
          </a:xfrm>
        </p:spPr>
        <p:txBody>
          <a:bodyPr/>
          <a:lstStyle/>
          <a:p>
            <a:r>
              <a:rPr lang="en-US"/>
              <a:t>So, in this example we have:</a:t>
            </a:r>
          </a:p>
        </p:txBody>
      </p:sp>
      <p:graphicFrame>
        <p:nvGraphicFramePr>
          <p:cNvPr id="27652" name="Object 4"/>
          <p:cNvGraphicFramePr>
            <a:graphicFrameLocks noChangeAspect="1"/>
          </p:cNvGraphicFramePr>
          <p:nvPr/>
        </p:nvGraphicFramePr>
        <p:xfrm>
          <a:off x="1143000" y="1411288"/>
          <a:ext cx="6573838" cy="2246312"/>
        </p:xfrm>
        <a:graphic>
          <a:graphicData uri="http://schemas.openxmlformats.org/presentationml/2006/ole">
            <mc:AlternateContent xmlns:mc="http://schemas.openxmlformats.org/markup-compatibility/2006">
              <mc:Choice xmlns:v="urn:schemas-microsoft-com:vml" Requires="v">
                <p:oleObj name="Equation" r:id="rId3" imgW="5499000" imgH="1879560" progId="Equation.3">
                  <p:embed/>
                </p:oleObj>
              </mc:Choice>
              <mc:Fallback>
                <p:oleObj name="Equation" r:id="rId3" imgW="5499000" imgH="1879560" progId="Equation.3">
                  <p:embed/>
                  <p:pic>
                    <p:nvPicPr>
                      <p:cNvPr id="2765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411288"/>
                        <a:ext cx="6573838" cy="2246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3" name="Object 5"/>
          <p:cNvGraphicFramePr>
            <a:graphicFrameLocks noChangeAspect="1"/>
          </p:cNvGraphicFramePr>
          <p:nvPr/>
        </p:nvGraphicFramePr>
        <p:xfrm>
          <a:off x="1143000" y="3733800"/>
          <a:ext cx="5019675" cy="3106738"/>
        </p:xfrm>
        <a:graphic>
          <a:graphicData uri="http://schemas.openxmlformats.org/presentationml/2006/ole">
            <mc:AlternateContent xmlns:mc="http://schemas.openxmlformats.org/markup-compatibility/2006">
              <mc:Choice xmlns:v="urn:schemas-microsoft-com:vml" Requires="v">
                <p:oleObj name="Equation" r:id="rId5" imgW="4267080" imgH="2641320" progId="Equation.3">
                  <p:embed/>
                </p:oleObj>
              </mc:Choice>
              <mc:Fallback>
                <p:oleObj name="Equation" r:id="rId5" imgW="4267080" imgH="2641320" progId="Equation.3">
                  <p:embed/>
                  <p:pic>
                    <p:nvPicPr>
                      <p:cNvPr id="2765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733800"/>
                        <a:ext cx="5019675" cy="3106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1"/>
          <p:cNvGrpSpPr>
            <a:grpSpLocks/>
          </p:cNvGrpSpPr>
          <p:nvPr/>
        </p:nvGrpSpPr>
        <p:grpSpPr bwMode="auto">
          <a:xfrm>
            <a:off x="6588125" y="822325"/>
            <a:ext cx="2500313" cy="854075"/>
            <a:chOff x="4150" y="518"/>
            <a:chExt cx="1575" cy="538"/>
          </a:xfrm>
        </p:grpSpPr>
        <p:sp>
          <p:nvSpPr>
            <p:cNvPr id="27654" name="Text Box 6"/>
            <p:cNvSpPr txBox="1">
              <a:spLocks noChangeArrowheads="1"/>
            </p:cNvSpPr>
            <p:nvPr/>
          </p:nvSpPr>
          <p:spPr bwMode="auto">
            <a:xfrm>
              <a:off x="4570" y="518"/>
              <a:ext cx="1155" cy="538"/>
            </a:xfrm>
            <a:prstGeom prst="rect">
              <a:avLst/>
            </a:prstGeom>
            <a:noFill/>
            <a:ln w="9525">
              <a:noFill/>
              <a:miter lim="800000"/>
              <a:headEnd/>
              <a:tailEnd/>
            </a:ln>
            <a:effectLst/>
          </p:spPr>
          <p:txBody>
            <a:bodyPr>
              <a:spAutoFit/>
            </a:bodyPr>
            <a:lstStyle/>
            <a:p>
              <a:pPr>
                <a:spcBef>
                  <a:spcPct val="50000"/>
                </a:spcBef>
              </a:pPr>
              <a:r>
                <a:rPr lang="en-US" sz="2000" dirty="0"/>
                <a:t>We solve the </a:t>
              </a:r>
            </a:p>
            <a:p>
              <a:pPr>
                <a:spcBef>
                  <a:spcPct val="50000"/>
                </a:spcBef>
              </a:pPr>
              <a:r>
                <a:rPr lang="en-US" sz="2000" dirty="0">
                  <a:solidFill>
                    <a:srgbClr val="FF0000"/>
                  </a:solidFill>
                </a:rPr>
                <a:t>Primal LP</a:t>
              </a:r>
              <a:endParaRPr lang="en-US" sz="2000" dirty="0"/>
            </a:p>
          </p:txBody>
        </p:sp>
        <p:sp>
          <p:nvSpPr>
            <p:cNvPr id="27657" name="Line 9"/>
            <p:cNvSpPr>
              <a:spLocks noChangeShapeType="1"/>
            </p:cNvSpPr>
            <p:nvPr/>
          </p:nvSpPr>
          <p:spPr bwMode="auto">
            <a:xfrm flipH="1">
              <a:off x="4150" y="729"/>
              <a:ext cx="430" cy="187"/>
            </a:xfrm>
            <a:prstGeom prst="line">
              <a:avLst/>
            </a:prstGeom>
            <a:noFill/>
            <a:ln w="9525">
              <a:solidFill>
                <a:schemeClr val="tx1"/>
              </a:solidFill>
              <a:round/>
              <a:headEnd/>
              <a:tailEnd type="triangle" w="med" len="med"/>
            </a:ln>
            <a:effectLst/>
          </p:spPr>
          <p:txBody>
            <a:bodyPr/>
            <a:lstStyle/>
            <a:p>
              <a:endParaRPr lang="en-US"/>
            </a:p>
          </p:txBody>
        </p:sp>
      </p:grpSp>
      <p:grpSp>
        <p:nvGrpSpPr>
          <p:cNvPr id="3" name="Group 12"/>
          <p:cNvGrpSpPr>
            <a:grpSpLocks/>
          </p:cNvGrpSpPr>
          <p:nvPr/>
        </p:nvGrpSpPr>
        <p:grpSpPr bwMode="auto">
          <a:xfrm>
            <a:off x="6026150" y="3703638"/>
            <a:ext cx="2965450" cy="1006475"/>
            <a:chOff x="3796" y="2333"/>
            <a:chExt cx="1868" cy="634"/>
          </a:xfrm>
        </p:grpSpPr>
        <p:sp>
          <p:nvSpPr>
            <p:cNvPr id="27655" name="Text Box 7"/>
            <p:cNvSpPr txBox="1">
              <a:spLocks noChangeArrowheads="1"/>
            </p:cNvSpPr>
            <p:nvPr/>
          </p:nvSpPr>
          <p:spPr bwMode="auto">
            <a:xfrm>
              <a:off x="4424" y="2333"/>
              <a:ext cx="1240" cy="634"/>
            </a:xfrm>
            <a:prstGeom prst="rect">
              <a:avLst/>
            </a:prstGeom>
            <a:noFill/>
            <a:ln w="9525">
              <a:noFill/>
              <a:miter lim="800000"/>
              <a:headEnd/>
              <a:tailEnd/>
            </a:ln>
            <a:effectLst/>
          </p:spPr>
          <p:txBody>
            <a:bodyPr>
              <a:spAutoFit/>
            </a:bodyPr>
            <a:lstStyle/>
            <a:p>
              <a:pPr>
                <a:spcBef>
                  <a:spcPct val="50000"/>
                </a:spcBef>
              </a:pPr>
              <a:r>
                <a:rPr lang="en-US" sz="2000" dirty="0"/>
                <a:t>Factory owner solves the </a:t>
              </a:r>
              <a:r>
                <a:rPr lang="en-US" sz="2000" dirty="0">
                  <a:solidFill>
                    <a:srgbClr val="FF0000"/>
                  </a:solidFill>
                </a:rPr>
                <a:t>Dual LP</a:t>
              </a:r>
              <a:endParaRPr lang="en-US" sz="2000" dirty="0"/>
            </a:p>
          </p:txBody>
        </p:sp>
        <p:sp>
          <p:nvSpPr>
            <p:cNvPr id="27658" name="Line 10"/>
            <p:cNvSpPr>
              <a:spLocks noChangeShapeType="1"/>
            </p:cNvSpPr>
            <p:nvPr/>
          </p:nvSpPr>
          <p:spPr bwMode="auto">
            <a:xfrm flipH="1">
              <a:off x="3796" y="2547"/>
              <a:ext cx="624" cy="305"/>
            </a:xfrm>
            <a:prstGeom prst="line">
              <a:avLst/>
            </a:prstGeom>
            <a:noFill/>
            <a:ln w="9525">
              <a:solidFill>
                <a:schemeClr val="tx1"/>
              </a:solidFill>
              <a:round/>
              <a:headEnd/>
              <a:tailEnd type="triangle" w="med" len="med"/>
            </a:ln>
            <a:effectLst/>
          </p:spPr>
          <p:txBody>
            <a:bodyPr/>
            <a:lstStyle/>
            <a:p>
              <a:endParaRPr lang="en-US"/>
            </a:p>
          </p:txBody>
        </p:sp>
      </p:grpSp>
      <p:sp>
        <p:nvSpPr>
          <p:cNvPr id="12"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49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dirty="0"/>
              <a:t>Primal-Dual solution</a:t>
            </a:r>
          </a:p>
        </p:txBody>
      </p:sp>
      <p:sp>
        <p:nvSpPr>
          <p:cNvPr id="28675" name="Rectangle 3"/>
          <p:cNvSpPr>
            <a:spLocks noGrp="1" noChangeArrowheads="1"/>
          </p:cNvSpPr>
          <p:nvPr>
            <p:ph type="body" idx="1"/>
          </p:nvPr>
        </p:nvSpPr>
        <p:spPr>
          <a:xfrm>
            <a:off x="457200" y="3886200"/>
            <a:ext cx="8229600" cy="2239963"/>
          </a:xfrm>
        </p:spPr>
        <p:txBody>
          <a:bodyPr/>
          <a:lstStyle/>
          <a:p>
            <a:r>
              <a:rPr lang="en-US" sz="2800" dirty="0"/>
              <a:t>Value each hour of grinding capacity at $6.25.</a:t>
            </a:r>
          </a:p>
          <a:p>
            <a:r>
              <a:rPr lang="en-US" sz="2800" dirty="0"/>
              <a:t>Value each hour of drilling capacity at $0.</a:t>
            </a:r>
          </a:p>
          <a:p>
            <a:r>
              <a:rPr lang="en-US" sz="2800" dirty="0"/>
              <a:t>Value each hour of manpower capacity at $23.75.</a:t>
            </a:r>
          </a:p>
        </p:txBody>
      </p:sp>
      <p:graphicFrame>
        <p:nvGraphicFramePr>
          <p:cNvPr id="28676" name="Object 4"/>
          <p:cNvGraphicFramePr>
            <a:graphicFrameLocks noChangeAspect="1"/>
          </p:cNvGraphicFramePr>
          <p:nvPr/>
        </p:nvGraphicFramePr>
        <p:xfrm>
          <a:off x="457200" y="1219200"/>
          <a:ext cx="7019925" cy="2443163"/>
        </p:xfrm>
        <a:graphic>
          <a:graphicData uri="http://schemas.openxmlformats.org/presentationml/2006/ole">
            <mc:AlternateContent xmlns:mc="http://schemas.openxmlformats.org/markup-compatibility/2006">
              <mc:Choice xmlns:v="urn:schemas-microsoft-com:vml" Requires="v">
                <p:oleObj name="Equation" r:id="rId3" imgW="4609800" imgH="1600200" progId="Equation.3">
                  <p:embed/>
                </p:oleObj>
              </mc:Choice>
              <mc:Fallback>
                <p:oleObj name="Equation" r:id="rId3" imgW="4609800" imgH="1600200" progId="Equation.3">
                  <p:embed/>
                  <p:pic>
                    <p:nvPicPr>
                      <p:cNvPr id="286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219200"/>
                        <a:ext cx="7019925" cy="2443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50</a:t>
            </a:fld>
            <a:endParaRPr lang="en-US" dirty="0"/>
          </a:p>
        </p:txBody>
      </p:sp>
      <p:sp>
        <p:nvSpPr>
          <p:cNvPr id="6" name="Oval 5"/>
          <p:cNvSpPr/>
          <p:nvPr/>
        </p:nvSpPr>
        <p:spPr>
          <a:xfrm>
            <a:off x="6217902" y="1783097"/>
            <a:ext cx="1280146" cy="64007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486390" y="3063244"/>
            <a:ext cx="1280146" cy="64007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t>Insights from the dual solution</a:t>
            </a:r>
          </a:p>
        </p:txBody>
      </p:sp>
      <p:sp>
        <p:nvSpPr>
          <p:cNvPr id="29699" name="Rectangle 3"/>
          <p:cNvSpPr>
            <a:spLocks noGrp="1" noChangeArrowheads="1"/>
          </p:cNvSpPr>
          <p:nvPr>
            <p:ph type="body" idx="1"/>
          </p:nvPr>
        </p:nvSpPr>
        <p:spPr>
          <a:xfrm>
            <a:off x="457200" y="1295400"/>
            <a:ext cx="8229600" cy="3200400"/>
          </a:xfrm>
        </p:spPr>
        <p:txBody>
          <a:bodyPr/>
          <a:lstStyle/>
          <a:p>
            <a:pPr>
              <a:lnSpc>
                <a:spcPct val="80000"/>
              </a:lnSpc>
            </a:pPr>
            <a:r>
              <a:rPr lang="en-US" sz="2800" dirty="0"/>
              <a:t>The total valuation of the factory is the same as the optimal objective function value of the original product mix model. </a:t>
            </a:r>
          </a:p>
          <a:p>
            <a:pPr>
              <a:lnSpc>
                <a:spcPct val="80000"/>
              </a:lnSpc>
            </a:pPr>
            <a:r>
              <a:rPr lang="en-US" sz="2800" dirty="0"/>
              <a:t>In other words, the total value of the factory is equal to the value of its optimal output.</a:t>
            </a:r>
          </a:p>
          <a:p>
            <a:pPr>
              <a:lnSpc>
                <a:spcPct val="80000"/>
              </a:lnSpc>
            </a:pPr>
            <a:r>
              <a:rPr lang="en-US" sz="2800" dirty="0"/>
              <a:t>Drilling capacity is not totally utilized.</a:t>
            </a:r>
          </a:p>
          <a:p>
            <a:pPr lvl="1">
              <a:lnSpc>
                <a:spcPct val="80000"/>
              </a:lnSpc>
            </a:pPr>
            <a:r>
              <a:rPr lang="en-US" sz="2400" dirty="0"/>
              <a:t>Therefore, valued at $0/hr.</a:t>
            </a:r>
          </a:p>
          <a:p>
            <a:pPr>
              <a:lnSpc>
                <a:spcPct val="80000"/>
              </a:lnSpc>
            </a:pPr>
            <a:r>
              <a:rPr lang="en-US" sz="2800" dirty="0"/>
              <a:t>Resource usage of products 1 and 2:</a:t>
            </a:r>
          </a:p>
        </p:txBody>
      </p:sp>
      <p:graphicFrame>
        <p:nvGraphicFramePr>
          <p:cNvPr id="29700" name="Object 4"/>
          <p:cNvGraphicFramePr>
            <a:graphicFrameLocks noChangeAspect="1"/>
          </p:cNvGraphicFramePr>
          <p:nvPr/>
        </p:nvGraphicFramePr>
        <p:xfrm>
          <a:off x="838200" y="4724400"/>
          <a:ext cx="6934200" cy="1022350"/>
        </p:xfrm>
        <a:graphic>
          <a:graphicData uri="http://schemas.openxmlformats.org/presentationml/2006/ole">
            <mc:AlternateContent xmlns:mc="http://schemas.openxmlformats.org/markup-compatibility/2006">
              <mc:Choice xmlns:v="urn:schemas-microsoft-com:vml" Requires="v">
                <p:oleObj name="Equation" r:id="rId3" imgW="4647960" imgH="685800" progId="Equation.3">
                  <p:embed/>
                </p:oleObj>
              </mc:Choice>
              <mc:Fallback>
                <p:oleObj name="Equation" r:id="rId3" imgW="4647960" imgH="685800" progId="Equation.3">
                  <p:embed/>
                  <p:pic>
                    <p:nvPicPr>
                      <p:cNvPr id="2970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724400"/>
                        <a:ext cx="6934200" cy="1022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1" name="Rectangle 5"/>
          <p:cNvSpPr>
            <a:spLocks noChangeArrowheads="1"/>
          </p:cNvSpPr>
          <p:nvPr/>
        </p:nvSpPr>
        <p:spPr bwMode="auto">
          <a:xfrm>
            <a:off x="5486400" y="4648200"/>
            <a:ext cx="2286000" cy="533400"/>
          </a:xfrm>
          <a:prstGeom prst="rect">
            <a:avLst/>
          </a:prstGeom>
          <a:solidFill>
            <a:schemeClr val="bg1"/>
          </a:solidFill>
          <a:ln w="9525">
            <a:noFill/>
            <a:miter lim="800000"/>
            <a:headEnd/>
            <a:tailEnd/>
          </a:ln>
          <a:effectLst/>
        </p:spPr>
        <p:txBody>
          <a:bodyPr wrap="none" anchor="ctr"/>
          <a:lstStyle/>
          <a:p>
            <a:endParaRPr lang="en-US"/>
          </a:p>
        </p:txBody>
      </p:sp>
      <p:sp>
        <p:nvSpPr>
          <p:cNvPr id="29702" name="Rectangle 6"/>
          <p:cNvSpPr>
            <a:spLocks noChangeArrowheads="1"/>
          </p:cNvSpPr>
          <p:nvPr/>
        </p:nvSpPr>
        <p:spPr bwMode="auto">
          <a:xfrm>
            <a:off x="5334000" y="5257800"/>
            <a:ext cx="2362200" cy="533400"/>
          </a:xfrm>
          <a:prstGeom prst="rect">
            <a:avLst/>
          </a:prstGeom>
          <a:solidFill>
            <a:schemeClr val="bg1"/>
          </a:solidFill>
          <a:ln w="9525">
            <a:noFill/>
            <a:miter lim="800000"/>
            <a:headEnd/>
            <a:tailEnd/>
          </a:ln>
          <a:effectLst/>
        </p:spPr>
        <p:txBody>
          <a:bodyPr wrap="none" anchor="ctr"/>
          <a:lstStyle/>
          <a:p>
            <a:endParaRPr lang="en-US"/>
          </a:p>
        </p:txBody>
      </p:sp>
      <p:sp>
        <p:nvSpPr>
          <p:cNvPr id="7"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51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699">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70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2970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297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uiExpand="1" build="p"/>
      <p:bldP spid="29701" grpId="0" animBg="1"/>
      <p:bldP spid="2970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dirty="0"/>
              <a:t>Insights from the dual solution</a:t>
            </a:r>
          </a:p>
        </p:txBody>
      </p:sp>
      <p:sp>
        <p:nvSpPr>
          <p:cNvPr id="54275" name="Rectangle 3"/>
          <p:cNvSpPr>
            <a:spLocks noGrp="1" noChangeArrowheads="1"/>
          </p:cNvSpPr>
          <p:nvPr>
            <p:ph type="body" idx="1"/>
          </p:nvPr>
        </p:nvSpPr>
        <p:spPr>
          <a:xfrm>
            <a:off x="457200" y="1600200"/>
            <a:ext cx="8229600" cy="838200"/>
          </a:xfrm>
        </p:spPr>
        <p:txBody>
          <a:bodyPr/>
          <a:lstStyle/>
          <a:p>
            <a:r>
              <a:rPr lang="en-US"/>
              <a:t>Resource usage of products 3, 4 and 5</a:t>
            </a:r>
          </a:p>
        </p:txBody>
      </p:sp>
      <p:graphicFrame>
        <p:nvGraphicFramePr>
          <p:cNvPr id="54276" name="Object 4"/>
          <p:cNvGraphicFramePr>
            <a:graphicFrameLocks noChangeAspect="1"/>
          </p:cNvGraphicFramePr>
          <p:nvPr/>
        </p:nvGraphicFramePr>
        <p:xfrm>
          <a:off x="381000" y="2362200"/>
          <a:ext cx="8223250" cy="1593850"/>
        </p:xfrm>
        <a:graphic>
          <a:graphicData uri="http://schemas.openxmlformats.org/presentationml/2006/ole">
            <mc:AlternateContent xmlns:mc="http://schemas.openxmlformats.org/markup-compatibility/2006">
              <mc:Choice xmlns:v="urn:schemas-microsoft-com:vml" Requires="v">
                <p:oleObj name="Equation" r:id="rId3" imgW="5511600" imgH="1066680" progId="Equation.3">
                  <p:embed/>
                </p:oleObj>
              </mc:Choice>
              <mc:Fallback>
                <p:oleObj name="Equation" r:id="rId3" imgW="5511600" imgH="1066680" progId="Equation.3">
                  <p:embed/>
                  <p:pic>
                    <p:nvPicPr>
                      <p:cNvPr id="5427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362200"/>
                        <a:ext cx="8223250" cy="159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277" name="Rectangle 5"/>
          <p:cNvSpPr>
            <a:spLocks noChangeArrowheads="1"/>
          </p:cNvSpPr>
          <p:nvPr/>
        </p:nvSpPr>
        <p:spPr bwMode="auto">
          <a:xfrm>
            <a:off x="457200" y="4267200"/>
            <a:ext cx="8229600" cy="1600200"/>
          </a:xfrm>
          <a:prstGeom prst="rect">
            <a:avLst/>
          </a:prstGeom>
          <a:noFill/>
          <a:ln w="9525">
            <a:noFill/>
            <a:miter lim="800000"/>
            <a:headEnd/>
            <a:tailEnd/>
          </a:ln>
          <a:effectLst/>
        </p:spPr>
        <p:txBody>
          <a:bodyPr/>
          <a:lstStyle/>
          <a:p>
            <a:pPr marL="342900" indent="-342900">
              <a:spcBef>
                <a:spcPct val="20000"/>
              </a:spcBef>
              <a:buFontTx/>
              <a:buChar char="•"/>
            </a:pPr>
            <a:r>
              <a:rPr lang="en-US" sz="3200"/>
              <a:t>These products are “too cheap” with respect to the resources that they use.</a:t>
            </a:r>
          </a:p>
        </p:txBody>
      </p:sp>
      <p:sp>
        <p:nvSpPr>
          <p:cNvPr id="54278" name="Rectangle 6"/>
          <p:cNvSpPr>
            <a:spLocks noChangeArrowheads="1"/>
          </p:cNvSpPr>
          <p:nvPr/>
        </p:nvSpPr>
        <p:spPr bwMode="auto">
          <a:xfrm>
            <a:off x="4876800" y="2286000"/>
            <a:ext cx="3276600" cy="609600"/>
          </a:xfrm>
          <a:prstGeom prst="rect">
            <a:avLst/>
          </a:prstGeom>
          <a:solidFill>
            <a:schemeClr val="bg1"/>
          </a:solidFill>
          <a:ln w="9525">
            <a:noFill/>
            <a:miter lim="800000"/>
            <a:headEnd/>
            <a:tailEnd/>
          </a:ln>
          <a:effectLst/>
        </p:spPr>
        <p:txBody>
          <a:bodyPr wrap="none" anchor="ctr"/>
          <a:lstStyle/>
          <a:p>
            <a:endParaRPr lang="en-US"/>
          </a:p>
        </p:txBody>
      </p:sp>
      <p:sp>
        <p:nvSpPr>
          <p:cNvPr id="54279" name="Rectangle 7"/>
          <p:cNvSpPr>
            <a:spLocks noChangeArrowheads="1"/>
          </p:cNvSpPr>
          <p:nvPr/>
        </p:nvSpPr>
        <p:spPr bwMode="auto">
          <a:xfrm>
            <a:off x="4876800" y="2971800"/>
            <a:ext cx="3733800" cy="457200"/>
          </a:xfrm>
          <a:prstGeom prst="rect">
            <a:avLst/>
          </a:prstGeom>
          <a:solidFill>
            <a:schemeClr val="bg1"/>
          </a:solidFill>
          <a:ln w="9525">
            <a:noFill/>
            <a:miter lim="800000"/>
            <a:headEnd/>
            <a:tailEnd/>
          </a:ln>
          <a:effectLst/>
        </p:spPr>
        <p:txBody>
          <a:bodyPr wrap="none" anchor="ctr"/>
          <a:lstStyle/>
          <a:p>
            <a:endParaRPr lang="en-US"/>
          </a:p>
        </p:txBody>
      </p:sp>
      <p:sp>
        <p:nvSpPr>
          <p:cNvPr id="54280" name="Rectangle 8"/>
          <p:cNvSpPr>
            <a:spLocks noChangeArrowheads="1"/>
          </p:cNvSpPr>
          <p:nvPr/>
        </p:nvSpPr>
        <p:spPr bwMode="auto">
          <a:xfrm>
            <a:off x="4876800" y="3505200"/>
            <a:ext cx="3733800" cy="457200"/>
          </a:xfrm>
          <a:prstGeom prst="rect">
            <a:avLst/>
          </a:prstGeom>
          <a:solidFill>
            <a:schemeClr val="bg1"/>
          </a:solidFill>
          <a:ln w="9525">
            <a:noFill/>
            <a:miter lim="800000"/>
            <a:headEnd/>
            <a:tailEnd/>
          </a:ln>
          <a:effectLst/>
        </p:spPr>
        <p:txBody>
          <a:bodyPr wrap="none" anchor="ctr"/>
          <a:lstStyle/>
          <a:p>
            <a:endParaRPr lang="en-US"/>
          </a:p>
        </p:txBody>
      </p:sp>
      <p:sp>
        <p:nvSpPr>
          <p:cNvPr id="9"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52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427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427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428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2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p:bldP spid="54278" grpId="0" animBg="1"/>
      <p:bldP spid="54279" grpId="0" animBg="1"/>
      <p:bldP spid="5428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dirty="0"/>
              <a:t>Insights from the dual solution</a:t>
            </a:r>
          </a:p>
        </p:txBody>
      </p:sp>
      <p:sp>
        <p:nvSpPr>
          <p:cNvPr id="31747" name="Rectangle 3"/>
          <p:cNvSpPr>
            <a:spLocks noGrp="1" noChangeArrowheads="1"/>
          </p:cNvSpPr>
          <p:nvPr>
            <p:ph type="body" idx="1"/>
          </p:nvPr>
        </p:nvSpPr>
        <p:spPr/>
        <p:txBody>
          <a:bodyPr/>
          <a:lstStyle/>
          <a:p>
            <a:r>
              <a:rPr lang="en-US"/>
              <a:t>Using the valuations from the dual model, we conclude that:</a:t>
            </a:r>
          </a:p>
          <a:p>
            <a:pPr lvl="1"/>
            <a:r>
              <a:rPr lang="en-US"/>
              <a:t>At most products 1 and 2 should be manufactured.</a:t>
            </a:r>
          </a:p>
          <a:p>
            <a:pPr lvl="1"/>
            <a:r>
              <a:rPr lang="en-US"/>
              <a:t>Drilling capacity is not binding.</a:t>
            </a:r>
          </a:p>
          <a:p>
            <a:pPr lvl="2"/>
            <a:r>
              <a:rPr lang="en-US"/>
              <a:t>Word of caution: Although this assertion is true in many cases, a zero dual variable does not always indicate a non-binding constraint.</a:t>
            </a:r>
          </a:p>
        </p:txBody>
      </p:sp>
      <p:sp>
        <p:nvSpPr>
          <p:cNvPr id="4"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dirty="0"/>
              <a:t>Shadow prices</a:t>
            </a:r>
          </a:p>
        </p:txBody>
      </p:sp>
      <p:sp>
        <p:nvSpPr>
          <p:cNvPr id="32771" name="Rectangle 3"/>
          <p:cNvSpPr>
            <a:spLocks noGrp="1" noChangeArrowheads="1"/>
          </p:cNvSpPr>
          <p:nvPr>
            <p:ph type="body" idx="1"/>
          </p:nvPr>
        </p:nvSpPr>
        <p:spPr>
          <a:xfrm>
            <a:off x="457200" y="1249363"/>
            <a:ext cx="8229600" cy="5380037"/>
          </a:xfrm>
        </p:spPr>
        <p:txBody>
          <a:bodyPr/>
          <a:lstStyle/>
          <a:p>
            <a:pPr>
              <a:lnSpc>
                <a:spcPct val="80000"/>
              </a:lnSpc>
            </a:pPr>
            <a:r>
              <a:rPr lang="en-US" sz="2800" dirty="0"/>
              <a:t>The valuations that we have obtained from the solution of the dual problem are also called </a:t>
            </a:r>
            <a:r>
              <a:rPr lang="en-US" sz="2800" i="1" dirty="0"/>
              <a:t>shadow prices.</a:t>
            </a:r>
            <a:r>
              <a:rPr lang="en-US" sz="2800" dirty="0"/>
              <a:t> Shadow prices denote “opportunity costs.”</a:t>
            </a:r>
          </a:p>
          <a:p>
            <a:pPr lvl="1">
              <a:lnSpc>
                <a:spcPct val="80000"/>
              </a:lnSpc>
            </a:pPr>
            <a:r>
              <a:rPr lang="en-US" sz="2400" dirty="0"/>
              <a:t>These values are automatically generated by package programs, and their meanings are dependent on the specific application and model.</a:t>
            </a:r>
          </a:p>
          <a:p>
            <a:pPr>
              <a:lnSpc>
                <a:spcPct val="80000"/>
              </a:lnSpc>
            </a:pPr>
            <a:r>
              <a:rPr lang="en-US" sz="2800" dirty="0"/>
              <a:t>Shadow prices represent the effect of small changes to the right hand side coefficients, i.e., they are marginal valuations.</a:t>
            </a:r>
          </a:p>
          <a:p>
            <a:pPr lvl="1">
              <a:lnSpc>
                <a:spcPct val="80000"/>
              </a:lnSpc>
            </a:pPr>
            <a:r>
              <a:rPr lang="en-US" sz="2400" b="1" dirty="0"/>
              <a:t>They are valid for specific ranges of the right hand side coefficients.</a:t>
            </a:r>
          </a:p>
          <a:p>
            <a:pPr lvl="1">
              <a:lnSpc>
                <a:spcPct val="80000"/>
              </a:lnSpc>
            </a:pPr>
            <a:r>
              <a:rPr lang="en-US" sz="2400" b="1" dirty="0"/>
              <a:t>These ranges are valid for right-hand-side changes that are considered one at a time.</a:t>
            </a:r>
          </a:p>
          <a:p>
            <a:pPr lvl="1">
              <a:lnSpc>
                <a:spcPct val="80000"/>
              </a:lnSpc>
            </a:pPr>
            <a:r>
              <a:rPr lang="en-US" sz="2400" dirty="0"/>
              <a:t>Simultaneous changes are more difficult to analyze.</a:t>
            </a:r>
          </a:p>
        </p:txBody>
      </p:sp>
      <p:sp>
        <p:nvSpPr>
          <p:cNvPr id="4"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54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771">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771">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7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dirty="0"/>
              <a:t>Reduced costs</a:t>
            </a:r>
          </a:p>
        </p:txBody>
      </p:sp>
      <p:sp>
        <p:nvSpPr>
          <p:cNvPr id="34819" name="Rectangle 3"/>
          <p:cNvSpPr>
            <a:spLocks noGrp="1" noChangeArrowheads="1"/>
          </p:cNvSpPr>
          <p:nvPr>
            <p:ph type="body" idx="1"/>
          </p:nvPr>
        </p:nvSpPr>
        <p:spPr>
          <a:xfrm>
            <a:off x="457200" y="1295400"/>
            <a:ext cx="8229600" cy="5562600"/>
          </a:xfrm>
        </p:spPr>
        <p:txBody>
          <a:bodyPr/>
          <a:lstStyle/>
          <a:p>
            <a:r>
              <a:rPr lang="en-US" sz="2800" dirty="0"/>
              <a:t>In the previous example, the unit profit contributions of products 1 and 2 were covered exactly by the attributed costs of the resources that they use.</a:t>
            </a:r>
          </a:p>
          <a:p>
            <a:r>
              <a:rPr lang="en-US" sz="2800" dirty="0"/>
              <a:t>For other products (that we do not produce), the attributed costs of the resources exceeded the unit profit contributions of the products.</a:t>
            </a:r>
          </a:p>
          <a:p>
            <a:pPr lvl="1"/>
            <a:r>
              <a:rPr lang="en-US" sz="2400" dirty="0"/>
              <a:t>This excess amount is called the “reduced cost” of a variable. </a:t>
            </a:r>
          </a:p>
          <a:p>
            <a:pPr lvl="1"/>
            <a:r>
              <a:rPr lang="en-US" sz="2400" dirty="0"/>
              <a:t>Note that this amount is zero for products 1 and 2.</a:t>
            </a:r>
          </a:p>
          <a:p>
            <a:r>
              <a:rPr lang="en-US" sz="2800" dirty="0"/>
              <a:t>Technically, a reduced cost corresponds to the infeasibility in the corresponding dual constraint.</a:t>
            </a:r>
          </a:p>
        </p:txBody>
      </p:sp>
      <p:sp>
        <p:nvSpPr>
          <p:cNvPr id="4"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55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81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8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dirty="0"/>
              <a:t>Reduced costs</a:t>
            </a:r>
          </a:p>
        </p:txBody>
      </p:sp>
      <p:sp>
        <p:nvSpPr>
          <p:cNvPr id="35843" name="Rectangle 3"/>
          <p:cNvSpPr>
            <a:spLocks noGrp="1" noChangeArrowheads="1"/>
          </p:cNvSpPr>
          <p:nvPr>
            <p:ph type="body" idx="1"/>
          </p:nvPr>
        </p:nvSpPr>
        <p:spPr>
          <a:xfrm>
            <a:off x="457200" y="1600200"/>
            <a:ext cx="8229600" cy="5029200"/>
          </a:xfrm>
        </p:spPr>
        <p:txBody>
          <a:bodyPr/>
          <a:lstStyle/>
          <a:p>
            <a:pPr>
              <a:lnSpc>
                <a:spcPct val="90000"/>
              </a:lnSpc>
            </a:pPr>
            <a:r>
              <a:rPr lang="en-US"/>
              <a:t>As computed before, the reduced costs for products 3, 4 and 5 are $125, $231.25, and $368.25, respectively.</a:t>
            </a:r>
          </a:p>
          <a:p>
            <a:pPr>
              <a:lnSpc>
                <a:spcPct val="90000"/>
              </a:lnSpc>
            </a:pPr>
            <a:r>
              <a:rPr lang="en-US"/>
              <a:t>So, by how much would you have to increase their prices in order for it to be worth to manufacture these products? </a:t>
            </a:r>
          </a:p>
          <a:p>
            <a:pPr>
              <a:lnSpc>
                <a:spcPct val="90000"/>
              </a:lnSpc>
            </a:pPr>
            <a:r>
              <a:rPr lang="en-US"/>
              <a:t>The interpretation of reduced costs depends on the specific application and model. They represent opportunity costs of making non-optimal decisions.</a:t>
            </a:r>
          </a:p>
          <a:p>
            <a:pPr>
              <a:lnSpc>
                <a:spcPct val="90000"/>
              </a:lnSpc>
            </a:pPr>
            <a:endParaRPr lang="en-US"/>
          </a:p>
        </p:txBody>
      </p:sp>
      <p:sp>
        <p:nvSpPr>
          <p:cNvPr id="4"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56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a:t>Reduced costs</a:t>
            </a:r>
          </a:p>
        </p:txBody>
      </p:sp>
      <p:sp>
        <p:nvSpPr>
          <p:cNvPr id="55299" name="Rectangle 3"/>
          <p:cNvSpPr>
            <a:spLocks noGrp="1" noChangeArrowheads="1"/>
          </p:cNvSpPr>
          <p:nvPr>
            <p:ph type="body" idx="1"/>
          </p:nvPr>
        </p:nvSpPr>
        <p:spPr>
          <a:xfrm>
            <a:off x="457200" y="1600200"/>
            <a:ext cx="8229600" cy="4810125"/>
          </a:xfrm>
        </p:spPr>
        <p:txBody>
          <a:bodyPr/>
          <a:lstStyle/>
          <a:p>
            <a:r>
              <a:rPr lang="en-US" dirty="0"/>
              <a:t>Similar to the shadow prices</a:t>
            </a:r>
          </a:p>
          <a:p>
            <a:pPr lvl="1"/>
            <a:r>
              <a:rPr lang="en-US" b="1" dirty="0"/>
              <a:t>The reduced costs are valid for specific ranges of the objective coefficients.</a:t>
            </a:r>
          </a:p>
          <a:p>
            <a:pPr lvl="1"/>
            <a:r>
              <a:rPr lang="en-US" b="1" dirty="0"/>
              <a:t>These ranges are valid for objective coefficient changes that are considered one at a time.</a:t>
            </a:r>
          </a:p>
          <a:p>
            <a:pPr lvl="1"/>
            <a:r>
              <a:rPr lang="en-US" dirty="0"/>
              <a:t>Simultaneous changes are more difficult to analyze.</a:t>
            </a:r>
          </a:p>
          <a:p>
            <a:endParaRPr lang="en-US" dirty="0"/>
          </a:p>
        </p:txBody>
      </p:sp>
      <p:sp>
        <p:nvSpPr>
          <p:cNvPr id="4" name="Slide Number Placeholder 5"/>
          <p:cNvSpPr>
            <a:spLocks noGrp="1"/>
          </p:cNvSpPr>
          <p:nvPr>
            <p:ph type="sldNum" sz="quarter" idx="12"/>
          </p:nvPr>
        </p:nvSpPr>
        <p:spPr>
          <a:xfrm>
            <a:off x="6553200" y="6356350"/>
            <a:ext cx="2133600" cy="365125"/>
          </a:xfrm>
        </p:spPr>
        <p:txBody>
          <a:bodyPr/>
          <a:lstStyle/>
          <a:p>
            <a:fld id="{2D837443-811D-4E89-8616-63FC4D41BA0A}" type="slidenum">
              <a:rPr lang="en-US"/>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dirty="0"/>
              <a:t>The carpenter’s problem</a:t>
            </a:r>
            <a:br>
              <a:rPr lang="tr-TR" dirty="0"/>
            </a:br>
            <a:r>
              <a:rPr lang="tr-TR" dirty="0"/>
              <a:t>A linear programming problem formulation</a:t>
            </a:r>
          </a:p>
        </p:txBody>
      </p:sp>
      <p:sp>
        <p:nvSpPr>
          <p:cNvPr id="3" name="Content Placeholder 2"/>
          <p:cNvSpPr>
            <a:spLocks noGrp="1"/>
          </p:cNvSpPr>
          <p:nvPr>
            <p:ph idx="1"/>
          </p:nvPr>
        </p:nvSpPr>
        <p:spPr/>
        <p:txBody>
          <a:bodyPr>
            <a:normAutofit/>
          </a:bodyPr>
          <a:lstStyle/>
          <a:p>
            <a:pPr>
              <a:buNone/>
            </a:pPr>
            <a:r>
              <a:rPr lang="tr-TR" sz="2400" b="1" dirty="0"/>
              <a:t>Problem formulation</a:t>
            </a:r>
            <a:endParaRPr lang="en-US" sz="2400" b="1" dirty="0"/>
          </a:p>
        </p:txBody>
      </p:sp>
      <p:sp>
        <p:nvSpPr>
          <p:cNvPr id="5" name="Text Box 6"/>
          <p:cNvSpPr txBox="1">
            <a:spLocks noChangeArrowheads="1"/>
          </p:cNvSpPr>
          <p:nvPr/>
        </p:nvSpPr>
        <p:spPr bwMode="auto">
          <a:xfrm>
            <a:off x="1905000" y="2133600"/>
            <a:ext cx="4953000" cy="2492990"/>
          </a:xfrm>
          <a:prstGeom prst="rect">
            <a:avLst/>
          </a:prstGeom>
          <a:noFill/>
          <a:ln w="12700">
            <a:noFill/>
            <a:miter lim="800000"/>
            <a:headEnd type="none" w="sm" len="sm"/>
            <a:tailEnd type="none" w="sm" len="sm"/>
          </a:ln>
          <a:effectLst/>
        </p:spPr>
        <p:txBody>
          <a:bodyPr wrap="square">
            <a:spAutoFit/>
          </a:bodyPr>
          <a:lstStyle/>
          <a:p>
            <a:pPr eaLnBrk="0" hangingPunct="0">
              <a:spcBef>
                <a:spcPct val="50000"/>
              </a:spcBef>
            </a:pPr>
            <a:r>
              <a:rPr lang="tr-TR" sz="2400" b="1" dirty="0"/>
              <a:t>Maximize       z   =     </a:t>
            </a:r>
            <a:r>
              <a:rPr lang="en-US" sz="2400" b="1" dirty="0">
                <a:solidFill>
                  <a:srgbClr val="FF0000"/>
                </a:solidFill>
              </a:rPr>
              <a:t>4</a:t>
            </a:r>
            <a:r>
              <a:rPr lang="tr-TR" sz="2400" b="1" dirty="0">
                <a:solidFill>
                  <a:srgbClr val="FF0000"/>
                </a:solidFill>
              </a:rPr>
              <a:t>0</a:t>
            </a:r>
            <a:r>
              <a:rPr lang="en-US" sz="2400" b="1" dirty="0">
                <a:solidFill>
                  <a:srgbClr val="FF0000"/>
                </a:solidFill>
              </a:rPr>
              <a:t>x</a:t>
            </a:r>
            <a:r>
              <a:rPr lang="en-US" sz="2400" b="1" baseline="-25000" dirty="0">
                <a:solidFill>
                  <a:srgbClr val="FF0000"/>
                </a:solidFill>
              </a:rPr>
              <a:t>1</a:t>
            </a:r>
            <a:r>
              <a:rPr lang="en-US" sz="2400" b="1" dirty="0">
                <a:solidFill>
                  <a:srgbClr val="FF0000"/>
                </a:solidFill>
              </a:rPr>
              <a:t> + </a:t>
            </a:r>
            <a:r>
              <a:rPr lang="tr-TR" sz="2400" b="1" dirty="0">
                <a:solidFill>
                  <a:srgbClr val="FF0000"/>
                </a:solidFill>
              </a:rPr>
              <a:t>  15</a:t>
            </a:r>
            <a:r>
              <a:rPr lang="en-US" sz="2400" b="1" dirty="0">
                <a:solidFill>
                  <a:srgbClr val="FF0000"/>
                </a:solidFill>
              </a:rPr>
              <a:t>x</a:t>
            </a:r>
            <a:r>
              <a:rPr lang="en-US" sz="2400" b="1" baseline="-25000" dirty="0">
                <a:solidFill>
                  <a:srgbClr val="FF0000"/>
                </a:solidFill>
              </a:rPr>
              <a:t>2</a:t>
            </a:r>
            <a:endParaRPr lang="tr-TR" sz="2400" b="1" baseline="-25000" dirty="0">
              <a:solidFill>
                <a:srgbClr val="FF0000"/>
              </a:solidFill>
            </a:endParaRPr>
          </a:p>
          <a:p>
            <a:pPr eaLnBrk="0" hangingPunct="0">
              <a:spcBef>
                <a:spcPct val="50000"/>
              </a:spcBef>
            </a:pPr>
            <a:r>
              <a:rPr lang="tr-TR" sz="2400" b="1" dirty="0"/>
              <a:t>subject to                    </a:t>
            </a:r>
            <a:r>
              <a:rPr lang="en-US" sz="2400" b="1" dirty="0"/>
              <a:t>2 x</a:t>
            </a:r>
            <a:r>
              <a:rPr lang="en-US" sz="2400" b="1" baseline="-25000" dirty="0"/>
              <a:t>1</a:t>
            </a:r>
            <a:r>
              <a:rPr lang="en-US" sz="2400" b="1" dirty="0"/>
              <a:t> + x</a:t>
            </a:r>
            <a:r>
              <a:rPr lang="en-US" sz="2400" b="1" baseline="-25000" dirty="0"/>
              <a:t>2</a:t>
            </a:r>
            <a:r>
              <a:rPr lang="en-US" sz="2400" b="1" dirty="0"/>
              <a:t>  </a:t>
            </a:r>
            <a:r>
              <a:rPr lang="tr-TR" sz="2400" b="1" dirty="0"/>
              <a:t> </a:t>
            </a:r>
            <a:r>
              <a:rPr lang="en-US" sz="2400" b="1" dirty="0"/>
              <a:t>≤ </a:t>
            </a:r>
            <a:r>
              <a:rPr lang="tr-TR" sz="2400" b="1" dirty="0"/>
              <a:t>40</a:t>
            </a:r>
            <a:endParaRPr lang="en-US" sz="2400" b="1" baseline="-25000" dirty="0"/>
          </a:p>
          <a:p>
            <a:pPr eaLnBrk="0" hangingPunct="0">
              <a:spcBef>
                <a:spcPct val="50000"/>
              </a:spcBef>
            </a:pPr>
            <a:r>
              <a:rPr lang="tr-TR" sz="2400" b="1" dirty="0"/>
              <a:t>                                       </a:t>
            </a:r>
            <a:r>
              <a:rPr lang="en-US" sz="2400" b="1" dirty="0"/>
              <a:t>x</a:t>
            </a:r>
            <a:r>
              <a:rPr lang="en-US" sz="2400" b="1" baseline="-25000" dirty="0"/>
              <a:t>1</a:t>
            </a:r>
            <a:r>
              <a:rPr lang="en-US" sz="2400" b="1" dirty="0"/>
              <a:t> + </a:t>
            </a:r>
            <a:r>
              <a:rPr lang="tr-TR" sz="2400" b="1" dirty="0"/>
              <a:t>2 </a:t>
            </a:r>
            <a:r>
              <a:rPr lang="en-US" sz="2400" b="1" dirty="0"/>
              <a:t>x</a:t>
            </a:r>
            <a:r>
              <a:rPr lang="en-US" sz="2400" b="1" baseline="-25000" dirty="0"/>
              <a:t>2</a:t>
            </a:r>
            <a:r>
              <a:rPr lang="en-US" sz="2400" b="1" dirty="0"/>
              <a:t>  ≤ </a:t>
            </a:r>
            <a:r>
              <a:rPr lang="tr-TR" sz="2400" b="1" dirty="0"/>
              <a:t>5</a:t>
            </a:r>
            <a:r>
              <a:rPr lang="en-US" sz="2400" b="1" dirty="0"/>
              <a:t>0</a:t>
            </a:r>
            <a:endParaRPr lang="en-US" sz="2400" b="1" baseline="-25000" dirty="0"/>
          </a:p>
          <a:p>
            <a:pPr eaLnBrk="0" hangingPunct="0">
              <a:spcBef>
                <a:spcPct val="50000"/>
              </a:spcBef>
            </a:pPr>
            <a:r>
              <a:rPr lang="tr-TR" sz="2400" b="1" dirty="0"/>
              <a:t>                                       </a:t>
            </a:r>
            <a:r>
              <a:rPr lang="en-US" sz="2400" b="1" dirty="0"/>
              <a:t>x</a:t>
            </a:r>
            <a:r>
              <a:rPr lang="en-US" sz="2400" b="1" baseline="-25000" dirty="0"/>
              <a:t>1</a:t>
            </a:r>
            <a:r>
              <a:rPr lang="en-US" sz="2400" b="1" dirty="0"/>
              <a:t> ≥ 0</a:t>
            </a:r>
            <a:r>
              <a:rPr lang="tr-TR" sz="2400" b="1" dirty="0"/>
              <a:t>,</a:t>
            </a:r>
            <a:r>
              <a:rPr lang="en-US" sz="2400" b="1" dirty="0"/>
              <a:t> x</a:t>
            </a:r>
            <a:r>
              <a:rPr lang="en-US" sz="2400" b="1" baseline="-25000" dirty="0"/>
              <a:t>2</a:t>
            </a:r>
            <a:r>
              <a:rPr lang="en-US" sz="2400" b="1" dirty="0"/>
              <a:t> ≥ 0</a:t>
            </a:r>
            <a:endParaRPr lang="en-US" sz="2400" b="1" baseline="-25000" dirty="0"/>
          </a:p>
          <a:p>
            <a:pPr eaLnBrk="0" hangingPunct="0">
              <a:spcBef>
                <a:spcPct val="50000"/>
              </a:spcBef>
            </a:pPr>
            <a:endParaRPr lang="en-US" sz="2400" b="1" baseline="-25000" dirty="0"/>
          </a:p>
        </p:txBody>
      </p:sp>
    </p:spTree>
    <p:extLst>
      <p:ext uri="{BB962C8B-B14F-4D97-AF65-F5344CB8AC3E}">
        <p14:creationId xmlns:p14="http://schemas.microsoft.com/office/powerpoint/2010/main" val="249788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Shadow prices and reduced costs</a:t>
            </a:r>
          </a:p>
        </p:txBody>
      </p:sp>
      <p:sp>
        <p:nvSpPr>
          <p:cNvPr id="3" name="Content Placeholder 2"/>
          <p:cNvSpPr>
            <a:spLocks noGrp="1"/>
          </p:cNvSpPr>
          <p:nvPr>
            <p:ph idx="1"/>
          </p:nvPr>
        </p:nvSpPr>
        <p:spPr>
          <a:xfrm>
            <a:off x="457199" y="1600200"/>
            <a:ext cx="8361947" cy="4525963"/>
          </a:xfrm>
        </p:spPr>
        <p:txBody>
          <a:bodyPr/>
          <a:lstStyle/>
          <a:p>
            <a:r>
              <a:rPr lang="tr-TR" dirty="0"/>
              <a:t>What is sensitivity analysis?</a:t>
            </a:r>
            <a:endParaRPr lang="en-US" dirty="0"/>
          </a:p>
          <a:p>
            <a:endParaRPr lang="tr-TR" dirty="0"/>
          </a:p>
          <a:p>
            <a:r>
              <a:rPr lang="en-US" dirty="0"/>
              <a:t>“Sensitivity Report” in the Excel Solver output…</a:t>
            </a:r>
          </a:p>
        </p:txBody>
      </p:sp>
      <p:pic>
        <p:nvPicPr>
          <p:cNvPr id="4" name="Picture 3">
            <a:extLst>
              <a:ext uri="{FF2B5EF4-FFF2-40B4-BE49-F238E27FC236}">
                <a16:creationId xmlns:a16="http://schemas.microsoft.com/office/drawing/2014/main" id="{ED497569-09F5-4CE9-9F8B-12EB2D15D953}"/>
              </a:ext>
            </a:extLst>
          </p:cNvPr>
          <p:cNvPicPr>
            <a:picLocks noChangeAspect="1"/>
          </p:cNvPicPr>
          <p:nvPr/>
        </p:nvPicPr>
        <p:blipFill>
          <a:blip r:embed="rId3"/>
          <a:stretch>
            <a:fillRect/>
          </a:stretch>
        </p:blipFill>
        <p:spPr>
          <a:xfrm>
            <a:off x="1498860" y="2612434"/>
            <a:ext cx="4901939" cy="36962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712B-7052-4FF2-88EF-636EC931DFCA}"/>
              </a:ext>
            </a:extLst>
          </p:cNvPr>
          <p:cNvSpPr>
            <a:spLocks noGrp="1"/>
          </p:cNvSpPr>
          <p:nvPr>
            <p:ph type="title"/>
          </p:nvPr>
        </p:nvSpPr>
        <p:spPr/>
        <p:txBody>
          <a:bodyPr/>
          <a:lstStyle/>
          <a:p>
            <a:r>
              <a:rPr lang="en-US" dirty="0"/>
              <a:t>Reduced Cost</a:t>
            </a:r>
          </a:p>
        </p:txBody>
      </p:sp>
      <p:sp>
        <p:nvSpPr>
          <p:cNvPr id="3" name="Content Placeholder 2">
            <a:extLst>
              <a:ext uri="{FF2B5EF4-FFF2-40B4-BE49-F238E27FC236}">
                <a16:creationId xmlns:a16="http://schemas.microsoft.com/office/drawing/2014/main" id="{E6ABF131-A642-40F9-B4DA-28FCD42187B0}"/>
              </a:ext>
            </a:extLst>
          </p:cNvPr>
          <p:cNvSpPr>
            <a:spLocks noGrp="1"/>
          </p:cNvSpPr>
          <p:nvPr>
            <p:ph idx="1"/>
          </p:nvPr>
        </p:nvSpPr>
        <p:spPr/>
        <p:txBody>
          <a:bodyPr/>
          <a:lstStyle/>
          <a:p>
            <a:r>
              <a:rPr lang="en-US" dirty="0"/>
              <a:t>Reduced cost of x2 is -5</a:t>
            </a:r>
          </a:p>
          <a:p>
            <a:r>
              <a:rPr lang="en-US" dirty="0"/>
              <a:t>We have to decrease the objective function coefficient by -5 (increase it by 5) to start producing x2 profitably.</a:t>
            </a:r>
          </a:p>
          <a:p>
            <a:r>
              <a:rPr lang="en-US" dirty="0"/>
              <a:t>This is what happens graphically</a:t>
            </a:r>
          </a:p>
        </p:txBody>
      </p:sp>
    </p:spTree>
    <p:extLst>
      <p:ext uri="{BB962C8B-B14F-4D97-AF65-F5344CB8AC3E}">
        <p14:creationId xmlns:p14="http://schemas.microsoft.com/office/powerpoint/2010/main" val="22213565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712B-7052-4FF2-88EF-636EC931DFCA}"/>
              </a:ext>
            </a:extLst>
          </p:cNvPr>
          <p:cNvSpPr>
            <a:spLocks noGrp="1"/>
          </p:cNvSpPr>
          <p:nvPr>
            <p:ph type="title"/>
          </p:nvPr>
        </p:nvSpPr>
        <p:spPr/>
        <p:txBody>
          <a:bodyPr/>
          <a:lstStyle/>
          <a:p>
            <a:r>
              <a:rPr lang="en-US" dirty="0"/>
              <a:t>Reduced Cost</a:t>
            </a:r>
          </a:p>
        </p:txBody>
      </p:sp>
      <p:sp>
        <p:nvSpPr>
          <p:cNvPr id="3" name="Content Placeholder 2">
            <a:extLst>
              <a:ext uri="{FF2B5EF4-FFF2-40B4-BE49-F238E27FC236}">
                <a16:creationId xmlns:a16="http://schemas.microsoft.com/office/drawing/2014/main" id="{E6ABF131-A642-40F9-B4DA-28FCD42187B0}"/>
              </a:ext>
            </a:extLst>
          </p:cNvPr>
          <p:cNvSpPr>
            <a:spLocks noGrp="1"/>
          </p:cNvSpPr>
          <p:nvPr>
            <p:ph idx="1"/>
          </p:nvPr>
        </p:nvSpPr>
        <p:spPr>
          <a:xfrm>
            <a:off x="457200" y="5926137"/>
            <a:ext cx="8229600" cy="657225"/>
          </a:xfrm>
        </p:spPr>
        <p:txBody>
          <a:bodyPr>
            <a:normAutofit fontScale="77500" lnSpcReduction="20000"/>
          </a:bodyPr>
          <a:lstStyle/>
          <a:p>
            <a:pPr marL="0" indent="0">
              <a:buNone/>
            </a:pPr>
            <a:r>
              <a:rPr lang="en-US" dirty="0"/>
              <a:t>Changing objective function coefficient makes x2 profitable</a:t>
            </a:r>
          </a:p>
        </p:txBody>
      </p:sp>
      <p:pic>
        <p:nvPicPr>
          <p:cNvPr id="6" name="Picture 5">
            <a:extLst>
              <a:ext uri="{FF2B5EF4-FFF2-40B4-BE49-F238E27FC236}">
                <a16:creationId xmlns:a16="http://schemas.microsoft.com/office/drawing/2014/main" id="{F2CDFBB4-450C-4784-8734-F23C7825C955}"/>
              </a:ext>
            </a:extLst>
          </p:cNvPr>
          <p:cNvPicPr>
            <a:picLocks noChangeAspect="1"/>
          </p:cNvPicPr>
          <p:nvPr/>
        </p:nvPicPr>
        <p:blipFill>
          <a:blip r:embed="rId3"/>
          <a:stretch>
            <a:fillRect/>
          </a:stretch>
        </p:blipFill>
        <p:spPr>
          <a:xfrm>
            <a:off x="524576" y="-1"/>
            <a:ext cx="4007919" cy="5955163"/>
          </a:xfrm>
          <a:prstGeom prst="rect">
            <a:avLst/>
          </a:prstGeom>
        </p:spPr>
      </p:pic>
      <p:pic>
        <p:nvPicPr>
          <p:cNvPr id="7" name="Picture 6">
            <a:extLst>
              <a:ext uri="{FF2B5EF4-FFF2-40B4-BE49-F238E27FC236}">
                <a16:creationId xmlns:a16="http://schemas.microsoft.com/office/drawing/2014/main" id="{D4C60D88-35BF-4EE4-B4FD-AD8B597E9249}"/>
              </a:ext>
            </a:extLst>
          </p:cNvPr>
          <p:cNvPicPr>
            <a:picLocks noChangeAspect="1"/>
          </p:cNvPicPr>
          <p:nvPr/>
        </p:nvPicPr>
        <p:blipFill>
          <a:blip r:embed="rId4"/>
          <a:stretch>
            <a:fillRect/>
          </a:stretch>
        </p:blipFill>
        <p:spPr>
          <a:xfrm>
            <a:off x="4599873" y="0"/>
            <a:ext cx="4019550" cy="5934075"/>
          </a:xfrm>
          <a:prstGeom prst="rect">
            <a:avLst/>
          </a:prstGeom>
        </p:spPr>
      </p:pic>
    </p:spTree>
    <p:extLst>
      <p:ext uri="{BB962C8B-B14F-4D97-AF65-F5344CB8AC3E}">
        <p14:creationId xmlns:p14="http://schemas.microsoft.com/office/powerpoint/2010/main" val="4008037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712B-7052-4FF2-88EF-636EC931DFCA}"/>
              </a:ext>
            </a:extLst>
          </p:cNvPr>
          <p:cNvSpPr>
            <a:spLocks noGrp="1"/>
          </p:cNvSpPr>
          <p:nvPr>
            <p:ph type="title"/>
          </p:nvPr>
        </p:nvSpPr>
        <p:spPr/>
        <p:txBody>
          <a:bodyPr/>
          <a:lstStyle/>
          <a:p>
            <a:r>
              <a:rPr lang="en-US" dirty="0"/>
              <a:t>Shadow Price</a:t>
            </a:r>
          </a:p>
        </p:txBody>
      </p:sp>
      <p:sp>
        <p:nvSpPr>
          <p:cNvPr id="3" name="Content Placeholder 2">
            <a:extLst>
              <a:ext uri="{FF2B5EF4-FFF2-40B4-BE49-F238E27FC236}">
                <a16:creationId xmlns:a16="http://schemas.microsoft.com/office/drawing/2014/main" id="{E6ABF131-A642-40F9-B4DA-28FCD42187B0}"/>
              </a:ext>
            </a:extLst>
          </p:cNvPr>
          <p:cNvSpPr>
            <a:spLocks noGrp="1"/>
          </p:cNvSpPr>
          <p:nvPr>
            <p:ph idx="1"/>
          </p:nvPr>
        </p:nvSpPr>
        <p:spPr/>
        <p:txBody>
          <a:bodyPr/>
          <a:lstStyle/>
          <a:p>
            <a:r>
              <a:rPr lang="en-US" dirty="0"/>
              <a:t>Shadow price of the labor constraint is 20.</a:t>
            </a:r>
          </a:p>
          <a:p>
            <a:r>
              <a:rPr lang="en-US" dirty="0"/>
              <a:t>By obtaining 1 unit of labor we gain 20$.</a:t>
            </a:r>
          </a:p>
          <a:p>
            <a:r>
              <a:rPr lang="en-US" dirty="0"/>
              <a:t>Increasing the resources has some limits</a:t>
            </a:r>
          </a:p>
          <a:p>
            <a:r>
              <a:rPr lang="en-US" dirty="0"/>
              <a:t>At some point another resource may start to limit us. Hence we also consider allowable increase/decrease in our calculations.</a:t>
            </a:r>
          </a:p>
        </p:txBody>
      </p:sp>
    </p:spTree>
    <p:extLst>
      <p:ext uri="{BB962C8B-B14F-4D97-AF65-F5344CB8AC3E}">
        <p14:creationId xmlns:p14="http://schemas.microsoft.com/office/powerpoint/2010/main" val="38773447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712B-7052-4FF2-88EF-636EC931DFCA}"/>
              </a:ext>
            </a:extLst>
          </p:cNvPr>
          <p:cNvSpPr>
            <a:spLocks noGrp="1"/>
          </p:cNvSpPr>
          <p:nvPr>
            <p:ph type="title"/>
          </p:nvPr>
        </p:nvSpPr>
        <p:spPr/>
        <p:txBody>
          <a:bodyPr/>
          <a:lstStyle/>
          <a:p>
            <a:r>
              <a:rPr lang="en-US" dirty="0"/>
              <a:t>Shadow Price</a:t>
            </a:r>
          </a:p>
        </p:txBody>
      </p:sp>
      <p:sp>
        <p:nvSpPr>
          <p:cNvPr id="3" name="Content Placeholder 2">
            <a:extLst>
              <a:ext uri="{FF2B5EF4-FFF2-40B4-BE49-F238E27FC236}">
                <a16:creationId xmlns:a16="http://schemas.microsoft.com/office/drawing/2014/main" id="{E6ABF131-A642-40F9-B4DA-28FCD42187B0}"/>
              </a:ext>
            </a:extLst>
          </p:cNvPr>
          <p:cNvSpPr>
            <a:spLocks noGrp="1"/>
          </p:cNvSpPr>
          <p:nvPr>
            <p:ph idx="1"/>
          </p:nvPr>
        </p:nvSpPr>
        <p:spPr>
          <a:xfrm>
            <a:off x="457200" y="5926137"/>
            <a:ext cx="8229600" cy="657225"/>
          </a:xfrm>
        </p:spPr>
        <p:txBody>
          <a:bodyPr>
            <a:normAutofit fontScale="70000" lnSpcReduction="20000"/>
          </a:bodyPr>
          <a:lstStyle/>
          <a:p>
            <a:pPr marL="0" indent="0">
              <a:buNone/>
            </a:pPr>
            <a:r>
              <a:rPr lang="en-US" dirty="0"/>
              <a:t>Increasing the </a:t>
            </a:r>
            <a:r>
              <a:rPr lang="en-US" dirty="0" err="1"/>
              <a:t>rhs</a:t>
            </a:r>
            <a:r>
              <a:rPr lang="en-US" dirty="0"/>
              <a:t> of the labor constraint allows us to increase our profit by 15*20 = 300$.</a:t>
            </a:r>
          </a:p>
        </p:txBody>
      </p:sp>
      <p:pic>
        <p:nvPicPr>
          <p:cNvPr id="8" name="Picture 7">
            <a:extLst>
              <a:ext uri="{FF2B5EF4-FFF2-40B4-BE49-F238E27FC236}">
                <a16:creationId xmlns:a16="http://schemas.microsoft.com/office/drawing/2014/main" id="{AF38F3E1-CF4E-44B2-B738-C447789E6137}"/>
              </a:ext>
            </a:extLst>
          </p:cNvPr>
          <p:cNvPicPr>
            <a:picLocks noChangeAspect="1"/>
          </p:cNvPicPr>
          <p:nvPr/>
        </p:nvPicPr>
        <p:blipFill>
          <a:blip r:embed="rId3"/>
          <a:stretch>
            <a:fillRect/>
          </a:stretch>
        </p:blipFill>
        <p:spPr>
          <a:xfrm>
            <a:off x="524576" y="-1"/>
            <a:ext cx="4007919" cy="5955163"/>
          </a:xfrm>
          <a:prstGeom prst="rect">
            <a:avLst/>
          </a:prstGeom>
        </p:spPr>
      </p:pic>
      <p:pic>
        <p:nvPicPr>
          <p:cNvPr id="5" name="Picture 4">
            <a:extLst>
              <a:ext uri="{FF2B5EF4-FFF2-40B4-BE49-F238E27FC236}">
                <a16:creationId xmlns:a16="http://schemas.microsoft.com/office/drawing/2014/main" id="{B7B1BFAA-B321-4666-9C5C-674403AF2049}"/>
              </a:ext>
            </a:extLst>
          </p:cNvPr>
          <p:cNvPicPr>
            <a:picLocks noChangeAspect="1"/>
          </p:cNvPicPr>
          <p:nvPr/>
        </p:nvPicPr>
        <p:blipFill>
          <a:blip r:embed="rId4"/>
          <a:stretch>
            <a:fillRect/>
          </a:stretch>
        </p:blipFill>
        <p:spPr>
          <a:xfrm>
            <a:off x="4696526" y="-46608"/>
            <a:ext cx="4057650" cy="6048375"/>
          </a:xfrm>
          <a:prstGeom prst="rect">
            <a:avLst/>
          </a:prstGeom>
        </p:spPr>
      </p:pic>
    </p:spTree>
    <p:extLst>
      <p:ext uri="{BB962C8B-B14F-4D97-AF65-F5344CB8AC3E}">
        <p14:creationId xmlns:p14="http://schemas.microsoft.com/office/powerpoint/2010/main" val="196920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712B-7052-4FF2-88EF-636EC931DFCA}"/>
              </a:ext>
            </a:extLst>
          </p:cNvPr>
          <p:cNvSpPr>
            <a:spLocks noGrp="1"/>
          </p:cNvSpPr>
          <p:nvPr>
            <p:ph type="title"/>
          </p:nvPr>
        </p:nvSpPr>
        <p:spPr/>
        <p:txBody>
          <a:bodyPr/>
          <a:lstStyle/>
          <a:p>
            <a:r>
              <a:rPr lang="en-US" dirty="0"/>
              <a:t>Shadow Price</a:t>
            </a:r>
          </a:p>
        </p:txBody>
      </p:sp>
      <p:sp>
        <p:nvSpPr>
          <p:cNvPr id="3" name="Content Placeholder 2">
            <a:extLst>
              <a:ext uri="{FF2B5EF4-FFF2-40B4-BE49-F238E27FC236}">
                <a16:creationId xmlns:a16="http://schemas.microsoft.com/office/drawing/2014/main" id="{E6ABF131-A642-40F9-B4DA-28FCD42187B0}"/>
              </a:ext>
            </a:extLst>
          </p:cNvPr>
          <p:cNvSpPr>
            <a:spLocks noGrp="1"/>
          </p:cNvSpPr>
          <p:nvPr>
            <p:ph idx="1"/>
          </p:nvPr>
        </p:nvSpPr>
        <p:spPr>
          <a:xfrm>
            <a:off x="457200" y="5926137"/>
            <a:ext cx="8229600" cy="657225"/>
          </a:xfrm>
        </p:spPr>
        <p:txBody>
          <a:bodyPr>
            <a:normAutofit fontScale="62500" lnSpcReduction="20000"/>
          </a:bodyPr>
          <a:lstStyle/>
          <a:p>
            <a:pPr marL="0" indent="0">
              <a:buNone/>
            </a:pPr>
            <a:r>
              <a:rPr lang="en-US" dirty="0"/>
              <a:t>When we exceed the allowable increase, the raw material constraints start to limit us. At this point bringing in more labor will not benefit us any more.</a:t>
            </a:r>
          </a:p>
        </p:txBody>
      </p:sp>
      <p:pic>
        <p:nvPicPr>
          <p:cNvPr id="7" name="Picture 6">
            <a:extLst>
              <a:ext uri="{FF2B5EF4-FFF2-40B4-BE49-F238E27FC236}">
                <a16:creationId xmlns:a16="http://schemas.microsoft.com/office/drawing/2014/main" id="{E654671C-43C5-4925-A941-1201A39BD378}"/>
              </a:ext>
            </a:extLst>
          </p:cNvPr>
          <p:cNvPicPr>
            <a:picLocks noChangeAspect="1"/>
          </p:cNvPicPr>
          <p:nvPr/>
        </p:nvPicPr>
        <p:blipFill>
          <a:blip r:embed="rId3"/>
          <a:stretch>
            <a:fillRect/>
          </a:stretch>
        </p:blipFill>
        <p:spPr>
          <a:xfrm>
            <a:off x="323850" y="-29423"/>
            <a:ext cx="4007919" cy="5955163"/>
          </a:xfrm>
          <a:prstGeom prst="rect">
            <a:avLst/>
          </a:prstGeom>
        </p:spPr>
      </p:pic>
      <p:pic>
        <p:nvPicPr>
          <p:cNvPr id="5" name="Picture 4">
            <a:extLst>
              <a:ext uri="{FF2B5EF4-FFF2-40B4-BE49-F238E27FC236}">
                <a16:creationId xmlns:a16="http://schemas.microsoft.com/office/drawing/2014/main" id="{B7C89AB4-1268-40B1-A67B-D62F155A184A}"/>
              </a:ext>
            </a:extLst>
          </p:cNvPr>
          <p:cNvPicPr>
            <a:picLocks noChangeAspect="1"/>
          </p:cNvPicPr>
          <p:nvPr/>
        </p:nvPicPr>
        <p:blipFill>
          <a:blip r:embed="rId4"/>
          <a:stretch>
            <a:fillRect/>
          </a:stretch>
        </p:blipFill>
        <p:spPr>
          <a:xfrm>
            <a:off x="4686300" y="68063"/>
            <a:ext cx="4000500" cy="5857875"/>
          </a:xfrm>
          <a:prstGeom prst="rect">
            <a:avLst/>
          </a:prstGeom>
        </p:spPr>
      </p:pic>
    </p:spTree>
    <p:extLst>
      <p:ext uri="{BB962C8B-B14F-4D97-AF65-F5344CB8AC3E}">
        <p14:creationId xmlns:p14="http://schemas.microsoft.com/office/powerpoint/2010/main" val="2119670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712B-7052-4FF2-88EF-636EC931DFCA}"/>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E6ABF131-A642-40F9-B4DA-28FCD42187B0}"/>
              </a:ext>
            </a:extLst>
          </p:cNvPr>
          <p:cNvSpPr>
            <a:spLocks noGrp="1"/>
          </p:cNvSpPr>
          <p:nvPr>
            <p:ph idx="1"/>
          </p:nvPr>
        </p:nvSpPr>
        <p:spPr/>
        <p:txBody>
          <a:bodyPr>
            <a:normAutofit fontScale="92500" lnSpcReduction="10000"/>
          </a:bodyPr>
          <a:lstStyle/>
          <a:p>
            <a:r>
              <a:rPr lang="en-US" dirty="0"/>
              <a:t>Changing the objective function coefficient by more than the reduced cost allow us to use the corresponding variable.</a:t>
            </a:r>
          </a:p>
          <a:p>
            <a:pPr lvl="1"/>
            <a:r>
              <a:rPr lang="en-US" dirty="0"/>
              <a:t>Optimal solution changes</a:t>
            </a:r>
          </a:p>
          <a:p>
            <a:r>
              <a:rPr lang="en-US" dirty="0"/>
              <a:t>Changing the </a:t>
            </a:r>
            <a:r>
              <a:rPr lang="en-US" dirty="0" err="1"/>
              <a:t>rhs</a:t>
            </a:r>
            <a:r>
              <a:rPr lang="en-US" dirty="0"/>
              <a:t> of a binding constraint in the allowable range allows us to improve our solution.</a:t>
            </a:r>
          </a:p>
          <a:p>
            <a:pPr lvl="1"/>
            <a:r>
              <a:rPr lang="en-US" dirty="0"/>
              <a:t>Optimal solution changes but corresponds to the extreme point at the intersection of same constraints at the original solution.</a:t>
            </a:r>
          </a:p>
        </p:txBody>
      </p:sp>
    </p:spTree>
    <p:extLst>
      <p:ext uri="{BB962C8B-B14F-4D97-AF65-F5344CB8AC3E}">
        <p14:creationId xmlns:p14="http://schemas.microsoft.com/office/powerpoint/2010/main" val="4210109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D4897F78-BA90-4EDE-934C-297052FD2CE0}"/>
              </a:ext>
            </a:extLst>
          </p:cNvPr>
          <p:cNvGraphicFramePr>
            <a:graphicFrameLocks noChangeAspect="1"/>
          </p:cNvGraphicFramePr>
          <p:nvPr/>
        </p:nvGraphicFramePr>
        <p:xfrm>
          <a:off x="3657600" y="-762000"/>
          <a:ext cx="5486400" cy="8227994"/>
        </p:xfrm>
        <a:graphic>
          <a:graphicData uri="http://schemas.openxmlformats.org/presentationml/2006/ole">
            <mc:AlternateContent xmlns:mc="http://schemas.openxmlformats.org/markup-compatibility/2006">
              <mc:Choice xmlns:v="urn:schemas-microsoft-com:vml" Requires="v">
                <p:oleObj name="Acrobat Document" r:id="rId3" imgW="6858000" imgH="10287000" progId="AcroExch.Document.DC">
                  <p:embed/>
                </p:oleObj>
              </mc:Choice>
              <mc:Fallback>
                <p:oleObj name="Acrobat Document" r:id="rId3" imgW="6858000" imgH="10287000" progId="AcroExch.Document.DC">
                  <p:embed/>
                  <p:pic>
                    <p:nvPicPr>
                      <p:cNvPr id="4" name="Object 3">
                        <a:extLst>
                          <a:ext uri="{FF2B5EF4-FFF2-40B4-BE49-F238E27FC236}">
                            <a16:creationId xmlns:a16="http://schemas.microsoft.com/office/drawing/2014/main" id="{D4897F78-BA90-4EDE-934C-297052FD2CE0}"/>
                          </a:ext>
                        </a:extLst>
                      </p:cNvPr>
                      <p:cNvPicPr/>
                      <p:nvPr/>
                    </p:nvPicPr>
                    <p:blipFill>
                      <a:blip r:embed="rId4"/>
                      <a:stretch>
                        <a:fillRect/>
                      </a:stretch>
                    </p:blipFill>
                    <p:spPr>
                      <a:xfrm>
                        <a:off x="3657600" y="-762000"/>
                        <a:ext cx="5486400" cy="8227994"/>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7A945DB-83D8-441D-B40C-168AD3B235ED}"/>
              </a:ext>
            </a:extLst>
          </p:cNvPr>
          <p:cNvSpPr>
            <a:spLocks noGrp="1"/>
          </p:cNvSpPr>
          <p:nvPr>
            <p:ph type="title"/>
          </p:nvPr>
        </p:nvSpPr>
        <p:spPr>
          <a:xfrm>
            <a:off x="457200" y="274638"/>
            <a:ext cx="3657600" cy="2239962"/>
          </a:xfrm>
        </p:spPr>
        <p:txBody>
          <a:bodyPr>
            <a:normAutofit/>
          </a:bodyPr>
          <a:lstStyle/>
          <a:p>
            <a:r>
              <a:rPr lang="tr-TR" dirty="0" err="1"/>
              <a:t>Carpenter’s</a:t>
            </a:r>
            <a:r>
              <a:rPr lang="tr-TR" dirty="0"/>
              <a:t> Problem </a:t>
            </a:r>
            <a:r>
              <a:rPr lang="tr-TR" dirty="0" err="1"/>
              <a:t>with</a:t>
            </a:r>
            <a:r>
              <a:rPr lang="tr-TR" dirty="0"/>
              <a:t> </a:t>
            </a:r>
            <a:r>
              <a:rPr lang="tr-TR" dirty="0" err="1"/>
              <a:t>Integer</a:t>
            </a:r>
            <a:r>
              <a:rPr lang="tr-TR" dirty="0"/>
              <a:t> </a:t>
            </a:r>
            <a:r>
              <a:rPr lang="tr-TR" dirty="0" err="1"/>
              <a:t>Variables</a:t>
            </a:r>
            <a:endParaRPr lang="en-US" dirty="0"/>
          </a:p>
        </p:txBody>
      </p:sp>
      <p:sp>
        <p:nvSpPr>
          <p:cNvPr id="5" name="Slide Number Placeholder 4">
            <a:extLst>
              <a:ext uri="{FF2B5EF4-FFF2-40B4-BE49-F238E27FC236}">
                <a16:creationId xmlns:a16="http://schemas.microsoft.com/office/drawing/2014/main" id="{1AD60446-39F5-4C5D-BF34-55595C58EEF6}"/>
              </a:ext>
            </a:extLst>
          </p:cNvPr>
          <p:cNvSpPr>
            <a:spLocks noGrp="1"/>
          </p:cNvSpPr>
          <p:nvPr>
            <p:ph type="sldNum" sz="quarter" idx="12"/>
          </p:nvPr>
        </p:nvSpPr>
        <p:spPr/>
        <p:txBody>
          <a:bodyPr/>
          <a:lstStyle/>
          <a:p>
            <a:fld id="{B6F15528-21DE-4FAA-801E-634DDDAF4B2B}" type="slidenum">
              <a:rPr lang="en-US" smtClean="0"/>
              <a:pPr/>
              <a:t>66</a:t>
            </a:fld>
            <a:endParaRPr lang="en-US" dirty="0"/>
          </a:p>
        </p:txBody>
      </p:sp>
    </p:spTree>
    <p:extLst>
      <p:ext uri="{BB962C8B-B14F-4D97-AF65-F5344CB8AC3E}">
        <p14:creationId xmlns:p14="http://schemas.microsoft.com/office/powerpoint/2010/main" val="27671440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Solving</a:t>
            </a:r>
            <a:r>
              <a:rPr lang="tr-TR" dirty="0"/>
              <a:t> I</a:t>
            </a:r>
            <a:r>
              <a:rPr lang="en-US" dirty="0"/>
              <a:t>P</a:t>
            </a:r>
            <a:r>
              <a:rPr lang="tr-TR" dirty="0"/>
              <a:t>s</a:t>
            </a:r>
            <a:r>
              <a:rPr lang="en-US" dirty="0"/>
              <a:t> (</a:t>
            </a:r>
            <a:r>
              <a:rPr lang="en-US" dirty="0" err="1"/>
              <a:t>Branch&amp;bound</a:t>
            </a:r>
            <a:r>
              <a:rPr lang="en-US" dirty="0"/>
              <a:t>)</a:t>
            </a:r>
            <a:endParaRPr lang="tr-TR" dirty="0"/>
          </a:p>
        </p:txBody>
      </p:sp>
      <p:sp>
        <p:nvSpPr>
          <p:cNvPr id="3" name="Content Placeholder 2"/>
          <p:cNvSpPr>
            <a:spLocks noGrp="1"/>
          </p:cNvSpPr>
          <p:nvPr>
            <p:ph idx="1"/>
          </p:nvPr>
        </p:nvSpPr>
        <p:spPr/>
        <p:txBody>
          <a:bodyPr/>
          <a:lstStyle/>
          <a:p>
            <a:pPr>
              <a:buNone/>
            </a:pPr>
            <a:endParaRPr lang="tr-TR" dirty="0"/>
          </a:p>
        </p:txBody>
      </p:sp>
      <p:graphicFrame>
        <p:nvGraphicFramePr>
          <p:cNvPr id="28674" name="Object 2"/>
          <p:cNvGraphicFramePr>
            <a:graphicFrameLocks noChangeAspect="1"/>
          </p:cNvGraphicFramePr>
          <p:nvPr/>
        </p:nvGraphicFramePr>
        <p:xfrm>
          <a:off x="2590800" y="1708150"/>
          <a:ext cx="3053812" cy="2559050"/>
        </p:xfrm>
        <a:graphic>
          <a:graphicData uri="http://schemas.openxmlformats.org/presentationml/2006/ole">
            <mc:AlternateContent xmlns:mc="http://schemas.openxmlformats.org/markup-compatibility/2006">
              <mc:Choice xmlns:v="urn:schemas-microsoft-com:vml" Requires="v">
                <p:oleObj name="Equation" r:id="rId3" imgW="1447560" imgH="1371600" progId="Equation.3">
                  <p:embed/>
                </p:oleObj>
              </mc:Choice>
              <mc:Fallback>
                <p:oleObj name="Equation" r:id="rId3" imgW="1447560" imgH="1371600" progId="Equation.3">
                  <p:embed/>
                  <p:pic>
                    <p:nvPicPr>
                      <p:cNvPr id="2867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1708150"/>
                        <a:ext cx="3053812" cy="2559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Slide Number Placeholder 3">
            <a:extLst>
              <a:ext uri="{FF2B5EF4-FFF2-40B4-BE49-F238E27FC236}">
                <a16:creationId xmlns:a16="http://schemas.microsoft.com/office/drawing/2014/main" id="{B8C33408-25C1-4764-8F1F-9AD1187117D5}"/>
              </a:ext>
            </a:extLst>
          </p:cNvPr>
          <p:cNvSpPr>
            <a:spLocks noGrp="1"/>
          </p:cNvSpPr>
          <p:nvPr>
            <p:ph type="sldNum" sz="quarter" idx="12"/>
          </p:nvPr>
        </p:nvSpPr>
        <p:spPr/>
        <p:txBody>
          <a:bodyPr/>
          <a:lstStyle/>
          <a:p>
            <a:fld id="{B6F15528-21DE-4FAA-801E-634DDDAF4B2B}" type="slidenum">
              <a:rPr lang="en-US" smtClean="0"/>
              <a:pPr/>
              <a:t>67</a:t>
            </a:fld>
            <a:endParaRPr lang="en-US" dirty="0"/>
          </a:p>
        </p:txBody>
      </p:sp>
    </p:spTree>
    <p:extLst>
      <p:ext uri="{BB962C8B-B14F-4D97-AF65-F5344CB8AC3E}">
        <p14:creationId xmlns:p14="http://schemas.microsoft.com/office/powerpoint/2010/main" val="23020861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Solving IPs</a:t>
            </a:r>
            <a:endParaRPr lang="tr-TR" dirty="0"/>
          </a:p>
        </p:txBody>
      </p:sp>
      <p:sp>
        <p:nvSpPr>
          <p:cNvPr id="3" name="Content Placeholder 2"/>
          <p:cNvSpPr>
            <a:spLocks noGrp="1"/>
          </p:cNvSpPr>
          <p:nvPr>
            <p:ph idx="1"/>
          </p:nvPr>
        </p:nvSpPr>
        <p:spPr/>
        <p:txBody>
          <a:bodyPr/>
          <a:lstStyle/>
          <a:p>
            <a:pPr>
              <a:buNone/>
            </a:pPr>
            <a:endParaRPr lang="tr-TR" dirty="0"/>
          </a:p>
        </p:txBody>
      </p:sp>
      <p:pic>
        <p:nvPicPr>
          <p:cNvPr id="29699" name="Picture 3"/>
          <p:cNvPicPr>
            <a:picLocks noChangeAspect="1" noChangeArrowheads="1"/>
          </p:cNvPicPr>
          <p:nvPr/>
        </p:nvPicPr>
        <p:blipFill>
          <a:blip r:embed="rId3" cstate="print"/>
          <a:srcRect/>
          <a:stretch>
            <a:fillRect/>
          </a:stretch>
        </p:blipFill>
        <p:spPr bwMode="auto">
          <a:xfrm>
            <a:off x="1771650" y="2286000"/>
            <a:ext cx="5600700" cy="3810000"/>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2AD68F00-14DD-4F16-A2FD-EF189774634B}"/>
              </a:ext>
            </a:extLst>
          </p:cNvPr>
          <p:cNvSpPr>
            <a:spLocks noGrp="1"/>
          </p:cNvSpPr>
          <p:nvPr>
            <p:ph type="sldNum" sz="quarter" idx="12"/>
          </p:nvPr>
        </p:nvSpPr>
        <p:spPr/>
        <p:txBody>
          <a:bodyPr/>
          <a:lstStyle/>
          <a:p>
            <a:fld id="{B6F15528-21DE-4FAA-801E-634DDDAF4B2B}" type="slidenum">
              <a:rPr lang="en-US" smtClean="0"/>
              <a:pPr/>
              <a:t>68</a:t>
            </a:fld>
            <a:endParaRPr lang="en-US" dirty="0"/>
          </a:p>
        </p:txBody>
      </p:sp>
      <p:sp>
        <p:nvSpPr>
          <p:cNvPr id="5" name="TextBox 4">
            <a:extLst>
              <a:ext uri="{FF2B5EF4-FFF2-40B4-BE49-F238E27FC236}">
                <a16:creationId xmlns:a16="http://schemas.microsoft.com/office/drawing/2014/main" id="{3D415148-F4C8-4768-840D-4C969DFD45C4}"/>
              </a:ext>
            </a:extLst>
          </p:cNvPr>
          <p:cNvSpPr txBox="1"/>
          <p:nvPr/>
        </p:nvSpPr>
        <p:spPr>
          <a:xfrm>
            <a:off x="5486400" y="1186805"/>
            <a:ext cx="3657600" cy="461665"/>
          </a:xfrm>
          <a:prstGeom prst="rect">
            <a:avLst/>
          </a:prstGeom>
          <a:noFill/>
        </p:spPr>
        <p:txBody>
          <a:bodyPr wrap="square" rtlCol="0">
            <a:spAutoFit/>
          </a:bodyPr>
          <a:lstStyle/>
          <a:p>
            <a:r>
              <a:rPr lang="tr-TR" sz="2400" b="1" dirty="0" err="1"/>
              <a:t>Current</a:t>
            </a:r>
            <a:r>
              <a:rPr lang="tr-TR" sz="2400" b="1" dirty="0"/>
              <a:t> </a:t>
            </a:r>
            <a:r>
              <a:rPr lang="tr-TR" sz="2400" b="1" dirty="0" err="1"/>
              <a:t>best</a:t>
            </a:r>
            <a:r>
              <a:rPr lang="tr-TR" sz="2400" b="1" dirty="0"/>
              <a:t>= -</a:t>
            </a:r>
            <a:r>
              <a:rPr lang="tr-TR" sz="2400" b="1" dirty="0" err="1"/>
              <a:t>infinity</a:t>
            </a:r>
            <a:endParaRPr lang="en-US" sz="2400" b="1" dirty="0"/>
          </a:p>
        </p:txBody>
      </p:sp>
    </p:spTree>
    <p:extLst>
      <p:ext uri="{BB962C8B-B14F-4D97-AF65-F5344CB8AC3E}">
        <p14:creationId xmlns:p14="http://schemas.microsoft.com/office/powerpoint/2010/main" val="35010012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Solving IPs</a:t>
            </a:r>
            <a:endParaRPr lang="tr-TR" dirty="0"/>
          </a:p>
        </p:txBody>
      </p:sp>
      <p:sp>
        <p:nvSpPr>
          <p:cNvPr id="3" name="Content Placeholder 2"/>
          <p:cNvSpPr>
            <a:spLocks noGrp="1"/>
          </p:cNvSpPr>
          <p:nvPr>
            <p:ph idx="1"/>
          </p:nvPr>
        </p:nvSpPr>
        <p:spPr/>
        <p:txBody>
          <a:bodyPr/>
          <a:lstStyle/>
          <a:p>
            <a:pPr>
              <a:buNone/>
            </a:pPr>
            <a:r>
              <a:rPr lang="tr-TR" dirty="0" err="1"/>
              <a:t>We</a:t>
            </a:r>
            <a:r>
              <a:rPr lang="tr-TR" dirty="0"/>
              <a:t> </a:t>
            </a:r>
            <a:r>
              <a:rPr lang="tr-TR" dirty="0" err="1"/>
              <a:t>create</a:t>
            </a:r>
            <a:r>
              <a:rPr lang="tr-TR" dirty="0"/>
              <a:t> </a:t>
            </a:r>
            <a:r>
              <a:rPr lang="tr-TR" dirty="0" err="1"/>
              <a:t>two</a:t>
            </a:r>
            <a:r>
              <a:rPr lang="tr-TR" dirty="0"/>
              <a:t> </a:t>
            </a:r>
            <a:r>
              <a:rPr lang="tr-TR" dirty="0" err="1"/>
              <a:t>problems</a:t>
            </a:r>
            <a:endParaRPr lang="tr-TR" dirty="0"/>
          </a:p>
        </p:txBody>
      </p:sp>
      <p:pic>
        <p:nvPicPr>
          <p:cNvPr id="30722" name="Picture 2"/>
          <p:cNvPicPr>
            <a:picLocks noChangeAspect="1" noChangeArrowheads="1"/>
          </p:cNvPicPr>
          <p:nvPr/>
        </p:nvPicPr>
        <p:blipFill>
          <a:blip r:embed="rId3" cstate="print"/>
          <a:srcRect/>
          <a:stretch>
            <a:fillRect/>
          </a:stretch>
        </p:blipFill>
        <p:spPr bwMode="auto">
          <a:xfrm>
            <a:off x="2057400" y="2581275"/>
            <a:ext cx="4819650" cy="3590925"/>
          </a:xfrm>
          <a:prstGeom prst="rect">
            <a:avLst/>
          </a:prstGeom>
          <a:noFill/>
          <a:ln w="9525">
            <a:noFill/>
            <a:miter lim="800000"/>
            <a:headEnd/>
            <a:tailEnd/>
          </a:ln>
        </p:spPr>
      </p:pic>
      <p:pic>
        <p:nvPicPr>
          <p:cNvPr id="30724" name="Picture 4"/>
          <p:cNvPicPr>
            <a:picLocks noChangeAspect="1" noChangeArrowheads="1"/>
          </p:cNvPicPr>
          <p:nvPr/>
        </p:nvPicPr>
        <p:blipFill>
          <a:blip r:embed="rId4" cstate="print"/>
          <a:srcRect/>
          <a:stretch>
            <a:fillRect/>
          </a:stretch>
        </p:blipFill>
        <p:spPr bwMode="auto">
          <a:xfrm>
            <a:off x="1566267" y="2286000"/>
            <a:ext cx="5596533" cy="3886200"/>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60B2D5FE-7546-49D1-81AE-16375328C867}"/>
              </a:ext>
            </a:extLst>
          </p:cNvPr>
          <p:cNvSpPr>
            <a:spLocks noGrp="1"/>
          </p:cNvSpPr>
          <p:nvPr>
            <p:ph type="sldNum" sz="quarter" idx="12"/>
          </p:nvPr>
        </p:nvSpPr>
        <p:spPr/>
        <p:txBody>
          <a:bodyPr/>
          <a:lstStyle/>
          <a:p>
            <a:fld id="{B6F15528-21DE-4FAA-801E-634DDDAF4B2B}" type="slidenum">
              <a:rPr lang="en-US" smtClean="0"/>
              <a:pPr/>
              <a:t>69</a:t>
            </a:fld>
            <a:endParaRPr lang="en-US" dirty="0"/>
          </a:p>
        </p:txBody>
      </p:sp>
      <p:sp>
        <p:nvSpPr>
          <p:cNvPr id="7" name="TextBox 6">
            <a:extLst>
              <a:ext uri="{FF2B5EF4-FFF2-40B4-BE49-F238E27FC236}">
                <a16:creationId xmlns:a16="http://schemas.microsoft.com/office/drawing/2014/main" id="{5D2DD278-804E-4B52-9767-EC795C94D8A0}"/>
              </a:ext>
            </a:extLst>
          </p:cNvPr>
          <p:cNvSpPr txBox="1"/>
          <p:nvPr/>
        </p:nvSpPr>
        <p:spPr>
          <a:xfrm>
            <a:off x="5486400" y="1186805"/>
            <a:ext cx="3657600" cy="461665"/>
          </a:xfrm>
          <a:prstGeom prst="rect">
            <a:avLst/>
          </a:prstGeom>
          <a:noFill/>
        </p:spPr>
        <p:txBody>
          <a:bodyPr wrap="square" rtlCol="0">
            <a:spAutoFit/>
          </a:bodyPr>
          <a:lstStyle/>
          <a:p>
            <a:r>
              <a:rPr lang="tr-TR" sz="2400" b="1" dirty="0" err="1"/>
              <a:t>Current</a:t>
            </a:r>
            <a:r>
              <a:rPr lang="tr-TR" sz="2400" b="1" dirty="0"/>
              <a:t> </a:t>
            </a:r>
            <a:r>
              <a:rPr lang="tr-TR" sz="2400" b="1" dirty="0" err="1"/>
              <a:t>best</a:t>
            </a:r>
            <a:r>
              <a:rPr lang="tr-TR" sz="2400" b="1" dirty="0"/>
              <a:t>= -</a:t>
            </a:r>
            <a:r>
              <a:rPr lang="tr-TR" sz="2400" b="1" dirty="0" err="1"/>
              <a:t>infinity</a:t>
            </a:r>
            <a:endParaRPr lang="en-US" sz="2400" b="1" dirty="0"/>
          </a:p>
        </p:txBody>
      </p:sp>
      <p:sp>
        <p:nvSpPr>
          <p:cNvPr id="6" name="TextBox 5">
            <a:extLst>
              <a:ext uri="{FF2B5EF4-FFF2-40B4-BE49-F238E27FC236}">
                <a16:creationId xmlns:a16="http://schemas.microsoft.com/office/drawing/2014/main" id="{D217D0A4-4063-4528-8F2F-ACB937F76A01}"/>
              </a:ext>
            </a:extLst>
          </p:cNvPr>
          <p:cNvSpPr txBox="1"/>
          <p:nvPr/>
        </p:nvSpPr>
        <p:spPr>
          <a:xfrm>
            <a:off x="5464277" y="2191305"/>
            <a:ext cx="819150" cy="369332"/>
          </a:xfrm>
          <a:prstGeom prst="rect">
            <a:avLst/>
          </a:prstGeom>
          <a:noFill/>
        </p:spPr>
        <p:txBody>
          <a:bodyPr wrap="square" rtlCol="0">
            <a:spAutoFit/>
          </a:bodyPr>
          <a:lstStyle/>
          <a:p>
            <a:r>
              <a:rPr lang="tr-TR" dirty="0"/>
              <a:t>x&gt;=4</a:t>
            </a:r>
            <a:endParaRPr lang="en-US" dirty="0"/>
          </a:p>
        </p:txBody>
      </p:sp>
      <p:sp>
        <p:nvSpPr>
          <p:cNvPr id="10" name="TextBox 9">
            <a:extLst>
              <a:ext uri="{FF2B5EF4-FFF2-40B4-BE49-F238E27FC236}">
                <a16:creationId xmlns:a16="http://schemas.microsoft.com/office/drawing/2014/main" id="{1FFDA2A4-16E5-4157-B566-11D5F9A53AF6}"/>
              </a:ext>
            </a:extLst>
          </p:cNvPr>
          <p:cNvSpPr txBox="1"/>
          <p:nvPr/>
        </p:nvSpPr>
        <p:spPr>
          <a:xfrm>
            <a:off x="3530702" y="2212459"/>
            <a:ext cx="819150" cy="369332"/>
          </a:xfrm>
          <a:prstGeom prst="rect">
            <a:avLst/>
          </a:prstGeom>
          <a:noFill/>
        </p:spPr>
        <p:txBody>
          <a:bodyPr wrap="square" rtlCol="0">
            <a:spAutoFit/>
          </a:bodyPr>
          <a:lstStyle/>
          <a:p>
            <a:r>
              <a:rPr lang="tr-TR" dirty="0"/>
              <a:t>x&lt;=3</a:t>
            </a:r>
            <a:endParaRPr lang="en-US" dirty="0"/>
          </a:p>
        </p:txBody>
      </p:sp>
    </p:spTree>
    <p:extLst>
      <p:ext uri="{BB962C8B-B14F-4D97-AF65-F5344CB8AC3E}">
        <p14:creationId xmlns:p14="http://schemas.microsoft.com/office/powerpoint/2010/main" val="1199754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Solving IPs</a:t>
            </a:r>
            <a:endParaRPr lang="tr-TR" dirty="0"/>
          </a:p>
        </p:txBody>
      </p:sp>
      <p:sp>
        <p:nvSpPr>
          <p:cNvPr id="3" name="Content Placeholder 2"/>
          <p:cNvSpPr>
            <a:spLocks noGrp="1"/>
          </p:cNvSpPr>
          <p:nvPr>
            <p:ph idx="1"/>
          </p:nvPr>
        </p:nvSpPr>
        <p:spPr/>
        <p:txBody>
          <a:bodyPr/>
          <a:lstStyle/>
          <a:p>
            <a:endParaRPr lang="tr-TR"/>
          </a:p>
        </p:txBody>
      </p:sp>
      <p:pic>
        <p:nvPicPr>
          <p:cNvPr id="71682" name="Picture 2"/>
          <p:cNvPicPr>
            <a:picLocks noChangeAspect="1" noChangeArrowheads="1"/>
          </p:cNvPicPr>
          <p:nvPr/>
        </p:nvPicPr>
        <p:blipFill>
          <a:blip r:embed="rId3" cstate="print"/>
          <a:srcRect/>
          <a:stretch>
            <a:fillRect/>
          </a:stretch>
        </p:blipFill>
        <p:spPr bwMode="auto">
          <a:xfrm>
            <a:off x="1957388" y="2286000"/>
            <a:ext cx="5229225" cy="3848100"/>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FA436E59-F612-45AC-AF3B-E7CC6EF4BE4A}"/>
              </a:ext>
            </a:extLst>
          </p:cNvPr>
          <p:cNvSpPr>
            <a:spLocks noGrp="1"/>
          </p:cNvSpPr>
          <p:nvPr>
            <p:ph type="sldNum" sz="quarter" idx="12"/>
          </p:nvPr>
        </p:nvSpPr>
        <p:spPr/>
        <p:txBody>
          <a:bodyPr/>
          <a:lstStyle/>
          <a:p>
            <a:fld id="{B6F15528-21DE-4FAA-801E-634DDDAF4B2B}" type="slidenum">
              <a:rPr lang="en-US" smtClean="0"/>
              <a:pPr/>
              <a:t>70</a:t>
            </a:fld>
            <a:endParaRPr lang="en-US" dirty="0"/>
          </a:p>
        </p:txBody>
      </p:sp>
      <p:sp>
        <p:nvSpPr>
          <p:cNvPr id="6" name="TextBox 5">
            <a:extLst>
              <a:ext uri="{FF2B5EF4-FFF2-40B4-BE49-F238E27FC236}">
                <a16:creationId xmlns:a16="http://schemas.microsoft.com/office/drawing/2014/main" id="{765E732B-4EF4-4FDE-B37D-BA3E876AB768}"/>
              </a:ext>
            </a:extLst>
          </p:cNvPr>
          <p:cNvSpPr txBox="1"/>
          <p:nvPr/>
        </p:nvSpPr>
        <p:spPr>
          <a:xfrm>
            <a:off x="5486400" y="1186805"/>
            <a:ext cx="3657600" cy="461665"/>
          </a:xfrm>
          <a:prstGeom prst="rect">
            <a:avLst/>
          </a:prstGeom>
          <a:noFill/>
        </p:spPr>
        <p:txBody>
          <a:bodyPr wrap="square" rtlCol="0">
            <a:spAutoFit/>
          </a:bodyPr>
          <a:lstStyle/>
          <a:p>
            <a:r>
              <a:rPr lang="tr-TR" sz="2400" b="1" dirty="0" err="1"/>
              <a:t>Current</a:t>
            </a:r>
            <a:r>
              <a:rPr lang="tr-TR" sz="2400" b="1" dirty="0"/>
              <a:t> </a:t>
            </a:r>
            <a:r>
              <a:rPr lang="tr-TR" sz="2400" b="1" dirty="0" err="1"/>
              <a:t>best</a:t>
            </a:r>
            <a:r>
              <a:rPr lang="tr-TR" sz="2400" b="1" dirty="0"/>
              <a:t>= -</a:t>
            </a:r>
            <a:r>
              <a:rPr lang="tr-TR" sz="2400" b="1" dirty="0" err="1"/>
              <a:t>infinity</a:t>
            </a:r>
            <a:endParaRPr lang="en-US" sz="2400" b="1" dirty="0"/>
          </a:p>
        </p:txBody>
      </p:sp>
    </p:spTree>
    <p:extLst>
      <p:ext uri="{BB962C8B-B14F-4D97-AF65-F5344CB8AC3E}">
        <p14:creationId xmlns:p14="http://schemas.microsoft.com/office/powerpoint/2010/main" val="2126573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Solving IPs</a:t>
            </a:r>
            <a:endParaRPr lang="tr-TR" dirty="0"/>
          </a:p>
        </p:txBody>
      </p:sp>
      <p:sp>
        <p:nvSpPr>
          <p:cNvPr id="3" name="Content Placeholder 2"/>
          <p:cNvSpPr>
            <a:spLocks noGrp="1"/>
          </p:cNvSpPr>
          <p:nvPr>
            <p:ph idx="1"/>
          </p:nvPr>
        </p:nvSpPr>
        <p:spPr/>
        <p:txBody>
          <a:bodyPr/>
          <a:lstStyle/>
          <a:p>
            <a:r>
              <a:rPr lang="tr-TR" dirty="0" err="1"/>
              <a:t>We</a:t>
            </a:r>
            <a:r>
              <a:rPr lang="tr-TR" dirty="0"/>
              <a:t> </a:t>
            </a:r>
            <a:r>
              <a:rPr lang="tr-TR" dirty="0" err="1"/>
              <a:t>solve</a:t>
            </a:r>
            <a:r>
              <a:rPr lang="tr-TR" dirty="0"/>
              <a:t> </a:t>
            </a:r>
            <a:r>
              <a:rPr lang="tr-TR" dirty="0" err="1"/>
              <a:t>the</a:t>
            </a:r>
            <a:r>
              <a:rPr lang="tr-TR" dirty="0"/>
              <a:t> </a:t>
            </a:r>
            <a:r>
              <a:rPr lang="tr-TR" dirty="0" err="1"/>
              <a:t>blue</a:t>
            </a:r>
            <a:r>
              <a:rPr lang="tr-TR" dirty="0"/>
              <a:t> problem </a:t>
            </a:r>
            <a:r>
              <a:rPr lang="tr-TR" dirty="0" err="1"/>
              <a:t>to</a:t>
            </a:r>
            <a:r>
              <a:rPr lang="tr-TR" dirty="0"/>
              <a:t> </a:t>
            </a:r>
            <a:r>
              <a:rPr lang="tr-TR" dirty="0" err="1"/>
              <a:t>optimality</a:t>
            </a:r>
            <a:endParaRPr lang="tr-TR" dirty="0"/>
          </a:p>
        </p:txBody>
      </p:sp>
      <p:pic>
        <p:nvPicPr>
          <p:cNvPr id="72706" name="Picture 2"/>
          <p:cNvPicPr>
            <a:picLocks noChangeAspect="1" noChangeArrowheads="1"/>
          </p:cNvPicPr>
          <p:nvPr/>
        </p:nvPicPr>
        <p:blipFill>
          <a:blip r:embed="rId3" cstate="print"/>
          <a:srcRect/>
          <a:stretch>
            <a:fillRect/>
          </a:stretch>
        </p:blipFill>
        <p:spPr bwMode="auto">
          <a:xfrm>
            <a:off x="2038350" y="2343150"/>
            <a:ext cx="5067300" cy="3600450"/>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7D1D64F3-A8DF-4361-BC3C-DF8BC6245CFA}"/>
              </a:ext>
            </a:extLst>
          </p:cNvPr>
          <p:cNvSpPr>
            <a:spLocks noGrp="1"/>
          </p:cNvSpPr>
          <p:nvPr>
            <p:ph type="sldNum" sz="quarter" idx="12"/>
          </p:nvPr>
        </p:nvSpPr>
        <p:spPr/>
        <p:txBody>
          <a:bodyPr/>
          <a:lstStyle/>
          <a:p>
            <a:fld id="{B6F15528-21DE-4FAA-801E-634DDDAF4B2B}" type="slidenum">
              <a:rPr lang="en-US" smtClean="0"/>
              <a:pPr/>
              <a:t>71</a:t>
            </a:fld>
            <a:endParaRPr lang="en-US" dirty="0"/>
          </a:p>
        </p:txBody>
      </p:sp>
      <p:sp>
        <p:nvSpPr>
          <p:cNvPr id="6" name="TextBox 5">
            <a:extLst>
              <a:ext uri="{FF2B5EF4-FFF2-40B4-BE49-F238E27FC236}">
                <a16:creationId xmlns:a16="http://schemas.microsoft.com/office/drawing/2014/main" id="{48C66148-F2DF-446C-A95B-19AF0A08BFC6}"/>
              </a:ext>
            </a:extLst>
          </p:cNvPr>
          <p:cNvSpPr txBox="1"/>
          <p:nvPr/>
        </p:nvSpPr>
        <p:spPr>
          <a:xfrm>
            <a:off x="5486400" y="1186805"/>
            <a:ext cx="3657600" cy="461665"/>
          </a:xfrm>
          <a:prstGeom prst="rect">
            <a:avLst/>
          </a:prstGeom>
          <a:noFill/>
        </p:spPr>
        <p:txBody>
          <a:bodyPr wrap="square" rtlCol="0">
            <a:spAutoFit/>
          </a:bodyPr>
          <a:lstStyle/>
          <a:p>
            <a:r>
              <a:rPr lang="tr-TR" sz="2400" b="1" dirty="0" err="1"/>
              <a:t>Current</a:t>
            </a:r>
            <a:r>
              <a:rPr lang="tr-TR" sz="2400" b="1" dirty="0"/>
              <a:t> </a:t>
            </a:r>
            <a:r>
              <a:rPr lang="tr-TR" sz="2400" b="1" dirty="0" err="1"/>
              <a:t>best</a:t>
            </a:r>
            <a:r>
              <a:rPr lang="tr-TR" sz="2400" b="1" dirty="0"/>
              <a:t>= 4</a:t>
            </a:r>
            <a:endParaRPr lang="en-US" sz="2400" b="1" dirty="0"/>
          </a:p>
        </p:txBody>
      </p:sp>
    </p:spTree>
    <p:extLst>
      <p:ext uri="{BB962C8B-B14F-4D97-AF65-F5344CB8AC3E}">
        <p14:creationId xmlns:p14="http://schemas.microsoft.com/office/powerpoint/2010/main" val="22170327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Solving IPs</a:t>
            </a:r>
          </a:p>
        </p:txBody>
      </p:sp>
      <p:sp>
        <p:nvSpPr>
          <p:cNvPr id="3" name="Content Placeholder 2"/>
          <p:cNvSpPr>
            <a:spLocks noGrp="1"/>
          </p:cNvSpPr>
          <p:nvPr>
            <p:ph idx="1"/>
          </p:nvPr>
        </p:nvSpPr>
        <p:spPr/>
        <p:txBody>
          <a:bodyPr/>
          <a:lstStyle/>
          <a:p>
            <a:endParaRPr lang="tr-TR" dirty="0"/>
          </a:p>
        </p:txBody>
      </p:sp>
      <p:pic>
        <p:nvPicPr>
          <p:cNvPr id="73730" name="Picture 2"/>
          <p:cNvPicPr>
            <a:picLocks noChangeAspect="1" noChangeArrowheads="1"/>
          </p:cNvPicPr>
          <p:nvPr/>
        </p:nvPicPr>
        <p:blipFill>
          <a:blip r:embed="rId3" cstate="print"/>
          <a:srcRect/>
          <a:stretch>
            <a:fillRect/>
          </a:stretch>
        </p:blipFill>
        <p:spPr bwMode="auto">
          <a:xfrm>
            <a:off x="1847850" y="2295525"/>
            <a:ext cx="5448300" cy="3876675"/>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398E7D07-B4E1-49B0-A4AD-8F31216E3A13}"/>
              </a:ext>
            </a:extLst>
          </p:cNvPr>
          <p:cNvSpPr>
            <a:spLocks noGrp="1"/>
          </p:cNvSpPr>
          <p:nvPr>
            <p:ph type="sldNum" sz="quarter" idx="12"/>
          </p:nvPr>
        </p:nvSpPr>
        <p:spPr/>
        <p:txBody>
          <a:bodyPr/>
          <a:lstStyle/>
          <a:p>
            <a:fld id="{B6F15528-21DE-4FAA-801E-634DDDAF4B2B}" type="slidenum">
              <a:rPr lang="en-US" smtClean="0"/>
              <a:pPr/>
              <a:t>72</a:t>
            </a:fld>
            <a:endParaRPr lang="en-US" dirty="0"/>
          </a:p>
        </p:txBody>
      </p:sp>
      <p:sp>
        <p:nvSpPr>
          <p:cNvPr id="7" name="TextBox 6">
            <a:extLst>
              <a:ext uri="{FF2B5EF4-FFF2-40B4-BE49-F238E27FC236}">
                <a16:creationId xmlns:a16="http://schemas.microsoft.com/office/drawing/2014/main" id="{3008FCA4-37C3-4FDF-ADE1-87028BF734B4}"/>
              </a:ext>
            </a:extLst>
          </p:cNvPr>
          <p:cNvSpPr txBox="1"/>
          <p:nvPr/>
        </p:nvSpPr>
        <p:spPr>
          <a:xfrm>
            <a:off x="5486400" y="1186805"/>
            <a:ext cx="3657600" cy="461665"/>
          </a:xfrm>
          <a:prstGeom prst="rect">
            <a:avLst/>
          </a:prstGeom>
          <a:noFill/>
        </p:spPr>
        <p:txBody>
          <a:bodyPr wrap="square" rtlCol="0">
            <a:spAutoFit/>
          </a:bodyPr>
          <a:lstStyle/>
          <a:p>
            <a:r>
              <a:rPr lang="tr-TR" sz="2400" b="1" dirty="0" err="1"/>
              <a:t>Current</a:t>
            </a:r>
            <a:r>
              <a:rPr lang="tr-TR" sz="2400" b="1" dirty="0"/>
              <a:t> </a:t>
            </a:r>
            <a:r>
              <a:rPr lang="tr-TR" sz="2400" b="1" dirty="0" err="1"/>
              <a:t>best</a:t>
            </a:r>
            <a:r>
              <a:rPr lang="tr-TR" sz="2400" b="1" dirty="0"/>
              <a:t>= 4</a:t>
            </a:r>
            <a:endParaRPr lang="en-US" sz="2400" b="1" dirty="0"/>
          </a:p>
        </p:txBody>
      </p:sp>
    </p:spTree>
    <p:extLst>
      <p:ext uri="{BB962C8B-B14F-4D97-AF65-F5344CB8AC3E}">
        <p14:creationId xmlns:p14="http://schemas.microsoft.com/office/powerpoint/2010/main" val="11265244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Solving IPs</a:t>
            </a:r>
            <a:endParaRPr lang="tr-TR" dirty="0"/>
          </a:p>
        </p:txBody>
      </p:sp>
      <p:sp>
        <p:nvSpPr>
          <p:cNvPr id="3" name="Content Placeholder 2"/>
          <p:cNvSpPr>
            <a:spLocks noGrp="1"/>
          </p:cNvSpPr>
          <p:nvPr>
            <p:ph idx="1"/>
          </p:nvPr>
        </p:nvSpPr>
        <p:spPr/>
        <p:txBody>
          <a:bodyPr/>
          <a:lstStyle/>
          <a:p>
            <a:r>
              <a:rPr lang="tr-TR" dirty="0" err="1"/>
              <a:t>We</a:t>
            </a:r>
            <a:r>
              <a:rPr lang="tr-TR" dirty="0"/>
              <a:t> </a:t>
            </a:r>
            <a:r>
              <a:rPr lang="tr-TR" dirty="0" err="1"/>
              <a:t>create</a:t>
            </a:r>
            <a:r>
              <a:rPr lang="tr-TR" dirty="0"/>
              <a:t> </a:t>
            </a:r>
            <a:r>
              <a:rPr lang="tr-TR" dirty="0" err="1"/>
              <a:t>two</a:t>
            </a:r>
            <a:r>
              <a:rPr lang="tr-TR" dirty="0"/>
              <a:t> </a:t>
            </a:r>
            <a:r>
              <a:rPr lang="tr-TR" dirty="0" err="1"/>
              <a:t>more</a:t>
            </a:r>
            <a:r>
              <a:rPr lang="tr-TR" dirty="0"/>
              <a:t> </a:t>
            </a:r>
            <a:r>
              <a:rPr lang="tr-TR" dirty="0" err="1"/>
              <a:t>problems</a:t>
            </a:r>
            <a:endParaRPr lang="tr-TR" dirty="0"/>
          </a:p>
        </p:txBody>
      </p:sp>
      <p:pic>
        <p:nvPicPr>
          <p:cNvPr id="74754" name="Picture 2"/>
          <p:cNvPicPr>
            <a:picLocks noChangeAspect="1" noChangeArrowheads="1"/>
          </p:cNvPicPr>
          <p:nvPr/>
        </p:nvPicPr>
        <p:blipFill>
          <a:blip r:embed="rId3" cstate="print"/>
          <a:srcRect/>
          <a:stretch>
            <a:fillRect/>
          </a:stretch>
        </p:blipFill>
        <p:spPr bwMode="auto">
          <a:xfrm>
            <a:off x="1862138" y="2362200"/>
            <a:ext cx="5419725" cy="3781425"/>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36159ADD-8BD9-4E67-8ADA-159BBD3DF661}"/>
              </a:ext>
            </a:extLst>
          </p:cNvPr>
          <p:cNvSpPr>
            <a:spLocks noGrp="1"/>
          </p:cNvSpPr>
          <p:nvPr>
            <p:ph type="sldNum" sz="quarter" idx="12"/>
          </p:nvPr>
        </p:nvSpPr>
        <p:spPr/>
        <p:txBody>
          <a:bodyPr/>
          <a:lstStyle/>
          <a:p>
            <a:fld id="{B6F15528-21DE-4FAA-801E-634DDDAF4B2B}" type="slidenum">
              <a:rPr lang="en-US" smtClean="0"/>
              <a:pPr/>
              <a:t>73</a:t>
            </a:fld>
            <a:endParaRPr lang="en-US" dirty="0"/>
          </a:p>
        </p:txBody>
      </p:sp>
      <p:sp>
        <p:nvSpPr>
          <p:cNvPr id="7" name="TextBox 6">
            <a:extLst>
              <a:ext uri="{FF2B5EF4-FFF2-40B4-BE49-F238E27FC236}">
                <a16:creationId xmlns:a16="http://schemas.microsoft.com/office/drawing/2014/main" id="{4F82F4A0-F4BA-43E7-9BCC-EE6F4E192558}"/>
              </a:ext>
            </a:extLst>
          </p:cNvPr>
          <p:cNvSpPr txBox="1"/>
          <p:nvPr/>
        </p:nvSpPr>
        <p:spPr>
          <a:xfrm>
            <a:off x="5486400" y="1186805"/>
            <a:ext cx="3657600" cy="461665"/>
          </a:xfrm>
          <a:prstGeom prst="rect">
            <a:avLst/>
          </a:prstGeom>
          <a:noFill/>
        </p:spPr>
        <p:txBody>
          <a:bodyPr wrap="square" rtlCol="0">
            <a:spAutoFit/>
          </a:bodyPr>
          <a:lstStyle/>
          <a:p>
            <a:r>
              <a:rPr lang="tr-TR" sz="2400" b="1" dirty="0" err="1"/>
              <a:t>Current</a:t>
            </a:r>
            <a:r>
              <a:rPr lang="tr-TR" sz="2400" b="1" dirty="0"/>
              <a:t> </a:t>
            </a:r>
            <a:r>
              <a:rPr lang="tr-TR" sz="2400" b="1" dirty="0" err="1"/>
              <a:t>best</a:t>
            </a:r>
            <a:r>
              <a:rPr lang="tr-TR" sz="2400" b="1" dirty="0"/>
              <a:t>= 4</a:t>
            </a:r>
            <a:endParaRPr lang="en-US" sz="2400" b="1" dirty="0"/>
          </a:p>
        </p:txBody>
      </p:sp>
    </p:spTree>
    <p:extLst>
      <p:ext uri="{BB962C8B-B14F-4D97-AF65-F5344CB8AC3E}">
        <p14:creationId xmlns:p14="http://schemas.microsoft.com/office/powerpoint/2010/main" val="6936876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Solving</a:t>
            </a:r>
            <a:r>
              <a:rPr lang="tr-TR" dirty="0"/>
              <a:t> </a:t>
            </a:r>
            <a:r>
              <a:rPr lang="tr-TR" dirty="0" err="1"/>
              <a:t>IPs</a:t>
            </a:r>
            <a:endParaRPr lang="tr-TR" dirty="0"/>
          </a:p>
        </p:txBody>
      </p:sp>
      <p:sp>
        <p:nvSpPr>
          <p:cNvPr id="3" name="Content Placeholder 2"/>
          <p:cNvSpPr>
            <a:spLocks noGrp="1"/>
          </p:cNvSpPr>
          <p:nvPr>
            <p:ph idx="1"/>
          </p:nvPr>
        </p:nvSpPr>
        <p:spPr/>
        <p:txBody>
          <a:bodyPr/>
          <a:lstStyle/>
          <a:p>
            <a:endParaRPr lang="tr-TR"/>
          </a:p>
        </p:txBody>
      </p:sp>
      <p:pic>
        <p:nvPicPr>
          <p:cNvPr id="75778" name="Picture 2"/>
          <p:cNvPicPr>
            <a:picLocks noChangeAspect="1" noChangeArrowheads="1"/>
          </p:cNvPicPr>
          <p:nvPr/>
        </p:nvPicPr>
        <p:blipFill>
          <a:blip r:embed="rId3" cstate="print"/>
          <a:srcRect/>
          <a:stretch>
            <a:fillRect/>
          </a:stretch>
        </p:blipFill>
        <p:spPr bwMode="auto">
          <a:xfrm>
            <a:off x="1871663" y="2286000"/>
            <a:ext cx="5400675" cy="3867150"/>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A16B2081-90D2-41D9-AEEE-917CAEE88B7D}"/>
              </a:ext>
            </a:extLst>
          </p:cNvPr>
          <p:cNvSpPr>
            <a:spLocks noGrp="1"/>
          </p:cNvSpPr>
          <p:nvPr>
            <p:ph type="sldNum" sz="quarter" idx="12"/>
          </p:nvPr>
        </p:nvSpPr>
        <p:spPr/>
        <p:txBody>
          <a:bodyPr/>
          <a:lstStyle/>
          <a:p>
            <a:fld id="{B6F15528-21DE-4FAA-801E-634DDDAF4B2B}" type="slidenum">
              <a:rPr lang="en-US" smtClean="0"/>
              <a:pPr/>
              <a:t>74</a:t>
            </a:fld>
            <a:endParaRPr lang="en-US" dirty="0"/>
          </a:p>
        </p:txBody>
      </p:sp>
      <p:sp>
        <p:nvSpPr>
          <p:cNvPr id="6" name="TextBox 5">
            <a:extLst>
              <a:ext uri="{FF2B5EF4-FFF2-40B4-BE49-F238E27FC236}">
                <a16:creationId xmlns:a16="http://schemas.microsoft.com/office/drawing/2014/main" id="{8EA7F3DC-34F2-433E-8CEB-49079BD4D5F4}"/>
              </a:ext>
            </a:extLst>
          </p:cNvPr>
          <p:cNvSpPr txBox="1"/>
          <p:nvPr/>
        </p:nvSpPr>
        <p:spPr>
          <a:xfrm>
            <a:off x="5486400" y="1186805"/>
            <a:ext cx="3657600" cy="461665"/>
          </a:xfrm>
          <a:prstGeom prst="rect">
            <a:avLst/>
          </a:prstGeom>
          <a:noFill/>
        </p:spPr>
        <p:txBody>
          <a:bodyPr wrap="square" rtlCol="0">
            <a:spAutoFit/>
          </a:bodyPr>
          <a:lstStyle/>
          <a:p>
            <a:r>
              <a:rPr lang="tr-TR" sz="2400" b="1" dirty="0" err="1"/>
              <a:t>Current</a:t>
            </a:r>
            <a:r>
              <a:rPr lang="tr-TR" sz="2400" b="1" dirty="0"/>
              <a:t> </a:t>
            </a:r>
            <a:r>
              <a:rPr lang="tr-TR" sz="2400" b="1" dirty="0" err="1"/>
              <a:t>best</a:t>
            </a:r>
            <a:r>
              <a:rPr lang="tr-TR" sz="2400" b="1" dirty="0"/>
              <a:t>= </a:t>
            </a:r>
            <a:r>
              <a:rPr lang="tr-TR" sz="2400" b="1" dirty="0">
                <a:solidFill>
                  <a:srgbClr val="FF0000"/>
                </a:solidFill>
              </a:rPr>
              <a:t>4 =&gt; 6</a:t>
            </a:r>
            <a:endParaRPr lang="en-US" sz="2400" b="1" dirty="0">
              <a:solidFill>
                <a:srgbClr val="FF0000"/>
              </a:solidFill>
            </a:endParaRPr>
          </a:p>
        </p:txBody>
      </p:sp>
    </p:spTree>
    <p:extLst>
      <p:ext uri="{BB962C8B-B14F-4D97-AF65-F5344CB8AC3E}">
        <p14:creationId xmlns:p14="http://schemas.microsoft.com/office/powerpoint/2010/main" val="23128210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p:cNvPicPr>
            <a:picLocks noChangeAspect="1" noChangeArrowheads="1"/>
          </p:cNvPicPr>
          <p:nvPr/>
        </p:nvPicPr>
        <p:blipFill>
          <a:blip r:embed="rId3" cstate="print"/>
          <a:srcRect/>
          <a:stretch>
            <a:fillRect/>
          </a:stretch>
        </p:blipFill>
        <p:spPr bwMode="auto">
          <a:xfrm>
            <a:off x="2038350" y="2560637"/>
            <a:ext cx="5067300" cy="3752850"/>
          </a:xfrm>
          <a:prstGeom prst="rect">
            <a:avLst/>
          </a:prstGeom>
          <a:noFill/>
          <a:ln w="9525">
            <a:noFill/>
            <a:miter lim="800000"/>
            <a:headEnd/>
            <a:tailEnd/>
          </a:ln>
        </p:spPr>
      </p:pic>
      <p:sp>
        <p:nvSpPr>
          <p:cNvPr id="2" name="Title 1"/>
          <p:cNvSpPr>
            <a:spLocks noGrp="1"/>
          </p:cNvSpPr>
          <p:nvPr>
            <p:ph type="title"/>
          </p:nvPr>
        </p:nvSpPr>
        <p:spPr/>
        <p:txBody>
          <a:bodyPr/>
          <a:lstStyle/>
          <a:p>
            <a:r>
              <a:rPr lang="tr-TR"/>
              <a:t>Solving IPs</a:t>
            </a:r>
            <a:endParaRPr lang="tr-TR" dirty="0"/>
          </a:p>
        </p:txBody>
      </p:sp>
      <p:sp>
        <p:nvSpPr>
          <p:cNvPr id="3" name="Content Placeholder 2"/>
          <p:cNvSpPr>
            <a:spLocks noGrp="1"/>
          </p:cNvSpPr>
          <p:nvPr>
            <p:ph idx="1"/>
          </p:nvPr>
        </p:nvSpPr>
        <p:spPr/>
        <p:txBody>
          <a:bodyPr/>
          <a:lstStyle/>
          <a:p>
            <a:r>
              <a:rPr lang="tr-TR" dirty="0" err="1"/>
              <a:t>The</a:t>
            </a:r>
            <a:r>
              <a:rPr lang="tr-TR" dirty="0"/>
              <a:t> </a:t>
            </a:r>
            <a:r>
              <a:rPr lang="tr-TR" dirty="0" err="1"/>
              <a:t>blue</a:t>
            </a:r>
            <a:r>
              <a:rPr lang="tr-TR" dirty="0"/>
              <a:t> problem is </a:t>
            </a:r>
            <a:r>
              <a:rPr lang="tr-TR" dirty="0" err="1"/>
              <a:t>solved</a:t>
            </a:r>
            <a:r>
              <a:rPr lang="tr-TR" dirty="0"/>
              <a:t> </a:t>
            </a:r>
            <a:r>
              <a:rPr lang="tr-TR" dirty="0" err="1"/>
              <a:t>to</a:t>
            </a:r>
            <a:r>
              <a:rPr lang="tr-TR" dirty="0"/>
              <a:t> </a:t>
            </a:r>
            <a:r>
              <a:rPr lang="tr-TR" dirty="0" err="1"/>
              <a:t>optimality</a:t>
            </a:r>
            <a:r>
              <a:rPr lang="tr-TR" dirty="0"/>
              <a:t>.</a:t>
            </a:r>
          </a:p>
          <a:p>
            <a:r>
              <a:rPr lang="tr-TR" dirty="0"/>
              <a:t>Do </a:t>
            </a:r>
            <a:r>
              <a:rPr lang="tr-TR" dirty="0" err="1"/>
              <a:t>we</a:t>
            </a:r>
            <a:r>
              <a:rPr lang="tr-TR" dirty="0"/>
              <a:t> </a:t>
            </a:r>
            <a:r>
              <a:rPr lang="tr-TR" dirty="0" err="1"/>
              <a:t>need</a:t>
            </a:r>
            <a:r>
              <a:rPr lang="tr-TR" dirty="0"/>
              <a:t> </a:t>
            </a:r>
            <a:r>
              <a:rPr lang="tr-TR" dirty="0" err="1"/>
              <a:t>to</a:t>
            </a:r>
            <a:r>
              <a:rPr lang="tr-TR" dirty="0"/>
              <a:t> </a:t>
            </a:r>
            <a:r>
              <a:rPr lang="tr-TR" dirty="0" err="1"/>
              <a:t>solve</a:t>
            </a:r>
            <a:r>
              <a:rPr lang="tr-TR" dirty="0"/>
              <a:t> </a:t>
            </a:r>
            <a:r>
              <a:rPr lang="tr-TR" dirty="0" err="1"/>
              <a:t>the</a:t>
            </a:r>
            <a:r>
              <a:rPr lang="tr-TR" dirty="0"/>
              <a:t> </a:t>
            </a:r>
            <a:r>
              <a:rPr lang="tr-TR" dirty="0" err="1"/>
              <a:t>yellow</a:t>
            </a:r>
            <a:r>
              <a:rPr lang="tr-TR" dirty="0"/>
              <a:t> problem?</a:t>
            </a:r>
          </a:p>
        </p:txBody>
      </p:sp>
      <p:sp>
        <p:nvSpPr>
          <p:cNvPr id="4" name="Slide Number Placeholder 3">
            <a:extLst>
              <a:ext uri="{FF2B5EF4-FFF2-40B4-BE49-F238E27FC236}">
                <a16:creationId xmlns:a16="http://schemas.microsoft.com/office/drawing/2014/main" id="{7611EA7A-D9D8-481F-9E33-F9DA1820689D}"/>
              </a:ext>
            </a:extLst>
          </p:cNvPr>
          <p:cNvSpPr>
            <a:spLocks noGrp="1"/>
          </p:cNvSpPr>
          <p:nvPr>
            <p:ph type="sldNum" sz="quarter" idx="12"/>
          </p:nvPr>
        </p:nvSpPr>
        <p:spPr/>
        <p:txBody>
          <a:bodyPr/>
          <a:lstStyle/>
          <a:p>
            <a:fld id="{B6F15528-21DE-4FAA-801E-634DDDAF4B2B}" type="slidenum">
              <a:rPr lang="en-US" smtClean="0"/>
              <a:pPr/>
              <a:t>75</a:t>
            </a:fld>
            <a:endParaRPr lang="en-US" dirty="0"/>
          </a:p>
        </p:txBody>
      </p:sp>
      <p:sp>
        <p:nvSpPr>
          <p:cNvPr id="6" name="TextBox 5">
            <a:extLst>
              <a:ext uri="{FF2B5EF4-FFF2-40B4-BE49-F238E27FC236}">
                <a16:creationId xmlns:a16="http://schemas.microsoft.com/office/drawing/2014/main" id="{57FC7C0D-C78E-4ED9-927D-242631BF9FD7}"/>
              </a:ext>
            </a:extLst>
          </p:cNvPr>
          <p:cNvSpPr txBox="1"/>
          <p:nvPr/>
        </p:nvSpPr>
        <p:spPr>
          <a:xfrm>
            <a:off x="5486400" y="1186805"/>
            <a:ext cx="3657600" cy="461665"/>
          </a:xfrm>
          <a:prstGeom prst="rect">
            <a:avLst/>
          </a:prstGeom>
          <a:noFill/>
        </p:spPr>
        <p:txBody>
          <a:bodyPr wrap="square" rtlCol="0">
            <a:spAutoFit/>
          </a:bodyPr>
          <a:lstStyle/>
          <a:p>
            <a:r>
              <a:rPr lang="tr-TR" sz="2400" b="1" dirty="0" err="1"/>
              <a:t>Current</a:t>
            </a:r>
            <a:r>
              <a:rPr lang="tr-TR" sz="2400" b="1" dirty="0"/>
              <a:t> </a:t>
            </a:r>
            <a:r>
              <a:rPr lang="tr-TR" sz="2400" b="1" dirty="0" err="1"/>
              <a:t>best</a:t>
            </a:r>
            <a:r>
              <a:rPr lang="tr-TR" sz="2400" b="1" dirty="0"/>
              <a:t>= 6</a:t>
            </a:r>
            <a:endParaRPr lang="en-US" sz="2400" b="1" dirty="0">
              <a:solidFill>
                <a:srgbClr val="FF0000"/>
              </a:solidFill>
            </a:endParaRPr>
          </a:p>
        </p:txBody>
      </p:sp>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1AC3E49B-221E-4A2D-951D-FB27EF7F8C5D}"/>
                  </a:ext>
                </a:extLst>
              </p14:cNvPr>
              <p14:cNvContentPartPr/>
              <p14:nvPr/>
            </p14:nvContentPartPr>
            <p14:xfrm>
              <a:off x="3500125" y="756836"/>
              <a:ext cx="3923280" cy="3120840"/>
            </p14:xfrm>
          </p:contentPart>
        </mc:Choice>
        <mc:Fallback>
          <p:pic>
            <p:nvPicPr>
              <p:cNvPr id="14" name="Ink 13">
                <a:extLst>
                  <a:ext uri="{FF2B5EF4-FFF2-40B4-BE49-F238E27FC236}">
                    <a16:creationId xmlns:a16="http://schemas.microsoft.com/office/drawing/2014/main" id="{1AC3E49B-221E-4A2D-951D-FB27EF7F8C5D}"/>
                  </a:ext>
                </a:extLst>
              </p:cNvPr>
              <p:cNvPicPr/>
              <p:nvPr/>
            </p:nvPicPr>
            <p:blipFill>
              <a:blip r:embed="rId5"/>
              <a:stretch>
                <a:fillRect/>
              </a:stretch>
            </p:blipFill>
            <p:spPr>
              <a:xfrm>
                <a:off x="3464128" y="720832"/>
                <a:ext cx="3994913" cy="3192488"/>
              </a:xfrm>
              <a:prstGeom prst="rect">
                <a:avLst/>
              </a:prstGeom>
            </p:spPr>
          </p:pic>
        </mc:Fallback>
      </mc:AlternateContent>
      <p:sp>
        <p:nvSpPr>
          <p:cNvPr id="27" name="Ellipsi 26">
            <a:extLst>
              <a:ext uri="{FF2B5EF4-FFF2-40B4-BE49-F238E27FC236}">
                <a16:creationId xmlns:a16="http://schemas.microsoft.com/office/drawing/2014/main" id="{2ACB6D29-C69D-452B-B178-21DDCB6D550C}"/>
              </a:ext>
            </a:extLst>
          </p:cNvPr>
          <p:cNvSpPr/>
          <p:nvPr/>
        </p:nvSpPr>
        <p:spPr>
          <a:xfrm>
            <a:off x="2843640" y="3729960"/>
            <a:ext cx="1097280" cy="1097280"/>
          </a:xfrm>
          <a:prstGeom prst="ellipse">
            <a:avLst/>
          </a:prstGeom>
          <a:solidFill>
            <a:srgbClr val="E71224">
              <a:alpha val="5000"/>
            </a:srgbClr>
          </a:solidFill>
          <a:ln w="72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
        <p:nvSpPr>
          <p:cNvPr id="17" name="Ellipsi 16">
            <a:extLst>
              <a:ext uri="{FF2B5EF4-FFF2-40B4-BE49-F238E27FC236}">
                <a16:creationId xmlns:a16="http://schemas.microsoft.com/office/drawing/2014/main" id="{D072101A-5294-4755-98CB-905FC8C92ED1}"/>
              </a:ext>
            </a:extLst>
          </p:cNvPr>
          <p:cNvSpPr/>
          <p:nvPr/>
        </p:nvSpPr>
        <p:spPr>
          <a:xfrm>
            <a:off x="6965640" y="852480"/>
            <a:ext cx="1097280" cy="1097280"/>
          </a:xfrm>
          <a:prstGeom prst="ellipse">
            <a:avLst/>
          </a:prstGeom>
          <a:solidFill>
            <a:srgbClr val="E71224">
              <a:alpha val="5000"/>
            </a:srgbClr>
          </a:solidFill>
          <a:ln w="72000">
            <a:solidFill>
              <a:srgbClr val="E71224"/>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chorCtr="1"/>
          <a:lstStyle/>
          <a:p>
            <a:endParaRPr lang="de-DE">
              <a:solidFill>
                <a:srgbClr val="E71224"/>
              </a:solidFill>
            </a:endParaRPr>
          </a:p>
        </p:txBody>
      </p:sp>
    </p:spTree>
    <p:extLst>
      <p:ext uri="{BB962C8B-B14F-4D97-AF65-F5344CB8AC3E}">
        <p14:creationId xmlns:p14="http://schemas.microsoft.com/office/powerpoint/2010/main" val="42836028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Solving IP’s: Branch &amp; Bound</a:t>
            </a:r>
          </a:p>
        </p:txBody>
      </p:sp>
      <p:sp>
        <p:nvSpPr>
          <p:cNvPr id="3" name="Content Placeholder 2"/>
          <p:cNvSpPr>
            <a:spLocks noGrp="1"/>
          </p:cNvSpPr>
          <p:nvPr>
            <p:ph idx="1"/>
          </p:nvPr>
        </p:nvSpPr>
        <p:spPr/>
        <p:txBody>
          <a:bodyPr>
            <a:normAutofit fontScale="85000" lnSpcReduction="20000"/>
          </a:bodyPr>
          <a:lstStyle/>
          <a:p>
            <a:r>
              <a:rPr lang="tr-TR" dirty="0"/>
              <a:t>Solving a series of LP relaxations of the original problem where integer/binary variables are not so restricted.</a:t>
            </a:r>
          </a:p>
          <a:p>
            <a:r>
              <a:rPr lang="tr-TR" dirty="0"/>
              <a:t>Systematic enumeration of LP-feasible solutions with additional integrality constraints or enforcing bounds.</a:t>
            </a:r>
          </a:p>
          <a:p>
            <a:r>
              <a:rPr lang="tr-TR" dirty="0"/>
              <a:t>Relies on the fact that a </a:t>
            </a:r>
            <a:r>
              <a:rPr lang="tr-TR" b="1" dirty="0">
                <a:solidFill>
                  <a:srgbClr val="FF0000"/>
                </a:solidFill>
              </a:rPr>
              <a:t>relaxed solution provides better than an (integer) restricted solution</a:t>
            </a:r>
            <a:r>
              <a:rPr lang="tr-TR" dirty="0"/>
              <a:t>, and </a:t>
            </a:r>
            <a:r>
              <a:rPr lang="tr-TR" b="1" dirty="0">
                <a:solidFill>
                  <a:srgbClr val="FF0000"/>
                </a:solidFill>
              </a:rPr>
              <a:t>eliminates non-promising LP-feasible solutions</a:t>
            </a:r>
            <a:r>
              <a:rPr lang="tr-TR" dirty="0"/>
              <a:t>.</a:t>
            </a:r>
          </a:p>
          <a:p>
            <a:r>
              <a:rPr lang="tr-TR" dirty="0"/>
              <a:t>Use a tree structure with</a:t>
            </a:r>
          </a:p>
          <a:p>
            <a:pPr lvl="1"/>
            <a:r>
              <a:rPr lang="tr-TR" dirty="0"/>
              <a:t>most relaxed solution sitting at the root</a:t>
            </a:r>
          </a:p>
          <a:p>
            <a:pPr lvl="1"/>
            <a:r>
              <a:rPr lang="tr-TR" dirty="0"/>
              <a:t>branching out with integrality constraints or enforcing bounds on the variables</a:t>
            </a:r>
          </a:p>
        </p:txBody>
      </p:sp>
      <p:sp>
        <p:nvSpPr>
          <p:cNvPr id="4" name="Slide Number Placeholder 3">
            <a:extLst>
              <a:ext uri="{FF2B5EF4-FFF2-40B4-BE49-F238E27FC236}">
                <a16:creationId xmlns:a16="http://schemas.microsoft.com/office/drawing/2014/main" id="{BB1EEDD3-F055-4248-83CE-D52A4C9166F7}"/>
              </a:ext>
            </a:extLst>
          </p:cNvPr>
          <p:cNvSpPr>
            <a:spLocks noGrp="1"/>
          </p:cNvSpPr>
          <p:nvPr>
            <p:ph type="sldNum" sz="quarter" idx="12"/>
          </p:nvPr>
        </p:nvSpPr>
        <p:spPr/>
        <p:txBody>
          <a:bodyPr/>
          <a:lstStyle/>
          <a:p>
            <a:fld id="{B6F15528-21DE-4FAA-801E-634DDDAF4B2B}" type="slidenum">
              <a:rPr lang="en-US" smtClean="0"/>
              <a:pPr/>
              <a:t>76</a:t>
            </a:fld>
            <a:endParaRPr lang="en-US" dirty="0"/>
          </a:p>
        </p:txBody>
      </p:sp>
    </p:spTree>
    <p:extLst>
      <p:ext uri="{BB962C8B-B14F-4D97-AF65-F5344CB8AC3E}">
        <p14:creationId xmlns:p14="http://schemas.microsoft.com/office/powerpoint/2010/main" val="28214199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Solving IP’s: Branch &amp; Bound</a:t>
            </a:r>
          </a:p>
        </p:txBody>
      </p:sp>
      <p:sp>
        <p:nvSpPr>
          <p:cNvPr id="3" name="Content Placeholder 2"/>
          <p:cNvSpPr>
            <a:spLocks noGrp="1"/>
          </p:cNvSpPr>
          <p:nvPr>
            <p:ph idx="1"/>
          </p:nvPr>
        </p:nvSpPr>
        <p:spPr/>
        <p:txBody>
          <a:bodyPr/>
          <a:lstStyle/>
          <a:p>
            <a:r>
              <a:rPr lang="tr-TR" dirty="0"/>
              <a:t>Solve the following 0-1 programming problem</a:t>
            </a:r>
          </a:p>
          <a:p>
            <a:endParaRPr lang="tr-TR" dirty="0"/>
          </a:p>
          <a:p>
            <a:endParaRPr lang="tr-TR" dirty="0"/>
          </a:p>
          <a:p>
            <a:endParaRPr lang="tr-TR" dirty="0"/>
          </a:p>
          <a:p>
            <a:r>
              <a:rPr lang="tr-TR" dirty="0"/>
              <a:t>Start by solving the LP-relaxation</a:t>
            </a:r>
          </a:p>
        </p:txBody>
      </p:sp>
      <p:pic>
        <p:nvPicPr>
          <p:cNvPr id="31746" name="Picture 2"/>
          <p:cNvPicPr>
            <a:picLocks noChangeAspect="1" noChangeArrowheads="1"/>
          </p:cNvPicPr>
          <p:nvPr/>
        </p:nvPicPr>
        <p:blipFill>
          <a:blip r:embed="rId3" cstate="print"/>
          <a:srcRect/>
          <a:stretch>
            <a:fillRect/>
          </a:stretch>
        </p:blipFill>
        <p:spPr bwMode="auto">
          <a:xfrm>
            <a:off x="685800" y="2209800"/>
            <a:ext cx="7798843" cy="1171575"/>
          </a:xfrm>
          <a:prstGeom prst="rect">
            <a:avLst/>
          </a:prstGeom>
          <a:noFill/>
          <a:ln w="9525">
            <a:noFill/>
            <a:miter lim="800000"/>
            <a:headEnd/>
            <a:tailEnd/>
          </a:ln>
        </p:spPr>
      </p:pic>
      <p:sp>
        <p:nvSpPr>
          <p:cNvPr id="4" name="Slide Number Placeholder 3">
            <a:extLst>
              <a:ext uri="{FF2B5EF4-FFF2-40B4-BE49-F238E27FC236}">
                <a16:creationId xmlns:a16="http://schemas.microsoft.com/office/drawing/2014/main" id="{457BA067-1A0C-4D46-A43F-C422B5A96F83}"/>
              </a:ext>
            </a:extLst>
          </p:cNvPr>
          <p:cNvSpPr>
            <a:spLocks noGrp="1"/>
          </p:cNvSpPr>
          <p:nvPr>
            <p:ph type="sldNum" sz="quarter" idx="12"/>
          </p:nvPr>
        </p:nvSpPr>
        <p:spPr/>
        <p:txBody>
          <a:bodyPr/>
          <a:lstStyle/>
          <a:p>
            <a:fld id="{B6F15528-21DE-4FAA-801E-634DDDAF4B2B}" type="slidenum">
              <a:rPr lang="en-US" smtClean="0"/>
              <a:pPr/>
              <a:t>77</a:t>
            </a:fld>
            <a:endParaRPr lang="en-US" dirty="0"/>
          </a:p>
        </p:txBody>
      </p:sp>
    </p:spTree>
    <p:extLst>
      <p:ext uri="{BB962C8B-B14F-4D97-AF65-F5344CB8AC3E}">
        <p14:creationId xmlns:p14="http://schemas.microsoft.com/office/powerpoint/2010/main" val="378504866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Solving IP’s: Branch &amp; Bound</a:t>
            </a:r>
          </a:p>
        </p:txBody>
      </p:sp>
      <p:sp>
        <p:nvSpPr>
          <p:cNvPr id="3" name="Content Placeholder 2"/>
          <p:cNvSpPr>
            <a:spLocks noGrp="1"/>
          </p:cNvSpPr>
          <p:nvPr>
            <p:ph idx="1"/>
          </p:nvPr>
        </p:nvSpPr>
        <p:spPr/>
        <p:txBody>
          <a:bodyPr>
            <a:normAutofit/>
          </a:bodyPr>
          <a:lstStyle/>
          <a:p>
            <a:endParaRPr lang="tr-TR" dirty="0"/>
          </a:p>
        </p:txBody>
      </p:sp>
      <p:pic>
        <p:nvPicPr>
          <p:cNvPr id="32770" name="Picture 2"/>
          <p:cNvPicPr>
            <a:picLocks noChangeAspect="1" noChangeArrowheads="1"/>
          </p:cNvPicPr>
          <p:nvPr/>
        </p:nvPicPr>
        <p:blipFill>
          <a:blip r:embed="rId3" cstate="print"/>
          <a:srcRect/>
          <a:stretch>
            <a:fillRect/>
          </a:stretch>
        </p:blipFill>
        <p:spPr bwMode="auto">
          <a:xfrm>
            <a:off x="2209800" y="1143000"/>
            <a:ext cx="4591594" cy="5638800"/>
          </a:xfrm>
          <a:prstGeom prst="rect">
            <a:avLst/>
          </a:prstGeom>
          <a:noFill/>
          <a:ln w="9525">
            <a:noFill/>
            <a:miter lim="800000"/>
            <a:headEnd/>
            <a:tailEnd/>
          </a:ln>
        </p:spPr>
      </p:pic>
      <p:sp>
        <p:nvSpPr>
          <p:cNvPr id="5" name="Rectangle 4"/>
          <p:cNvSpPr/>
          <p:nvPr/>
        </p:nvSpPr>
        <p:spPr>
          <a:xfrm>
            <a:off x="2438400" y="1143000"/>
            <a:ext cx="32004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Rectangle 5"/>
          <p:cNvSpPr/>
          <p:nvPr/>
        </p:nvSpPr>
        <p:spPr>
          <a:xfrm>
            <a:off x="2590800" y="2286000"/>
            <a:ext cx="1600200" cy="144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Rectangle 6"/>
          <p:cNvSpPr/>
          <p:nvPr/>
        </p:nvSpPr>
        <p:spPr>
          <a:xfrm>
            <a:off x="4267200" y="2286000"/>
            <a:ext cx="16002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Rectangle 7"/>
          <p:cNvSpPr/>
          <p:nvPr/>
        </p:nvSpPr>
        <p:spPr>
          <a:xfrm>
            <a:off x="3276600" y="3581400"/>
            <a:ext cx="1600200" cy="144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Rectangle 8"/>
          <p:cNvSpPr/>
          <p:nvPr/>
        </p:nvSpPr>
        <p:spPr>
          <a:xfrm>
            <a:off x="2590800" y="4953000"/>
            <a:ext cx="1600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Rectangle 9"/>
          <p:cNvSpPr/>
          <p:nvPr/>
        </p:nvSpPr>
        <p:spPr>
          <a:xfrm>
            <a:off x="4800600" y="3581400"/>
            <a:ext cx="1600200" cy="144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Rectangle 10"/>
          <p:cNvSpPr/>
          <p:nvPr/>
        </p:nvSpPr>
        <p:spPr>
          <a:xfrm>
            <a:off x="4267200" y="4953000"/>
            <a:ext cx="1447800" cy="144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Rectangle 11"/>
          <p:cNvSpPr/>
          <p:nvPr/>
        </p:nvSpPr>
        <p:spPr>
          <a:xfrm>
            <a:off x="5562600" y="4953000"/>
            <a:ext cx="1600200" cy="144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 name="Slide Number Placeholder 3">
            <a:extLst>
              <a:ext uri="{FF2B5EF4-FFF2-40B4-BE49-F238E27FC236}">
                <a16:creationId xmlns:a16="http://schemas.microsoft.com/office/drawing/2014/main" id="{DD7E3984-B803-421C-9D30-FF0E1ED396FB}"/>
              </a:ext>
            </a:extLst>
          </p:cNvPr>
          <p:cNvSpPr>
            <a:spLocks noGrp="1"/>
          </p:cNvSpPr>
          <p:nvPr>
            <p:ph type="sldNum" sz="quarter" idx="12"/>
          </p:nvPr>
        </p:nvSpPr>
        <p:spPr/>
        <p:txBody>
          <a:bodyPr/>
          <a:lstStyle/>
          <a:p>
            <a:fld id="{B6F15528-21DE-4FAA-801E-634DDDAF4B2B}" type="slidenum">
              <a:rPr lang="en-US" smtClean="0"/>
              <a:pPr/>
              <a:t>78</a:t>
            </a:fld>
            <a:endParaRPr lang="en-US" dirty="0"/>
          </a:p>
        </p:txBody>
      </p:sp>
      <p:sp>
        <p:nvSpPr>
          <p:cNvPr id="13" name="Oval 12">
            <a:extLst>
              <a:ext uri="{FF2B5EF4-FFF2-40B4-BE49-F238E27FC236}">
                <a16:creationId xmlns:a16="http://schemas.microsoft.com/office/drawing/2014/main" id="{E52B8FBF-79E0-4097-982C-4BC285261597}"/>
              </a:ext>
            </a:extLst>
          </p:cNvPr>
          <p:cNvSpPr/>
          <p:nvPr/>
        </p:nvSpPr>
        <p:spPr>
          <a:xfrm>
            <a:off x="2521974" y="2553494"/>
            <a:ext cx="1295400" cy="1295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070291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500"/>
                                        <p:tgtEl>
                                          <p:spTgt spid="13"/>
                                        </p:tgtEl>
                                      </p:cBhvr>
                                    </p:animEffect>
                                    <p:set>
                                      <p:cBhvr>
                                        <p:cTn id="31" dur="1" fill="hold">
                                          <p:stCondLst>
                                            <p:cond delay="499"/>
                                          </p:stCondLst>
                                        </p:cTn>
                                        <p:tgtEl>
                                          <p:spTgt spid="13"/>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3" grpId="1" animBg="1"/>
    </p:bldLst>
  </p:timing>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64c"/>
  <p:tag name="DEFAULTBITMAP" val="pngmono"/>
  <p:tag name="DEFAULTBLEND" val="False"/>
  <p:tag name="DEFAULTTRANSPARENT" val="False"/>
  <p:tag name="DEFAULTWORKAROUNDTRANSPARENCYBUG" val="False"/>
  <p:tag name="DEFAULTRESOLUTION" val="1200"/>
  <p:tag name="DEFAULTMAGNIFICATION" val="2"/>
  <p:tag name="DEFAULTFONTSIZE" val="10"/>
  <p:tag name="DEFAULTWIDTH" val="765"/>
  <p:tag name="DEFAULTHEIGHT" val="516"/>
</p:tagLst>
</file>

<file path=ppt/tags/tag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2 x_1 + 3x_2 \leq 6&#10;\end{align*}&#10;&#10;\end{document}&#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0.96016"/>
  <p:tag name="PICTUREFILESIZE" val="2589"/>
</p:tagLst>
</file>

<file path=ppt/tags/tag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2 * 0 + 3 * 0 =0 \leq 6&#10;\end{align*}&#10;&#10;\end{document}&#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87.00016"/>
  <p:tag name="PICTUREFILESIZE" val="3121"/>
</p:tagLst>
</file>

<file path=ppt/tags/tag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2 x_1 + 3x_2 = 6&#10;\end{align*}&#10;&#10;\end{document}&#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0.96016"/>
  <p:tag name="PICTUREFILESIZE" val="2331"/>
</p:tagLst>
</file>

<file path=ppt/tags/tag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2 x_1 + 3x_2 \leq 6&#10;\end{align*}&#10;&#10;\end{document}&#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0.96016"/>
  <p:tag name="PICTUREFILESIZE" val="2589"/>
</p:tagLst>
</file>

<file path=ppt/tags/tag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x_1&#10;\end{align*}&#10;&#10;\end{document}&#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9.96"/>
  <p:tag name="PICTUREFILESIZE" val="631"/>
</p:tagLst>
</file>

<file path=ppt/tags/tag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x_2&#10;\end{align*}&#10;&#10;\end{document}&#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9.96"/>
  <p:tag name="PICTUREFILESIZE" val="767"/>
</p:tagLst>
</file>

<file path=ppt/tags/tag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maximize\quad&amp; 10x_1 + 15x_2\\&#10;&amp;&amp;\subto\quad&amp; 4 x_1 + 2 x_2 \leq 80\\&#10;&amp;&amp;&amp;2x_1 + 5x_2 \leq 60\\\&#10;&amp;&amp;&amp; 4x_1 + 4x_2 \leq 75\\&#10;&amp;&amp;&amp; x_1,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20.0002"/>
  <p:tag name="PICTUREFILESIZE" val="16930"/>
</p:tagLst>
</file>

<file path=ppt/tags/tag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4 x_1 + 2 x_2 \leq 8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738"/>
</p:tagLst>
</file>

<file path=ppt/tags/tag1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2x_1 + 5x_2 \leq 6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698"/>
</p:tagLst>
</file>

<file path=ppt/tags/tag1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4x_1 + 4x_2 \leq 7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361"/>
</p:tagLst>
</file>

<file path=ppt/tags/tag1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x_1\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7.96008"/>
  <p:tag name="PICTUREFILESIZE" val="1351"/>
</p:tagLst>
</file>

<file path=ppt/tags/tag1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7.96008"/>
  <p:tag name="PICTUREFILESIZE" val="1521"/>
</p:tagLst>
</file>

<file path=ppt/tags/tag1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 6)&#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5.98008"/>
  <p:tag name="PICTUREFILESIZE" val="1567"/>
</p:tagLst>
</file>

<file path=ppt/tags/tag1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9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318"/>
</p:tagLst>
</file>

<file path=ppt/tags/tag1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0, 7)&#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96008"/>
  <p:tag name="PICTUREFILESIZE" val="1265"/>
</p:tagLst>
</file>

<file path=ppt/tags/tag1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0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257"/>
</p:tagLst>
</file>

<file path=ppt/tags/tag1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0,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96008"/>
  <p:tag name="PICTUREFILESIZE" val="1263"/>
</p:tagLst>
</file>

<file path=ppt/tags/tag1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4.00008"/>
  <p:tag name="PICTUREFILESIZE" val="801"/>
</p:tagLst>
</file>

<file path=ppt/tags/tag2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maximize\quad&amp; 10x_1 + 15x_2\\&#10;&amp;&amp;\subto\quad&amp; 4 x_1 + 2 x_2 \leq 80\\&#10;&amp;&amp;&amp;2x_1 + 5x_2 \leq 60\\\&#10;&amp;&amp;&amp; 4x_1 + 4x_2 \leq 75\\&#10;&amp;&amp;&amp; x_1,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20.0002"/>
  <p:tag name="PICTUREFILESIZE" val="16930"/>
</p:tagLst>
</file>

<file path=ppt/tags/tag2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4 x_1 + 2 x_2 \leq 8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738"/>
</p:tagLst>
</file>

<file path=ppt/tags/tag2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2x_1 + 5x_2 \leq 6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698"/>
</p:tagLst>
</file>

<file path=ppt/tags/tag2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4x_1 + 4x_2 \leq 7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361"/>
</p:tagLst>
</file>

<file path=ppt/tags/tag2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x_1\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7.96008"/>
  <p:tag name="PICTUREFILESIZE" val="1351"/>
</p:tagLst>
</file>

<file path=ppt/tags/tag2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7.96008"/>
  <p:tag name="PICTUREFILESIZE" val="1521"/>
</p:tagLst>
</file>

<file path=ppt/tags/tag2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5, 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96008"/>
  <p:tag name="PICTUREFILESIZE" val="1408"/>
</p:tagLst>
</file>

<file path=ppt/tags/tag2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2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345"/>
</p:tagLst>
</file>

<file path=ppt/tags/tag2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3,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5.98008"/>
  <p:tag name="PICTUREFILESIZE" val="1581"/>
</p:tagLst>
</file>

<file path=ppt/tags/tag2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3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314"/>
</p:tagLst>
</file>

<file path=ppt/tags/tag3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 1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0.96008"/>
  <p:tag name="PICTUREFILESIZE" val="1739"/>
</p:tagLst>
</file>

<file path=ppt/tags/tag3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 6)&#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5.98008"/>
  <p:tag name="PICTUREFILESIZE" val="1567"/>
</p:tagLst>
</file>

<file path=ppt/tags/tag3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9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318"/>
</p:tagLst>
</file>

<file path=ppt/tags/tag3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0, 7)&#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96008"/>
  <p:tag name="PICTUREFILESIZE" val="1265"/>
</p:tagLst>
</file>

<file path=ppt/tags/tag3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0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257"/>
</p:tagLst>
</file>

<file path=ppt/tags/tag3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0,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96008"/>
  <p:tag name="PICTUREFILESIZE" val="1263"/>
</p:tagLst>
</file>

<file path=ppt/tags/tag3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4.00008"/>
  <p:tag name="PICTUREFILESIZE" val="801"/>
</p:tagLst>
</file>

<file path=ppt/tags/tag3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maximize\quad&amp; 10x_1 + 15x_2\\&#10;&amp;&amp;\subto\quad&amp; 4 x_1 + 2 x_2 \leq 80\\&#10;&amp;&amp;&amp;2x_1 + 5x_2 \leq 60\\\&#10;&amp;&amp;&amp; 4x_1 + 4x_2 \leq 75\\&#10;&amp;&amp;&amp; x_1,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20.0002"/>
  <p:tag name="PICTUREFILESIZE" val="16930"/>
</p:tagLst>
</file>

<file path=ppt/tags/tag3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5, 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96008"/>
  <p:tag name="PICTUREFILESIZE" val="1408"/>
</p:tagLst>
</file>

<file path=ppt/tags/tag3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2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345"/>
</p:tagLst>
</file>

<file path=ppt/tags/tag4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3,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5.98008"/>
  <p:tag name="PICTUREFILESIZE" val="1581"/>
</p:tagLst>
</file>

<file path=ppt/tags/tag4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3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314"/>
</p:tagLst>
</file>

<file path=ppt/tags/tag4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x_1 + 15x_2 = 0 &#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70.98016"/>
  <p:tag name="PICTUREFILESIZE" val="2324"/>
</p:tagLst>
</file>

<file path=ppt/tags/tag4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x_1 + 15x_2&#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51.96008"/>
  <p:tag name="PICTUREFILESIZE" val="1925"/>
</p:tagLst>
</file>

<file path=ppt/tags/tag4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x_1 + 15x_2 = 190 &#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81.00016"/>
  <p:tag name="PICTUREFILESIZE" val="2684"/>
</p:tagLst>
</file>

<file path=ppt/tags/tag4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 1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0.96008"/>
  <p:tag name="PICTUREFILESIZE" val="1739"/>
</p:tagLst>
</file>

<file path=ppt/tags/tag4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 6)&#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5.98008"/>
  <p:tag name="PICTUREFILESIZE" val="1567"/>
</p:tagLst>
</file>

<file path=ppt/tags/tag4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9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318"/>
</p:tagLst>
</file>

<file path=ppt/tags/tag4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0, 7)&#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96008"/>
  <p:tag name="PICTUREFILESIZE" val="1265"/>
</p:tagLst>
</file>

<file path=ppt/tags/tag4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0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257"/>
</p:tagLst>
</file>

<file path=ppt/tags/tag5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0,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96008"/>
  <p:tag name="PICTUREFILESIZE" val="1263"/>
</p:tagLst>
</file>

<file path=ppt/tags/tag5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4.00008"/>
  <p:tag name="PICTUREFILESIZE" val="801"/>
</p:tagLst>
</file>

<file path=ppt/tags/tag5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maximize\quad&amp; 10x_1 + 15x_2\\&#10;&amp;&amp;\subto\quad&amp; 4 x_1 + 2 x_2 \leq 80\\&#10;&amp;&amp;&amp;2x_1 + 5x_2 \leq 60\\\&#10;&amp;&amp;&amp; 4x_1 + 4x_2 \leq 75\\&#10;&amp;&amp;&amp; x_1,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20.0002"/>
  <p:tag name="PICTUREFILESIZE" val="16930"/>
</p:tagLst>
</file>

<file path=ppt/tags/tag5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5, 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96008"/>
  <p:tag name="PICTUREFILESIZE" val="1408"/>
</p:tagLst>
</file>

<file path=ppt/tags/tag5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2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345"/>
</p:tagLst>
</file>

<file path=ppt/tags/tag5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3,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5.98008"/>
  <p:tag name="PICTUREFILESIZE" val="1581"/>
</p:tagLst>
</file>

<file path=ppt/tags/tag5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13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314"/>
</p:tagLst>
</file>

<file path=ppt/tags/tag5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1.25, 7.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45.96008"/>
  <p:tag name="PICTUREFILESIZE" val="2172"/>
</p:tagLst>
</file>

<file path=ppt/tags/tag5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22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00008"/>
  <p:tag name="PICTUREFILESIZE" val="1519"/>
</p:tagLst>
</file>

<file path=ppt/tags/tag5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x_1 + 15x_2 = 225 &#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81.00016"/>
  <p:tag name="PICTUREFILESIZE" val="2877"/>
</p:tagLst>
</file>

<file path=ppt/tags/tag6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 1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0.96008"/>
  <p:tag name="PICTUREFILESIZE" val="1739"/>
</p:tagLst>
</file>

<file path=ppt/tags/tag6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0,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96008"/>
  <p:tag name="PICTUREFILESIZE" val="1263"/>
</p:tagLst>
</file>

<file path=ppt/tags/tag6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z =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4.00008"/>
  <p:tag name="PICTUREFILESIZE" val="801"/>
</p:tagLst>
</file>

<file path=ppt/tags/tag6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maximize\quad&amp; 10x_1 + 15x_2\\&#10;&amp;&amp;\subto\quad&amp; 4 x_1 + 2 x_2 \leq 80\\&#10;&amp;&amp;&amp;2x_1 + 5x_2 \leq 60\\\&#10;&amp;&amp;&amp; 4x_1 + 4x_2 \leq 75\\&#10;&amp;&amp;&amp; x_1,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20.0002"/>
  <p:tag name="PICTUREFILESIZE" val="16930"/>
</p:tagLst>
</file>

<file path=ppt/tags/tag6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10x_1 + 15x_2 = 0 &#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70.98016"/>
  <p:tag name="PICTUREFILESIZE" val="2324"/>
</p:tagLst>
</file>

<file path=ppt/tags/tag6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All points that satisfy&#10;&#10;$&#10;\begin{array}{l}&#10;\bar{x} = \alpha x_1^* + (1-\alpha) x_2^*\\&#10;0\leq \alpha \leq 1&#10;\end{array}&#10;$&#10;&#10;are optimal.&#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96.00016"/>
  <p:tag name="PICTUREFILESIZE" val="10856"/>
</p:tagLst>
</file>

<file path=ppt/tags/tag6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All points that satisfy&#10;&#10;$&#10;\begin{array}{l}&#10;\bar{x} = x^* + \alpha d\\&#10;\alpha \geq 0&#10;\end{array}&#10;$&#10;&#10;are optimal.&#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96.00016"/>
  <p:tag name="PICTUREFILESIZE" val="9406"/>
</p:tagLst>
</file>

<file path=ppt/tags/tag6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maximize\quad&amp; 3x_1 + 2x_2\\&#10;&amp;&amp;\subto\quad&amp; 1/40 x_1 + 1/60 x_2 \leq 1\\&#10;&amp;&amp;&amp;1/50x_1 + 1/50x_2 \leq 1\\\&#10;&amp;&amp;&amp; x_1 \geq 30\\&#10;&amp;&amp;&amp; x_2 \geq 30\\&#10;&amp;&amp;&amp; x_1,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44.0003"/>
  <p:tag name="PICTUREFILESIZE" val="20374"/>
</p:tagLst>
</file>

<file path=ppt/tags/tag6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minimize{}\quad&amp; \vc{}\vx{}\\&#10;&amp;&amp;\subto\quad&amp; \mA{}\vx{}=\vb{}\\&#10;&amp;&amp;&amp;\vx{}\geq \mathbf{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87.96016"/>
  <p:tag name="PICTUREFILESIZE" val="6108"/>
</p:tagLst>
</file>

<file path=ppt/tags/tag6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rray}{lrcrcccrcll}&#10;  \minimize{}/\maximize{}&amp; c_1x_1    &amp; + &amp; c_2x_2   &amp; + &amp; \cdots &amp; + &amp; c_nx_n    &amp;        &amp;       &amp; \\&#10;  \subto                                    &amp; a_{i1}x_1   &amp; + &amp; a_{i2}x_2 &amp; + &amp; \cdots &amp; + &amp; a_{in}x_n  &amp; \leq &amp; b_i, &amp; i=1,\cdots, k,\\&#10;  &amp; a_{i1}x_1   &amp; + &amp; a_{i2}x_2 &amp; + &amp; \cdots &amp; +&amp;  a_{in}x_n  &amp; = &amp; b_i,     &amp; i=k+1,\cdots, l, \\&#10;  &amp; a_{i1}x_1   &amp; + &amp; a_{i2}x_2 &amp; + &amp; \cdots &amp; + &amp; a_{in}x_n  &amp; \geq &amp; b_i, &amp; i=l+1,\cdots, m, \\&#10;  &amp; \multicolumn{10}{c}{x_i \geq 0,  i=1, \cdots, s,} \\ &#10;  &amp; \multicolumn{10}{c}{x_i \leq 0,  i=s+1,\cdots, t,} \\ &#10;  &amp; \multicolumn{10}{c}{x_i \ \mbox{ unrestricted},  i=t+1,\cdots, n.} &#10;\end{array}&#10;\]&#10;\end{document}&#10;"/>
  <p:tag name="EXTERNALNAME" val="txp_fig"/>
  <p:tag name="BLEND" val="False"/>
  <p:tag name="TRANSPARENT" val="False"/>
  <p:tag name="KEEPFILES" val="False"/>
  <p:tag name="DEBUGPAUSE" val="False"/>
  <p:tag name="RESOLUTION" val="1200"/>
  <p:tag name="TIMEOUT" val="(none)"/>
  <p:tag name="BOXWIDTH" val="910"/>
  <p:tag name="BOXHEIGHT" val="521"/>
  <p:tag name="BOXFONT" val="10"/>
  <p:tag name="BOXWRAP" val="False"/>
  <p:tag name="WORKAROUNDTRANSPARENCYBUG" val="False"/>
  <p:tag name="ALLOWFONTSUBSTITUTION" val="False"/>
  <p:tag name="BITMAPFORMAT" val="pngmono"/>
  <p:tag name="ORIGWIDTH" val="381.9608"/>
  <p:tag name="PICTUREFILESIZE" val="42660"/>
</p:tagLst>
</file>

<file path=ppt/tags/tag7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rray}{llcll}&#10;\minimize &amp;c_1x_1+ c_2x_2+\ldots+c_nx_n&amp;&amp;\\&#10;\subto&amp;a_{i1}x_{1}+a_{i2} x_2+\ldots+a_{in}x_n&amp;= &amp;b_{i}&amp;i=1,\ldots,m\\&#10;&amp;x_1, x_2,\ldots,x_n&amp;\geq&amp; 0&#10;\end{array}&#10;$$&#10;&#10;\end{document}&#10;"/>
  <p:tag name="EXTERNALNAME" val="txp_fig"/>
  <p:tag name="BLEND" val="False"/>
  <p:tag name="TRANSPARENT" val="False"/>
  <p:tag name="KEEPFILES" val="False"/>
  <p:tag name="DEBUGPAUSE" val="False"/>
  <p:tag name="RESOLUTION" val="1200"/>
  <p:tag name="TIMEOUT" val="(none)"/>
  <p:tag name="BOXWIDTH" val="462"/>
  <p:tag name="BOXHEIGHT" val="370"/>
  <p:tag name="BOXFONT" val="10"/>
  <p:tag name="BOXWRAP" val="False"/>
  <p:tag name="WORKAROUNDTRANSPARENCYBUG" val="False"/>
  <p:tag name="ALLOWFONTSUBSTITUTION" val="False"/>
  <p:tag name="BITMAPFORMAT" val="pngmono"/>
  <p:tag name="ORIGWIDTH" val="270.0005"/>
  <p:tag name="PICTUREFILESIZE" val="16958"/>
</p:tagLst>
</file>

<file path=ppt/tags/tag7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minimize{}\quad&amp; \sum_{j=1}^n c_jx_j\\&#10;&amp;&amp;\subto\quad&amp; \sum_{j=1}^n a_{ij}x_j =    b_i,&amp;i=1, \cdots, m\\&#10;&amp;&amp;&amp;x_j  \geq 0,  &amp; j=1, \cdots, n&#10;\end{align*}&#10;\end{document}&#10;"/>
  <p:tag name="EXTERNALNAME" val="txp_fig"/>
  <p:tag name="BLEND" val="False"/>
  <p:tag name="TRANSPARENT" val="False"/>
  <p:tag name="KEEPFILES" val="False"/>
  <p:tag name="DEBUGPAUSE" val="False"/>
  <p:tag name="RESOLUTION" val="1200"/>
  <p:tag name="TIMEOUT" val="(none)"/>
  <p:tag name="BOXWIDTH" val="590"/>
  <p:tag name="BOXHEIGHT" val="469"/>
  <p:tag name="BOXFONT" val="10"/>
  <p:tag name="BOXWRAP" val="False"/>
  <p:tag name="WORKAROUNDTRANSPARENCYBUG" val="False"/>
  <p:tag name="ALLOWFONTSUBSTITUTION" val="False"/>
  <p:tag name="BITMAPFORMAT" val="pngmono"/>
  <p:tag name="ORIGWIDTH" val="214.9805"/>
  <p:tag name="PICTUREFILESIZE" val="17325"/>
</p:tagLst>
</file>

<file path=ppt/tags/tag7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rray}{llcll}&#10;\minimize &amp;c_1x_1+ c_2x_2+\ldots+c_nx_n&amp;&amp;\\&#10;\subto&amp;a_{i1}x_{1}+a_{i2} x_2+\ldots+a_{in}x_n&amp;= &amp;b_{i}&amp;i=1,\ldots,m\\&#10;&amp;x_1, x_2,\ldots,x_n&amp;\geq&amp; 0&#10;\end{array}&#10;$$&#10;&#10;\end{document}&#10;"/>
  <p:tag name="EXTERNALNAME" val="txp_fig"/>
  <p:tag name="BLEND" val="False"/>
  <p:tag name="TRANSPARENT" val="False"/>
  <p:tag name="KEEPFILES" val="False"/>
  <p:tag name="DEBUGPAUSE" val="False"/>
  <p:tag name="RESOLUTION" val="1200"/>
  <p:tag name="TIMEOUT" val="(none)"/>
  <p:tag name="BOXWIDTH" val="462"/>
  <p:tag name="BOXHEIGHT" val="370"/>
  <p:tag name="BOXFONT" val="10"/>
  <p:tag name="BOXWRAP" val="False"/>
  <p:tag name="WORKAROUNDTRANSPARENCYBUG" val="False"/>
  <p:tag name="ALLOWFONTSUBSTITUTION" val="False"/>
  <p:tag name="BITMAPFORMAT" val="pngmono"/>
  <p:tag name="ORIGWIDTH" val="270.0005"/>
  <p:tag name="PICTUREFILESIZE" val="16958"/>
</p:tagLst>
</file>

<file path=ppt/tags/tag7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10;\begin{document}&#10;\[&#10;\mA=\left[&#10;  \begin{array}{cccc}&#10;    a_{11} &amp; a_{12} &amp; \cdots &amp; a_{1n}\\&#10;    a_{21} &amp; a_{22} &amp; \cdots &amp; a_{2n}\\&#10;    \vdots &amp; \vdots &amp; \vdots &amp; \vdots\\&#10;    a_{m1} &amp; a_{m2} &amp; \cdots &amp; a_{mn}&#10;  \end{array}&#10;\right]&#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136.9803"/>
  <p:tag name="PICTUREFILESIZE" val="9902"/>
</p:tagLst>
</file>

<file path=ppt/tags/tag7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b}{\mathbf{b}}&#10;\newcommand{\vc}{\mathbf{c}}&#10;&#10;\begin{document}&#10;\[&#10;\vb=\left[&#10;  \begin{array}{c}&#10;    b_{1}\\&#10;    b_{2}\\&#10;    \vdots\\&#10;    b_{m}&#10;  \end{array}&#10;\right]&#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51.96008"/>
  <p:tag name="PICTUREFILESIZE" val="2561"/>
</p:tagLst>
</file>

<file path=ppt/tags/tag7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b}{\mathbf{b}}&#10;\newcommand{\vc}{\mathbf{c}}&#10;&#10;\begin{document}&#10;\[&#10;\vc=\left[&#10;  \begin{array}{cccc}&#10;    c_{1} &amp; c_{2} &amp; \cdots &amp; c_{n}&#10;  \end{array}&#10;\right]&#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105.9602"/>
  <p:tag name="PICTUREFILESIZE" val="2546"/>
</p:tagLst>
</file>

<file path=ppt/tags/tag7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b}{\mathbf{b}}&#10;\newcommand{\vc}{\mathbf{c}}&#10;\newcommand{\vx}{\mathbf{x}}&#10;&#10;\begin{document}&#10;\[&#10;\vx=\left[&#10;  \begin{array}{c}&#10;    x_{1}\\&#10;    x_{2}\\&#10;    \vdots\\&#10;    x_{n}&#10;  \end{array}&#10;\right]&#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51.96008"/>
  <p:tag name="PICTUREFILESIZE" val="2558"/>
</p:tagLst>
</file>

<file path=ppt/tags/tag7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minimize{}\quad&amp; \vc{}\vx{}\\&#10;&amp;&amp;\subto\quad&amp; \mA{}\vx{}=\vb{}\\&#10;&amp;&amp;&amp;\vx{}\geq \mathbf{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87.96016"/>
  <p:tag name="PICTUREFILESIZE" val="6108"/>
</p:tagLst>
</file>

<file path=ppt/tags/tag7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x}{\mathbf{x}}&#10;&#10;\begin{document}&#10;&#10;\begin{eqnarray*}&#10;-\minimize{}&amp;&#10;\left[&#10;  \begin{array}{ccccc}&#10;    -10 &amp; -15 &amp; 0 &amp; 0 &amp; 0&#10;  \end{array}&#10;\right]&#10;\left[&#10;  \begin{array}{c}&#10;    x_{1}\\&#10;    x_{2}\\&#10;    s_{1}\\&#10;    s_{2}\\&#10;    s_{3} &#10;  \end{array}&#10;\right]&amp;\\&#10;&amp;\left[&#10;  \begin{array}{ccccc}&#10;    4 &amp; 2&amp; 1&amp; 0 &amp; 0\\&#10;    2 &amp; 5&amp; 0&amp; 1 &amp; 0\\&#10;    4 &amp; 4&amp; 0&amp; 0 &amp; 1&#10;  \end{array}&#10;\right]&#10;\left[&#10;  \begin{array}{c}&#10;    x_{1}\\&#10;    x_{2}\\&#10;    s_{1}\\&#10;    s_{2}\\&#10;    s_{3} &#10;  \end{array}&#10;\right] &amp;=&#10;\left[&#10;  \begin{array}{c}&#10;    80\\&#10;    60\\&#10;    75&#10;  \end{array}&#10;\right]\\&#10;&amp;\left[&#10;  \begin{array}{c}&#10;    x_{1}\\&#10;    x_{2}\\&#10;    s_{1}\\&#10;    s_{2}\\&#10;    s_{3} &#10;  \end{array}&#10;\right]&amp;\geq&#10;\left[&#10;  \begin{array}{c}&#10;    0\\&#10;    0\\&#10;    0\\&#10;    0\\&#10;    0 &#10;  \end{array}&#10;\right]&#10;=\mathbf{0}&#10;\end{eqnarray*}&#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267.9605"/>
  <p:tag name="PICTUREFILESIZE" val="34191"/>
</p:tagLst>
</file>

<file path=ppt/tags/tag7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maximize\quad&amp; 10x_1 + 15x_2\\&#10;&amp;&amp;\subto\quad&amp; 4 x_1 + 2 x_2 \leq 80\\&#10;&amp;&amp;&amp;2x_1 + 5x_2 \leq 60\\\&#10;&amp;&amp;&amp; 4x_1 + 4x_2 \leq 75\\&#10;&amp;&amp;&amp; x_1,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20.0002"/>
  <p:tag name="PICTUREFILESIZE" val="16930"/>
</p:tagLst>
</file>

<file path=ppt/tags/tag8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b}{\mathbf{b}}&#10;\newcommand{\vc}{\mathbf{c}}&#10;\newcommand{\vx}{\mathbf{x}}&#10;&#10;\begin{document}&#10;\[&#10;\vx=\left[&#10;  \begin{array}{c}&#10;    x_{1}\\&#10;    x_{2}\\&#10;    s_{1}\\&#10;    s_{2}\\&#10;    s_{3} &#10;  \end{array}&#10;\right]&#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49.98008"/>
  <p:tag name="PICTUREFILESIZE" val="3251"/>
</p:tagLst>
</file>

<file path=ppt/tags/tag8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b}{\mathbf{b}}&#10;\newcommand{\vc}{\mathbf{c}}&#10;&#10;\begin{document}&#10;\[&#10;\vb=\left[&#10;  \begin{array}{c}&#10;    80\\&#10;    60\\&#10;    75&#10;  \end{array}&#10;\right]&#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49.98008"/>
  <p:tag name="PICTUREFILESIZE" val="2694"/>
</p:tagLst>
</file>

<file path=ppt/tags/tag8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10;\begin{document}&#10;\[&#10;\mA=\left[&#10;  \begin{array}{ccccc}&#10;    4 &amp; 2&amp; 1&amp; 0 &amp; 0\\&#10;    2 &amp; 5&amp; 0&amp; 1 &amp; 0\\&#10;    4 &amp; 4&amp; 0&amp; 0 &amp; 1&#10;  \end{array}&#10;\right]&#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108.0002"/>
  <p:tag name="PICTUREFILESIZE" val="5400"/>
</p:tagLst>
</file>

<file path=ppt/tags/tag8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minimize{}\quad&amp; \vc{}\vx{}\\&#10;&amp;&amp;\subto\quad&amp; \mA{}\vx{}=\vb{}\\&#10;&amp;&amp;&amp;\vx{}\geq \mathbf{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87.96016"/>
  <p:tag name="PICTUREFILESIZE" val="6108"/>
</p:tagLst>
</file>

<file path=ppt/tags/tag8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b}{\mathbf{b}}&#10;\newcommand{\vc}{\mathbf{c}}&#10;&#10;\begin{document}&#10;\[&#10;\vc=\left[&#10;  \begin{array}{ccccc}&#10;    -10 &amp; -15 &amp; 0 &amp; 0 &amp; 0&#10;  \end{array}&#10;\right]&#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126.0002"/>
  <p:tag name="PICTUREFILESIZE" val="2509"/>
</p:tagLst>
</file>

<file path=ppt/tags/tag8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minimize{}\quad&amp; \vc{}\vx{}\\&#10;&amp;&amp;\subto\quad&amp; \mA{}\vx{}=\vb{}\\&#10;&amp;&amp;&amp;\vx{}\geq \mathbf{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87.96016"/>
  <p:tag name="PICTUREFILESIZE" val="6108"/>
</p:tagLst>
</file>

<file path=ppt/tags/tag8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x}{\mathbf{x}}&#10;&#10;\begin{document}&#10;&#10;\begin{eqnarray*}&#10;-\minimize{}&amp; -10 x_1 -15 x_2 + 0s1 + 0s_2 + 0s_3&amp;\\&#10;&amp;\left[&#10;  \begin{array}{c}&#10;    4 \\&#10;    2\\&#10;    4&#10;  \end{array}&#10;\right] x_1 + &#10;\left[&#10;  \begin{array}{c}&#10;    2\\&#10;    5\\&#10;    4&#10;  \end{array}&#10;\right] x_2 +&#10;\left[&#10;  \begin{array}{c}&#10;    1\\&#10;    0\\&#10;    0&#10;  \end{array}&#10;\right] s_1 + &#10;\left[&#10;  \begin{array}{c}&#10;    0\\&#10;    1\\&#10;    0&#10;  \end{array}&#10;\right] s_2 +&#10;\left[&#10;  \begin{array}{c}&#10;    0\\&#10;    0\\&#10;    1&#10;  \end{array}&#10;\right] s_3 &#10; &amp;=&#10;\left[&#10;  \begin{array}{c}&#10;    80\\&#10;    60\\&#10;    75&#10;  \end{array}&#10;\right]\\&#10;&amp; x_{1}, x_{2}, s_{1}, s_{2}, s_3 &amp;\geq 0&#10;\end{eqnarray*}&#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354.0007"/>
  <p:tag name="PICTUREFILESIZE" val="25131"/>
</p:tagLst>
</file>

<file path=ppt/tags/tag8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x}{\mathbf{x}}&#10;&#10;\begin{document}&#10;&#10;\begin{eqnarray*}&#10;-\minimize{}&amp;&#10;\left[&#10;  \begin{array}{ccccc}&#10;    -10 &amp; -15 &amp; 0 &amp; 0 &amp; 0&#10;  \end{array}&#10;\right]&#10;\left[&#10;  \begin{array}{c}&#10;    x_{1}\\&#10;    x_{2}\\&#10;    s_{1}\\&#10;    s_{2}\\&#10;    s_{3} &#10;  \end{array}&#10;\right]&amp;\\&#10;&amp;\left[&#10;  \begin{array}{ccccc}&#10;    4 &amp; 2&amp; 1&amp; 0 &amp; 0\\&#10;    2 &amp; 5&amp; 0&amp; 1 &amp; 0\\&#10;    4 &amp; 4&amp; 0&amp; 0 &amp; 1&#10;  \end{array}&#10;\right]&#10;\left[&#10;  \begin{array}{c}&#10;    x_{1}\\&#10;    x_{2}\\&#10;    s_{1}\\&#10;    s_{2}\\&#10;    s_{3} &#10;  \end{array}&#10;\right] &amp;=&#10;\left[&#10;  \begin{array}{c}&#10;    80\\&#10;    60\\&#10;    75&#10;  \end{array}&#10;\right]\\&#10;&amp;\left[&#10;  \begin{array}{c}&#10;    x_{1}\\&#10;    x_{2}\\&#10;    s_{1}\\&#10;    s_{2}\\&#10;    s_{3} &#10;  \end{array}&#10;\right]&amp;\geq&#10;\mathbf{0}&#10;\end{eqnarray*}&#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250.9805"/>
  <p:tag name="PICTUREFILESIZE" val="30314"/>
</p:tagLst>
</file>

<file path=ppt/tags/tag8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minimize{}\quad&amp; \sum_{j=1}^{n} c_j x_j\\&#10;&amp;&amp;\subto\quad&amp; \sum_{j=1}^{n}\mA{}_{.j}x_j =\vb{}\\&#10;&amp;&amp;&amp;x_j\geq 0 &amp; j=1,\ldots,n&#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0.9604"/>
  <p:tag name="PICTUREFILESIZE" val="15537"/>
</p:tagLst>
</file>

<file path=ppt/tags/tag8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10;\mA{}_{.1}&#10;$&#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5"/>
  <p:tag name="PICTUREFILESIZE" val="628"/>
</p:tagLst>
</file>

<file path=ppt/tags/tag9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10;\mA{}_{.2}&#10;$&#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5"/>
  <p:tag name="PICTUREFILESIZE" val="802"/>
</p:tagLst>
</file>

<file path=ppt/tags/tag9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minimize{}\quad&amp; \vc{}\vx{}\\&#10;&amp;&amp;\subto\quad&amp; \mA{}\vx{}=\vb{}\\&#10;&amp;&amp;&amp;\vx{}\geq \mathbf{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87.96016"/>
  <p:tag name="PICTUREFILESIZE" val="6108"/>
</p:tagLst>
</file>

<file path=ppt/tags/tag9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x}{\mathbf{x}}&#10;&#10;\begin{document}&#10;&#10;\begin{eqnarray*}&#10;-\minimize{}&amp; -10 x_1 -15 x_2 + 0s1 + 0s_2 + 0s_3&amp;\\&#10;&amp;\left[&#10;  \begin{array}{c}&#10;    4 \\&#10;    2\\&#10;    4&#10;  \end{array}&#10;\right] x_1 + &#10;\left[&#10;  \begin{array}{c}&#10;    2\\&#10;    5\\&#10;    4&#10;  \end{array}&#10;\right] x_2 +&#10;\left[&#10;  \begin{array}{c}&#10;    1\\&#10;    0\\&#10;    0&#10;  \end{array}&#10;\right] s_1 + &#10;\left[&#10;  \begin{array}{c}&#10;    0\\&#10;    1\\&#10;    0&#10;  \end{array}&#10;\right] s_2 +&#10;\left[&#10;  \begin{array}{c}&#10;    0\\&#10;    0\\&#10;    1&#10;  \end{array}&#10;\right] s_3 &#10; &amp;=&#10;\left[&#10;  \begin{array}{c}&#10;    80\\&#10;    60\\&#10;    75&#10;  \end{array}&#10;\right]\\&#10;&amp; x_{1}, x_{2}, s_{1}, s_{2}, s_3 &amp;\geq 0&#10;\end{eqnarray*}&#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354.0007"/>
  <p:tag name="PICTUREFILESIZE" val="25131"/>
</p:tagLst>
</file>

<file path=ppt/tags/tag9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x}{\mathbf{x}}&#10;&#10;\begin{document}&#10;&#10;\begin{eqnarray*}&#10;-\minimize{}&amp;&#10;\left[&#10;  \begin{array}{ccccc}&#10;    -10 &amp; -15 &amp; 0 &amp; 0 &amp; 0&#10;  \end{array}&#10;\right]&#10;\left[&#10;  \begin{array}{c}&#10;    x_{1}\\&#10;    x_{2}\\&#10;    s_{1}\\&#10;    s_{2}\\&#10;    s_{3} &#10;  \end{array}&#10;\right]&amp;\\&#10;&amp;\left[&#10;  \begin{array}{ccccc}&#10;    4 &amp; 2&amp; 1&amp; 0 &amp; 0\\&#10;    2 &amp; 5&amp; 0&amp; 1 &amp; 0\\&#10;    4 &amp; 4&amp; 0&amp; 0 &amp; 1&#10;  \end{array}&#10;\right]&#10;\left[&#10;  \begin{array}{c}&#10;    x_{1}\\&#10;    x_{2}\\&#10;    s_{1}\\&#10;    s_{2}\\&#10;    s_{3} &#10;  \end{array}&#10;\right] &amp;=&#10;\left[&#10;  \begin{array}{c}&#10;    80\\&#10;    60\\&#10;    75&#10;  \end{array}&#10;\right]\\&#10;&amp;\left[&#10;  \begin{array}{c}&#10;    x_{1}\\&#10;    x_{2}\\&#10;    s_{1}\\&#10;    s_{2}\\&#10;    s_{3} &#10;  \end{array}&#10;\right]&amp;\geq&#10;\mathbf{0}&#10;\end{eqnarray*}&#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250.9805"/>
  <p:tag name="PICTUREFILESIZE" val="30314"/>
</p:tagLst>
</file>

<file path=ppt/tags/tag9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minimize{}\quad&amp; \sum_{j=1}^{n} c_j x_j\\&#10;&amp;&amp;\subto\quad&amp; \sum_{j=1}^{n}\mA{}_{.j}x_j =\vb{}\\&#10;&amp;&amp;&amp;x_j\geq 0 &amp; j=1,\ldots,n&#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10.9604"/>
  <p:tag name="PICTUREFILESIZE" val="15537"/>
</p:tagLst>
</file>

<file path=ppt/tags/tag9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10;\mA{}_{.1}&#10;$&#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5"/>
  <p:tag name="PICTUREFILESIZE" val="628"/>
</p:tagLst>
</file>

<file path=ppt/tags/tag9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10;\mA{}_{.2}&#10;$&#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5"/>
  <p:tag name="PICTUREFILESIZE" val="802"/>
</p:tagLst>
</file>

<file path=ppt/tags/tag9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amp; \mA{}\vx{}=\vb{}\\&#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96008"/>
  <p:tag name="PICTUREFILESIZE" val="1194"/>
</p:tagLst>
</file>

<file path=ppt/tags/tag9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amp; \mA{}\vx{}=\vb{}\\&#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96008"/>
  <p:tag name="PICTUREFILESIZE" val="1194"/>
</p:tagLst>
</file>

<file path=ppt/tags/tag9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amp; \mA{}\vx{}=\vb{}\\&#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96008"/>
  <p:tag name="PICTUREFILESIZE" val="1194"/>
</p:tagLst>
</file>

<file path=ppt/tags/tag10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maximize\quad&amp; 10x_1 + 15x_2\\&#10;&amp;&amp;\subto\quad&amp; 4 x_1 + 2 x_2 \leq 80\\&#10;&amp;&amp;&amp;2x_1 + 5x_2 \leq 60\\\&#10;&amp;&amp;&amp; 4x_1 + 4x_2 \leq 75\\&#10;&amp;&amp;&amp; x_1,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20.0002"/>
  <p:tag name="PICTUREFILESIZE" val="16930"/>
</p:tagLst>
</file>

<file path=ppt/tags/tag10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b}{\mathbf{b}}&#10;\newcommand{\vc}{\mathbf{c}}&#10;&#10;\begin{document}&#10;\[&#10;\vb=\left[&#10;  \begin{array}{c}&#10;    80\\&#10;    60\\&#10;    75&#10;  \end{array}&#10;\right]&#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49.98008"/>
  <p:tag name="PICTUREFILESIZE" val="2694"/>
</p:tagLst>
</file>

<file path=ppt/tags/tag10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10;\begin{document}&#10;\[&#10;\mA=\left[&#10;  \begin{array}{ccccc}&#10;    4 &amp; 2&amp; 1&amp; 0 &amp; 0\\&#10;    2 &amp; 5&amp; 0&amp; 1 &amp; 0\\&#10;    4 &amp; 4&amp; 0&amp; 0 &amp; 1&#10;  \end{array}&#10;\right]&#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108.0002"/>
  <p:tag name="PICTUREFILESIZE" val="5400"/>
</p:tagLst>
</file>

<file path=ppt/tags/tag10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b}{\mathbf{b}}&#10;\newcommand{\vc}{\mathbf{c}}&#10;&#10;\begin{document}&#10;$&#10;\mathcal{B}=\{1,2,3\}&#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54.00008"/>
  <p:tag name="PICTUREFILESIZE" val="2270"/>
</p:tagLst>
</file>

<file path=ppt/tags/tag10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x}{\mathbf{x}}&#10;&#10;\begin{document}&#10;&#10;\begin{eqnarray*}&#10;&amp;\left[&#10;  \begin{array}{c}&#10;    4 \\&#10;    2\\&#10;    4&#10;  \end{array}&#10;\right] 11.25 + &#10;\left[&#10;  \begin{array}{c}&#10;    2\\&#10;    5\\&#10;    4&#10;  \end{array}&#10;\right] 7.5 +&#10;\left[&#10;  \begin{array}{c}&#10;    1\\&#10;    0\\&#10;    0&#10;  \end{array}&#10;\right] 20 &amp;=&#10;\left[&#10;  \begin{array}{c}&#10;    80\\&#10;    60\\&#10;    75&#10;  \end{array}&#10;\right]&#10;\end{eqnarray*}&#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207.0004"/>
  <p:tag name="PICTUREFILESIZE" val="9865"/>
</p:tagLst>
</file>

<file path=ppt/tags/tag10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4 x_1 + 2 x_2 \leq 8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738"/>
</p:tagLst>
</file>

<file path=ppt/tags/tag10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2x_1 + 5x_2 \leq 6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698"/>
</p:tagLst>
</file>

<file path=ppt/tags/tag10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4x_1 + 4x_2 \leq 7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361"/>
</p:tagLst>
</file>

<file path=ppt/tags/tag10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x_1\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7.96008"/>
  <p:tag name="PICTUREFILESIZE" val="1351"/>
</p:tagLst>
</file>

<file path=ppt/tags/tag10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7.96008"/>
  <p:tag name="PICTUREFILESIZE" val="1521"/>
</p:tagLst>
</file>

<file path=ppt/tags/tag11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b}{\mathbf{b}}&#10;\newcommand{\vc}{\mathbf{c}}&#10;&#10;\begin{document}&#10;$&#10;\mathcal{B}=\{2,3,4\}&#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54.00008"/>
  <p:tag name="PICTUREFILESIZE" val="2382"/>
</p:tagLst>
</file>

<file path=ppt/tags/tag11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x}{\mathbf{x}}&#10;&#10;\begin{document}&#10;&#10;\begin{eqnarray*}&#10;&amp;\left[&#10;  \begin{array}{c}&#10;    2 \\&#10;    5\\&#10;    4&#10;  \end{array}&#10;\right] 18.75 + &#10;\left[&#10;  \begin{array}{c}&#10;    1\\&#10;    0\\&#10;    0&#10;  \end{array}&#10;\right] 42.5 +&#10;\left[&#10;  \begin{array}{c}&#10;    0\\&#10;    1\\&#10;    0&#10;  \end{array}&#10;\right] (-33.75) &amp;=&#10;\left[&#10;  \begin{array}{c}&#10;    80\\&#10;    60\\&#10;    75&#10;  \end{array}&#10;\right]&#10;\end{eqnarray*}&#10;\end{document}&#10;"/>
  <p:tag name="EXTERNALNAME" val="txp_fig"/>
  <p:tag name="BLEND" val="False"/>
  <p:tag name="TRANSPARENT" val="False"/>
  <p:tag name="KEEPFILES" val="False"/>
  <p:tag name="DEBUGPAUSE" val="False"/>
  <p:tag name="RESOLUTION" val="1200"/>
  <p:tag name="TIMEOUT" val="(none)"/>
  <p:tag name="BOXWIDTH" val="348"/>
  <p:tag name="BOXHEIGHT" val="455"/>
  <p:tag name="BOXFONT" val="10"/>
  <p:tag name="BOXWRAP" val="False"/>
  <p:tag name="WORKAROUNDTRANSPARENCYBUG" val="False"/>
  <p:tag name="ALLOWFONTSUBSTITUTION" val="False"/>
  <p:tag name="BITMAPFORMAT" val="pngmono"/>
  <p:tag name="ORIGWIDTH" val="240.9605"/>
  <p:tag name="PICTUREFILESIZE" val="11905"/>
</p:tagLst>
</file>

<file path=ppt/tags/tag11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b}{\mathbf{b}}&#10;\newcommand{\vc}{\mathbf{c}}&#10;&#10;\begin{document}&#10;$&#10;\mathcal{B}=\{1,3,4\}&#10;$&#10;\end{document}&#10;"/>
  <p:tag name="EXTERNALNAME" val="txp_fig"/>
  <p:tag name="BLEND" val="False"/>
  <p:tag name="TRANSPARENT" val="False"/>
  <p:tag name="KEEPFILES" val="False"/>
  <p:tag name="DEBUGPAUSE" val="False"/>
  <p:tag name="RESOLUTION" val="1200"/>
  <p:tag name="TIMEOUT" val="(none)"/>
  <p:tag name="BOXWIDTH" val="638"/>
  <p:tag name="BOXHEIGHT" val="450"/>
  <p:tag name="BOXFONT" val="10"/>
  <p:tag name="BOXWRAP" val="False"/>
  <p:tag name="WORKAROUNDTRANSPARENCYBUG" val="False"/>
  <p:tag name="ALLOWFONTSUBSTITUTION" val="False"/>
  <p:tag name="BITMAPFORMAT" val="pngmono"/>
  <p:tag name="ORIGWIDTH" val="54.00008"/>
  <p:tag name="PICTUREFILESIZE" val="2159"/>
</p:tagLst>
</file>

<file path=ppt/tags/tag11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newcommand{\mA}{\mathbf{A}}&#10;\newcommand{\vx}{\mathbf{x}}&#10;&#10;\begin{document}&#10;&#10;\begin{eqnarray*}&#10;&amp;\left[&#10;  \begin{array}{c}&#10;    4 \\&#10;    2\\&#10;    4&#10;  \end{array}&#10;\right] 18.75 + &#10;\left[&#10;  \begin{array}{c}&#10;    1\\&#10;    0\\&#10;    0&#10;  \end{array}&#10;\right] 5 +&#10;\left[&#10;  \begin{array}{c}&#10;    0\\&#10;    1\\&#10;    0&#10;  \end{array}&#10;\right] 22.5 &amp;=&#10;\left[&#10;  \begin{array}{c}&#10;    80\\&#10;    60\\&#10;    75&#10;  \end{array}&#10;\right]&#10;\end{eqnarray*}&#10;\end{document}&#10;"/>
  <p:tag name="EXTERNALNAME" val="txp_fig"/>
  <p:tag name="BLEND" val="False"/>
  <p:tag name="TRANSPARENT" val="False"/>
  <p:tag name="KEEPFILES" val="False"/>
  <p:tag name="DEBUGPAUSE" val="False"/>
  <p:tag name="RESOLUTION" val="1200"/>
  <p:tag name="TIMEOUT" val="(none)"/>
  <p:tag name="BOXWIDTH" val="348"/>
  <p:tag name="BOXHEIGHT" val="465"/>
  <p:tag name="BOXFONT" val="10"/>
  <p:tag name="BOXWRAP" val="False"/>
  <p:tag name="WORKAROUNDTRANSPARENCYBUG" val="False"/>
  <p:tag name="ALLOWFONTSUBSTITUTION" val="False"/>
  <p:tag name="BITMAPFORMAT" val="pngmono"/>
  <p:tag name="ORIGWIDTH" val="207.0004"/>
  <p:tag name="PICTUREFILESIZE" val="10213"/>
</p:tagLst>
</file>

<file path=ppt/tags/tag114.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amp; \mA{}\vx{}=\vb{}\\&#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96008"/>
  <p:tag name="PICTUREFILESIZE" val="1194"/>
</p:tagLst>
</file>

<file path=ppt/tags/tag115.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begin{align*}&#10;&amp;&amp;&amp; \mA{}\vx{}=\vb{}\\&#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33.96008"/>
  <p:tag name="PICTUREFILESIZE" val="1194"/>
</p:tagLst>
</file>

<file path=ppt/tags/tag116.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n \choose m}&#10;$&#10;&#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13.98"/>
  <p:tag name="PICTUREFILESIZE" val="1257"/>
</p:tagLst>
</file>

<file path=ppt/tags/tag117.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n \choose m} = \frac{n!}{m!(n-m)!}&#10;$&#10;&#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3140"/>
</p:tagLst>
</file>

<file path=ppt/tags/tag118.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newcommand{\mA}{\mathbf{A}}&#10;\newcommand{\vb}{\mathbf{b}}&#10;\newcommand{\vc}{\mathbf{c}}&#10;\newcommand{\vx}{\mathbf{x}}&#10;&#10;&#10;%Other&#10;\newcommand{\minimize}{\text{minimize}}&#10;\newcommand{\maximize}{\text{maximize}}&#10;\newcommand{\subto}{\text{subject to}}&#10;&#10;\begin{document}&#10;$&#10;{50 \choose 20} = 4.7*10^{13}&#10;$&#10;&#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9.00016"/>
  <p:tag name="PICTUREFILESIZE" val="3272"/>
</p:tagLst>
</file>

<file path=ppt/tags/tag119.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4 x_1 + 2 x_2 \leq 8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738"/>
</p:tagLst>
</file>

<file path=ppt/tags/tag120.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2x_1 + 5x_2 \leq 6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698"/>
</p:tagLst>
</file>

<file path=ppt/tags/tag121.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4x_1 + 4x_2 \leq 75&#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66.00016"/>
  <p:tag name="PICTUREFILESIZE" val="2361"/>
</p:tagLst>
</file>

<file path=ppt/tags/tag122.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x_1\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7.96008"/>
  <p:tag name="PICTUREFILESIZE" val="1351"/>
</p:tagLst>
</file>

<file path=ppt/tags/tag123.xml><?xml version="1.0" encoding="utf-8"?>
<p:tagLst xmlns:a="http://schemas.openxmlformats.org/drawingml/2006/main" xmlns:r="http://schemas.openxmlformats.org/officeDocument/2006/relationships" xmlns:p="http://schemas.openxmlformats.org/presentationml/2006/main">
  <p:tag name="SOURCE" val="\documentclass{article}\pagestyle{empty}&#10;&#10;\usepackage{amsmath}&#10;\usepackage{amsfonts}&#10;\usepackage{amssymb}&#10;&#10;%Mathematical symbols&#10;\newcommand{\bx}{\boldsymbol{x}}&#10;\newcommand{\bu}{\boldsymbol{u}}&#10;\newcommand{\bmu}{\boldsymbol{\mu}}&#10;\newcommand{\bH}{\boldsymbol{H}}&#10;\newcommand{\bbeta}{\boldsymbol{\beta}}&#10;\newcommand{\btheta}{\boldsymbol{\theta}}&#10;\newcommand{\vdelta}{\boldsymbol{\delta}}&#10;&#10;&#10;%Other&#10;\newcommand{\minimize}{\text{minimize}}&#10;\newcommand{\maximize}{\text{maximize}}&#10;\newcommand{\subto}{\text{subject to}}&#10;&#10;\begin{document}&#10;&#10;\begin{align*}&#10;&amp;&amp;&amp; x_2 \geq 0&#10;\end{align*}&#10;\end{document}&#10;&#10;"/>
  <p:tag name="EXTERNALNAME" val="txp_fig"/>
  <p:tag name="BLEND" val="False"/>
  <p:tag name="TRANSPARENT" val="False"/>
  <p:tag name="KEEPFILES" val="False"/>
  <p:tag name="DEBUGPAUSE" val="False"/>
  <p:tag name="RESOLUTION" val="1200"/>
  <p:tag name="TIMEOUT" val="(none)"/>
  <p:tag name="BOXWIDTH" val="529"/>
  <p:tag name="BOXHEIGHT" val="420"/>
  <p:tag name="BOXFONT" val="10"/>
  <p:tag name="BOXWRAP" val="False"/>
  <p:tag name="WORKAROUNDTRANSPARENCYBUG" val="False"/>
  <p:tag name="ALLOWFONTSUBSTITUTION" val="False"/>
  <p:tag name="BITMAPFORMAT" val="pngmono"/>
  <p:tag name="ORIGWIDTH" val="27.96008"/>
  <p:tag name="PICTUREFILESIZE" val="152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isl xmlns:xsd="http://www.w3.org/2001/XMLSchema" xmlns:xsi="http://www.w3.org/2001/XMLSchema-instance" xmlns="http://www.boldonjames.com/2008/01/sie/internal/label" sislVersion="0" policy="416e2cc4-927b-4a48-abf1-08c8b7746fe4" origin="userSelected">
  <element uid="id_classification_generalbusiness" value=""/>
</sisl>
</file>

<file path=customXml/itemProps1.xml><?xml version="1.0" encoding="utf-8"?>
<ds:datastoreItem xmlns:ds="http://schemas.openxmlformats.org/officeDocument/2006/customXml" ds:itemID="{535198FD-97BD-42D5-A8AF-1EBD3BAC63D7}">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otalTime>14241</TotalTime>
  <Words>3839</Words>
  <Application>Microsoft Office PowerPoint</Application>
  <PresentationFormat>On-screen Show (4:3)</PresentationFormat>
  <Paragraphs>547</Paragraphs>
  <Slides>78</Slides>
  <Notes>78</Notes>
  <HiddenSlides>1</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3</vt:i4>
      </vt:variant>
      <vt:variant>
        <vt:lpstr>Slide Titles</vt:lpstr>
      </vt:variant>
      <vt:variant>
        <vt:i4>78</vt:i4>
      </vt:variant>
    </vt:vector>
  </HeadingPairs>
  <TitlesOfParts>
    <vt:vector size="86" baseType="lpstr">
      <vt:lpstr>Arial</vt:lpstr>
      <vt:lpstr>Calibri</vt:lpstr>
      <vt:lpstr>Cambria Math</vt:lpstr>
      <vt:lpstr>cmbsy9</vt:lpstr>
      <vt:lpstr>Office Theme</vt:lpstr>
      <vt:lpstr>Acrobat Document</vt:lpstr>
      <vt:lpstr>SmartSketch Document</vt:lpstr>
      <vt:lpstr>Equation</vt:lpstr>
      <vt:lpstr>DA 507 modeling and optimization </vt:lpstr>
      <vt:lpstr>Outline</vt:lpstr>
      <vt:lpstr>The carpenter’s problem A linear programming problem formulation</vt:lpstr>
      <vt:lpstr>The carpenter’s problem A linear programming problem formulation</vt:lpstr>
      <vt:lpstr>The carpenter’s problem A linear programming problem formulation</vt:lpstr>
      <vt:lpstr>PowerPoint Presentation</vt:lpstr>
      <vt:lpstr>The carpenter’s problem A linear programming problem formulation</vt:lpstr>
      <vt:lpstr>PowerPoint Presentation</vt:lpstr>
      <vt:lpstr>Putting it together</vt:lpstr>
      <vt:lpstr>Graphical Solution to a 2-Variable LP</vt:lpstr>
      <vt:lpstr>Model of Factory A</vt:lpstr>
      <vt:lpstr>Model of Factory A</vt:lpstr>
      <vt:lpstr>Model of Factory A</vt:lpstr>
      <vt:lpstr>Model of Factory A</vt:lpstr>
      <vt:lpstr>Gradient</vt:lpstr>
      <vt:lpstr>Model of Factory A</vt:lpstr>
      <vt:lpstr>Back to the Carpenter</vt:lpstr>
      <vt:lpstr>Possible outcomes of an LP</vt:lpstr>
      <vt:lpstr>Possible outcomes of an LP</vt:lpstr>
      <vt:lpstr>Possible outcomes of an LP</vt:lpstr>
      <vt:lpstr>Possible outcomes of an LP</vt:lpstr>
      <vt:lpstr>Outcomes of an LP – insights from the graphical solution </vt:lpstr>
      <vt:lpstr>Outcomes of an LP – insights from the graphical solution </vt:lpstr>
      <vt:lpstr>Linear programming algorithms</vt:lpstr>
      <vt:lpstr>Different representations of an LP</vt:lpstr>
      <vt:lpstr>Standard form</vt:lpstr>
      <vt:lpstr>Standard form</vt:lpstr>
      <vt:lpstr>Different representations of an LP</vt:lpstr>
      <vt:lpstr>Different representations of an LP</vt:lpstr>
      <vt:lpstr>Different representations of an LP</vt:lpstr>
      <vt:lpstr>Different representations of an LP</vt:lpstr>
      <vt:lpstr>Extreme Points (Vertices)</vt:lpstr>
      <vt:lpstr>Different representations of an LP</vt:lpstr>
      <vt:lpstr>Example</vt:lpstr>
      <vt:lpstr>Key to the simplex method</vt:lpstr>
      <vt:lpstr>Key to the simplex method</vt:lpstr>
      <vt:lpstr>Key to the simplex method</vt:lpstr>
      <vt:lpstr>Rudimentary algorithm for LP</vt:lpstr>
      <vt:lpstr>Simplex algorithm</vt:lpstr>
      <vt:lpstr>The geometrical illustration of the simplex method</vt:lpstr>
      <vt:lpstr>Simplex algorithm</vt:lpstr>
      <vt:lpstr>Observation on Linear Programming</vt:lpstr>
      <vt:lpstr>The mechanics of the simplex method</vt:lpstr>
      <vt:lpstr>Economic interpretations</vt:lpstr>
      <vt:lpstr>Economic interpretations</vt:lpstr>
      <vt:lpstr>Economic interpretations</vt:lpstr>
      <vt:lpstr>Economic interpretations </vt:lpstr>
      <vt:lpstr>Economic interpretations</vt:lpstr>
      <vt:lpstr>Primal-Dual LP models</vt:lpstr>
      <vt:lpstr>Primal-Dual solution</vt:lpstr>
      <vt:lpstr>Insights from the dual solution</vt:lpstr>
      <vt:lpstr>Insights from the dual solution</vt:lpstr>
      <vt:lpstr>Insights from the dual solution</vt:lpstr>
      <vt:lpstr>Shadow prices</vt:lpstr>
      <vt:lpstr>Reduced costs</vt:lpstr>
      <vt:lpstr>Reduced costs</vt:lpstr>
      <vt:lpstr>Reduced costs</vt:lpstr>
      <vt:lpstr>The carpenter’s problem A linear programming problem formulation</vt:lpstr>
      <vt:lpstr>Shadow prices and reduced costs</vt:lpstr>
      <vt:lpstr>Reduced Cost</vt:lpstr>
      <vt:lpstr>Reduced Cost</vt:lpstr>
      <vt:lpstr>Shadow Price</vt:lpstr>
      <vt:lpstr>Shadow Price</vt:lpstr>
      <vt:lpstr>Shadow Price</vt:lpstr>
      <vt:lpstr>Wrap-up</vt:lpstr>
      <vt:lpstr>Carpenter’s Problem with Integer Variables</vt:lpstr>
      <vt:lpstr>Solving IPs (Branch&amp;bound)</vt:lpstr>
      <vt:lpstr>Solving IPs</vt:lpstr>
      <vt:lpstr>Solving IPs</vt:lpstr>
      <vt:lpstr>Solving IPs</vt:lpstr>
      <vt:lpstr>Solving IPs</vt:lpstr>
      <vt:lpstr>Solving IPs</vt:lpstr>
      <vt:lpstr>Solving IPs</vt:lpstr>
      <vt:lpstr>Solving IPs</vt:lpstr>
      <vt:lpstr>Solving IPs</vt:lpstr>
      <vt:lpstr>Solving IP’s: Branch &amp; Bound</vt:lpstr>
      <vt:lpstr>Solving IP’s: Branch &amp; Bound</vt:lpstr>
      <vt:lpstr>Solving IP’s: Branch &amp; Bound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 507 modelling and optimization</dc:title>
  <dc:creator>guvencs</dc:creator>
  <cp:lastModifiedBy>Volkan Yurtseven</cp:lastModifiedBy>
  <cp:revision>384</cp:revision>
  <dcterms:created xsi:type="dcterms:W3CDTF">2006-08-16T00:00:00Z</dcterms:created>
  <dcterms:modified xsi:type="dcterms:W3CDTF">2021-12-12T17:36:50Z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e3ef5636-34b0-4eeb-8057-6e98fc5c9d77</vt:lpwstr>
  </property>
  <property fmtid="{D5CDD505-2E9C-101B-9397-08002B2CF9AE}" pid="3" name="bjSaver">
    <vt:lpwstr>GCQzHYWfdzjTrjdlW3avldOuoiAZmI8T</vt:lpwstr>
  </property>
  <property fmtid="{D5CDD505-2E9C-101B-9397-08002B2CF9AE}" pid="4" name="bjDocumentLabelXML">
    <vt:lpwstr>&lt;?xml version="1.0" encoding="us-ascii"?&gt;&lt;sisl xmlns:xsd="http://www.w3.org/2001/XMLSchema" xmlns:xsi="http://www.w3.org/2001/XMLSchema-instance" sislVersion="0" policy="416e2cc4-927b-4a48-abf1-08c8b7746fe4" origin="userSelected" xmlns="http://www.boldonj</vt:lpwstr>
  </property>
  <property fmtid="{D5CDD505-2E9C-101B-9397-08002B2CF9AE}" pid="5" name="bjDocumentLabelXML-0">
    <vt:lpwstr>ames.com/2008/01/sie/internal/label"&gt;&lt;element uid="id_classification_generalbusiness" value="" /&gt;&lt;/sisl&gt;</vt:lpwstr>
  </property>
  <property fmtid="{D5CDD505-2E9C-101B-9397-08002B2CF9AE}" pid="6" name="bjDocumentSecurityLabel">
    <vt:lpwstr>Genel</vt:lpwstr>
  </property>
</Properties>
</file>