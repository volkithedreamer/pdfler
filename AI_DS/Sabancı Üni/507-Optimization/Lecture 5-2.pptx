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2"/>
  </p:sldMasterIdLst>
  <p:notesMasterIdLst>
    <p:notesMasterId r:id="rId22"/>
  </p:notesMasterIdLst>
  <p:handoutMasterIdLst>
    <p:handoutMasterId r:id="rId23"/>
  </p:handoutMasterIdLst>
  <p:sldIdLst>
    <p:sldId id="328" r:id="rId3"/>
    <p:sldId id="329" r:id="rId4"/>
    <p:sldId id="330" r:id="rId5"/>
    <p:sldId id="275" r:id="rId6"/>
    <p:sldId id="276" r:id="rId7"/>
    <p:sldId id="338" r:id="rId8"/>
    <p:sldId id="339" r:id="rId9"/>
    <p:sldId id="300" r:id="rId10"/>
    <p:sldId id="289" r:id="rId11"/>
    <p:sldId id="335" r:id="rId12"/>
    <p:sldId id="286" r:id="rId13"/>
    <p:sldId id="332" r:id="rId14"/>
    <p:sldId id="336" r:id="rId15"/>
    <p:sldId id="337" r:id="rId16"/>
    <p:sldId id="315" r:id="rId17"/>
    <p:sldId id="334" r:id="rId18"/>
    <p:sldId id="316" r:id="rId19"/>
    <p:sldId id="318" r:id="rId20"/>
    <p:sldId id="317" r:id="rId21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66FF66"/>
    <a:srgbClr val="FFCC99"/>
    <a:srgbClr val="FFFF99"/>
    <a:srgbClr val="CCFFCC"/>
    <a:srgbClr val="C0C0C0"/>
    <a:srgbClr val="5F5F5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818"/>
    </p:cViewPr>
  </p:sorterViewPr>
  <p:notesViewPr>
    <p:cSldViewPr snapToGrid="0">
      <p:cViewPr varScale="1">
        <p:scale>
          <a:sx n="61" d="100"/>
          <a:sy n="61" d="100"/>
        </p:scale>
        <p:origin x="-1698" y="-5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7.xml"/><Relationship Id="rId2" Type="http://schemas.openxmlformats.org/officeDocument/2006/relationships/slide" Target="slides/slide16.xml"/><Relationship Id="rId1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A387EF2-E6C9-4379-851A-D15F8423F08E}" type="datetimeFigureOut">
              <a:rPr lang="tr-TR" smtClean="0"/>
              <a:pPr/>
              <a:t>16.12.2020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5C5A9958-7A9A-4A90-A561-E38F7C215810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2119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1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1441"/>
            <a:ext cx="5206153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1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211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2C2A80F5-549D-48AF-9573-90DB16F94E0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A80F5-549D-48AF-9573-90DB16F94E0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58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A80F5-549D-48AF-9573-90DB16F94E0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62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A80F5-549D-48AF-9573-90DB16F94E0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9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5846C1-F109-4AF9-BC69-80217A3619DF}" type="slidenum">
              <a:rPr lang="en-US"/>
              <a:pPr/>
              <a:t>4</a:t>
            </a:fld>
            <a:endParaRPr lang="en-US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D8EECA-AD00-44C3-A865-41C722760D27}" type="slidenum">
              <a:rPr lang="en-US"/>
              <a:pPr/>
              <a:t>5</a:t>
            </a:fld>
            <a:endParaRPr lang="en-US"/>
          </a:p>
        </p:txBody>
      </p:sp>
      <p:sp>
        <p:nvSpPr>
          <p:cNvPr id="476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A80F5-549D-48AF-9573-90DB16F94E0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19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A80F5-549D-48AF-9573-90DB16F94E0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96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C97D75-1C16-48C3-8C61-E660AA9EC2F4}" type="slidenum">
              <a:rPr lang="en-US"/>
              <a:pPr/>
              <a:t>8</a:t>
            </a:fld>
            <a:endParaRPr lang="en-US"/>
          </a:p>
        </p:txBody>
      </p:sp>
      <p:sp>
        <p:nvSpPr>
          <p:cNvPr id="525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0D2E38-5688-4899-A64F-9FC016CD0E32}" type="slidenum">
              <a:rPr lang="en-US"/>
              <a:pPr/>
              <a:t>9</a:t>
            </a:fld>
            <a:endParaRPr lang="en-US"/>
          </a:p>
        </p:txBody>
      </p:sp>
      <p:sp>
        <p:nvSpPr>
          <p:cNvPr id="51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0D2E38-5688-4899-A64F-9FC016CD0E32}" type="slidenum">
              <a:rPr lang="en-US"/>
              <a:pPr/>
              <a:t>10</a:t>
            </a:fld>
            <a:endParaRPr lang="en-US"/>
          </a:p>
        </p:txBody>
      </p:sp>
      <p:sp>
        <p:nvSpPr>
          <p:cNvPr id="51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34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C65B29-72A3-40C3-BC46-1EC796E2CC17}" type="slidenum">
              <a:rPr lang="en-US"/>
              <a:pPr/>
              <a:t>11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A80F5-549D-48AF-9573-90DB16F94E0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34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C65B29-72A3-40C3-BC46-1EC796E2CC17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04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C65B29-72A3-40C3-BC46-1EC796E2CC17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98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DF820C-2BE1-4105-B86A-D5E82C546C19}" type="slidenum">
              <a:rPr lang="en-US"/>
              <a:pPr/>
              <a:t>15</a:t>
            </a:fld>
            <a:endParaRPr lang="en-US"/>
          </a:p>
        </p:txBody>
      </p:sp>
      <p:sp>
        <p:nvSpPr>
          <p:cNvPr id="55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BE2C5F-06EA-4210-9F4F-71666D0AE260}" type="slidenum">
              <a:rPr lang="en-US"/>
              <a:pPr/>
              <a:t>16</a:t>
            </a:fld>
            <a:endParaRPr lang="en-US"/>
          </a:p>
        </p:txBody>
      </p:sp>
      <p:sp>
        <p:nvSpPr>
          <p:cNvPr id="55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BE2C5F-06EA-4210-9F4F-71666D0AE260}" type="slidenum">
              <a:rPr lang="en-US"/>
              <a:pPr/>
              <a:t>17</a:t>
            </a:fld>
            <a:endParaRPr lang="en-US"/>
          </a:p>
        </p:txBody>
      </p:sp>
      <p:sp>
        <p:nvSpPr>
          <p:cNvPr id="55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489F4A-6EA7-4A66-BACC-0BC079522A26}" type="slidenum">
              <a:rPr lang="en-US"/>
              <a:pPr/>
              <a:t>18</a:t>
            </a:fld>
            <a:endParaRPr lang="en-US"/>
          </a:p>
        </p:txBody>
      </p:sp>
      <p:sp>
        <p:nvSpPr>
          <p:cNvPr id="56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FD6072-4A17-4A4A-9153-20345DB7B7C8}" type="slidenum">
              <a:rPr lang="en-US"/>
              <a:pPr/>
              <a:t>19</a:t>
            </a:fld>
            <a:endParaRPr lang="en-US"/>
          </a:p>
        </p:txBody>
      </p:sp>
      <p:sp>
        <p:nvSpPr>
          <p:cNvPr id="56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3B8BD-4CFD-48A5-B53A-86A0B98502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A7B1C-856E-4B01-8100-B6A4B124CD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4CAB-746B-4B12-B2FC-BAFE8CAAE9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4CFCC-C3E8-434F-BEBC-ED9CA97041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5A63-173C-4764-9F79-5E71730AE0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F937-3E48-4A0F-9515-A4C2571B64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CDB7-42AE-4394-B1A6-EFA61DCE3E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AFFC-C387-46A2-86CA-E662505223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F5C4-4326-4F93-A1E3-18FA93CA1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6B62C-377C-4960-A0A6-016006293E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E18A6-45B9-43A3-B8FE-F4A0DBB989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9D54F25-363B-426E-BF7A-33ADCD169E1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719FA-C75B-4A9B-8B37-E3A8BDCEF9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DA 507</a:t>
            </a:r>
            <a:br>
              <a:rPr lang="en-US" noProof="0" dirty="0"/>
            </a:br>
            <a:r>
              <a:rPr lang="en-US" noProof="0" dirty="0"/>
              <a:t>modeling and optimization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Lecture 5</a:t>
            </a:r>
          </a:p>
          <a:p>
            <a:r>
              <a:rPr lang="tr-TR" sz="2400" dirty="0"/>
              <a:t>Integer Programming: TSP Formulation &amp; Heuristics </a:t>
            </a:r>
          </a:p>
          <a:p>
            <a:endParaRPr lang="en-US" sz="2400" noProof="0" dirty="0"/>
          </a:p>
          <a:p>
            <a:r>
              <a:rPr lang="en-US" sz="2400" noProof="0" dirty="0" err="1"/>
              <a:t>Güvenç</a:t>
            </a:r>
            <a:r>
              <a:rPr lang="en-US" sz="2400" noProof="0" dirty="0"/>
              <a:t> Şahin</a:t>
            </a:r>
          </a:p>
          <a:p>
            <a:r>
              <a:rPr lang="en-US" sz="2400"/>
              <a:t>Birol Yüceoğlu</a:t>
            </a:r>
            <a:endParaRPr lang="en-US" sz="2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Travelling Salesman Problem (TSP)</a:t>
            </a:r>
            <a:br>
              <a:rPr lang="tr-TR" dirty="0"/>
            </a:br>
            <a:r>
              <a:rPr lang="tr-TR" dirty="0">
                <a:solidFill>
                  <a:srgbClr val="FF0000"/>
                </a:solidFill>
              </a:rPr>
              <a:t>Challenge: modelling and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 salesman has to set out from home to visit a number of customers before finally returning home.</a:t>
            </a:r>
          </a:p>
          <a:p>
            <a:r>
              <a:rPr lang="tr-TR" dirty="0"/>
              <a:t>The problem is to find the order he should visit all customers in order to minimize total distance covered.</a:t>
            </a:r>
          </a:p>
          <a:p>
            <a:r>
              <a:rPr lang="tr-TR" dirty="0"/>
              <a:t>The distance from location </a:t>
            </a:r>
            <a:r>
              <a:rPr lang="tr-TR" i="1" dirty="0"/>
              <a:t>i</a:t>
            </a:r>
            <a:r>
              <a:rPr lang="tr-TR" dirty="0"/>
              <a:t> to location </a:t>
            </a:r>
            <a:r>
              <a:rPr lang="tr-TR" i="1" dirty="0"/>
              <a:t>j</a:t>
            </a:r>
            <a:r>
              <a:rPr lang="tr-TR" dirty="0"/>
              <a:t> is </a:t>
            </a:r>
            <a:r>
              <a:rPr lang="tr-TR" i="1" dirty="0" err="1"/>
              <a:t>d</a:t>
            </a:r>
            <a:r>
              <a:rPr lang="tr-TR" i="1" baseline="-25000" dirty="0" err="1"/>
              <a:t>ij</a:t>
            </a:r>
            <a:endParaRPr lang="tr-TR" i="1" baseline="-25000" dirty="0"/>
          </a:p>
          <a:p>
            <a:endParaRPr lang="tr-T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Travelling Salesman Problem (TSP)</a:t>
            </a:r>
            <a:br>
              <a:rPr lang="tr-TR" dirty="0"/>
            </a:br>
            <a:r>
              <a:rPr lang="tr-TR" dirty="0">
                <a:solidFill>
                  <a:srgbClr val="FF0000"/>
                </a:solidFill>
              </a:rPr>
              <a:t>Challenge: modelling and solution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5778" name="Picture 2" descr="C:\Users\GS\Documents\Teaching\DataAnalytics\DA507\LectureNotes\week3\tsp-solut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600199"/>
            <a:ext cx="4572000" cy="44313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Symmetric TSP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Define the problem on a </a:t>
            </a:r>
            <a:r>
              <a:rPr lang="en-US" b="1" i="1" dirty="0"/>
              <a:t>complete undirected</a:t>
            </a:r>
            <a:r>
              <a:rPr lang="en-US" dirty="0"/>
              <a:t> graph </a:t>
            </a:r>
            <a:r>
              <a:rPr lang="en-US" i="1" dirty="0"/>
              <a:t>G=(V</a:t>
            </a:r>
            <a:r>
              <a:rPr lang="tr-TR" i="1" dirty="0"/>
              <a:t>, </a:t>
            </a:r>
            <a:r>
              <a:rPr lang="en-US" i="1" dirty="0"/>
              <a:t>E)</a:t>
            </a:r>
            <a:r>
              <a:rPr lang="en-US" dirty="0"/>
              <a:t>:</a:t>
            </a:r>
            <a:endParaRPr lang="tr-TR" dirty="0"/>
          </a:p>
          <a:p>
            <a:pPr lvl="1"/>
            <a:r>
              <a:rPr lang="tr-TR" dirty="0"/>
              <a:t>V: set of nodes/vertices</a:t>
            </a:r>
          </a:p>
          <a:p>
            <a:pPr lvl="1"/>
            <a:r>
              <a:rPr lang="tr-TR" dirty="0"/>
              <a:t>E: set of edges/arcs/links</a:t>
            </a:r>
            <a:r>
              <a:rPr lang="en-US" dirty="0"/>
              <a:t> </a:t>
            </a:r>
          </a:p>
          <a:p>
            <a:pPr lvl="1"/>
            <a:r>
              <a:rPr lang="en-US" i="1" dirty="0"/>
              <a:t>(</a:t>
            </a:r>
            <a:r>
              <a:rPr lang="en-US" i="1" dirty="0" err="1"/>
              <a:t>i,j</a:t>
            </a:r>
            <a:r>
              <a:rPr lang="en-US" i="1" dirty="0"/>
              <a:t>) in E’(</a:t>
            </a:r>
            <a:r>
              <a:rPr lang="en-US" i="1" dirty="0" err="1"/>
              <a:t>i</a:t>
            </a:r>
            <a:r>
              <a:rPr lang="en-US" i="1" dirty="0"/>
              <a:t>&lt;j)</a:t>
            </a:r>
            <a:r>
              <a:rPr lang="en-US" dirty="0"/>
              <a:t> is a </a:t>
            </a:r>
            <a:r>
              <a:rPr lang="tr-TR" dirty="0"/>
              <a:t>shortest</a:t>
            </a:r>
            <a:r>
              <a:rPr lang="en-US" dirty="0"/>
              <a:t> path between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.</a:t>
            </a:r>
          </a:p>
          <a:p>
            <a:pPr lvl="1">
              <a:buNone/>
            </a:pPr>
            <a:endParaRPr lang="tr-TR" i="1" dirty="0"/>
          </a:p>
          <a:p>
            <a:pPr lvl="1">
              <a:buNone/>
            </a:pPr>
            <a:r>
              <a:rPr lang="en-US" i="1" dirty="0" err="1"/>
              <a:t>x</a:t>
            </a:r>
            <a:r>
              <a:rPr lang="en-US" i="1" baseline="-25000" dirty="0" err="1"/>
              <a:t>ij</a:t>
            </a:r>
            <a:r>
              <a:rPr lang="en-US" i="1" dirty="0"/>
              <a:t>= {1 if </a:t>
            </a:r>
            <a:r>
              <a:rPr lang="en-US" i="1" u="sng" dirty="0"/>
              <a:t>edge</a:t>
            </a:r>
            <a:r>
              <a:rPr lang="en-US" i="1" dirty="0"/>
              <a:t> (</a:t>
            </a:r>
            <a:r>
              <a:rPr lang="en-US" i="1" dirty="0" err="1"/>
              <a:t>i,j</a:t>
            </a:r>
            <a:r>
              <a:rPr lang="en-US" i="1" dirty="0"/>
              <a:t>) belongs to the</a:t>
            </a:r>
            <a:r>
              <a:rPr lang="tr-TR" i="1" dirty="0"/>
              <a:t> TSP tour; </a:t>
            </a:r>
            <a:r>
              <a:rPr lang="en-US" i="1" dirty="0"/>
              <a:t>0</a:t>
            </a:r>
            <a:r>
              <a:rPr lang="tr-TR" i="1" dirty="0"/>
              <a:t>,</a:t>
            </a:r>
            <a:r>
              <a:rPr lang="en-US" i="1" dirty="0"/>
              <a:t> otherwise}</a:t>
            </a:r>
          </a:p>
          <a:p>
            <a:pPr lvl="1"/>
            <a:endParaRPr lang="en-US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Symmetric TSP: Formulation</a:t>
            </a:r>
          </a:p>
        </p:txBody>
      </p:sp>
      <p:graphicFrame>
        <p:nvGraphicFramePr>
          <p:cNvPr id="475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115073"/>
              </p:ext>
            </p:extLst>
          </p:nvPr>
        </p:nvGraphicFramePr>
        <p:xfrm>
          <a:off x="1519238" y="2094364"/>
          <a:ext cx="6715125" cy="416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157" name="Equation" r:id="rId4" imgW="3886200" imgH="2412720" progId="Equation.3">
                  <p:embed/>
                </p:oleObj>
              </mc:Choice>
              <mc:Fallback>
                <p:oleObj name="Equation" r:id="rId4" imgW="3886200" imgH="24127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2094364"/>
                        <a:ext cx="6715125" cy="416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42" name="Text Box 6"/>
          <p:cNvSpPr txBox="1">
            <a:spLocks noChangeArrowheads="1"/>
          </p:cNvSpPr>
          <p:nvPr/>
        </p:nvSpPr>
        <p:spPr bwMode="auto">
          <a:xfrm>
            <a:off x="5010150" y="2908300"/>
            <a:ext cx="4133850" cy="271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tr-TR">
              <a:solidFill>
                <a:schemeClr val="hlink"/>
              </a:solidFill>
            </a:endParaRPr>
          </a:p>
          <a:p>
            <a:r>
              <a:rPr lang="en-US">
                <a:solidFill>
                  <a:schemeClr val="hlink"/>
                </a:solidFill>
              </a:rPr>
              <a:t>(</a:t>
            </a:r>
            <a:r>
              <a:rPr lang="tr-TR">
                <a:solidFill>
                  <a:schemeClr val="hlink"/>
                </a:solidFill>
              </a:rPr>
              <a:t>Degree constraints</a:t>
            </a:r>
            <a:r>
              <a:rPr lang="en-US">
                <a:solidFill>
                  <a:schemeClr val="hlink"/>
                </a:solidFill>
              </a:rPr>
              <a:t>)</a:t>
            </a:r>
            <a:endParaRPr lang="tr-TR">
              <a:solidFill>
                <a:schemeClr val="hlink"/>
              </a:solidFill>
            </a:endParaRPr>
          </a:p>
          <a:p>
            <a:endParaRPr lang="tr-TR">
              <a:solidFill>
                <a:schemeClr val="hlink"/>
              </a:solidFill>
            </a:endParaRPr>
          </a:p>
          <a:p>
            <a:endParaRPr lang="tr-TR">
              <a:solidFill>
                <a:schemeClr val="hlink"/>
              </a:solidFill>
            </a:endParaRPr>
          </a:p>
          <a:p>
            <a:pPr>
              <a:lnSpc>
                <a:spcPct val="160000"/>
              </a:lnSpc>
            </a:pPr>
            <a:r>
              <a:rPr lang="en-US">
                <a:solidFill>
                  <a:schemeClr val="hlink"/>
                </a:solidFill>
              </a:rPr>
              <a:t>(</a:t>
            </a:r>
            <a:r>
              <a:rPr lang="tr-TR">
                <a:solidFill>
                  <a:schemeClr val="hlink"/>
                </a:solidFill>
              </a:rPr>
              <a:t>Connectivity constraints</a:t>
            </a:r>
            <a:r>
              <a:rPr lang="en-US">
                <a:solidFill>
                  <a:schemeClr val="hlink"/>
                </a:solidFill>
              </a:rPr>
              <a:t>) </a:t>
            </a:r>
            <a:r>
              <a:rPr lang="tr-TR">
                <a:solidFill>
                  <a:schemeClr val="tx2"/>
                </a:solidFill>
              </a:rPr>
              <a:t>-OR-</a:t>
            </a:r>
          </a:p>
          <a:p>
            <a:r>
              <a:rPr lang="tr-TR">
                <a:solidFill>
                  <a:schemeClr val="tx2"/>
                </a:solidFill>
              </a:rPr>
              <a:t>             </a:t>
            </a:r>
            <a:endParaRPr lang="en-US">
              <a:solidFill>
                <a:schemeClr val="tx2"/>
              </a:solidFill>
            </a:endParaRPr>
          </a:p>
          <a:p>
            <a:r>
              <a:rPr lang="en-US">
                <a:solidFill>
                  <a:schemeClr val="tx2"/>
                </a:solidFill>
              </a:rPr>
              <a:t>	</a:t>
            </a:r>
            <a:endParaRPr lang="en-US">
              <a:solidFill>
                <a:schemeClr val="hlink"/>
              </a:solidFill>
            </a:endParaRPr>
          </a:p>
          <a:p>
            <a:r>
              <a:rPr lang="en-US">
                <a:solidFill>
                  <a:schemeClr val="hlink"/>
                </a:solidFill>
              </a:rPr>
              <a:t>(</a:t>
            </a:r>
            <a:r>
              <a:rPr lang="tr-TR">
                <a:solidFill>
                  <a:schemeClr val="hlink"/>
                </a:solidFill>
              </a:rPr>
              <a:t>Subcircuit elimination constraits</a:t>
            </a:r>
            <a:r>
              <a:rPr lang="en-US">
                <a:solidFill>
                  <a:schemeClr val="hlink"/>
                </a:solidFill>
              </a:rPr>
              <a:t>)</a:t>
            </a:r>
            <a:endParaRPr lang="tr-TR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7E09-DF84-4A26-B6CB-703CC4EEE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22E7B-7145-4F2A-B8DB-00288E087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CE4C5-E753-47EB-B41E-3D9BF2097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957"/>
            <a:ext cx="9144000" cy="61540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C27E62B-5C4F-4ADA-91DA-CB02C65157C9}"/>
              </a:ext>
            </a:extLst>
          </p:cNvPr>
          <p:cNvSpPr/>
          <p:nvPr/>
        </p:nvSpPr>
        <p:spPr>
          <a:xfrm>
            <a:off x="1090569" y="6031684"/>
            <a:ext cx="7365534" cy="6569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3EC53B-0EBF-4292-BC4D-784E9576F4ED}"/>
              </a:ext>
            </a:extLst>
          </p:cNvPr>
          <p:cNvSpPr/>
          <p:nvPr/>
        </p:nvSpPr>
        <p:spPr>
          <a:xfrm>
            <a:off x="7927596" y="5464622"/>
            <a:ext cx="494951" cy="536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6B5C7-DE7F-4E41-814F-0C5EAC204855}"/>
              </a:ext>
            </a:extLst>
          </p:cNvPr>
          <p:cNvSpPr txBox="1"/>
          <p:nvPr/>
        </p:nvSpPr>
        <p:spPr>
          <a:xfrm>
            <a:off x="7963249" y="5541082"/>
            <a:ext cx="855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&gt;=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D1185E-D805-4453-BAFD-BE1DCA25C717}"/>
              </a:ext>
            </a:extLst>
          </p:cNvPr>
          <p:cNvSpPr/>
          <p:nvPr/>
        </p:nvSpPr>
        <p:spPr>
          <a:xfrm>
            <a:off x="0" y="4449223"/>
            <a:ext cx="9144000" cy="2183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C9BB-C7BD-46AE-8730-3092D2B7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4D80-2311-4F8B-8364-F6D8A45C7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756C54-FFFC-407A-A81D-E54C42B71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2073"/>
            <a:ext cx="9144000" cy="571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73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Nearest Neighbor Heuristic</a:t>
            </a:r>
          </a:p>
        </p:txBody>
      </p:sp>
      <p:sp>
        <p:nvSpPr>
          <p:cNvPr id="524291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961312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Constructive procedure</a:t>
            </a:r>
          </a:p>
          <a:p>
            <a:pPr>
              <a:lnSpc>
                <a:spcPct val="90000"/>
              </a:lnSpc>
            </a:pPr>
            <a:r>
              <a:rPr lang="en-US" sz="2400"/>
              <a:t>Adds one vertex at a time</a:t>
            </a:r>
          </a:p>
          <a:p>
            <a:pPr>
              <a:lnSpc>
                <a:spcPct val="90000"/>
              </a:lnSpc>
            </a:pPr>
            <a:r>
              <a:rPr lang="en-US" sz="2400"/>
              <a:t>Low quality solutions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>
              <a:solidFill>
                <a:schemeClr val="folHlink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chemeClr val="folHlink"/>
                </a:solidFill>
              </a:rPr>
              <a:t>Algorithm: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chemeClr val="folHlink"/>
                </a:solidFill>
              </a:rPr>
              <a:t>Step 0:</a:t>
            </a:r>
            <a:r>
              <a:rPr lang="en-US" sz="2400"/>
              <a:t> Start at any vertex r, assign h=r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chemeClr val="folHlink"/>
                </a:solidFill>
              </a:rPr>
              <a:t>Step 1:</a:t>
            </a:r>
            <a:r>
              <a:rPr lang="en-US" sz="2400"/>
              <a:t> Link vertex h to its nearest unrouted neighbor, k. 	  Set h=k,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chemeClr val="folHlink"/>
                </a:solidFill>
              </a:rPr>
              <a:t>Step 2:</a:t>
            </a:r>
            <a:r>
              <a:rPr lang="en-US" sz="2400"/>
              <a:t> If any unrouted vertices are left, go to Step 1,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/>
              <a:t>		  otherwise link h to r, and STOP.</a:t>
            </a:r>
          </a:p>
          <a:p>
            <a:pPr>
              <a:lnSpc>
                <a:spcPct val="90000"/>
              </a:lnSpc>
            </a:pPr>
            <a:endParaRPr 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Saint Martin Example</a:t>
            </a:r>
          </a:p>
        </p:txBody>
      </p:sp>
      <p:graphicFrame>
        <p:nvGraphicFramePr>
          <p:cNvPr id="501918" name="Group 158"/>
          <p:cNvGraphicFramePr>
            <a:graphicFrameLocks noGrp="1"/>
          </p:cNvGraphicFramePr>
          <p:nvPr>
            <p:ph type="tbl" idx="1"/>
          </p:nvPr>
        </p:nvGraphicFramePr>
        <p:xfrm>
          <a:off x="114300" y="4008438"/>
          <a:ext cx="4954588" cy="2747963"/>
        </p:xfrm>
        <a:graphic>
          <a:graphicData uri="http://schemas.openxmlformats.org/drawingml/2006/table">
            <a:tbl>
              <a:tblPr/>
              <a:tblGrid>
                <a:gridCol w="347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27.9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54.6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56.5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27.9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28.8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48.4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57.4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54.6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95.8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18.8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52.1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39.4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43.1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56.5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28.8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95.8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39.4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84.5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44.4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48.4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18.8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43.1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57.4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84.5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59.3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52.1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44.4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59.3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01919" name="Picture 15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35400" y="1447800"/>
            <a:ext cx="4989513" cy="274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Saint Martin Example</a:t>
            </a:r>
          </a:p>
        </p:txBody>
      </p:sp>
      <p:graphicFrame>
        <p:nvGraphicFramePr>
          <p:cNvPr id="501918" name="Group 158"/>
          <p:cNvGraphicFramePr>
            <a:graphicFrameLocks noGrp="1"/>
          </p:cNvGraphicFramePr>
          <p:nvPr>
            <p:ph type="tbl" idx="1"/>
          </p:nvPr>
        </p:nvGraphicFramePr>
        <p:xfrm>
          <a:off x="114300" y="4008438"/>
          <a:ext cx="4954588" cy="2747963"/>
        </p:xfrm>
        <a:graphic>
          <a:graphicData uri="http://schemas.openxmlformats.org/drawingml/2006/table">
            <a:tbl>
              <a:tblPr/>
              <a:tblGrid>
                <a:gridCol w="347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27.9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54.6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56.5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27.9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28.8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48.4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57.4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54.6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95.8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18.8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52.1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39.4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43.1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56.5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28.8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95.8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39.4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84.5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44.4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48.4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18.8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43.1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57.4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84.5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59.3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21.6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52.1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44.4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34.0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59.3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01919" name="Picture 15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35400" y="1447800"/>
            <a:ext cx="4989513" cy="274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AB8B0A5-53D1-47B1-9D8A-AE0F1C3532A3}"/>
              </a:ext>
            </a:extLst>
          </p:cNvPr>
          <p:cNvSpPr/>
          <p:nvPr/>
        </p:nvSpPr>
        <p:spPr>
          <a:xfrm>
            <a:off x="1065402" y="4318233"/>
            <a:ext cx="604008" cy="2873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038860-7FD4-45F1-9AA8-0102B2CFBC50}"/>
              </a:ext>
            </a:extLst>
          </p:cNvPr>
          <p:cNvSpPr/>
          <p:nvPr/>
        </p:nvSpPr>
        <p:spPr>
          <a:xfrm>
            <a:off x="4464880" y="4605556"/>
            <a:ext cx="604008" cy="2873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2104DD-208B-42AD-8D41-89643DAD33BD}"/>
              </a:ext>
            </a:extLst>
          </p:cNvPr>
          <p:cNvSpPr/>
          <p:nvPr/>
        </p:nvSpPr>
        <p:spPr>
          <a:xfrm>
            <a:off x="2182536" y="6461737"/>
            <a:ext cx="604008" cy="2873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2320B0-A4C4-40C7-9565-790FC737200F}"/>
              </a:ext>
            </a:extLst>
          </p:cNvPr>
          <p:cNvSpPr/>
          <p:nvPr/>
        </p:nvSpPr>
        <p:spPr>
          <a:xfrm>
            <a:off x="4464880" y="5238757"/>
            <a:ext cx="604008" cy="2873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C8C893-7418-4F94-9571-970D9B5204B8}"/>
              </a:ext>
            </a:extLst>
          </p:cNvPr>
          <p:cNvSpPr/>
          <p:nvPr/>
        </p:nvSpPr>
        <p:spPr>
          <a:xfrm>
            <a:off x="2761378" y="5220341"/>
            <a:ext cx="604008" cy="2873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A148AD-2386-4508-82D2-2F241BFF49C7}"/>
              </a:ext>
            </a:extLst>
          </p:cNvPr>
          <p:cNvSpPr/>
          <p:nvPr/>
        </p:nvSpPr>
        <p:spPr>
          <a:xfrm>
            <a:off x="3302737" y="5526080"/>
            <a:ext cx="604008" cy="2873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E4FC11-6F2F-4C9A-888B-DB4CA47DF4DA}"/>
              </a:ext>
            </a:extLst>
          </p:cNvPr>
          <p:cNvSpPr/>
          <p:nvPr/>
        </p:nvSpPr>
        <p:spPr>
          <a:xfrm>
            <a:off x="1578528" y="5841039"/>
            <a:ext cx="604008" cy="2873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9DE23F-A6A2-4C42-8152-C49AC8DDF0AC}"/>
              </a:ext>
            </a:extLst>
          </p:cNvPr>
          <p:cNvSpPr/>
          <p:nvPr/>
        </p:nvSpPr>
        <p:spPr>
          <a:xfrm>
            <a:off x="3917072" y="4909115"/>
            <a:ext cx="604008" cy="2873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226A44-31D8-4D4E-8155-2D1364A8BC32}"/>
              </a:ext>
            </a:extLst>
          </p:cNvPr>
          <p:cNvSpPr/>
          <p:nvPr/>
        </p:nvSpPr>
        <p:spPr>
          <a:xfrm>
            <a:off x="453006" y="6121021"/>
            <a:ext cx="604008" cy="2873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C74306-0C92-45D1-9E7F-B5A545AFFFE0}"/>
              </a:ext>
            </a:extLst>
          </p:cNvPr>
          <p:cNvSpPr/>
          <p:nvPr/>
        </p:nvSpPr>
        <p:spPr>
          <a:xfrm>
            <a:off x="1057014" y="5235443"/>
            <a:ext cx="604008" cy="2873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FB796-330A-49B1-9725-A0F38E27C477}"/>
              </a:ext>
            </a:extLst>
          </p:cNvPr>
          <p:cNvSpPr txBox="1"/>
          <p:nvPr/>
        </p:nvSpPr>
        <p:spPr>
          <a:xfrm>
            <a:off x="5670958" y="4605556"/>
            <a:ext cx="2894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&lt;0,1,7,3,4,5,2,6,0&gt;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92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Saint Martin Example</a:t>
            </a:r>
          </a:p>
        </p:txBody>
      </p:sp>
      <p:sp>
        <p:nvSpPr>
          <p:cNvPr id="495624" name="Oval 8"/>
          <p:cNvSpPr>
            <a:spLocks noChangeArrowheads="1"/>
          </p:cNvSpPr>
          <p:nvPr/>
        </p:nvSpPr>
        <p:spPr bwMode="auto">
          <a:xfrm>
            <a:off x="1587500" y="29337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495626" name="Oval 10"/>
          <p:cNvSpPr>
            <a:spLocks noChangeArrowheads="1"/>
          </p:cNvSpPr>
          <p:nvPr/>
        </p:nvSpPr>
        <p:spPr bwMode="auto">
          <a:xfrm>
            <a:off x="4953000" y="46609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95627" name="Oval 11"/>
          <p:cNvSpPr>
            <a:spLocks noChangeArrowheads="1"/>
          </p:cNvSpPr>
          <p:nvPr/>
        </p:nvSpPr>
        <p:spPr bwMode="auto">
          <a:xfrm>
            <a:off x="6578600" y="50673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495628" name="Oval 12"/>
          <p:cNvSpPr>
            <a:spLocks noChangeArrowheads="1"/>
          </p:cNvSpPr>
          <p:nvPr/>
        </p:nvSpPr>
        <p:spPr bwMode="auto">
          <a:xfrm>
            <a:off x="5994400" y="20955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495629" name="Oval 13"/>
          <p:cNvSpPr>
            <a:spLocks noChangeArrowheads="1"/>
          </p:cNvSpPr>
          <p:nvPr/>
        </p:nvSpPr>
        <p:spPr bwMode="auto">
          <a:xfrm>
            <a:off x="4914900" y="28956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495630" name="Oval 14"/>
          <p:cNvSpPr>
            <a:spLocks noChangeArrowheads="1"/>
          </p:cNvSpPr>
          <p:nvPr/>
        </p:nvSpPr>
        <p:spPr bwMode="auto">
          <a:xfrm>
            <a:off x="876300" y="46609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495631" name="Oval 15"/>
          <p:cNvSpPr>
            <a:spLocks noChangeArrowheads="1"/>
          </p:cNvSpPr>
          <p:nvPr/>
        </p:nvSpPr>
        <p:spPr bwMode="auto">
          <a:xfrm>
            <a:off x="3009900" y="43053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95632" name="Oval 16"/>
          <p:cNvSpPr>
            <a:spLocks noChangeArrowheads="1"/>
          </p:cNvSpPr>
          <p:nvPr/>
        </p:nvSpPr>
        <p:spPr bwMode="auto">
          <a:xfrm>
            <a:off x="3263900" y="32512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495650" name="Text Box 34"/>
          <p:cNvSpPr txBox="1">
            <a:spLocks noChangeArrowheads="1"/>
          </p:cNvSpPr>
          <p:nvPr/>
        </p:nvSpPr>
        <p:spPr bwMode="auto">
          <a:xfrm>
            <a:off x="1965325" y="5608638"/>
            <a:ext cx="2549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(choose vertex 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Savings Heuristic (Clark &amp; Wright)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>
                <a:solidFill>
                  <a:schemeClr val="folHlink"/>
                </a:solidFill>
              </a:rPr>
              <a:t>Step 0:</a:t>
            </a:r>
            <a:r>
              <a:rPr lang="tr-TR" dirty="0"/>
              <a:t> </a:t>
            </a:r>
            <a:r>
              <a:rPr lang="en-US" dirty="0"/>
              <a:t>Choose an arbitrary node k (as a center node) for the tour. The starting closed walk visits each other node one by one and returns to node k after each of them.</a:t>
            </a:r>
            <a:endParaRPr lang="tr-TR" dirty="0"/>
          </a:p>
          <a:p>
            <a:pPr>
              <a:buNone/>
            </a:pPr>
            <a:r>
              <a:rPr lang="en-US" dirty="0">
                <a:solidFill>
                  <a:schemeClr val="folHlink"/>
                </a:solidFill>
              </a:rPr>
              <a:t>Step </a:t>
            </a:r>
            <a:r>
              <a:rPr lang="tr-TR" dirty="0">
                <a:solidFill>
                  <a:schemeClr val="folHlink"/>
                </a:solidFill>
              </a:rPr>
              <a:t>1</a:t>
            </a:r>
            <a:r>
              <a:rPr lang="en-US" dirty="0">
                <a:solidFill>
                  <a:schemeClr val="folHlink"/>
                </a:solidFill>
              </a:rPr>
              <a:t>:</a:t>
            </a:r>
            <a:r>
              <a:rPr lang="tr-TR" dirty="0"/>
              <a:t> </a:t>
            </a:r>
            <a:r>
              <a:rPr lang="en-US" dirty="0"/>
              <a:t>For all pairs of nodes </a:t>
            </a:r>
            <a:r>
              <a:rPr lang="en-US" dirty="0" err="1"/>
              <a:t>i,j</a:t>
            </a:r>
            <a:r>
              <a:rPr lang="en-US" dirty="0"/>
              <a:t> = 1,...,n, such that </a:t>
            </a:r>
            <a:r>
              <a:rPr lang="en-US" dirty="0" err="1"/>
              <a:t>i</a:t>
            </a:r>
            <a:r>
              <a:rPr lang="tr-TR" dirty="0"/>
              <a:t>&lt;&gt;</a:t>
            </a:r>
            <a:r>
              <a:rPr lang="en-US" dirty="0"/>
              <a:t>k, j</a:t>
            </a:r>
            <a:r>
              <a:rPr lang="tr-TR" dirty="0"/>
              <a:t>&lt;&gt;</a:t>
            </a:r>
            <a:r>
              <a:rPr lang="en-US" dirty="0"/>
              <a:t>k, </a:t>
            </a:r>
            <a:r>
              <a:rPr lang="en-US" dirty="0" err="1"/>
              <a:t>i</a:t>
            </a:r>
            <a:r>
              <a:rPr lang="tr-TR" dirty="0"/>
              <a:t>&lt;&gt;</a:t>
            </a:r>
            <a:r>
              <a:rPr lang="en-US" dirty="0"/>
              <a:t>j, calculate the savings for replacing cycles k-</a:t>
            </a:r>
            <a:r>
              <a:rPr lang="en-US" dirty="0" err="1"/>
              <a:t>i</a:t>
            </a:r>
            <a:r>
              <a:rPr lang="en-US" dirty="0"/>
              <a:t>-k and k-j-k by a combined cycle k-</a:t>
            </a:r>
            <a:r>
              <a:rPr lang="en-US" dirty="0" err="1"/>
              <a:t>i</a:t>
            </a:r>
            <a:r>
              <a:rPr lang="en-US" dirty="0"/>
              <a:t>-j-k</a:t>
            </a:r>
            <a:r>
              <a:rPr lang="tr-TR" dirty="0"/>
              <a:t> as</a:t>
            </a:r>
          </a:p>
          <a:p>
            <a:pPr>
              <a:buNone/>
            </a:pPr>
            <a:r>
              <a:rPr lang="tr-TR" dirty="0"/>
              <a:t>		</a:t>
            </a:r>
            <a:r>
              <a:rPr lang="en-US" dirty="0"/>
              <a:t>s = </a:t>
            </a:r>
            <a:r>
              <a:rPr lang="tr-TR" dirty="0"/>
              <a:t>???</a:t>
            </a:r>
          </a:p>
          <a:p>
            <a:pPr>
              <a:buNone/>
            </a:pPr>
            <a:r>
              <a:rPr lang="en-US" dirty="0">
                <a:solidFill>
                  <a:schemeClr val="folHlink"/>
                </a:solidFill>
              </a:rPr>
              <a:t>Step </a:t>
            </a:r>
            <a:r>
              <a:rPr lang="tr-TR" dirty="0">
                <a:solidFill>
                  <a:schemeClr val="folHlink"/>
                </a:solidFill>
              </a:rPr>
              <a:t>2</a:t>
            </a:r>
            <a:r>
              <a:rPr lang="en-US" dirty="0">
                <a:solidFill>
                  <a:schemeClr val="folHlink"/>
                </a:solidFill>
              </a:rPr>
              <a:t>:</a:t>
            </a:r>
            <a:r>
              <a:rPr lang="tr-TR" dirty="0"/>
              <a:t> </a:t>
            </a:r>
            <a:r>
              <a:rPr lang="en-US" dirty="0"/>
              <a:t>Sort the savings in decreasing order. </a:t>
            </a:r>
            <a:endParaRPr lang="tr-TR" dirty="0"/>
          </a:p>
          <a:p>
            <a:pPr>
              <a:buNone/>
            </a:pPr>
            <a:r>
              <a:rPr lang="en-US" dirty="0">
                <a:solidFill>
                  <a:schemeClr val="folHlink"/>
                </a:solidFill>
              </a:rPr>
              <a:t>Step </a:t>
            </a:r>
            <a:r>
              <a:rPr lang="tr-TR" dirty="0">
                <a:solidFill>
                  <a:schemeClr val="folHlink"/>
                </a:solidFill>
              </a:rPr>
              <a:t>3</a:t>
            </a:r>
            <a:r>
              <a:rPr lang="en-US" dirty="0">
                <a:solidFill>
                  <a:schemeClr val="folHlink"/>
                </a:solidFill>
              </a:rPr>
              <a:t>:</a:t>
            </a:r>
            <a:r>
              <a:rPr lang="tr-TR" dirty="0"/>
              <a:t> </a:t>
            </a:r>
            <a:r>
              <a:rPr lang="en-US" dirty="0"/>
              <a:t>In the order of the savings, modify the cu</a:t>
            </a:r>
            <a:r>
              <a:rPr lang="tr-TR" dirty="0"/>
              <a:t>rrent</a:t>
            </a:r>
            <a:r>
              <a:rPr lang="en-US" dirty="0"/>
              <a:t> walk by replacing two edges incident to the center, </a:t>
            </a:r>
            <a:r>
              <a:rPr lang="en-US" dirty="0" err="1"/>
              <a:t>i</a:t>
            </a:r>
            <a:r>
              <a:rPr lang="en-US" dirty="0"/>
              <a:t>-k and k-j, by edge </a:t>
            </a:r>
            <a:r>
              <a:rPr lang="en-US" dirty="0" err="1"/>
              <a:t>i</a:t>
            </a:r>
            <a:r>
              <a:rPr lang="en-US" dirty="0"/>
              <a:t>-j. </a:t>
            </a:r>
            <a:r>
              <a:rPr lang="tr-TR" dirty="0"/>
              <a:t>(</a:t>
            </a:r>
            <a:r>
              <a:rPr lang="en-US" dirty="0"/>
              <a:t>The replacement is not made if </a:t>
            </a:r>
            <a:r>
              <a:rPr lang="en-US" dirty="0" err="1"/>
              <a:t>i</a:t>
            </a:r>
            <a:r>
              <a:rPr lang="en-US" dirty="0"/>
              <a:t> and j already belong to the same </a:t>
            </a:r>
            <a:r>
              <a:rPr lang="en-US" dirty="0" err="1"/>
              <a:t>subtour</a:t>
            </a:r>
            <a:r>
              <a:rPr lang="en-US" dirty="0"/>
              <a:t>.</a:t>
            </a:r>
            <a:r>
              <a:rPr lang="tr-TR" dirty="0"/>
              <a:t>)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en-US" dirty="0"/>
              <a:t>Repeat until a Hamiltonian cycle is formed.</a:t>
            </a:r>
            <a:endParaRPr lang="tr-T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Saint Martin Example</a:t>
            </a:r>
          </a:p>
        </p:txBody>
      </p:sp>
      <p:sp>
        <p:nvSpPr>
          <p:cNvPr id="495624" name="Oval 8"/>
          <p:cNvSpPr>
            <a:spLocks noChangeArrowheads="1"/>
          </p:cNvSpPr>
          <p:nvPr/>
        </p:nvSpPr>
        <p:spPr bwMode="auto">
          <a:xfrm>
            <a:off x="1587500" y="29337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495626" name="Oval 10"/>
          <p:cNvSpPr>
            <a:spLocks noChangeArrowheads="1"/>
          </p:cNvSpPr>
          <p:nvPr/>
        </p:nvSpPr>
        <p:spPr bwMode="auto">
          <a:xfrm>
            <a:off x="4953000" y="46609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95627" name="Oval 11"/>
          <p:cNvSpPr>
            <a:spLocks noChangeArrowheads="1"/>
          </p:cNvSpPr>
          <p:nvPr/>
        </p:nvSpPr>
        <p:spPr bwMode="auto">
          <a:xfrm>
            <a:off x="6578600" y="50673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495628" name="Oval 12"/>
          <p:cNvSpPr>
            <a:spLocks noChangeArrowheads="1"/>
          </p:cNvSpPr>
          <p:nvPr/>
        </p:nvSpPr>
        <p:spPr bwMode="auto">
          <a:xfrm>
            <a:off x="5994400" y="20955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495629" name="Oval 13"/>
          <p:cNvSpPr>
            <a:spLocks noChangeArrowheads="1"/>
          </p:cNvSpPr>
          <p:nvPr/>
        </p:nvSpPr>
        <p:spPr bwMode="auto">
          <a:xfrm>
            <a:off x="4914900" y="28956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495630" name="Oval 14"/>
          <p:cNvSpPr>
            <a:spLocks noChangeArrowheads="1"/>
          </p:cNvSpPr>
          <p:nvPr/>
        </p:nvSpPr>
        <p:spPr bwMode="auto">
          <a:xfrm>
            <a:off x="876300" y="46609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495631" name="Oval 15"/>
          <p:cNvSpPr>
            <a:spLocks noChangeArrowheads="1"/>
          </p:cNvSpPr>
          <p:nvPr/>
        </p:nvSpPr>
        <p:spPr bwMode="auto">
          <a:xfrm>
            <a:off x="3009900" y="43053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95632" name="Oval 16"/>
          <p:cNvSpPr>
            <a:spLocks noChangeArrowheads="1"/>
          </p:cNvSpPr>
          <p:nvPr/>
        </p:nvSpPr>
        <p:spPr bwMode="auto">
          <a:xfrm>
            <a:off x="3263900" y="32512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495650" name="Text Box 34"/>
          <p:cNvSpPr txBox="1">
            <a:spLocks noChangeArrowheads="1"/>
          </p:cNvSpPr>
          <p:nvPr/>
        </p:nvSpPr>
        <p:spPr bwMode="auto">
          <a:xfrm>
            <a:off x="1965325" y="5608638"/>
            <a:ext cx="2549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(choose vertex 0)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1A296AD-F0E5-4C3F-99A5-D5EC10262265}"/>
              </a:ext>
            </a:extLst>
          </p:cNvPr>
          <p:cNvSpPr/>
          <p:nvPr/>
        </p:nvSpPr>
        <p:spPr>
          <a:xfrm>
            <a:off x="4686300" y="2623656"/>
            <a:ext cx="838202" cy="27992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5B90B73-4644-46B8-8BB5-8F3ED509F0BB}"/>
              </a:ext>
            </a:extLst>
          </p:cNvPr>
          <p:cNvSpPr/>
          <p:nvPr/>
        </p:nvSpPr>
        <p:spPr>
          <a:xfrm rot="1027373">
            <a:off x="4670239" y="4541720"/>
            <a:ext cx="2549525" cy="105115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42E739-F877-49F5-AC45-74A922E7B3C1}"/>
              </a:ext>
            </a:extLst>
          </p:cNvPr>
          <p:cNvSpPr/>
          <p:nvPr/>
        </p:nvSpPr>
        <p:spPr>
          <a:xfrm rot="1353648">
            <a:off x="5155055" y="1589248"/>
            <a:ext cx="928207" cy="40351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6E81FE-0A3E-434B-9257-23B3CE8CCB2C}"/>
              </a:ext>
            </a:extLst>
          </p:cNvPr>
          <p:cNvSpPr/>
          <p:nvPr/>
        </p:nvSpPr>
        <p:spPr>
          <a:xfrm rot="18595657">
            <a:off x="3750228" y="2608518"/>
            <a:ext cx="910672" cy="29612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274F6C-9EE4-438D-9B40-B030933C6A04}"/>
              </a:ext>
            </a:extLst>
          </p:cNvPr>
          <p:cNvSpPr/>
          <p:nvPr/>
        </p:nvSpPr>
        <p:spPr>
          <a:xfrm rot="758953">
            <a:off x="2740111" y="4169393"/>
            <a:ext cx="2855347" cy="10398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59B4F7-E3B3-48D2-A511-A2215D8900AA}"/>
              </a:ext>
            </a:extLst>
          </p:cNvPr>
          <p:cNvSpPr/>
          <p:nvPr/>
        </p:nvSpPr>
        <p:spPr>
          <a:xfrm>
            <a:off x="538303" y="4491616"/>
            <a:ext cx="5098994" cy="69416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7895FF-C066-4CAA-A38D-D0D8159B5B2A}"/>
              </a:ext>
            </a:extLst>
          </p:cNvPr>
          <p:cNvSpPr/>
          <p:nvPr/>
        </p:nvSpPr>
        <p:spPr>
          <a:xfrm rot="1522816">
            <a:off x="1070537" y="3441835"/>
            <a:ext cx="4748899" cy="9524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7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Saint Martin Example</a:t>
            </a:r>
          </a:p>
        </p:txBody>
      </p:sp>
      <p:sp>
        <p:nvSpPr>
          <p:cNvPr id="495624" name="Oval 8"/>
          <p:cNvSpPr>
            <a:spLocks noChangeArrowheads="1"/>
          </p:cNvSpPr>
          <p:nvPr/>
        </p:nvSpPr>
        <p:spPr bwMode="auto">
          <a:xfrm>
            <a:off x="1587500" y="29337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495626" name="Oval 10"/>
          <p:cNvSpPr>
            <a:spLocks noChangeArrowheads="1"/>
          </p:cNvSpPr>
          <p:nvPr/>
        </p:nvSpPr>
        <p:spPr bwMode="auto">
          <a:xfrm>
            <a:off x="4953000" y="46609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95627" name="Oval 11"/>
          <p:cNvSpPr>
            <a:spLocks noChangeArrowheads="1"/>
          </p:cNvSpPr>
          <p:nvPr/>
        </p:nvSpPr>
        <p:spPr bwMode="auto">
          <a:xfrm>
            <a:off x="6578600" y="50673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495628" name="Oval 12"/>
          <p:cNvSpPr>
            <a:spLocks noChangeArrowheads="1"/>
          </p:cNvSpPr>
          <p:nvPr/>
        </p:nvSpPr>
        <p:spPr bwMode="auto">
          <a:xfrm>
            <a:off x="5994400" y="20955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495629" name="Oval 13"/>
          <p:cNvSpPr>
            <a:spLocks noChangeArrowheads="1"/>
          </p:cNvSpPr>
          <p:nvPr/>
        </p:nvSpPr>
        <p:spPr bwMode="auto">
          <a:xfrm>
            <a:off x="4914900" y="28956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495630" name="Oval 14"/>
          <p:cNvSpPr>
            <a:spLocks noChangeArrowheads="1"/>
          </p:cNvSpPr>
          <p:nvPr/>
        </p:nvSpPr>
        <p:spPr bwMode="auto">
          <a:xfrm>
            <a:off x="876300" y="46609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495631" name="Oval 15"/>
          <p:cNvSpPr>
            <a:spLocks noChangeArrowheads="1"/>
          </p:cNvSpPr>
          <p:nvPr/>
        </p:nvSpPr>
        <p:spPr bwMode="auto">
          <a:xfrm>
            <a:off x="3009900" y="43053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95632" name="Oval 16"/>
          <p:cNvSpPr>
            <a:spLocks noChangeArrowheads="1"/>
          </p:cNvSpPr>
          <p:nvPr/>
        </p:nvSpPr>
        <p:spPr bwMode="auto">
          <a:xfrm>
            <a:off x="3263900" y="3251200"/>
            <a:ext cx="355600" cy="355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495650" name="Text Box 34"/>
          <p:cNvSpPr txBox="1">
            <a:spLocks noChangeArrowheads="1"/>
          </p:cNvSpPr>
          <p:nvPr/>
        </p:nvSpPr>
        <p:spPr bwMode="auto">
          <a:xfrm>
            <a:off x="1587500" y="5459615"/>
            <a:ext cx="2549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(choose vertex 0)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2090EC-F756-46A3-9396-11627680E882}"/>
              </a:ext>
            </a:extLst>
          </p:cNvPr>
          <p:cNvCxnSpPr>
            <a:stCxn id="495626" idx="1"/>
            <a:endCxn id="495629" idx="3"/>
          </p:cNvCxnSpPr>
          <p:nvPr/>
        </p:nvCxnSpPr>
        <p:spPr>
          <a:xfrm flipH="1" flipV="1">
            <a:off x="4966976" y="3199124"/>
            <a:ext cx="38100" cy="15138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6F2A021-CBC8-41AE-BF01-9009AD9F765F}"/>
              </a:ext>
            </a:extLst>
          </p:cNvPr>
          <p:cNvCxnSpPr>
            <a:stCxn id="495629" idx="5"/>
            <a:endCxn id="495626" idx="7"/>
          </p:cNvCxnSpPr>
          <p:nvPr/>
        </p:nvCxnSpPr>
        <p:spPr>
          <a:xfrm>
            <a:off x="5218424" y="3199124"/>
            <a:ext cx="38100" cy="15138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94AC2B-991B-4C2E-97BD-C0CC06234EDB}"/>
              </a:ext>
            </a:extLst>
          </p:cNvPr>
          <p:cNvCxnSpPr>
            <a:cxnSpLocks/>
            <a:stCxn id="495626" idx="7"/>
            <a:endCxn id="495627" idx="1"/>
          </p:cNvCxnSpPr>
          <p:nvPr/>
        </p:nvCxnSpPr>
        <p:spPr>
          <a:xfrm>
            <a:off x="5256524" y="4712976"/>
            <a:ext cx="1374152" cy="406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6C4DDA-5B48-4814-B4AB-5F428CAA6406}"/>
              </a:ext>
            </a:extLst>
          </p:cNvPr>
          <p:cNvCxnSpPr>
            <a:stCxn id="495627" idx="3"/>
            <a:endCxn id="495626" idx="5"/>
          </p:cNvCxnSpPr>
          <p:nvPr/>
        </p:nvCxnSpPr>
        <p:spPr>
          <a:xfrm flipH="1" flipV="1">
            <a:off x="5256524" y="4964424"/>
            <a:ext cx="1374152" cy="406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B9D8B10-8B14-4633-A6EC-FFAF14FFD735}"/>
              </a:ext>
            </a:extLst>
          </p:cNvPr>
          <p:cNvCxnSpPr/>
          <p:nvPr/>
        </p:nvCxnSpPr>
        <p:spPr>
          <a:xfrm>
            <a:off x="5270500" y="3073400"/>
            <a:ext cx="1360176" cy="2045976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A92B0D-117F-4B6E-A935-27C4F5A9ABCC}"/>
              </a:ext>
            </a:extLst>
          </p:cNvPr>
          <p:cNvSpPr txBox="1"/>
          <p:nvPr/>
        </p:nvSpPr>
        <p:spPr>
          <a:xfrm>
            <a:off x="6350000" y="2933700"/>
            <a:ext cx="2156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Looking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</a:p>
          <a:p>
            <a:r>
              <a:rPr lang="tr-TR" dirty="0" err="1"/>
              <a:t>improvement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5F4F6C-51C2-4A35-95DB-57B0F9844E92}"/>
              </a:ext>
            </a:extLst>
          </p:cNvPr>
          <p:cNvSpPr txBox="1"/>
          <p:nvPr/>
        </p:nvSpPr>
        <p:spPr>
          <a:xfrm>
            <a:off x="6677170" y="1593908"/>
            <a:ext cx="21564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d(0,5) = 37</a:t>
            </a:r>
          </a:p>
          <a:p>
            <a:r>
              <a:rPr lang="tr-TR" dirty="0"/>
              <a:t>d(0,6) = 30.9</a:t>
            </a:r>
          </a:p>
          <a:p>
            <a:r>
              <a:rPr lang="tr-TR" dirty="0"/>
              <a:t>d(5,6) = 51.6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B62994-9B38-46DE-8AD7-57B8705C3B4A}"/>
              </a:ext>
            </a:extLst>
          </p:cNvPr>
          <p:cNvSpPr txBox="1"/>
          <p:nvPr/>
        </p:nvSpPr>
        <p:spPr>
          <a:xfrm>
            <a:off x="3447875" y="5998128"/>
            <a:ext cx="4764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Improvement</a:t>
            </a:r>
            <a:r>
              <a:rPr lang="tr-TR" dirty="0"/>
              <a:t> 37 + 30.9 – 51.6 = 16.3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35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Search Algorithms</a:t>
            </a:r>
          </a:p>
        </p:txBody>
      </p:sp>
      <p:sp>
        <p:nvSpPr>
          <p:cNvPr id="555011" name="Rectangle 3"/>
          <p:cNvSpPr>
            <a:spLocks noGrp="1" noChangeArrowheads="1"/>
          </p:cNvSpPr>
          <p:nvPr>
            <p:ph idx="1"/>
          </p:nvPr>
        </p:nvSpPr>
        <p:spPr>
          <a:xfrm>
            <a:off x="852488" y="2017713"/>
            <a:ext cx="8102600" cy="4114800"/>
          </a:xfrm>
        </p:spPr>
        <p:txBody>
          <a:bodyPr/>
          <a:lstStyle/>
          <a:p>
            <a:r>
              <a:rPr lang="en-US" sz="2400" dirty="0">
                <a:solidFill>
                  <a:schemeClr val="folHlink"/>
                </a:solidFill>
              </a:rPr>
              <a:t>Step 0:</a:t>
            </a:r>
            <a:r>
              <a:rPr lang="en-US" sz="2400" dirty="0"/>
              <a:t> Start with an initial feasible solution, x</a:t>
            </a:r>
            <a:r>
              <a:rPr lang="en-US" sz="2400" baseline="30000" dirty="0"/>
              <a:t>(0)</a:t>
            </a:r>
            <a:r>
              <a:rPr lang="en-US" sz="2400" dirty="0"/>
              <a:t>.  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		     Set h=0.</a:t>
            </a:r>
          </a:p>
          <a:p>
            <a:pPr>
              <a:buFont typeface="Wingdings" pitchFamily="2" charset="2"/>
              <a:buNone/>
            </a:pPr>
            <a:endParaRPr lang="en-US" sz="2400" dirty="0"/>
          </a:p>
          <a:p>
            <a:r>
              <a:rPr lang="en-US" sz="2400" dirty="0">
                <a:solidFill>
                  <a:schemeClr val="folHlink"/>
                </a:solidFill>
              </a:rPr>
              <a:t>Step 1:</a:t>
            </a:r>
            <a:r>
              <a:rPr lang="en-US" sz="2400" dirty="0"/>
              <a:t> Enumerate feasible solutions in N(x</a:t>
            </a:r>
            <a:r>
              <a:rPr lang="en-US" sz="2400" baseline="30000" dirty="0"/>
              <a:t>(h)</a:t>
            </a:r>
            <a:r>
              <a:rPr lang="en-US" sz="24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		     Select the best feasible solution x</a:t>
            </a:r>
            <a:r>
              <a:rPr lang="en-US" sz="2400" baseline="30000" dirty="0"/>
              <a:t>(h+1)</a:t>
            </a:r>
            <a:r>
              <a:rPr lang="en-US" sz="2400" dirty="0">
                <a:sym typeface="Symbol" pitchFamily="18" charset="2"/>
              </a:rPr>
              <a:t> </a:t>
            </a:r>
            <a:r>
              <a:rPr lang="en-US" sz="2400" dirty="0"/>
              <a:t>N(x</a:t>
            </a:r>
            <a:r>
              <a:rPr lang="en-US" sz="2400" baseline="30000" dirty="0"/>
              <a:t>(h)</a:t>
            </a:r>
            <a:r>
              <a:rPr lang="en-US" sz="2400" dirty="0"/>
              <a:t>).</a:t>
            </a:r>
          </a:p>
          <a:p>
            <a:endParaRPr lang="en-US" sz="2400" dirty="0">
              <a:solidFill>
                <a:schemeClr val="folHlink"/>
              </a:solidFill>
            </a:endParaRPr>
          </a:p>
          <a:p>
            <a:r>
              <a:rPr lang="en-US" sz="2400" dirty="0">
                <a:solidFill>
                  <a:schemeClr val="folHlink"/>
                </a:solidFill>
              </a:rPr>
              <a:t>Step 2:</a:t>
            </a:r>
            <a:r>
              <a:rPr lang="en-US" sz="2400" dirty="0"/>
              <a:t> If cost(x</a:t>
            </a:r>
            <a:r>
              <a:rPr lang="en-US" sz="2400" baseline="30000" dirty="0"/>
              <a:t>(h+1)</a:t>
            </a:r>
            <a:r>
              <a:rPr lang="en-US" sz="2400" dirty="0"/>
              <a:t>) &lt; cost(x</a:t>
            </a:r>
            <a:r>
              <a:rPr lang="en-US" sz="2400" baseline="30000" dirty="0"/>
              <a:t>(h)</a:t>
            </a:r>
            <a:r>
              <a:rPr lang="en-US" sz="2400" dirty="0"/>
              <a:t>),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		     then set h=h+1 and go back to Step 1,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		     otherwise STOP.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How do you define a neighborhood?</a:t>
            </a:r>
            <a:endParaRPr lang="en-US" dirty="0"/>
          </a:p>
        </p:txBody>
      </p:sp>
      <p:pic>
        <p:nvPicPr>
          <p:cNvPr id="55706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41500" y="2654300"/>
            <a:ext cx="4989513" cy="274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7062" name="Line 6"/>
          <p:cNvSpPr>
            <a:spLocks noChangeShapeType="1"/>
          </p:cNvSpPr>
          <p:nvPr/>
        </p:nvSpPr>
        <p:spPr bwMode="auto">
          <a:xfrm flipH="1" flipV="1">
            <a:off x="2717800" y="3467100"/>
            <a:ext cx="1092200" cy="203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3" name="Line 7"/>
          <p:cNvSpPr>
            <a:spLocks noChangeShapeType="1"/>
          </p:cNvSpPr>
          <p:nvPr/>
        </p:nvSpPr>
        <p:spPr bwMode="auto">
          <a:xfrm flipH="1">
            <a:off x="2108200" y="4597400"/>
            <a:ext cx="1473200" cy="254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4" name="Line 8"/>
          <p:cNvSpPr>
            <a:spLocks noChangeShapeType="1"/>
          </p:cNvSpPr>
          <p:nvPr/>
        </p:nvSpPr>
        <p:spPr bwMode="auto">
          <a:xfrm>
            <a:off x="2108200" y="4965700"/>
            <a:ext cx="30861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5" name="Line 9"/>
          <p:cNvSpPr>
            <a:spLocks noChangeShapeType="1"/>
          </p:cNvSpPr>
          <p:nvPr/>
        </p:nvSpPr>
        <p:spPr bwMode="auto">
          <a:xfrm flipV="1">
            <a:off x="5397500" y="2895600"/>
            <a:ext cx="66040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6" name="Line 10"/>
          <p:cNvSpPr>
            <a:spLocks noChangeShapeType="1"/>
          </p:cNvSpPr>
          <p:nvPr/>
        </p:nvSpPr>
        <p:spPr bwMode="auto">
          <a:xfrm>
            <a:off x="6223000" y="2946400"/>
            <a:ext cx="381000" cy="213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7" name="Line 11"/>
          <p:cNvSpPr>
            <a:spLocks noChangeShapeType="1"/>
          </p:cNvSpPr>
          <p:nvPr/>
        </p:nvSpPr>
        <p:spPr bwMode="auto">
          <a:xfrm flipH="1" flipV="1">
            <a:off x="5473700" y="4940300"/>
            <a:ext cx="1041400" cy="2667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8" name="Line 12"/>
          <p:cNvSpPr>
            <a:spLocks noChangeShapeType="1"/>
          </p:cNvSpPr>
          <p:nvPr/>
        </p:nvSpPr>
        <p:spPr bwMode="auto">
          <a:xfrm flipH="1" flipV="1">
            <a:off x="2705100" y="3581400"/>
            <a:ext cx="927100" cy="92710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9" name="Line 13"/>
          <p:cNvSpPr>
            <a:spLocks noChangeShapeType="1"/>
          </p:cNvSpPr>
          <p:nvPr/>
        </p:nvSpPr>
        <p:spPr bwMode="auto">
          <a:xfrm flipV="1">
            <a:off x="4076700" y="3517900"/>
            <a:ext cx="1079500" cy="2413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70" name="Line 14"/>
          <p:cNvSpPr>
            <a:spLocks noChangeShapeType="1"/>
          </p:cNvSpPr>
          <p:nvPr/>
        </p:nvSpPr>
        <p:spPr bwMode="auto">
          <a:xfrm flipH="1" flipV="1">
            <a:off x="5473700" y="4940300"/>
            <a:ext cx="1041400" cy="2667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71" name="Text Box 15"/>
          <p:cNvSpPr txBox="1">
            <a:spLocks noChangeArrowheads="1"/>
          </p:cNvSpPr>
          <p:nvPr/>
        </p:nvSpPr>
        <p:spPr bwMode="auto">
          <a:xfrm>
            <a:off x="3070225" y="31686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12.2</a:t>
            </a:r>
          </a:p>
        </p:txBody>
      </p:sp>
      <p:sp>
        <p:nvSpPr>
          <p:cNvPr id="557072" name="Text Box 16"/>
          <p:cNvSpPr txBox="1">
            <a:spLocks noChangeArrowheads="1"/>
          </p:cNvSpPr>
          <p:nvPr/>
        </p:nvSpPr>
        <p:spPr bwMode="auto">
          <a:xfrm>
            <a:off x="4289425" y="32702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34.0</a:t>
            </a:r>
          </a:p>
        </p:txBody>
      </p:sp>
      <p:sp>
        <p:nvSpPr>
          <p:cNvPr id="557073" name="Text Box 17"/>
          <p:cNvSpPr txBox="1">
            <a:spLocks noChangeArrowheads="1"/>
          </p:cNvSpPr>
          <p:nvPr/>
        </p:nvSpPr>
        <p:spPr bwMode="auto">
          <a:xfrm>
            <a:off x="5241925" y="27749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18.8</a:t>
            </a:r>
          </a:p>
        </p:txBody>
      </p:sp>
      <p:sp>
        <p:nvSpPr>
          <p:cNvPr id="557074" name="Text Box 18"/>
          <p:cNvSpPr txBox="1">
            <a:spLocks noChangeArrowheads="1"/>
          </p:cNvSpPr>
          <p:nvPr/>
        </p:nvSpPr>
        <p:spPr bwMode="auto">
          <a:xfrm>
            <a:off x="6384925" y="37020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60.4</a:t>
            </a:r>
          </a:p>
        </p:txBody>
      </p:sp>
      <p:sp>
        <p:nvSpPr>
          <p:cNvPr id="557075" name="Text Box 19"/>
          <p:cNvSpPr txBox="1">
            <a:spLocks noChangeArrowheads="1"/>
          </p:cNvSpPr>
          <p:nvPr/>
        </p:nvSpPr>
        <p:spPr bwMode="auto">
          <a:xfrm>
            <a:off x="2486025" y="38417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25.6</a:t>
            </a:r>
          </a:p>
        </p:txBody>
      </p:sp>
      <p:sp>
        <p:nvSpPr>
          <p:cNvPr id="557076" name="Text Box 20"/>
          <p:cNvSpPr txBox="1">
            <a:spLocks noChangeArrowheads="1"/>
          </p:cNvSpPr>
          <p:nvPr/>
        </p:nvSpPr>
        <p:spPr bwMode="auto">
          <a:xfrm>
            <a:off x="2562225" y="43624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28.8</a:t>
            </a:r>
          </a:p>
        </p:txBody>
      </p:sp>
      <p:sp>
        <p:nvSpPr>
          <p:cNvPr id="557077" name="Text Box 21"/>
          <p:cNvSpPr txBox="1">
            <a:spLocks noChangeArrowheads="1"/>
          </p:cNvSpPr>
          <p:nvPr/>
        </p:nvSpPr>
        <p:spPr bwMode="auto">
          <a:xfrm>
            <a:off x="3400425" y="49339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56.5</a:t>
            </a:r>
          </a:p>
        </p:txBody>
      </p:sp>
      <p:sp>
        <p:nvSpPr>
          <p:cNvPr id="557078" name="Text Box 22"/>
          <p:cNvSpPr txBox="1">
            <a:spLocks noChangeArrowheads="1"/>
          </p:cNvSpPr>
          <p:nvPr/>
        </p:nvSpPr>
        <p:spPr bwMode="auto">
          <a:xfrm>
            <a:off x="5559425" y="50736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30.9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k-Exchange neighborhood</a:t>
            </a:r>
          </a:p>
        </p:txBody>
      </p:sp>
      <p:pic>
        <p:nvPicPr>
          <p:cNvPr id="55706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41500" y="2654300"/>
            <a:ext cx="4989513" cy="274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7062" name="Line 6"/>
          <p:cNvSpPr>
            <a:spLocks noChangeShapeType="1"/>
          </p:cNvSpPr>
          <p:nvPr/>
        </p:nvSpPr>
        <p:spPr bwMode="auto">
          <a:xfrm flipH="1" flipV="1">
            <a:off x="2717800" y="3467100"/>
            <a:ext cx="1092200" cy="203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3" name="Line 7"/>
          <p:cNvSpPr>
            <a:spLocks noChangeShapeType="1"/>
          </p:cNvSpPr>
          <p:nvPr/>
        </p:nvSpPr>
        <p:spPr bwMode="auto">
          <a:xfrm flipH="1">
            <a:off x="2108200" y="4597400"/>
            <a:ext cx="1473200" cy="254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4" name="Line 8"/>
          <p:cNvSpPr>
            <a:spLocks noChangeShapeType="1"/>
          </p:cNvSpPr>
          <p:nvPr/>
        </p:nvSpPr>
        <p:spPr bwMode="auto">
          <a:xfrm>
            <a:off x="2108200" y="4965700"/>
            <a:ext cx="30861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5" name="Line 9"/>
          <p:cNvSpPr>
            <a:spLocks noChangeShapeType="1"/>
          </p:cNvSpPr>
          <p:nvPr/>
        </p:nvSpPr>
        <p:spPr bwMode="auto">
          <a:xfrm flipV="1">
            <a:off x="5397500" y="2895600"/>
            <a:ext cx="66040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6" name="Line 10"/>
          <p:cNvSpPr>
            <a:spLocks noChangeShapeType="1"/>
          </p:cNvSpPr>
          <p:nvPr/>
        </p:nvSpPr>
        <p:spPr bwMode="auto">
          <a:xfrm>
            <a:off x="6223000" y="2946400"/>
            <a:ext cx="381000" cy="213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7" name="Line 11"/>
          <p:cNvSpPr>
            <a:spLocks noChangeShapeType="1"/>
          </p:cNvSpPr>
          <p:nvPr/>
        </p:nvSpPr>
        <p:spPr bwMode="auto">
          <a:xfrm flipH="1" flipV="1">
            <a:off x="5473700" y="4940300"/>
            <a:ext cx="1041400" cy="2667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8" name="Line 12"/>
          <p:cNvSpPr>
            <a:spLocks noChangeShapeType="1"/>
          </p:cNvSpPr>
          <p:nvPr/>
        </p:nvSpPr>
        <p:spPr bwMode="auto">
          <a:xfrm flipH="1" flipV="1">
            <a:off x="2705100" y="3581400"/>
            <a:ext cx="927100" cy="9271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69" name="Line 13"/>
          <p:cNvSpPr>
            <a:spLocks noChangeShapeType="1"/>
          </p:cNvSpPr>
          <p:nvPr/>
        </p:nvSpPr>
        <p:spPr bwMode="auto">
          <a:xfrm flipV="1">
            <a:off x="4076700" y="3517900"/>
            <a:ext cx="1079500" cy="2413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70" name="Line 14"/>
          <p:cNvSpPr>
            <a:spLocks noChangeShapeType="1"/>
          </p:cNvSpPr>
          <p:nvPr/>
        </p:nvSpPr>
        <p:spPr bwMode="auto">
          <a:xfrm flipH="1" flipV="1">
            <a:off x="5473700" y="4940300"/>
            <a:ext cx="1041400" cy="2667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7071" name="Text Box 15"/>
          <p:cNvSpPr txBox="1">
            <a:spLocks noChangeArrowheads="1"/>
          </p:cNvSpPr>
          <p:nvPr/>
        </p:nvSpPr>
        <p:spPr bwMode="auto">
          <a:xfrm>
            <a:off x="3070225" y="31686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12.2</a:t>
            </a:r>
          </a:p>
        </p:txBody>
      </p:sp>
      <p:sp>
        <p:nvSpPr>
          <p:cNvPr id="557072" name="Text Box 16"/>
          <p:cNvSpPr txBox="1">
            <a:spLocks noChangeArrowheads="1"/>
          </p:cNvSpPr>
          <p:nvPr/>
        </p:nvSpPr>
        <p:spPr bwMode="auto">
          <a:xfrm>
            <a:off x="4289425" y="32702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34.0</a:t>
            </a:r>
          </a:p>
        </p:txBody>
      </p:sp>
      <p:sp>
        <p:nvSpPr>
          <p:cNvPr id="557073" name="Text Box 17"/>
          <p:cNvSpPr txBox="1">
            <a:spLocks noChangeArrowheads="1"/>
          </p:cNvSpPr>
          <p:nvPr/>
        </p:nvSpPr>
        <p:spPr bwMode="auto">
          <a:xfrm>
            <a:off x="5241925" y="27749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18.8</a:t>
            </a:r>
          </a:p>
        </p:txBody>
      </p:sp>
      <p:sp>
        <p:nvSpPr>
          <p:cNvPr id="557074" name="Text Box 18"/>
          <p:cNvSpPr txBox="1">
            <a:spLocks noChangeArrowheads="1"/>
          </p:cNvSpPr>
          <p:nvPr/>
        </p:nvSpPr>
        <p:spPr bwMode="auto">
          <a:xfrm>
            <a:off x="6384925" y="37020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60.4</a:t>
            </a:r>
          </a:p>
        </p:txBody>
      </p:sp>
      <p:sp>
        <p:nvSpPr>
          <p:cNvPr id="557075" name="Text Box 19"/>
          <p:cNvSpPr txBox="1">
            <a:spLocks noChangeArrowheads="1"/>
          </p:cNvSpPr>
          <p:nvPr/>
        </p:nvSpPr>
        <p:spPr bwMode="auto">
          <a:xfrm>
            <a:off x="2486025" y="38417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25.6</a:t>
            </a:r>
          </a:p>
        </p:txBody>
      </p:sp>
      <p:sp>
        <p:nvSpPr>
          <p:cNvPr id="557076" name="Text Box 20"/>
          <p:cNvSpPr txBox="1">
            <a:spLocks noChangeArrowheads="1"/>
          </p:cNvSpPr>
          <p:nvPr/>
        </p:nvSpPr>
        <p:spPr bwMode="auto">
          <a:xfrm>
            <a:off x="2562225" y="43624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28.8</a:t>
            </a:r>
          </a:p>
        </p:txBody>
      </p:sp>
      <p:sp>
        <p:nvSpPr>
          <p:cNvPr id="557077" name="Text Box 21"/>
          <p:cNvSpPr txBox="1">
            <a:spLocks noChangeArrowheads="1"/>
          </p:cNvSpPr>
          <p:nvPr/>
        </p:nvSpPr>
        <p:spPr bwMode="auto">
          <a:xfrm>
            <a:off x="3400425" y="49339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56.5</a:t>
            </a:r>
          </a:p>
        </p:txBody>
      </p:sp>
      <p:sp>
        <p:nvSpPr>
          <p:cNvPr id="557078" name="Text Box 22"/>
          <p:cNvSpPr txBox="1">
            <a:spLocks noChangeArrowheads="1"/>
          </p:cNvSpPr>
          <p:nvPr/>
        </p:nvSpPr>
        <p:spPr bwMode="auto">
          <a:xfrm>
            <a:off x="5559425" y="50736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30.9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k-Exchange neighborhood</a:t>
            </a:r>
          </a:p>
        </p:txBody>
      </p:sp>
      <p:pic>
        <p:nvPicPr>
          <p:cNvPr id="5611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41500" y="2654300"/>
            <a:ext cx="4989513" cy="274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61156" name="Line 4"/>
          <p:cNvSpPr>
            <a:spLocks noChangeShapeType="1"/>
          </p:cNvSpPr>
          <p:nvPr/>
        </p:nvSpPr>
        <p:spPr bwMode="auto">
          <a:xfrm flipH="1" flipV="1">
            <a:off x="2717800" y="3467100"/>
            <a:ext cx="1092200" cy="203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61157" name="Line 5"/>
          <p:cNvSpPr>
            <a:spLocks noChangeShapeType="1"/>
          </p:cNvSpPr>
          <p:nvPr/>
        </p:nvSpPr>
        <p:spPr bwMode="auto">
          <a:xfrm flipH="1">
            <a:off x="2108200" y="4597400"/>
            <a:ext cx="1473200" cy="254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61158" name="Line 6"/>
          <p:cNvSpPr>
            <a:spLocks noChangeShapeType="1"/>
          </p:cNvSpPr>
          <p:nvPr/>
        </p:nvSpPr>
        <p:spPr bwMode="auto">
          <a:xfrm>
            <a:off x="3873500" y="4622800"/>
            <a:ext cx="1295400" cy="254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61159" name="Line 7"/>
          <p:cNvSpPr>
            <a:spLocks noChangeShapeType="1"/>
          </p:cNvSpPr>
          <p:nvPr/>
        </p:nvSpPr>
        <p:spPr bwMode="auto">
          <a:xfrm flipV="1">
            <a:off x="5397500" y="2895600"/>
            <a:ext cx="66040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61160" name="Line 8"/>
          <p:cNvSpPr>
            <a:spLocks noChangeShapeType="1"/>
          </p:cNvSpPr>
          <p:nvPr/>
        </p:nvSpPr>
        <p:spPr bwMode="auto">
          <a:xfrm>
            <a:off x="6223000" y="2946400"/>
            <a:ext cx="381000" cy="213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61161" name="Line 9"/>
          <p:cNvSpPr>
            <a:spLocks noChangeShapeType="1"/>
          </p:cNvSpPr>
          <p:nvPr/>
        </p:nvSpPr>
        <p:spPr bwMode="auto">
          <a:xfrm flipH="1" flipV="1">
            <a:off x="5473700" y="4940300"/>
            <a:ext cx="1041400" cy="2667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61162" name="Line 10"/>
          <p:cNvSpPr>
            <a:spLocks noChangeShapeType="1"/>
          </p:cNvSpPr>
          <p:nvPr/>
        </p:nvSpPr>
        <p:spPr bwMode="auto">
          <a:xfrm flipV="1">
            <a:off x="4076700" y="3517900"/>
            <a:ext cx="1079500" cy="2413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61163" name="Line 11"/>
          <p:cNvSpPr>
            <a:spLocks noChangeShapeType="1"/>
          </p:cNvSpPr>
          <p:nvPr/>
        </p:nvSpPr>
        <p:spPr bwMode="auto">
          <a:xfrm flipH="1">
            <a:off x="2006600" y="3644900"/>
            <a:ext cx="508000" cy="11303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61164" name="Line 12"/>
          <p:cNvSpPr>
            <a:spLocks noChangeShapeType="1"/>
          </p:cNvSpPr>
          <p:nvPr/>
        </p:nvSpPr>
        <p:spPr bwMode="auto">
          <a:xfrm flipH="1" flipV="1">
            <a:off x="5473700" y="4940300"/>
            <a:ext cx="1041400" cy="2667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61165" name="Text Box 13"/>
          <p:cNvSpPr txBox="1">
            <a:spLocks noChangeArrowheads="1"/>
          </p:cNvSpPr>
          <p:nvPr/>
        </p:nvSpPr>
        <p:spPr bwMode="auto">
          <a:xfrm>
            <a:off x="3070225" y="31686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12.2</a:t>
            </a:r>
          </a:p>
        </p:txBody>
      </p:sp>
      <p:sp>
        <p:nvSpPr>
          <p:cNvPr id="561166" name="Text Box 14"/>
          <p:cNvSpPr txBox="1">
            <a:spLocks noChangeArrowheads="1"/>
          </p:cNvSpPr>
          <p:nvPr/>
        </p:nvSpPr>
        <p:spPr bwMode="auto">
          <a:xfrm>
            <a:off x="4289425" y="32702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34.0</a:t>
            </a:r>
          </a:p>
        </p:txBody>
      </p:sp>
      <p:sp>
        <p:nvSpPr>
          <p:cNvPr id="561167" name="Text Box 15"/>
          <p:cNvSpPr txBox="1">
            <a:spLocks noChangeArrowheads="1"/>
          </p:cNvSpPr>
          <p:nvPr/>
        </p:nvSpPr>
        <p:spPr bwMode="auto">
          <a:xfrm>
            <a:off x="5241925" y="27749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18.8</a:t>
            </a:r>
          </a:p>
        </p:txBody>
      </p:sp>
      <p:sp>
        <p:nvSpPr>
          <p:cNvPr id="561168" name="Text Box 16"/>
          <p:cNvSpPr txBox="1">
            <a:spLocks noChangeArrowheads="1"/>
          </p:cNvSpPr>
          <p:nvPr/>
        </p:nvSpPr>
        <p:spPr bwMode="auto">
          <a:xfrm>
            <a:off x="6384925" y="37020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60.4</a:t>
            </a:r>
          </a:p>
        </p:txBody>
      </p:sp>
      <p:sp>
        <p:nvSpPr>
          <p:cNvPr id="561169" name="Text Box 17"/>
          <p:cNvSpPr txBox="1">
            <a:spLocks noChangeArrowheads="1"/>
          </p:cNvSpPr>
          <p:nvPr/>
        </p:nvSpPr>
        <p:spPr bwMode="auto">
          <a:xfrm>
            <a:off x="1698625" y="38798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hlink"/>
                </a:solidFill>
              </a:rPr>
              <a:t>39.4</a:t>
            </a:r>
          </a:p>
        </p:txBody>
      </p:sp>
      <p:sp>
        <p:nvSpPr>
          <p:cNvPr id="561170" name="Text Box 18"/>
          <p:cNvSpPr txBox="1">
            <a:spLocks noChangeArrowheads="1"/>
          </p:cNvSpPr>
          <p:nvPr/>
        </p:nvSpPr>
        <p:spPr bwMode="auto">
          <a:xfrm>
            <a:off x="2562225" y="43624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28.8</a:t>
            </a:r>
          </a:p>
        </p:txBody>
      </p:sp>
      <p:sp>
        <p:nvSpPr>
          <p:cNvPr id="561171" name="Text Box 19"/>
          <p:cNvSpPr txBox="1">
            <a:spLocks noChangeArrowheads="1"/>
          </p:cNvSpPr>
          <p:nvPr/>
        </p:nvSpPr>
        <p:spPr bwMode="auto">
          <a:xfrm>
            <a:off x="4162425" y="47307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hlink"/>
                </a:solidFill>
              </a:rPr>
              <a:t>27.9</a:t>
            </a:r>
          </a:p>
        </p:txBody>
      </p:sp>
      <p:sp>
        <p:nvSpPr>
          <p:cNvPr id="561172" name="Text Box 20"/>
          <p:cNvSpPr txBox="1">
            <a:spLocks noChangeArrowheads="1"/>
          </p:cNvSpPr>
          <p:nvPr/>
        </p:nvSpPr>
        <p:spPr bwMode="auto">
          <a:xfrm>
            <a:off x="5559425" y="50736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30.9</a:t>
            </a:r>
          </a:p>
        </p:txBody>
      </p:sp>
      <p:sp>
        <p:nvSpPr>
          <p:cNvPr id="561173" name="Text Box 21"/>
          <p:cNvSpPr txBox="1">
            <a:spLocks noChangeArrowheads="1"/>
          </p:cNvSpPr>
          <p:nvPr/>
        </p:nvSpPr>
        <p:spPr bwMode="auto">
          <a:xfrm>
            <a:off x="1812925" y="5518150"/>
            <a:ext cx="5843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cost reduction = 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k-Exchange neighborhood</a:t>
            </a:r>
          </a:p>
        </p:txBody>
      </p:sp>
      <p:pic>
        <p:nvPicPr>
          <p:cNvPr id="5591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41500" y="2654300"/>
            <a:ext cx="4989513" cy="274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9108" name="Line 4"/>
          <p:cNvSpPr>
            <a:spLocks noChangeShapeType="1"/>
          </p:cNvSpPr>
          <p:nvPr/>
        </p:nvSpPr>
        <p:spPr bwMode="auto">
          <a:xfrm flipH="1" flipV="1">
            <a:off x="2717800" y="3467100"/>
            <a:ext cx="1092200" cy="203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9109" name="Line 5"/>
          <p:cNvSpPr>
            <a:spLocks noChangeShapeType="1"/>
          </p:cNvSpPr>
          <p:nvPr/>
        </p:nvSpPr>
        <p:spPr bwMode="auto">
          <a:xfrm flipH="1">
            <a:off x="2108200" y="4597400"/>
            <a:ext cx="1473200" cy="254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9110" name="Line 6"/>
          <p:cNvSpPr>
            <a:spLocks noChangeShapeType="1"/>
          </p:cNvSpPr>
          <p:nvPr/>
        </p:nvSpPr>
        <p:spPr bwMode="auto">
          <a:xfrm>
            <a:off x="3873500" y="4622800"/>
            <a:ext cx="1295400" cy="254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9111" name="Line 7"/>
          <p:cNvSpPr>
            <a:spLocks noChangeShapeType="1"/>
          </p:cNvSpPr>
          <p:nvPr/>
        </p:nvSpPr>
        <p:spPr bwMode="auto">
          <a:xfrm flipV="1">
            <a:off x="5397500" y="2895600"/>
            <a:ext cx="66040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9112" name="Line 8"/>
          <p:cNvSpPr>
            <a:spLocks noChangeShapeType="1"/>
          </p:cNvSpPr>
          <p:nvPr/>
        </p:nvSpPr>
        <p:spPr bwMode="auto">
          <a:xfrm>
            <a:off x="6223000" y="2946400"/>
            <a:ext cx="381000" cy="2133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9113" name="Line 9"/>
          <p:cNvSpPr>
            <a:spLocks noChangeShapeType="1"/>
          </p:cNvSpPr>
          <p:nvPr/>
        </p:nvSpPr>
        <p:spPr bwMode="auto">
          <a:xfrm flipH="1" flipV="1">
            <a:off x="5473700" y="4940300"/>
            <a:ext cx="1041400" cy="2667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9115" name="Line 11"/>
          <p:cNvSpPr>
            <a:spLocks noChangeShapeType="1"/>
          </p:cNvSpPr>
          <p:nvPr/>
        </p:nvSpPr>
        <p:spPr bwMode="auto">
          <a:xfrm flipV="1">
            <a:off x="4076700" y="3517900"/>
            <a:ext cx="1079500" cy="2413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9116" name="Line 12"/>
          <p:cNvSpPr>
            <a:spLocks noChangeShapeType="1"/>
          </p:cNvSpPr>
          <p:nvPr/>
        </p:nvSpPr>
        <p:spPr bwMode="auto">
          <a:xfrm flipH="1">
            <a:off x="2006600" y="3644900"/>
            <a:ext cx="508000" cy="11303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9117" name="Line 13"/>
          <p:cNvSpPr>
            <a:spLocks noChangeShapeType="1"/>
          </p:cNvSpPr>
          <p:nvPr/>
        </p:nvSpPr>
        <p:spPr bwMode="auto">
          <a:xfrm flipH="1" flipV="1">
            <a:off x="5473700" y="4940300"/>
            <a:ext cx="1041400" cy="2667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59118" name="Text Box 14"/>
          <p:cNvSpPr txBox="1">
            <a:spLocks noChangeArrowheads="1"/>
          </p:cNvSpPr>
          <p:nvPr/>
        </p:nvSpPr>
        <p:spPr bwMode="auto">
          <a:xfrm>
            <a:off x="3070225" y="31686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12.2</a:t>
            </a:r>
          </a:p>
        </p:txBody>
      </p:sp>
      <p:sp>
        <p:nvSpPr>
          <p:cNvPr id="559119" name="Text Box 15"/>
          <p:cNvSpPr txBox="1">
            <a:spLocks noChangeArrowheads="1"/>
          </p:cNvSpPr>
          <p:nvPr/>
        </p:nvSpPr>
        <p:spPr bwMode="auto">
          <a:xfrm>
            <a:off x="4289425" y="32702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34.0</a:t>
            </a:r>
          </a:p>
        </p:txBody>
      </p:sp>
      <p:sp>
        <p:nvSpPr>
          <p:cNvPr id="559120" name="Text Box 16"/>
          <p:cNvSpPr txBox="1">
            <a:spLocks noChangeArrowheads="1"/>
          </p:cNvSpPr>
          <p:nvPr/>
        </p:nvSpPr>
        <p:spPr bwMode="auto">
          <a:xfrm>
            <a:off x="5241925" y="27749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18.8</a:t>
            </a:r>
          </a:p>
        </p:txBody>
      </p:sp>
      <p:sp>
        <p:nvSpPr>
          <p:cNvPr id="559121" name="Text Box 17"/>
          <p:cNvSpPr txBox="1">
            <a:spLocks noChangeArrowheads="1"/>
          </p:cNvSpPr>
          <p:nvPr/>
        </p:nvSpPr>
        <p:spPr bwMode="auto">
          <a:xfrm>
            <a:off x="6384925" y="37020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60.4</a:t>
            </a:r>
          </a:p>
        </p:txBody>
      </p:sp>
      <p:sp>
        <p:nvSpPr>
          <p:cNvPr id="559122" name="Text Box 18"/>
          <p:cNvSpPr txBox="1">
            <a:spLocks noChangeArrowheads="1"/>
          </p:cNvSpPr>
          <p:nvPr/>
        </p:nvSpPr>
        <p:spPr bwMode="auto">
          <a:xfrm>
            <a:off x="1698625" y="38798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hlink"/>
                </a:solidFill>
              </a:rPr>
              <a:t>39.4</a:t>
            </a:r>
          </a:p>
        </p:txBody>
      </p:sp>
      <p:sp>
        <p:nvSpPr>
          <p:cNvPr id="559123" name="Text Box 19"/>
          <p:cNvSpPr txBox="1">
            <a:spLocks noChangeArrowheads="1"/>
          </p:cNvSpPr>
          <p:nvPr/>
        </p:nvSpPr>
        <p:spPr bwMode="auto">
          <a:xfrm>
            <a:off x="2562225" y="43624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28.8</a:t>
            </a:r>
          </a:p>
        </p:txBody>
      </p:sp>
      <p:sp>
        <p:nvSpPr>
          <p:cNvPr id="559124" name="Text Box 20"/>
          <p:cNvSpPr txBox="1">
            <a:spLocks noChangeArrowheads="1"/>
          </p:cNvSpPr>
          <p:nvPr/>
        </p:nvSpPr>
        <p:spPr bwMode="auto">
          <a:xfrm>
            <a:off x="4162425" y="47307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hlink"/>
                </a:solidFill>
              </a:rPr>
              <a:t>27.9</a:t>
            </a:r>
          </a:p>
        </p:txBody>
      </p:sp>
      <p:sp>
        <p:nvSpPr>
          <p:cNvPr id="559125" name="Text Box 21"/>
          <p:cNvSpPr txBox="1">
            <a:spLocks noChangeArrowheads="1"/>
          </p:cNvSpPr>
          <p:nvPr/>
        </p:nvSpPr>
        <p:spPr bwMode="auto">
          <a:xfrm>
            <a:off x="5559425" y="5073650"/>
            <a:ext cx="63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30.9</a:t>
            </a:r>
          </a:p>
        </p:txBody>
      </p:sp>
      <p:sp>
        <p:nvSpPr>
          <p:cNvPr id="559126" name="Text Box 22"/>
          <p:cNvSpPr txBox="1">
            <a:spLocks noChangeArrowheads="1"/>
          </p:cNvSpPr>
          <p:nvPr/>
        </p:nvSpPr>
        <p:spPr bwMode="auto">
          <a:xfrm>
            <a:off x="1812925" y="5518150"/>
            <a:ext cx="65039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>
                <a:solidFill>
                  <a:schemeClr val="hlink"/>
                </a:solidFill>
              </a:rPr>
              <a:t>cost reduction = 39.4 + 27.9 – 25.6 – 56.5 = 14.8</a:t>
            </a:r>
          </a:p>
          <a:p>
            <a:r>
              <a:rPr lang="en-US" dirty="0">
                <a:solidFill>
                  <a:schemeClr val="hlink"/>
                </a:solidFill>
              </a:rPr>
              <a:t>z</a:t>
            </a:r>
            <a:r>
              <a:rPr lang="en-US" baseline="-25000" dirty="0">
                <a:solidFill>
                  <a:schemeClr val="hlink"/>
                </a:solidFill>
              </a:rPr>
              <a:t>2-exchange</a:t>
            </a:r>
            <a:r>
              <a:rPr lang="en-US" dirty="0">
                <a:solidFill>
                  <a:schemeClr val="hlink"/>
                </a:solidFill>
              </a:rPr>
              <a:t>=267.2-14.8 = 252.4</a:t>
            </a:r>
          </a:p>
          <a:p>
            <a:endParaRPr lang="en-US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416e2cc4-927b-4a48-abf1-08c8b7746fe4" origin="userSelected">
  <element uid="id_classification_generalbusiness" value=""/>
</sisl>
</file>

<file path=customXml/itemProps1.xml><?xml version="1.0" encoding="utf-8"?>
<ds:datastoreItem xmlns:ds="http://schemas.openxmlformats.org/officeDocument/2006/customXml" ds:itemID="{A5902A39-D8E5-4BD5-B68E-0525563C5446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7344</TotalTime>
  <Words>652</Words>
  <Application>Microsoft Office PowerPoint</Application>
  <PresentationFormat>On-screen Show (4:3)</PresentationFormat>
  <Paragraphs>312</Paragraphs>
  <Slides>19</Slides>
  <Notes>19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Symbol</vt:lpstr>
      <vt:lpstr>Tahoma</vt:lpstr>
      <vt:lpstr>Wingdings</vt:lpstr>
      <vt:lpstr>Office Theme</vt:lpstr>
      <vt:lpstr>Equation</vt:lpstr>
      <vt:lpstr>DA 507 modeling and optimization </vt:lpstr>
      <vt:lpstr>Travelling Salesman Problem (TSP) Challenge: modelling and solution</vt:lpstr>
      <vt:lpstr>Travelling Salesman Problem (TSP) Challenge: modelling and solution</vt:lpstr>
      <vt:lpstr>The Symmetric TSP</vt:lpstr>
      <vt:lpstr>The Symmetric TSP: Formulation</vt:lpstr>
      <vt:lpstr>PowerPoint Presentation</vt:lpstr>
      <vt:lpstr>PowerPoint Presentation</vt:lpstr>
      <vt:lpstr>The Nearest Neighbor Heuristic</vt:lpstr>
      <vt:lpstr>Saint Martin Example</vt:lpstr>
      <vt:lpstr>Saint Martin Example</vt:lpstr>
      <vt:lpstr>Saint Martin Example</vt:lpstr>
      <vt:lpstr>Savings Heuristic (Clark &amp; Wright)</vt:lpstr>
      <vt:lpstr>Saint Martin Example</vt:lpstr>
      <vt:lpstr>Saint Martin Example</vt:lpstr>
      <vt:lpstr>Local Search Algorithms</vt:lpstr>
      <vt:lpstr>How do you define a neighborhood?</vt:lpstr>
      <vt:lpstr>k-Exchange neighborhood</vt:lpstr>
      <vt:lpstr>k-Exchange neighborhood</vt:lpstr>
      <vt:lpstr>k-Exchange neighborhood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MS430  Logistics Systems  Planning &amp; Design</dc:title>
  <dc:creator>Guvenc Sahin</dc:creator>
  <cp:lastModifiedBy>Birol Yüceoğlu (Migros)</cp:lastModifiedBy>
  <cp:revision>360</cp:revision>
  <cp:lastPrinted>1601-01-01T00:00:00Z</cp:lastPrinted>
  <dcterms:created xsi:type="dcterms:W3CDTF">2005-08-12T08:28:54Z</dcterms:created>
  <dcterms:modified xsi:type="dcterms:W3CDTF">2020-12-16T06:38:17Z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a3c6b2f7-4d32-48a7-9666-60bb8e42ec2e</vt:lpwstr>
  </property>
  <property fmtid="{D5CDD505-2E9C-101B-9397-08002B2CF9AE}" pid="3" name="bjSaver">
    <vt:lpwstr>GCQzHYWfdzjTrjdlW3avldOuoiAZmI8T</vt:lpwstr>
  </property>
  <property fmtid="{D5CDD505-2E9C-101B-9397-08002B2CF9AE}" pid="4" name="bjDocumentLabelXML">
    <vt:lpwstr>&lt;?xml version="1.0" encoding="us-ascii"?&gt;&lt;sisl xmlns:xsd="http://www.w3.org/2001/XMLSchema" xmlns:xsi="http://www.w3.org/2001/XMLSchema-instance" sislVersion="0" policy="416e2cc4-927b-4a48-abf1-08c8b7746fe4" origin="userSelected" xmlns="http://www.boldonj</vt:lpwstr>
  </property>
  <property fmtid="{D5CDD505-2E9C-101B-9397-08002B2CF9AE}" pid="5" name="bjDocumentLabelXML-0">
    <vt:lpwstr>ames.com/2008/01/sie/internal/label"&gt;&lt;element uid="id_classification_generalbusiness" value="" /&gt;&lt;/sisl&gt;</vt:lpwstr>
  </property>
  <property fmtid="{D5CDD505-2E9C-101B-9397-08002B2CF9AE}" pid="6" name="bjDocumentSecurityLabel">
    <vt:lpwstr>Genel</vt:lpwstr>
  </property>
</Properties>
</file>