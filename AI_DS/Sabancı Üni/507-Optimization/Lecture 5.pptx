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2"/>
  </p:sldMasterIdLst>
  <p:notesMasterIdLst>
    <p:notesMasterId r:id="rId50"/>
  </p:notesMasterIdLst>
  <p:handoutMasterIdLst>
    <p:handoutMasterId r:id="rId51"/>
  </p:handoutMasterIdLst>
  <p:sldIdLst>
    <p:sldId id="394" r:id="rId3"/>
    <p:sldId id="395" r:id="rId4"/>
    <p:sldId id="440" r:id="rId5"/>
    <p:sldId id="441" r:id="rId6"/>
    <p:sldId id="442" r:id="rId7"/>
    <p:sldId id="443" r:id="rId8"/>
    <p:sldId id="396" r:id="rId9"/>
    <p:sldId id="397" r:id="rId10"/>
    <p:sldId id="398" r:id="rId11"/>
    <p:sldId id="399" r:id="rId12"/>
    <p:sldId id="400" r:id="rId13"/>
    <p:sldId id="401" r:id="rId14"/>
    <p:sldId id="430" r:id="rId15"/>
    <p:sldId id="431" r:id="rId16"/>
    <p:sldId id="432" r:id="rId17"/>
    <p:sldId id="433" r:id="rId18"/>
    <p:sldId id="434" r:id="rId19"/>
    <p:sldId id="403" r:id="rId20"/>
    <p:sldId id="404" r:id="rId21"/>
    <p:sldId id="405" r:id="rId22"/>
    <p:sldId id="411" r:id="rId23"/>
    <p:sldId id="412" r:id="rId24"/>
    <p:sldId id="413" r:id="rId25"/>
    <p:sldId id="435" r:id="rId26"/>
    <p:sldId id="436" r:id="rId27"/>
    <p:sldId id="437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39" r:id="rId40"/>
    <p:sldId id="438" r:id="rId41"/>
    <p:sldId id="425" r:id="rId42"/>
    <p:sldId id="426" r:id="rId43"/>
    <p:sldId id="427" r:id="rId44"/>
    <p:sldId id="428" r:id="rId45"/>
    <p:sldId id="429" r:id="rId46"/>
    <p:sldId id="380" r:id="rId47"/>
    <p:sldId id="385" r:id="rId48"/>
    <p:sldId id="386" r:id="rId49"/>
  </p:sldIdLst>
  <p:sldSz cx="9144000" cy="6858000" type="screen4x3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CFFCC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118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94"/>
    </p:cViewPr>
  </p:sorterViewPr>
  <p:notesViewPr>
    <p:cSldViewPr snapToGrid="0">
      <p:cViewPr varScale="1">
        <p:scale>
          <a:sx n="61" d="100"/>
          <a:sy n="61" d="100"/>
        </p:scale>
        <p:origin x="-1698" y="-54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lkan Yurtseven" userId="dba8ffe1f143b8c1" providerId="LiveId" clId="{D51F84A7-8E26-4B89-ACB7-A4054DAA8183}"/>
    <pc:docChg chg="custSel modSld">
      <pc:chgData name="Volkan Yurtseven" userId="dba8ffe1f143b8c1" providerId="LiveId" clId="{D51F84A7-8E26-4B89-ACB7-A4054DAA8183}" dt="2022-01-02T10:00:51.890" v="0" actId="478"/>
      <pc:docMkLst>
        <pc:docMk/>
      </pc:docMkLst>
      <pc:sldChg chg="delSp mod">
        <pc:chgData name="Volkan Yurtseven" userId="dba8ffe1f143b8c1" providerId="LiveId" clId="{D51F84A7-8E26-4B89-ACB7-A4054DAA8183}" dt="2022-01-02T10:00:51.890" v="0" actId="478"/>
        <pc:sldMkLst>
          <pc:docMk/>
          <pc:sldMk cId="3267498698" sldId="405"/>
        </pc:sldMkLst>
        <pc:spChg chg="del">
          <ac:chgData name="Volkan Yurtseven" userId="dba8ffe1f143b8c1" providerId="LiveId" clId="{D51F84A7-8E26-4B89-ACB7-A4054DAA8183}" dt="2022-01-02T10:00:51.890" v="0" actId="478"/>
          <ac:spMkLst>
            <pc:docMk/>
            <pc:sldMk cId="3267498698" sldId="405"/>
            <ac:spMk id="3" creationId="{00000000-0000-0000-0000-000000000000}"/>
          </ac:spMkLst>
        </pc:spChg>
      </pc:sldChg>
    </pc:docChg>
  </pc:docChgLst>
  <pc:docChgLst>
    <pc:chgData name="Volkan Yurtseven" userId="dba8ffe1f143b8c1" providerId="LiveId" clId="{07A86A6B-D934-446C-BD66-44C43765C748}"/>
    <pc:docChg chg="custSel modSld">
      <pc:chgData name="Volkan Yurtseven" userId="dba8ffe1f143b8c1" providerId="LiveId" clId="{07A86A6B-D934-446C-BD66-44C43765C748}" dt="2021-12-12T19:56:13.567" v="89" actId="207"/>
      <pc:docMkLst>
        <pc:docMk/>
      </pc:docMkLst>
      <pc:sldChg chg="addSp modSp mod">
        <pc:chgData name="Volkan Yurtseven" userId="dba8ffe1f143b8c1" providerId="LiveId" clId="{07A86A6B-D934-446C-BD66-44C43765C748}" dt="2021-12-12T19:56:13.567" v="89" actId="207"/>
        <pc:sldMkLst>
          <pc:docMk/>
          <pc:sldMk cId="1311092166" sldId="419"/>
        </pc:sldMkLst>
        <pc:spChg chg="add mod">
          <ac:chgData name="Volkan Yurtseven" userId="dba8ffe1f143b8c1" providerId="LiveId" clId="{07A86A6B-D934-446C-BD66-44C43765C748}" dt="2021-12-12T19:56:13.567" v="89" actId="207"/>
          <ac:spMkLst>
            <pc:docMk/>
            <pc:sldMk cId="1311092166" sldId="419"/>
            <ac:spMk id="2" creationId="{A0E5AC5C-EA20-4104-85E0-5D895A38244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940" y="1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fld id="{BCE22CD1-E044-4521-BAC5-8B08BB5242E3}" type="datetime1">
              <a:rPr lang="tr-TR" smtClean="0"/>
              <a:t>02.01.2022</a:t>
            </a:fld>
            <a:endParaRPr lang="en-US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5170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940" y="9445170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fld id="{2EC759D0-4286-4B23-A682-AB8710E55F4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2-03T17:55:48.1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1395 8669,'-18'-1,"0"-1,0-1,0 0,0-1,1-1,-12-5,-98-44,124 52,-37-17,2-2,0-1,1-2,2-2,1-1,1-1,1-2,1-2,2-1,2 0,0-3,3 0,1-1,-9-22,-17-40,6-2,-29-96,16 0,3-23,-189-1097,184 936,16-3,9-316,41 242,62-408,-35 621,11 1,11 3,10 2,40-77,-4 53,11 4,47-61,-110 230,53-67,-74 117,2 1,1 1,2 2,31-24,-17 29,-39 27,-1-2,0 1,-1-1,1 0,2-4,-11 10,1 0,0 0,-1 0,1 0,-1 0,1 0,-1 0,1 0,-1 1,1-1,-1 0,1 0,-1 0,1 0,-1 1,1-1,-1 0,1 1,-1-1,0 0,1 1,-1-1,1 0,-1 1,0-1,1 1,-1-1,0 0,0 1,1-1,-1 1,0-1,0 1,0 0,9 20,-9-20</inkml:trace>
  <inkml:trace contextRef="#ctx0" brushRef="#br0" timeOffset="768.94">294 0,'64'35,"2"-4,2-2,0-3,60 13,67 26,-134-42,-1 2,-2 3,0 3,-3 2,40 32,-74-49,0 0,-1 2,-2 0,0 1,0 1,-2 1,-1 0,0 1,-2 1,0 0,-2 1,0 0,-2 1,0 0,2 17,-8-18,0 1,-2 0,0 0,-2 0,-1 0,-1-1,-4 18,-12 40,-19 47,30-102,-22 60,-3 0,-4-2,-4-2,-3-2,-4-2,-17 18,47-71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2-03T17:55:54.1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3938,'0'0,"0"0,0 0,0 0,0 0,0 0,0 0,0 0,0 0,0 0,0 0,-2-24,0-25,2 0,2 0,2 0,2 1,3 0,1 0,14-37,-1 31,1 1,3 1,20-27,23-45,89-163,-121 227,2 2,3 1,33-31,36-42,59-92,-65 81,9 5,7 4,39-26,-16 16,-51 48,62-44,-111 103,1 2,2 1,1 3,52-22,267-128,1-1,-263 135,2 4,61-13,-99 40,1 2,0 4,0 2,0 4,4 3,11-2,-78 1,0-1,0 0,-1 0,1 0,0-1,-1-1,6-1,-3-1</inkml:trace>
  <inkml:trace contextRef="#ctx0" brushRef="#br0" timeOffset="850.22">3769 1,'0'0,"0"0,0 0,26 11,116 39,-78-30,-1 3,12 9,-48-19,50 25,11 10,-66-35,-2 1,0 1,0 0,-1 1,-1 1,5 8,-17-19,-1 1,-1-1,1 1,-1 0,0 0,-1 0,0 0,0 1,0-1,-1 1,0 0,-1-1,0 1,0 0,0 5,-2-2,0-1,0 0,-1 0,-1 0,0 0,0-1,0 1,-1-1,-1 1,0-1,-1 1,-11 14,-1 0,-1-1,-1-1,-2 0,0-2,0-1,-22 14,-83 50,-3-5,-23 4,-13 8,-2 11,-148 110,261-178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2-03T17:55:58.8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2849 0,'-3'41,"0"0,-8 28,-4 39,-19 442,-35 333,58-805,-3-1,-5-1,-9 24,10-50,-2-1,-2-1,-2 0,-2-2,-13 17,-65 86,-91 98,136-181,-3-2,-3-3,-2-3,-44 27,13-16,-125 88,-148 74,253-170,-2-6,-2-4,-2-7,-19 1,99-42,39-3,2 0</inkml:trace>
  <inkml:trace contextRef="#ctx0" brushRef="#br0" timeOffset="1012.33">541 3018,'-1'7,"0"1,0-1,0 0,-1 1,0-1,-1 0,0 0,0 0,0-1,-1 1,0-1,-53 74,24-36,-38 60,-214 297,272-385,7-10,1 0,-1 0,1 1,1 0,-1 0,1 0,0 1,1-1,-1 1,2 0,-1 0,1 2,2-9,1 1,-1 0,1-1,0 1,-1 0,1-1,0 1,0-1,0 1,0-1,1 1,-1-1,0 0,0 0,1 0,-1 0,1 0,-1 0,34 21,-23-16,78 49,-2 4,-3 3,70 67,-110-85,-25-22,1-2,1 0,1-1,1-1,1-2,4 2,-4-6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2-03T17:55:48.1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1395 8669,'-18'-1,"0"-1,0-1,0 0,0-1,1-1,-12-5,-98-44,124 52,-37-17,2-2,0-1,1-2,2-2,1-1,1-1,1-2,1-2,2-1,2 0,0-3,3 0,1-1,-9-22,-17-40,6-2,-29-96,16 0,3-23,-189-1097,184 936,16-3,9-316,41 242,62-408,-35 621,11 1,11 3,10 2,40-77,-4 53,11 4,47-61,-110 230,53-67,-74 117,2 1,1 1,2 2,31-24,-17 29,-39 27,-1-2,0 1,-1-1,1 0,2-4,-11 10,1 0,0 0,-1 0,1 0,-1 0,1 0,-1 0,1 0,-1 1,1-1,-1 0,1 0,-1 0,1 0,-1 1,1-1,-1 0,1 1,-1-1,0 0,1 1,-1-1,1 0,-1 1,0-1,1 1,-1-1,0 0,0 1,1-1,-1 1,0-1,0 1,0 0,9 20,-9-20</inkml:trace>
  <inkml:trace contextRef="#ctx0" brushRef="#br0" timeOffset="768.94">294 0,'64'35,"2"-4,2-2,0-3,60 13,67 26,-134-42,-1 2,-2 3,0 3,-3 2,40 32,-74-49,0 0,-1 2,-2 0,0 1,0 1,-2 1,-1 0,0 1,-2 1,0 0,-2 1,0 0,-2 1,0 0,2 17,-8-18,0 1,-2 0,0 0,-2 0,-1 0,-1-1,-4 18,-12 40,-19 47,30-102,-22 60,-3 0,-4-2,-4-2,-3-2,-4-2,-17 18,47-71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2-03T17:55:54.1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3938,'0'0,"0"0,0 0,0 0,0 0,0 0,0 0,0 0,0 0,0 0,0 0,-2-24,0-25,2 0,2 0,2 0,2 1,3 0,1 0,14-37,-1 31,1 1,3 1,20-27,23-45,89-163,-121 227,2 2,3 1,33-31,36-42,59-92,-65 81,9 5,7 4,39-26,-16 16,-51 48,62-44,-111 103,1 2,2 1,1 3,52-22,267-128,1-1,-263 135,2 4,61-13,-99 40,1 2,0 4,0 2,0 4,4 3,11-2,-78 1,0-1,0 0,-1 0,1 0,0-1,-1-1,6-1,-3-1</inkml:trace>
  <inkml:trace contextRef="#ctx0" brushRef="#br0" timeOffset="850.22">3769 1,'0'0,"0"0,0 0,26 11,116 39,-78-30,-1 3,12 9,-48-19,50 25,11 10,-66-35,-2 1,0 1,0 0,-1 1,-1 1,5 8,-17-19,-1 1,-1-1,1 1,-1 0,0 0,-1 0,0 0,0 1,0-1,-1 1,0 0,-1-1,0 1,0 0,0 5,-2-2,0-1,0 0,-1 0,-1 0,0 0,0-1,0 1,-1-1,-1 1,0-1,-1 1,-11 14,-1 0,-1-1,-1-1,-2 0,0-2,0-1,-22 14,-83 50,-3-5,-23 4,-13 8,-2 11,-148 110,261-178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2-03T17:55:58.8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2849 0,'-3'41,"0"0,-8 28,-4 39,-19 442,-35 333,58-805,-3-1,-5-1,-9 24,10-50,-2-1,-2-1,-2 0,-2-2,-13 17,-65 86,-91 98,136-181,-3-2,-3-3,-2-3,-44 27,13-16,-125 88,-148 74,253-170,-2-6,-2-4,-2-7,-19 1,99-42,39-3,2 0</inkml:trace>
  <inkml:trace contextRef="#ctx0" brushRef="#br0" timeOffset="1012.33">541 3018,'-1'7,"0"1,0-1,0 0,-1 1,0-1,-1 0,0 0,0 0,0-1,-1 1,0-1,-53 74,24-36,-38 60,-214 297,272-385,7-10,1 0,-1 0,1 1,1 0,-1 0,1 0,0 1,1-1,-1 1,2 0,-1 0,1 2,2-9,1 1,-1 0,1-1,0 1,-1 0,1-1,0 1,0-1,0 1,0-1,1 1,-1-1,0 0,0 0,1 0,-1 0,1 0,-1 0,34 21,-23-16,78 49,-2 4,-3 3,70 67,-110-85,-25-22,1-2,1 0,1-1,1-1,1-2,4 2,-4-6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940" y="1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fld id="{FC39345C-049C-4A11-845E-2FA0FEB69144}" type="datetime1">
              <a:rPr lang="tr-TR" smtClean="0"/>
              <a:t>02.01.2022</a:t>
            </a:fld>
            <a:endParaRPr lang="en-US"/>
          </a:p>
        </p:txBody>
      </p:sp>
      <p:sp>
        <p:nvSpPr>
          <p:cNvPr id="181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6125"/>
            <a:ext cx="4973637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1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2" y="4723447"/>
            <a:ext cx="5444490" cy="4474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5170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81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940" y="9445170"/>
            <a:ext cx="2949099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4" tIns="46697" rIns="93394" bIns="46697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fld id="{D5D45C5A-7B33-413E-91D4-8AC09C62864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355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9856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7302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7685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659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541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5877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5693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9146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4669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1201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5702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C39345C-049C-4A11-845E-2FA0FEB69144}" type="datetime1">
              <a:rPr lang="tr-TR" smtClean="0"/>
              <a:t>02.01.2022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D45C5A-7B33-413E-91D4-8AC09C62864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34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F4360-E74E-47BD-8783-7761061941E8}" type="slidenum">
              <a:rPr lang="en-US"/>
              <a:pPr/>
              <a:t>14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ABE810-A1A8-4EBA-B537-89E3978A7AD3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25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7EF7A5-BB1B-44A4-87CB-6B69CF5BF779}" type="slidenum">
              <a:rPr lang="en-US"/>
              <a:pPr/>
              <a:t>15</a:t>
            </a:fld>
            <a:endParaRPr lang="en-US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2B85E-D9BE-473D-8331-CFA9F65BEEAA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96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10C405-766A-4043-8A55-764BDFB0C010}" type="slidenum">
              <a:rPr lang="en-US"/>
              <a:pPr/>
              <a:t>16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6A47AEC-F8F8-4782-9CD2-3679BA0B6576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28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AD76E6-BEBA-4944-B841-4ECC1530426D}" type="slidenum">
              <a:rPr lang="en-US"/>
              <a:pPr/>
              <a:t>17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D85A9E-676C-4A11-8A8A-CE7C19582E96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25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1954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6876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2686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36559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57797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94040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E36D1D-DD0C-4D45-9A03-52618D755FF8}" type="slidenum">
              <a:rPr lang="en-US"/>
              <a:pPr/>
              <a:t>24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2246296-C492-4DAE-8D3C-65D9C1ECFDED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3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0B05BF-52C0-48B4-BFFC-1FD23F6F729D}" type="slidenum">
              <a:rPr lang="en-US"/>
              <a:pPr/>
              <a:t>25</a:t>
            </a:fld>
            <a:endParaRPr lang="en-US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91B8245-63DD-4070-BE51-D8A897732EB5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915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F57557-FA7C-4757-A43D-0809D03B1E22}" type="slidenum">
              <a:rPr lang="en-US"/>
              <a:pPr/>
              <a:t>26</a:t>
            </a:fld>
            <a:endParaRPr lang="en-US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52DD1EE-AD48-42CD-9545-AC3D05658758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756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65348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3061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92571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892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72350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41149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9897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1739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31467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13957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4973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2FD241-72E6-4250-A517-B89968C7EC04}" type="slidenum">
              <a:rPr lang="en-US"/>
              <a:pPr/>
              <a:t>38</a:t>
            </a:fld>
            <a:endParaRPr 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EE56DB2-53B4-4A3A-BBB1-6AC8040C41F3}" type="datetime1">
              <a:rPr lang="tr-TR" smtClean="0"/>
              <a:t>02.01.2022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552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61092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51253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90763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42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02460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95574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B030-5287-4746-84FD-67C5FB3DC301}" type="slidenum">
              <a:rPr lang="tr-TR" smtClean="0"/>
              <a:pPr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8934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168CEF-2B85-41CC-BCCB-D303DC16E0C5}" type="slidenum">
              <a:rPr lang="en-US"/>
              <a:pPr/>
              <a:t>45</a:t>
            </a:fld>
            <a:endParaRPr lang="en-US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C7EB50-80E2-4D86-B45F-55964DBD9E02}" type="datetime1">
              <a:rPr lang="tr-TR" smtClean="0"/>
              <a:t>02.01.2022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EBC37-ADDC-4964-9260-78AB511CB5F4}" type="slidenum">
              <a:rPr lang="en-US"/>
              <a:pPr/>
              <a:t>46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084230-20A3-48CD-828F-B946004C7DB2}" type="datetime1">
              <a:rPr lang="tr-TR" smtClean="0"/>
              <a:t>02.01.2022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B7756-AF1D-4AC1-828F-E9E6B6EC912F}" type="slidenum">
              <a:rPr lang="en-US"/>
              <a:pPr/>
              <a:t>47</a:t>
            </a:fld>
            <a:endParaRPr lang="en-US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D2A27F-725A-4266-8D8E-9D06C970ADAD}" type="datetime1">
              <a:rPr lang="tr-TR" smtClean="0"/>
              <a:t>02.01.2022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7C03A-FA6C-49AE-A0A6-D77F31799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F163-C94E-479B-B57C-AD51E90FE4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31DE8-93D3-439A-B711-BEF35012DD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7320-C683-4636-9BBB-56C746D388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BF31F-D853-4D06-ACCA-CFEAA374F0D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4A09C-D3BE-4ECC-9652-DD29F41AE7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08A6-D4AD-4FF1-A94E-0C122FDB77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2014-C06A-4294-B82C-7C12908C44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B48B-A3C8-453F-9BC7-DCCBEFA08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92E55-332F-4EC7-A0B7-098A9686F5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189B-4A62-4E22-A1D4-62A2C1F2E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53AF9-111C-41E3-B0CB-35C673CCB0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DA 507</a:t>
            </a:r>
            <a:br>
              <a:rPr lang="en-US" noProof="0" dirty="0"/>
            </a:br>
            <a:r>
              <a:rPr lang="en-US" noProof="0" dirty="0"/>
              <a:t>modeling and optimization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Lecture 5</a:t>
            </a:r>
            <a:endParaRPr lang="en-US" noProof="0" dirty="0"/>
          </a:p>
          <a:p>
            <a:r>
              <a:rPr lang="tr-TR" sz="2400" dirty="0" err="1"/>
              <a:t>Heuristics</a:t>
            </a:r>
            <a:r>
              <a:rPr lang="tr-TR" sz="2400" dirty="0"/>
              <a:t> </a:t>
            </a:r>
          </a:p>
          <a:p>
            <a:endParaRPr lang="en-US" sz="2400" noProof="0" dirty="0"/>
          </a:p>
          <a:p>
            <a:r>
              <a:rPr lang="en-US" sz="2400" noProof="0" dirty="0" err="1"/>
              <a:t>Güvenç</a:t>
            </a:r>
            <a:r>
              <a:rPr lang="en-US" sz="2400" noProof="0" dirty="0"/>
              <a:t> Şahin</a:t>
            </a:r>
          </a:p>
          <a:p>
            <a:r>
              <a:rPr lang="en-US" sz="2400" dirty="0"/>
              <a:t>Birol Yüceoğlu</a:t>
            </a:r>
            <a:endParaRPr lang="en-US" sz="24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91018-6AC4-4510-A0EE-1986AC64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4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 Mining: Clustering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Cluster analysis involves the grouping of data entities in a way that maximizes the homogeneity of entities within a group and, at the same time the heterogeneity of entities between groups.</a:t>
            </a:r>
          </a:p>
          <a:p>
            <a:r>
              <a:rPr lang="en-US" dirty="0"/>
              <a:t>It is a main task of exploratory data mining, and a common technique for statistical data analysis, used in many fields, including machine learning, pattern recognition, image analysis, information retrieval, and bioinformatics.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56CFE-0315-4305-93F1-29C3D31C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040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Data mining: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dirty="0"/>
              <a:t>Bioinformatics and ecology</a:t>
            </a:r>
          </a:p>
          <a:p>
            <a:r>
              <a:rPr lang="en-US" dirty="0"/>
              <a:t>spatial and temporal comparisons of communities (assemblages) of organisms in heterogeneous environments</a:t>
            </a:r>
            <a:endParaRPr lang="tr-TR" dirty="0"/>
          </a:p>
          <a:p>
            <a:r>
              <a:rPr lang="en-US" dirty="0"/>
              <a:t>generate artificial phylogenies</a:t>
            </a:r>
            <a:r>
              <a:rPr lang="tr-TR" dirty="0"/>
              <a:t> </a:t>
            </a:r>
            <a:r>
              <a:rPr lang="en-US" dirty="0"/>
              <a:t>in plant systematic or clusters of organisms (individuals) at the species, genus or higher level that share a number of attributes</a:t>
            </a:r>
            <a:endParaRPr lang="tr-TR" dirty="0"/>
          </a:p>
          <a:p>
            <a:pPr>
              <a:buNone/>
            </a:pPr>
            <a:r>
              <a:rPr lang="en-US" dirty="0"/>
              <a:t>Human genetic clustering</a:t>
            </a:r>
          </a:p>
          <a:p>
            <a:r>
              <a:rPr lang="tr-TR" dirty="0"/>
              <a:t>t</a:t>
            </a:r>
            <a:r>
              <a:rPr lang="en-US" dirty="0"/>
              <a:t>he similarity of genetic data to infer population structures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EEE6-462B-4650-BBD2-E24FCBEF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70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Data mining: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Market research</a:t>
            </a:r>
          </a:p>
          <a:p>
            <a:r>
              <a:rPr lang="en-US" dirty="0"/>
              <a:t>partition the general population of consumers into market segments to better understand the relationships between different groups of consumers/potential customers</a:t>
            </a:r>
            <a:endParaRPr lang="tr-TR" dirty="0"/>
          </a:p>
          <a:p>
            <a:r>
              <a:rPr lang="en-US" dirty="0"/>
              <a:t>use in market segmentation, </a:t>
            </a:r>
            <a:r>
              <a:rPr lang="tr-TR" dirty="0"/>
              <a:t>p</a:t>
            </a:r>
            <a:r>
              <a:rPr lang="en-US" dirty="0" err="1"/>
              <a:t>roduct</a:t>
            </a:r>
            <a:r>
              <a:rPr lang="en-US" dirty="0"/>
              <a:t> positioning, </a:t>
            </a:r>
            <a:r>
              <a:rPr lang="tr-TR" dirty="0"/>
              <a:t>n</a:t>
            </a:r>
            <a:r>
              <a:rPr lang="en-US" dirty="0" err="1"/>
              <a:t>ew</a:t>
            </a:r>
            <a:r>
              <a:rPr lang="en-US" dirty="0"/>
              <a:t> product development and </a:t>
            </a:r>
            <a:r>
              <a:rPr lang="tr-TR" dirty="0"/>
              <a:t>s</a:t>
            </a:r>
            <a:r>
              <a:rPr lang="en-US" dirty="0"/>
              <a:t>electing test markets</a:t>
            </a:r>
          </a:p>
          <a:p>
            <a:pPr>
              <a:buNone/>
            </a:pPr>
            <a:r>
              <a:rPr lang="en-US" dirty="0"/>
              <a:t>Grouping of shopping items</a:t>
            </a:r>
          </a:p>
          <a:p>
            <a:r>
              <a:rPr lang="en-US" dirty="0"/>
              <a:t>group all the shopping items available on the web into a set of unique products</a:t>
            </a:r>
            <a:r>
              <a:rPr lang="tr-TR" dirty="0"/>
              <a:t> (</a:t>
            </a:r>
            <a:r>
              <a:rPr lang="en-US" dirty="0"/>
              <a:t>items on eBay can be grouped into unique products</a:t>
            </a:r>
            <a:r>
              <a:rPr lang="tr-TR" dirty="0"/>
              <a:t> / no </a:t>
            </a:r>
            <a:r>
              <a:rPr lang="en-US" dirty="0"/>
              <a:t>concept of a SKU)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EC489-8BCF-4DB3-8D2E-99C2302D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3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Data mining: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Social network analysis</a:t>
            </a:r>
          </a:p>
          <a:p>
            <a:r>
              <a:rPr lang="en-US" dirty="0"/>
              <a:t>to recognize communities within large groups of people.</a:t>
            </a:r>
            <a:endParaRPr lang="tr-TR" dirty="0"/>
          </a:p>
          <a:p>
            <a:pPr>
              <a:buNone/>
            </a:pPr>
            <a:r>
              <a:rPr lang="en-US" dirty="0"/>
              <a:t>Image segmentation</a:t>
            </a:r>
          </a:p>
          <a:p>
            <a:r>
              <a:rPr lang="en-US" dirty="0"/>
              <a:t>divide a digital image into distinct regions for border detection or object recognition</a:t>
            </a:r>
            <a:endParaRPr lang="tr-TR" dirty="0"/>
          </a:p>
          <a:p>
            <a:pPr>
              <a:buNone/>
            </a:pPr>
            <a:r>
              <a:rPr lang="en-US" dirty="0"/>
              <a:t>Recommender systems</a:t>
            </a:r>
          </a:p>
          <a:p>
            <a:r>
              <a:rPr lang="en-US" dirty="0"/>
              <a:t>recommend new items based on a user's tastes</a:t>
            </a:r>
            <a:endParaRPr lang="tr-TR" dirty="0"/>
          </a:p>
          <a:p>
            <a:r>
              <a:rPr lang="en-US" dirty="0"/>
              <a:t>predict a user's preferences based on the preferences of other users in the user's cluster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2A62E-8AF0-446B-89AF-5E5D80A7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5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63E3-DC95-4173-95ED-1CE2D56A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K-Clustering Problem (</a:t>
            </a:r>
            <a:r>
              <a:rPr lang="tr-TR" dirty="0" err="1"/>
              <a:t>Practice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021CD-014D-45F4-BD65-9CCE172CC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Your</a:t>
            </a:r>
            <a:r>
              <a:rPr lang="tr-TR" dirty="0"/>
              <a:t> data set </a:t>
            </a:r>
            <a:r>
              <a:rPr lang="tr-TR" dirty="0" err="1"/>
              <a:t>consists</a:t>
            </a:r>
            <a:r>
              <a:rPr lang="tr-TR" dirty="0"/>
              <a:t> of 1.000.000 </a:t>
            </a:r>
            <a:r>
              <a:rPr lang="tr-TR" dirty="0" err="1"/>
              <a:t>customers</a:t>
            </a:r>
            <a:endParaRPr lang="tr-TR" dirty="0"/>
          </a:p>
          <a:p>
            <a:r>
              <a:rPr lang="tr-TR" dirty="0" err="1"/>
              <a:t>Consider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size of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distance</a:t>
            </a:r>
            <a:r>
              <a:rPr lang="tr-TR" dirty="0"/>
              <a:t> </a:t>
            </a:r>
            <a:r>
              <a:rPr lang="tr-TR" dirty="0" err="1"/>
              <a:t>matrix</a:t>
            </a:r>
            <a:endParaRPr lang="tr-TR" dirty="0"/>
          </a:p>
          <a:p>
            <a:r>
              <a:rPr lang="tr-TR" dirty="0" err="1"/>
              <a:t>Consider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decision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  <a:p>
            <a:r>
              <a:rPr lang="tr-TR" dirty="0"/>
              <a:t>Impossible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integer</a:t>
            </a:r>
            <a:r>
              <a:rPr lang="tr-TR" dirty="0"/>
              <a:t> </a:t>
            </a:r>
            <a:r>
              <a:rPr lang="tr-TR" dirty="0" err="1"/>
              <a:t>programming</a:t>
            </a:r>
            <a:endParaRPr lang="tr-TR" dirty="0"/>
          </a:p>
          <a:p>
            <a:r>
              <a:rPr lang="tr-TR" dirty="0"/>
              <a:t>How can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still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problem</a:t>
            </a:r>
          </a:p>
          <a:p>
            <a:pPr lvl="1"/>
            <a:r>
              <a:rPr lang="tr-TR" dirty="0" err="1"/>
              <a:t>Heuristics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29D06-098D-4FE6-89E7-57128DBF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K-Clustering Problem: definition &amp;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Each entity </a:t>
            </a:r>
            <a:r>
              <a:rPr lang="tr-TR" i="1" dirty="0"/>
              <a:t>i</a:t>
            </a:r>
            <a:r>
              <a:rPr lang="tr-TR" dirty="0"/>
              <a:t> is an element of </a:t>
            </a:r>
            <a:r>
              <a:rPr lang="tr-TR" i="1" dirty="0"/>
              <a:t>{1,…,n}</a:t>
            </a:r>
          </a:p>
          <a:p>
            <a:r>
              <a:rPr lang="tr-TR" dirty="0"/>
              <a:t>Suppose there are </a:t>
            </a:r>
            <a:r>
              <a:rPr lang="tr-TR" i="1" dirty="0"/>
              <a:t>N</a:t>
            </a:r>
            <a:r>
              <a:rPr lang="tr-TR" dirty="0"/>
              <a:t> attributes that describe each entity as </a:t>
            </a:r>
            <a:r>
              <a:rPr lang="tr-TR" i="1" dirty="0"/>
              <a:t>a</a:t>
            </a:r>
            <a:r>
              <a:rPr lang="tr-TR" i="1" baseline="-25000" dirty="0"/>
              <a:t>ik</a:t>
            </a:r>
            <a:r>
              <a:rPr lang="tr-TR" dirty="0"/>
              <a:t> (</a:t>
            </a:r>
            <a:r>
              <a:rPr lang="tr-TR" dirty="0" err="1"/>
              <a:t>numeric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) </a:t>
            </a:r>
            <a:r>
              <a:rPr lang="tr-TR" dirty="0" err="1"/>
              <a:t>corresponding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features</a:t>
            </a:r>
            <a:endParaRPr lang="tr-TR" dirty="0"/>
          </a:p>
          <a:p>
            <a:r>
              <a:rPr lang="tr-TR" dirty="0"/>
              <a:t>Define dis-similarity between </a:t>
            </a:r>
            <a:r>
              <a:rPr lang="tr-TR" i="1" dirty="0"/>
              <a:t>i</a:t>
            </a:r>
            <a:r>
              <a:rPr lang="tr-TR" dirty="0"/>
              <a:t> and </a:t>
            </a:r>
            <a:r>
              <a:rPr lang="tr-TR" i="1" dirty="0"/>
              <a:t>j</a:t>
            </a:r>
            <a:r>
              <a:rPr lang="tr-TR" dirty="0"/>
              <a:t> as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distance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Euclidean</a:t>
            </a:r>
            <a:r>
              <a:rPr lang="tr-TR" dirty="0"/>
              <a:t> </a:t>
            </a:r>
            <a:r>
              <a:rPr lang="tr-TR" dirty="0" err="1"/>
              <a:t>distance</a:t>
            </a:r>
            <a:endParaRPr lang="tr-TR" dirty="0"/>
          </a:p>
          <a:p>
            <a:r>
              <a:rPr lang="tr-TR" dirty="0" err="1"/>
              <a:t>You</a:t>
            </a:r>
            <a:r>
              <a:rPr lang="tr-TR" dirty="0"/>
              <a:t> can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i="1" dirty="0"/>
              <a:t>w</a:t>
            </a:r>
            <a:r>
              <a:rPr lang="tr-TR" i="1" baseline="-25000" dirty="0"/>
              <a:t>i</a:t>
            </a:r>
            <a:r>
              <a:rPr lang="tr-TR" dirty="0"/>
              <a:t> as the importance/weight of </a:t>
            </a:r>
            <a:r>
              <a:rPr lang="tr-TR" dirty="0" err="1"/>
              <a:t>entity</a:t>
            </a:r>
            <a:r>
              <a:rPr lang="tr-TR" dirty="0"/>
              <a:t> </a:t>
            </a:r>
            <a:r>
              <a:rPr lang="tr-TR" i="1" dirty="0"/>
              <a:t>i. </a:t>
            </a:r>
            <a:r>
              <a:rPr lang="tr-TR" dirty="0" err="1"/>
              <a:t>We</a:t>
            </a:r>
            <a:r>
              <a:rPr lang="tr-TR" dirty="0"/>
              <a:t> do not </a:t>
            </a:r>
            <a:r>
              <a:rPr lang="tr-TR" dirty="0" err="1"/>
              <a:t>consider</a:t>
            </a:r>
            <a:r>
              <a:rPr lang="tr-TR" dirty="0"/>
              <a:t> </a:t>
            </a:r>
            <a:r>
              <a:rPr lang="tr-TR" dirty="0" err="1"/>
              <a:t>weights</a:t>
            </a:r>
            <a:r>
              <a:rPr lang="tr-TR" dirty="0"/>
              <a:t> in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BBAFD-EE84-4356-857F-9BCF1FA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8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K-Clustering Problem: definition &amp;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assign</a:t>
            </a:r>
            <a:r>
              <a:rPr lang="tr-TR" dirty="0"/>
              <a:t> at </a:t>
            </a:r>
            <a:r>
              <a:rPr lang="tr-TR" dirty="0" err="1"/>
              <a:t>most</a:t>
            </a:r>
            <a:r>
              <a:rPr lang="tr-TR" dirty="0"/>
              <a:t> </a:t>
            </a:r>
            <a:r>
              <a:rPr lang="tr-TR" i="1" dirty="0"/>
              <a:t>k</a:t>
            </a:r>
            <a:r>
              <a:rPr lang="en-US" i="1" dirty="0"/>
              <a:t> (also called p)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centers</a:t>
            </a:r>
            <a:endParaRPr lang="tr-TR" dirty="0"/>
          </a:p>
          <a:p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 is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exactly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point</a:t>
            </a:r>
            <a:r>
              <a:rPr lang="tr-TR" dirty="0"/>
              <a:t> can </a:t>
            </a:r>
            <a:r>
              <a:rPr lang="tr-TR" dirty="0" err="1"/>
              <a:t>only</a:t>
            </a:r>
            <a:r>
              <a:rPr lang="tr-TR" dirty="0"/>
              <a:t> be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</a:t>
            </a:r>
            <a:endParaRPr lang="tr-TR" dirty="0"/>
          </a:p>
          <a:p>
            <a:r>
              <a:rPr lang="tr-TR" dirty="0" err="1"/>
              <a:t>Objective</a:t>
            </a:r>
            <a:r>
              <a:rPr lang="tr-TR" dirty="0"/>
              <a:t>: Minimize </a:t>
            </a:r>
            <a:r>
              <a:rPr lang="tr-TR" dirty="0" err="1"/>
              <a:t>the</a:t>
            </a:r>
            <a:r>
              <a:rPr lang="tr-TR" dirty="0"/>
              <a:t> total </a:t>
            </a:r>
            <a:r>
              <a:rPr lang="tr-TR" dirty="0" err="1"/>
              <a:t>distance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observation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</a:t>
            </a:r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BBAFD-EE84-4356-857F-9BCF1FA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46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4" name="Text Box 4">
            <a:extLst>
              <a:ext uri="{FF2B5EF4-FFF2-40B4-BE49-F238E27FC236}">
                <a16:creationId xmlns:a16="http://schemas.microsoft.com/office/drawing/2014/main" id="{4C676C6C-EC31-469A-A438-02DD9139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08113"/>
            <a:ext cx="799465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In the p-Median problem we are interested in finding the location of </a:t>
            </a:r>
            <a:r>
              <a:rPr lang="en-US" altLang="en-US" sz="2800" i="1" dirty="0"/>
              <a:t>p</a:t>
            </a:r>
            <a:r>
              <a:rPr lang="en-US" altLang="en-US" sz="2800" dirty="0"/>
              <a:t> facilities to serve demand nodes so that the transportation cost is minimized.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The transportation cost is given by the product of the demand at the demand node and the distance between the demand node and the facility that serves the demand node.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 There are no capacity constraints at the facilities.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7F8AB-0FD3-4331-A4C6-1C624969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Median</a:t>
            </a:r>
            <a:r>
              <a:rPr lang="tr-TR" dirty="0"/>
              <a:t>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Text Box 2">
            <a:extLst>
              <a:ext uri="{FF2B5EF4-FFF2-40B4-BE49-F238E27FC236}">
                <a16:creationId xmlns:a16="http://schemas.microsoft.com/office/drawing/2014/main" id="{860D4596-EA56-4B83-B1CF-69A13F419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925" y="15017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D6A2D6A4-8FDA-4A5A-BFD6-E0B13222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1" y="1882775"/>
            <a:ext cx="81280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/>
              <a:t>As there are no capacity constraints at the facilities, it is optimal to satisfy the demand at a demand node from a </a:t>
            </a:r>
            <a:r>
              <a:rPr lang="en-US" altLang="en-US" sz="2800" u="sng" dirty="0"/>
              <a:t>single</a:t>
            </a:r>
            <a:r>
              <a:rPr lang="en-US" altLang="en-US" sz="2800" dirty="0"/>
              <a:t> facility. </a:t>
            </a:r>
          </a:p>
          <a:p>
            <a:endParaRPr lang="en-US" altLang="en-US" sz="2800" dirty="0"/>
          </a:p>
          <a:p>
            <a:r>
              <a:rPr lang="en-US" altLang="en-US" sz="2800" dirty="0"/>
              <a:t>An optimal solution can be found by restricting the search to the demand nodes.</a:t>
            </a:r>
          </a:p>
          <a:p>
            <a:endParaRPr lang="en-US" altLang="en-US" sz="2800" dirty="0"/>
          </a:p>
          <a:p>
            <a:r>
              <a:rPr lang="en-US" altLang="en-US" sz="2800" dirty="0"/>
              <a:t>Fixed costs are assumed to be equal.</a:t>
            </a:r>
          </a:p>
          <a:p>
            <a:endParaRPr lang="en-US" altLang="en-US" sz="2800" dirty="0"/>
          </a:p>
          <a:p>
            <a:r>
              <a:rPr lang="en-US" altLang="en-US" sz="2800" dirty="0"/>
              <a:t>The number of possible solutions is </a:t>
            </a:r>
          </a:p>
        </p:txBody>
      </p:sp>
      <p:sp>
        <p:nvSpPr>
          <p:cNvPr id="259077" name="Text Box 5">
            <a:extLst>
              <a:ext uri="{FF2B5EF4-FFF2-40B4-BE49-F238E27FC236}">
                <a16:creationId xmlns:a16="http://schemas.microsoft.com/office/drawing/2014/main" id="{C934F365-C588-4D7D-996A-D09B17201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1220788"/>
            <a:ext cx="1630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Remarks</a:t>
            </a:r>
          </a:p>
        </p:txBody>
      </p:sp>
      <p:graphicFrame>
        <p:nvGraphicFramePr>
          <p:cNvPr id="259078" name="Object 6">
            <a:extLst>
              <a:ext uri="{FF2B5EF4-FFF2-40B4-BE49-F238E27FC236}">
                <a16:creationId xmlns:a16="http://schemas.microsoft.com/office/drawing/2014/main" id="{491CECB1-C320-4681-9EC6-E56BC2AB8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1450" y="5602288"/>
          <a:ext cx="10477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419040" progId="Equation.3">
                  <p:embed/>
                </p:oleObj>
              </mc:Choice>
              <mc:Fallback>
                <p:oleObj name="Equation" r:id="rId3" imgW="634680" imgH="419040" progId="Equation.3">
                  <p:embed/>
                  <p:pic>
                    <p:nvPicPr>
                      <p:cNvPr id="259078" name="Object 6">
                        <a:extLst>
                          <a:ext uri="{FF2B5EF4-FFF2-40B4-BE49-F238E27FC236}">
                            <a16:creationId xmlns:a16="http://schemas.microsoft.com/office/drawing/2014/main" id="{491CECB1-C320-4681-9EC6-E56BC2AB8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5602288"/>
                        <a:ext cx="104775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82D20A2-D05F-4861-B85A-4862827C1B0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Median</a:t>
            </a:r>
            <a:r>
              <a:rPr lang="tr-TR" dirty="0"/>
              <a:t>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83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9" name="Text Box 3">
            <a:extLst>
              <a:ext uri="{FF2B5EF4-FFF2-40B4-BE49-F238E27FC236}">
                <a16:creationId xmlns:a16="http://schemas.microsoft.com/office/drawing/2014/main" id="{8CF0A852-D71E-4B94-B233-7710565D6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1552575"/>
            <a:ext cx="7516813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For even moderate values of </a:t>
            </a:r>
            <a:r>
              <a:rPr lang="en-US" altLang="en-US" i="1"/>
              <a:t>n</a:t>
            </a:r>
            <a:r>
              <a:rPr lang="en-US" altLang="en-US"/>
              <a:t> and </a:t>
            </a:r>
            <a:r>
              <a:rPr lang="en-US" altLang="en-US" i="1"/>
              <a:t>p</a:t>
            </a:r>
            <a:r>
              <a:rPr lang="en-US" altLang="en-US"/>
              <a:t> the number of possible solutions can be very large:</a:t>
            </a:r>
          </a:p>
          <a:p>
            <a:endParaRPr lang="en-US" altLang="en-US"/>
          </a:p>
          <a:p>
            <a:r>
              <a:rPr lang="en-US" altLang="en-US"/>
              <a:t>For example, if </a:t>
            </a:r>
            <a:r>
              <a:rPr lang="en-US" altLang="en-US" i="1"/>
              <a:t>n</a:t>
            </a:r>
            <a:r>
              <a:rPr lang="en-US" altLang="en-US"/>
              <a:t>=20 and </a:t>
            </a:r>
            <a:r>
              <a:rPr lang="en-US" altLang="en-US" i="1"/>
              <a:t>p</a:t>
            </a:r>
            <a:r>
              <a:rPr lang="en-US" altLang="en-US"/>
              <a:t>=5, there are 15,504 solutions.</a:t>
            </a:r>
          </a:p>
          <a:p>
            <a:endParaRPr lang="en-US" altLang="en-US"/>
          </a:p>
          <a:p>
            <a:r>
              <a:rPr lang="en-US" altLang="en-US"/>
              <a:t>If </a:t>
            </a:r>
            <a:r>
              <a:rPr lang="en-US" altLang="en-US" i="1"/>
              <a:t>n</a:t>
            </a:r>
            <a:r>
              <a:rPr lang="en-US" altLang="en-US"/>
              <a:t>=50 and </a:t>
            </a:r>
            <a:r>
              <a:rPr lang="en-US" altLang="en-US" i="1"/>
              <a:t>p</a:t>
            </a:r>
            <a:r>
              <a:rPr lang="en-US" altLang="en-US"/>
              <a:t>=10, the problem has more than 10</a:t>
            </a:r>
            <a:r>
              <a:rPr lang="en-US" altLang="en-US" baseline="30000"/>
              <a:t>10</a:t>
            </a:r>
            <a:r>
              <a:rPr lang="en-US" altLang="en-US"/>
              <a:t> possible solutions.</a:t>
            </a:r>
          </a:p>
          <a:p>
            <a:endParaRPr lang="en-US" altLang="en-US"/>
          </a:p>
          <a:p>
            <a:r>
              <a:rPr lang="en-US" altLang="en-US"/>
              <a:t>If you could evaluate 1 million solutions per second, it will take you 3 hours for total enumeration.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A646A8-7E50-4670-A99F-5CF9BE24453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Median</a:t>
            </a:r>
            <a:r>
              <a:rPr lang="tr-TR" dirty="0"/>
              <a:t>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4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6551" y="1600200"/>
            <a:ext cx="3270250" cy="4525963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A, D, E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centers</a:t>
            </a:r>
            <a:endParaRPr lang="tr-TR" dirty="0"/>
          </a:p>
          <a:p>
            <a:r>
              <a:rPr lang="tr-TR" dirty="0"/>
              <a:t>A, B is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</a:t>
            </a:r>
          </a:p>
          <a:p>
            <a:r>
              <a:rPr lang="tr-TR" dirty="0"/>
              <a:t>C, D is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D</a:t>
            </a:r>
          </a:p>
          <a:p>
            <a:r>
              <a:rPr lang="tr-TR" dirty="0"/>
              <a:t>E, F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E</a:t>
            </a:r>
          </a:p>
          <a:p>
            <a:r>
              <a:rPr lang="tr-TR" dirty="0"/>
              <a:t>Total </a:t>
            </a:r>
            <a:r>
              <a:rPr lang="tr-TR" dirty="0" err="1"/>
              <a:t>distance</a:t>
            </a:r>
            <a:r>
              <a:rPr lang="tr-TR" dirty="0"/>
              <a:t>: 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median</a:t>
            </a:r>
            <a:r>
              <a:rPr lang="tr-TR" dirty="0"/>
              <a:t> Example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609600" y="2133600"/>
            <a:ext cx="4800600" cy="3444875"/>
            <a:chOff x="336" y="1488"/>
            <a:chExt cx="3024" cy="2170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440" y="148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80" y="158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2400" y="321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400" y="158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440" y="230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480" y="321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B</a:t>
              </a:r>
            </a:p>
          </p:txBody>
        </p:sp>
        <p:cxnSp>
          <p:nvCxnSpPr>
            <p:cNvPr id="11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624" y="1872"/>
              <a:ext cx="0" cy="13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" name="AutoShape 12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726" y="1830"/>
              <a:ext cx="756" cy="51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" name="AutoShape 13"/>
            <p:cNvCxnSpPr>
              <a:cxnSpLocks noChangeShapeType="1"/>
              <a:stCxn id="9" idx="7"/>
              <a:endCxn id="8" idx="3"/>
            </p:cNvCxnSpPr>
            <p:nvPr/>
          </p:nvCxnSpPr>
          <p:spPr bwMode="auto">
            <a:xfrm flipV="1">
              <a:off x="1686" y="1830"/>
              <a:ext cx="756" cy="51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" name="AutoShape 14"/>
            <p:cNvCxnSpPr>
              <a:cxnSpLocks noChangeShapeType="1"/>
              <a:stCxn id="8" idx="4"/>
              <a:endCxn id="7" idx="0"/>
            </p:cNvCxnSpPr>
            <p:nvPr/>
          </p:nvCxnSpPr>
          <p:spPr bwMode="auto">
            <a:xfrm>
              <a:off x="2544" y="1872"/>
              <a:ext cx="0" cy="13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" name="AutoShape 15"/>
            <p:cNvCxnSpPr>
              <a:cxnSpLocks noChangeShapeType="1"/>
              <a:stCxn id="10" idx="6"/>
              <a:endCxn id="7" idx="2"/>
            </p:cNvCxnSpPr>
            <p:nvPr/>
          </p:nvCxnSpPr>
          <p:spPr bwMode="auto">
            <a:xfrm>
              <a:off x="768" y="3360"/>
              <a:ext cx="163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" name="AutoShape 16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768" y="1728"/>
              <a:ext cx="163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9" idx="3"/>
              <a:endCxn id="10" idx="7"/>
            </p:cNvCxnSpPr>
            <p:nvPr/>
          </p:nvCxnSpPr>
          <p:spPr bwMode="auto">
            <a:xfrm flipH="1">
              <a:off x="726" y="2550"/>
              <a:ext cx="756" cy="70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336" y="235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2256" y="240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1440" y="340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17</a:t>
              </a: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776" y="283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864" y="2112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688" y="273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cxnSp>
          <p:nvCxnSpPr>
            <p:cNvPr id="25" name="AutoShape 25"/>
            <p:cNvCxnSpPr>
              <a:cxnSpLocks noChangeShapeType="1"/>
              <a:stCxn id="9" idx="5"/>
              <a:endCxn id="7" idx="1"/>
            </p:cNvCxnSpPr>
            <p:nvPr/>
          </p:nvCxnSpPr>
          <p:spPr bwMode="auto">
            <a:xfrm>
              <a:off x="1686" y="2550"/>
              <a:ext cx="756" cy="70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24" idx="0"/>
              <a:endCxn id="8" idx="5"/>
            </p:cNvCxnSpPr>
            <p:nvPr/>
          </p:nvCxnSpPr>
          <p:spPr bwMode="auto">
            <a:xfrm flipH="1" flipV="1">
              <a:off x="2646" y="1830"/>
              <a:ext cx="570" cy="522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7" idx="7"/>
              <a:endCxn id="24" idx="4"/>
            </p:cNvCxnSpPr>
            <p:nvPr/>
          </p:nvCxnSpPr>
          <p:spPr bwMode="auto">
            <a:xfrm flipV="1">
              <a:off x="2646" y="2640"/>
              <a:ext cx="570" cy="61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816" y="264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1776" y="192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2928" y="187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7</a:t>
              </a: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597EBF5-64C3-4520-92EB-1E04F728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2985E5B-3E85-4B75-976C-1131F1A0C3BE}"/>
                  </a:ext>
                </a:extLst>
              </p14:cNvPr>
              <p14:cNvContentPartPr/>
              <p14:nvPr/>
            </p14:nvContentPartPr>
            <p14:xfrm>
              <a:off x="184885" y="2064716"/>
              <a:ext cx="546120" cy="3120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2985E5B-3E85-4B75-976C-1131F1A0C3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245" y="2055716"/>
                <a:ext cx="563760" cy="31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21B1FBE-D3F0-4D04-BB44-541E29E7872A}"/>
                  </a:ext>
                </a:extLst>
              </p14:cNvPr>
              <p14:cNvContentPartPr/>
              <p14:nvPr/>
            </p14:nvContentPartPr>
            <p14:xfrm>
              <a:off x="2495725" y="2015036"/>
              <a:ext cx="1627560" cy="1417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21B1FBE-D3F0-4D04-BB44-541E29E787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7085" y="2006396"/>
                <a:ext cx="1645200" cy="14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6801212-A5D4-4141-944F-E4590A7A4EEF}"/>
                  </a:ext>
                </a:extLst>
              </p14:cNvPr>
              <p14:cNvContentPartPr/>
              <p14:nvPr/>
            </p14:nvContentPartPr>
            <p14:xfrm>
              <a:off x="4316605" y="3957596"/>
              <a:ext cx="1025640" cy="1580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6801212-A5D4-4141-944F-E4590A7A4E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07965" y="3948596"/>
                <a:ext cx="1043280" cy="15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49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4" name="Text Box 4">
            <a:extLst>
              <a:ext uri="{FF2B5EF4-FFF2-40B4-BE49-F238E27FC236}">
                <a16:creationId xmlns:a16="http://schemas.microsoft.com/office/drawing/2014/main" id="{630B6FD2-3973-4F8A-80C8-83E5B858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6502"/>
            <a:ext cx="814705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tr-TR" sz="2800" dirty="0"/>
              <a:t>In the p-median problem we are interested in finding the location of </a:t>
            </a:r>
            <a:r>
              <a:rPr lang="en-US" altLang="tr-TR" sz="2800" i="1" dirty="0"/>
              <a:t>p</a:t>
            </a:r>
            <a:r>
              <a:rPr lang="en-US" altLang="tr-TR" sz="2800" dirty="0"/>
              <a:t> facilities to serve demand nodes so that the transportation cost is minimized.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tr-T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tr-TR" sz="2800" dirty="0"/>
              <a:t>The transportation cost is given by the product of the demand at the demand node and the distance between the demand node and the facility that serves the demand node.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tr-T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tr-TR" sz="2800" dirty="0"/>
              <a:t> There are no capacity constraints at the facilities.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4B6CA07-4CD2-4526-B5B3-2E4E636E4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The p-Median Problem</a:t>
            </a:r>
          </a:p>
        </p:txBody>
      </p:sp>
    </p:spTree>
    <p:extLst>
      <p:ext uri="{BB962C8B-B14F-4D97-AF65-F5344CB8AC3E}">
        <p14:creationId xmlns:p14="http://schemas.microsoft.com/office/powerpoint/2010/main" val="1472621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(K-Median) p-Median Problem</a:t>
            </a:r>
          </a:p>
        </p:txBody>
      </p:sp>
      <p:graphicFrame>
        <p:nvGraphicFramePr>
          <p:cNvPr id="236547" name="Object 3"/>
          <p:cNvGraphicFramePr>
            <a:graphicFrameLocks noChangeAspect="1"/>
          </p:cNvGraphicFramePr>
          <p:nvPr/>
        </p:nvGraphicFramePr>
        <p:xfrm>
          <a:off x="2779713" y="2930525"/>
          <a:ext cx="2597150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1549080" progId="Equation.3">
                  <p:embed/>
                </p:oleObj>
              </mc:Choice>
              <mc:Fallback>
                <p:oleObj name="Equation" r:id="rId3" imgW="1384200" imgH="1549080" progId="Equation.3">
                  <p:embed/>
                  <p:pic>
                    <p:nvPicPr>
                      <p:cNvPr id="2365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2930525"/>
                        <a:ext cx="2597150" cy="290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49" name="Object 5"/>
          <p:cNvGraphicFramePr>
            <a:graphicFrameLocks noChangeAspect="1"/>
          </p:cNvGraphicFramePr>
          <p:nvPr/>
        </p:nvGraphicFramePr>
        <p:xfrm>
          <a:off x="2754313" y="1905364"/>
          <a:ext cx="13874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368280" progId="Equation.3">
                  <p:embed/>
                </p:oleObj>
              </mc:Choice>
              <mc:Fallback>
                <p:oleObj name="Equation" r:id="rId5" imgW="698400" imgH="368280" progId="Equation.3">
                  <p:embed/>
                  <p:pic>
                    <p:nvPicPr>
                      <p:cNvPr id="2365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1905364"/>
                        <a:ext cx="138747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762000" y="1930764"/>
            <a:ext cx="1573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Minimize</a:t>
            </a:r>
          </a:p>
        </p:txBody>
      </p:sp>
      <p:sp>
        <p:nvSpPr>
          <p:cNvPr id="236552" name="Text Box 8"/>
          <p:cNvSpPr txBox="1">
            <a:spLocks noChangeArrowheads="1"/>
          </p:cNvSpPr>
          <p:nvPr/>
        </p:nvSpPr>
        <p:spPr bwMode="auto">
          <a:xfrm>
            <a:off x="762000" y="2900726"/>
            <a:ext cx="1804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Subject to</a:t>
            </a:r>
          </a:p>
        </p:txBody>
      </p:sp>
      <p:graphicFrame>
        <p:nvGraphicFramePr>
          <p:cNvPr id="236553" name="Object 9"/>
          <p:cNvGraphicFramePr>
            <a:graphicFrameLocks noChangeAspect="1"/>
          </p:cNvGraphicFramePr>
          <p:nvPr/>
        </p:nvGraphicFramePr>
        <p:xfrm>
          <a:off x="5970588" y="3597275"/>
          <a:ext cx="2924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241200" progId="Equation.3">
                  <p:embed/>
                </p:oleObj>
              </mc:Choice>
              <mc:Fallback>
                <p:oleObj name="Equation" r:id="rId7" imgW="1473120" imgH="241200" progId="Equation.3">
                  <p:embed/>
                  <p:pic>
                    <p:nvPicPr>
                      <p:cNvPr id="2365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3597275"/>
                        <a:ext cx="2924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4" name="Object 10"/>
          <p:cNvGraphicFramePr>
            <a:graphicFrameLocks noChangeAspect="1"/>
          </p:cNvGraphicFramePr>
          <p:nvPr/>
        </p:nvGraphicFramePr>
        <p:xfrm>
          <a:off x="5832475" y="4905375"/>
          <a:ext cx="31765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00200" imgH="241200" progId="Equation.3">
                  <p:embed/>
                </p:oleObj>
              </mc:Choice>
              <mc:Fallback>
                <p:oleObj name="Equation" r:id="rId9" imgW="1600200" imgH="241200" progId="Equation.3">
                  <p:embed/>
                  <p:pic>
                    <p:nvPicPr>
                      <p:cNvPr id="2365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4905375"/>
                        <a:ext cx="31765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5" name="Line 11"/>
          <p:cNvSpPr>
            <a:spLocks noChangeShapeType="1"/>
          </p:cNvSpPr>
          <p:nvPr/>
        </p:nvSpPr>
        <p:spPr bwMode="auto">
          <a:xfrm>
            <a:off x="2535238" y="5201014"/>
            <a:ext cx="3084512" cy="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tr-TR"/>
          </a:p>
        </p:txBody>
      </p:sp>
      <p:sp>
        <p:nvSpPr>
          <p:cNvPr id="236556" name="Line 12"/>
          <p:cNvSpPr>
            <a:spLocks noChangeShapeType="1"/>
          </p:cNvSpPr>
          <p:nvPr/>
        </p:nvSpPr>
        <p:spPr bwMode="auto">
          <a:xfrm>
            <a:off x="2547938" y="3816714"/>
            <a:ext cx="3084512" cy="0"/>
          </a:xfrm>
          <a:prstGeom prst="line">
            <a:avLst/>
          </a:prstGeom>
          <a:noFill/>
          <a:ln w="31750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D24EEB-2E40-4EB7-AB5D-62DB13AD004C}"/>
                  </a:ext>
                </a:extLst>
              </p:cNvPr>
              <p:cNvSpPr txBox="1"/>
              <p:nvPr/>
            </p:nvSpPr>
            <p:spPr>
              <a:xfrm>
                <a:off x="4141788" y="4302602"/>
                <a:ext cx="1937857" cy="400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nary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D24EEB-2E40-4EB7-AB5D-62DB13AD0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788" y="4302602"/>
                <a:ext cx="1937857" cy="400302"/>
              </a:xfrm>
              <a:prstGeom prst="rect">
                <a:avLst/>
              </a:prstGeom>
              <a:blipFill>
                <a:blip r:embed="rId12"/>
                <a:stretch>
                  <a:fillRect l="-4403" t="-123077" b="-18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9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5" grpId="0" animBg="1"/>
      <p:bldP spid="2365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p-Median Problem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General Assumption: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1. Network type customer and facilities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2. Candidate facilities are located on the customer nodes, given a network of customers connected to each other.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Even if not so, …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Property: At least one optimal solution consists of locating the </a:t>
            </a:r>
            <a:r>
              <a:rPr lang="en-US" i="1" dirty="0"/>
              <a:t>p</a:t>
            </a:r>
            <a:r>
              <a:rPr lang="en-US" dirty="0"/>
              <a:t> facilities on the customer nodes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2852696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p-Median Problem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of alternative solutions:</a:t>
            </a:r>
          </a:p>
          <a:p>
            <a:endParaRPr lang="en-US" dirty="0"/>
          </a:p>
          <a:p>
            <a:pPr lvl="1"/>
            <a:endParaRPr lang="tr-TR" dirty="0"/>
          </a:p>
          <a:p>
            <a:pPr lvl="1"/>
            <a:r>
              <a:rPr lang="en-US" dirty="0"/>
              <a:t>fixed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polynomial in N should be solvable???</a:t>
            </a:r>
          </a:p>
          <a:p>
            <a:pPr lvl="1"/>
            <a:r>
              <a:rPr lang="en-US" dirty="0">
                <a:sym typeface="Wingdings" pitchFamily="2" charset="2"/>
              </a:rPr>
              <a:t>variable </a:t>
            </a:r>
            <a:r>
              <a:rPr lang="en-US" i="1" dirty="0">
                <a:sym typeface="Wingdings" pitchFamily="2" charset="2"/>
              </a:rPr>
              <a:t>p</a:t>
            </a:r>
            <a:r>
              <a:rPr lang="en-US" dirty="0">
                <a:sym typeface="Wingdings" pitchFamily="2" charset="2"/>
              </a:rPr>
              <a:t>  </a:t>
            </a:r>
            <a:r>
              <a:rPr lang="en-US" i="1" dirty="0">
                <a:sym typeface="Wingdings" pitchFamily="2" charset="2"/>
              </a:rPr>
              <a:t>O(2</a:t>
            </a:r>
            <a:r>
              <a:rPr lang="en-US" i="1" baseline="30000" dirty="0">
                <a:sym typeface="Wingdings" pitchFamily="2" charset="2"/>
              </a:rPr>
              <a:t>N</a:t>
            </a:r>
            <a:r>
              <a:rPr lang="en-US" i="1" dirty="0">
                <a:sym typeface="Wingdings" pitchFamily="2" charset="2"/>
              </a:rPr>
              <a:t>)</a:t>
            </a:r>
            <a:r>
              <a:rPr lang="en-US" dirty="0">
                <a:sym typeface="Wingdings" pitchFamily="2" charset="2"/>
              </a:rPr>
              <a:t> too much computational effort!!!</a:t>
            </a:r>
          </a:p>
          <a:p>
            <a:r>
              <a:rPr lang="en-US" dirty="0"/>
              <a:t>The problem is </a:t>
            </a:r>
            <a:r>
              <a:rPr lang="en-US" i="1" dirty="0"/>
              <a:t>NP-Complete</a:t>
            </a:r>
            <a:r>
              <a:rPr lang="en-US" dirty="0"/>
              <a:t> in general.</a:t>
            </a:r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/>
        </p:nvGraphicFramePr>
        <p:xfrm>
          <a:off x="3581400" y="2261415"/>
          <a:ext cx="228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457200" progId="Equation.3">
                  <p:embed/>
                </p:oleObj>
              </mc:Choice>
              <mc:Fallback>
                <p:oleObj name="Equation" r:id="rId3" imgW="1143000" imgH="457200" progId="Equation.3">
                  <p:embed/>
                  <p:pic>
                    <p:nvPicPr>
                      <p:cNvPr id="2447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261415"/>
                        <a:ext cx="22860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Text Box 5"/>
          <p:cNvSpPr txBox="1">
            <a:spLocks noChangeArrowheads="1"/>
          </p:cNvSpPr>
          <p:nvPr/>
        </p:nvSpPr>
        <p:spPr bwMode="auto">
          <a:xfrm>
            <a:off x="381000" y="5697406"/>
            <a:ext cx="849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hlink"/>
                </a:solidFill>
              </a:rPr>
              <a:t>WE NEED TO DEVELOP/USE HEURISTIC METHODS!!!</a:t>
            </a:r>
          </a:p>
        </p:txBody>
      </p:sp>
    </p:spTree>
    <p:extLst>
      <p:ext uri="{BB962C8B-B14F-4D97-AF65-F5344CB8AC3E}">
        <p14:creationId xmlns:p14="http://schemas.microsoft.com/office/powerpoint/2010/main" val="184352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P-Median: Heuristic algorithms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Construction algorithms</a:t>
            </a:r>
          </a:p>
          <a:p>
            <a:pPr lvl="1"/>
            <a:r>
              <a:rPr lang="en-US"/>
              <a:t>A myopic algorithm</a:t>
            </a:r>
          </a:p>
          <a:p>
            <a:pPr lvl="1"/>
            <a:endParaRPr lang="en-US"/>
          </a:p>
          <a:p>
            <a:r>
              <a:rPr lang="en-US"/>
              <a:t>Improvement algorithms</a:t>
            </a:r>
          </a:p>
          <a:p>
            <a:pPr lvl="1"/>
            <a:r>
              <a:rPr lang="en-US"/>
              <a:t>A neighborhood search algorithm</a:t>
            </a:r>
          </a:p>
          <a:p>
            <a:pPr lvl="1"/>
            <a:r>
              <a:rPr lang="en-US"/>
              <a:t>An exchange algorithm</a:t>
            </a:r>
          </a:p>
        </p:txBody>
      </p:sp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660400" y="4896840"/>
            <a:ext cx="79629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Two fundamental goals in computer science are finding algorithms with provably good run times and with provably good or optimal solution quality. A </a:t>
            </a:r>
            <a:r>
              <a:rPr lang="en-US" sz="1400" b="1" dirty="0"/>
              <a:t>heuristic</a:t>
            </a:r>
            <a:r>
              <a:rPr lang="en-US" sz="1400" dirty="0"/>
              <a:t> is an algorithm that gives up one or both of these goals; for example, it usually finds pretty good solutions, but there is no proof that solutions could not get arbitrarily bad; or it usually runs reasonably quickly, but there is no argument that this will always be the case.</a:t>
            </a:r>
          </a:p>
        </p:txBody>
      </p:sp>
    </p:spTree>
    <p:extLst>
      <p:ext uri="{BB962C8B-B14F-4D97-AF65-F5344CB8AC3E}">
        <p14:creationId xmlns:p14="http://schemas.microsoft.com/office/powerpoint/2010/main" val="289791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centers</a:t>
            </a:r>
            <a:r>
              <a:rPr lang="en-US" dirty="0"/>
              <a:t> Problem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assign</a:t>
            </a:r>
            <a:r>
              <a:rPr lang="tr-TR" dirty="0"/>
              <a:t> at </a:t>
            </a:r>
            <a:r>
              <a:rPr lang="tr-TR" dirty="0" err="1"/>
              <a:t>most</a:t>
            </a:r>
            <a:r>
              <a:rPr lang="tr-TR" dirty="0"/>
              <a:t> </a:t>
            </a:r>
            <a:r>
              <a:rPr lang="en-US" i="1" dirty="0"/>
              <a:t>p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centers</a:t>
            </a:r>
            <a:endParaRPr lang="tr-TR" dirty="0"/>
          </a:p>
          <a:p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 is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exactly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point</a:t>
            </a:r>
            <a:r>
              <a:rPr lang="tr-TR" dirty="0"/>
              <a:t> can </a:t>
            </a:r>
            <a:r>
              <a:rPr lang="tr-TR" dirty="0" err="1"/>
              <a:t>only</a:t>
            </a:r>
            <a:r>
              <a:rPr lang="tr-TR" dirty="0"/>
              <a:t> be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</a:t>
            </a:r>
            <a:endParaRPr lang="tr-TR" dirty="0"/>
          </a:p>
          <a:p>
            <a:r>
              <a:rPr lang="tr-TR" dirty="0" err="1"/>
              <a:t>Objective</a:t>
            </a:r>
            <a:r>
              <a:rPr lang="tr-TR" dirty="0"/>
              <a:t>: </a:t>
            </a:r>
            <a:r>
              <a:rPr lang="tr-TR" b="1" dirty="0"/>
              <a:t>Minimize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maximum</a:t>
            </a:r>
            <a:r>
              <a:rPr lang="tr-TR" b="1" dirty="0"/>
              <a:t> </a:t>
            </a:r>
            <a:r>
              <a:rPr lang="tr-TR" dirty="0" err="1"/>
              <a:t>distance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observation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</a:t>
            </a:r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BBAFD-EE84-4356-857F-9BCF1FA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04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6551" y="1600200"/>
            <a:ext cx="3270250" cy="4525963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A, D, E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</a:t>
            </a:r>
            <a:r>
              <a:rPr lang="tr-TR" dirty="0" err="1"/>
              <a:t>centers</a:t>
            </a:r>
            <a:endParaRPr lang="tr-TR" dirty="0"/>
          </a:p>
          <a:p>
            <a:r>
              <a:rPr lang="tr-TR" dirty="0"/>
              <a:t>A, B is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</a:t>
            </a:r>
          </a:p>
          <a:p>
            <a:r>
              <a:rPr lang="tr-TR" dirty="0"/>
              <a:t>C, D is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D</a:t>
            </a:r>
          </a:p>
          <a:p>
            <a:r>
              <a:rPr lang="tr-TR" dirty="0"/>
              <a:t>E, F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E</a:t>
            </a:r>
          </a:p>
          <a:p>
            <a:r>
              <a:rPr lang="tr-TR" dirty="0" err="1"/>
              <a:t>Max</a:t>
            </a:r>
            <a:r>
              <a:rPr lang="tr-TR" dirty="0"/>
              <a:t>. </a:t>
            </a:r>
            <a:r>
              <a:rPr lang="tr-TR" dirty="0" err="1"/>
              <a:t>distance</a:t>
            </a:r>
            <a:r>
              <a:rPr lang="tr-TR" dirty="0"/>
              <a:t>: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center</a:t>
            </a:r>
            <a:r>
              <a:rPr lang="tr-TR" dirty="0"/>
              <a:t> Example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609600" y="2133600"/>
            <a:ext cx="4800600" cy="3444875"/>
            <a:chOff x="336" y="1488"/>
            <a:chExt cx="3024" cy="2170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440" y="148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80" y="158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2400" y="321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400" y="158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440" y="230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480" y="321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B</a:t>
              </a:r>
            </a:p>
          </p:txBody>
        </p:sp>
        <p:cxnSp>
          <p:nvCxnSpPr>
            <p:cNvPr id="11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624" y="1872"/>
              <a:ext cx="0" cy="13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" name="AutoShape 12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726" y="1830"/>
              <a:ext cx="756" cy="51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" name="AutoShape 13"/>
            <p:cNvCxnSpPr>
              <a:cxnSpLocks noChangeShapeType="1"/>
              <a:stCxn id="9" idx="7"/>
              <a:endCxn id="8" idx="3"/>
            </p:cNvCxnSpPr>
            <p:nvPr/>
          </p:nvCxnSpPr>
          <p:spPr bwMode="auto">
            <a:xfrm flipV="1">
              <a:off x="1686" y="1830"/>
              <a:ext cx="756" cy="51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" name="AutoShape 14"/>
            <p:cNvCxnSpPr>
              <a:cxnSpLocks noChangeShapeType="1"/>
              <a:stCxn id="8" idx="4"/>
              <a:endCxn id="7" idx="0"/>
            </p:cNvCxnSpPr>
            <p:nvPr/>
          </p:nvCxnSpPr>
          <p:spPr bwMode="auto">
            <a:xfrm>
              <a:off x="2544" y="1872"/>
              <a:ext cx="0" cy="13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" name="AutoShape 15"/>
            <p:cNvCxnSpPr>
              <a:cxnSpLocks noChangeShapeType="1"/>
              <a:stCxn id="10" idx="6"/>
              <a:endCxn id="7" idx="2"/>
            </p:cNvCxnSpPr>
            <p:nvPr/>
          </p:nvCxnSpPr>
          <p:spPr bwMode="auto">
            <a:xfrm>
              <a:off x="768" y="3360"/>
              <a:ext cx="163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" name="AutoShape 16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768" y="1728"/>
              <a:ext cx="163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9" idx="3"/>
              <a:endCxn id="10" idx="7"/>
            </p:cNvCxnSpPr>
            <p:nvPr/>
          </p:nvCxnSpPr>
          <p:spPr bwMode="auto">
            <a:xfrm flipH="1">
              <a:off x="726" y="2550"/>
              <a:ext cx="756" cy="70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336" y="235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2256" y="240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1440" y="340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17</a:t>
              </a: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776" y="283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864" y="2112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688" y="273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cxnSp>
          <p:nvCxnSpPr>
            <p:cNvPr id="25" name="AutoShape 25"/>
            <p:cNvCxnSpPr>
              <a:cxnSpLocks noChangeShapeType="1"/>
              <a:stCxn id="9" idx="5"/>
              <a:endCxn id="7" idx="1"/>
            </p:cNvCxnSpPr>
            <p:nvPr/>
          </p:nvCxnSpPr>
          <p:spPr bwMode="auto">
            <a:xfrm>
              <a:off x="1686" y="2550"/>
              <a:ext cx="756" cy="70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24" idx="0"/>
              <a:endCxn id="8" idx="5"/>
            </p:cNvCxnSpPr>
            <p:nvPr/>
          </p:nvCxnSpPr>
          <p:spPr bwMode="auto">
            <a:xfrm flipH="1" flipV="1">
              <a:off x="2646" y="1830"/>
              <a:ext cx="570" cy="522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7" idx="7"/>
              <a:endCxn id="24" idx="4"/>
            </p:cNvCxnSpPr>
            <p:nvPr/>
          </p:nvCxnSpPr>
          <p:spPr bwMode="auto">
            <a:xfrm flipV="1">
              <a:off x="2646" y="2640"/>
              <a:ext cx="570" cy="61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816" y="264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1776" y="192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2928" y="187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7</a:t>
              </a: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597EBF5-64C3-4520-92EB-1E04F728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2985E5B-3E85-4B75-976C-1131F1A0C3BE}"/>
                  </a:ext>
                </a:extLst>
              </p14:cNvPr>
              <p14:cNvContentPartPr/>
              <p14:nvPr/>
            </p14:nvContentPartPr>
            <p14:xfrm>
              <a:off x="184885" y="2064716"/>
              <a:ext cx="546120" cy="3120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2985E5B-3E85-4B75-976C-1131F1A0C3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245" y="2055716"/>
                <a:ext cx="563760" cy="31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21B1FBE-D3F0-4D04-BB44-541E29E7872A}"/>
                  </a:ext>
                </a:extLst>
              </p14:cNvPr>
              <p14:cNvContentPartPr/>
              <p14:nvPr/>
            </p14:nvContentPartPr>
            <p14:xfrm>
              <a:off x="2495725" y="2015036"/>
              <a:ext cx="1627560" cy="1417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21B1FBE-D3F0-4D04-BB44-541E29E787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7085" y="2006396"/>
                <a:ext cx="1645200" cy="14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6801212-A5D4-4141-944F-E4590A7A4EEF}"/>
                  </a:ext>
                </a:extLst>
              </p14:cNvPr>
              <p14:cNvContentPartPr/>
              <p14:nvPr/>
            </p14:nvContentPartPr>
            <p14:xfrm>
              <a:off x="4316605" y="3957596"/>
              <a:ext cx="1025640" cy="1580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6801212-A5D4-4141-944F-E4590A7A4E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07965" y="3948596"/>
                <a:ext cx="1043280" cy="15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869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K-Clustering: K-center Example</a:t>
            </a: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609600" y="2209800"/>
            <a:ext cx="4800600" cy="3444875"/>
            <a:chOff x="336" y="1488"/>
            <a:chExt cx="3024" cy="2170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1440" y="148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480" y="158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2400" y="321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2400" y="158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1440" y="2304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0" name="Oval 11"/>
            <p:cNvSpPr>
              <a:spLocks noChangeArrowheads="1"/>
            </p:cNvSpPr>
            <p:nvPr/>
          </p:nvSpPr>
          <p:spPr bwMode="auto">
            <a:xfrm>
              <a:off x="480" y="3216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B</a:t>
              </a:r>
            </a:p>
          </p:txBody>
        </p:sp>
        <p:cxnSp>
          <p:nvCxnSpPr>
            <p:cNvPr id="11" name="AutoShape 12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624" y="1872"/>
              <a:ext cx="0" cy="13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" name="AutoShape 13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726" y="1830"/>
              <a:ext cx="756" cy="51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" name="AutoShape 14"/>
            <p:cNvCxnSpPr>
              <a:cxnSpLocks noChangeShapeType="1"/>
              <a:stCxn id="9" idx="7"/>
              <a:endCxn id="8" idx="3"/>
            </p:cNvCxnSpPr>
            <p:nvPr/>
          </p:nvCxnSpPr>
          <p:spPr bwMode="auto">
            <a:xfrm flipV="1">
              <a:off x="1686" y="1830"/>
              <a:ext cx="756" cy="51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4" name="AutoShape 15"/>
            <p:cNvCxnSpPr>
              <a:cxnSpLocks noChangeShapeType="1"/>
              <a:stCxn id="8" idx="4"/>
              <a:endCxn id="7" idx="0"/>
            </p:cNvCxnSpPr>
            <p:nvPr/>
          </p:nvCxnSpPr>
          <p:spPr bwMode="auto">
            <a:xfrm>
              <a:off x="2544" y="1872"/>
              <a:ext cx="0" cy="13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" name="AutoShape 16"/>
            <p:cNvCxnSpPr>
              <a:cxnSpLocks noChangeShapeType="1"/>
              <a:stCxn id="10" idx="6"/>
              <a:endCxn id="7" idx="2"/>
            </p:cNvCxnSpPr>
            <p:nvPr/>
          </p:nvCxnSpPr>
          <p:spPr bwMode="auto">
            <a:xfrm>
              <a:off x="768" y="3360"/>
              <a:ext cx="163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" name="AutoShape 17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768" y="1728"/>
              <a:ext cx="163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8"/>
            <p:cNvCxnSpPr>
              <a:cxnSpLocks noChangeShapeType="1"/>
              <a:stCxn id="9" idx="3"/>
              <a:endCxn id="10" idx="7"/>
            </p:cNvCxnSpPr>
            <p:nvPr/>
          </p:nvCxnSpPr>
          <p:spPr bwMode="auto">
            <a:xfrm flipH="1">
              <a:off x="726" y="2550"/>
              <a:ext cx="756" cy="70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336" y="235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2256" y="240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1440" y="340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17</a:t>
              </a: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1776" y="283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864" y="2112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2688" y="273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4" name="Oval 25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cxnSp>
          <p:nvCxnSpPr>
            <p:cNvPr id="25" name="AutoShape 26"/>
            <p:cNvCxnSpPr>
              <a:cxnSpLocks noChangeShapeType="1"/>
              <a:stCxn id="9" idx="5"/>
              <a:endCxn id="7" idx="1"/>
            </p:cNvCxnSpPr>
            <p:nvPr/>
          </p:nvCxnSpPr>
          <p:spPr bwMode="auto">
            <a:xfrm>
              <a:off x="1686" y="2550"/>
              <a:ext cx="756" cy="70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6" name="AutoShape 27"/>
            <p:cNvCxnSpPr>
              <a:cxnSpLocks noChangeShapeType="1"/>
              <a:stCxn id="24" idx="0"/>
              <a:endCxn id="8" idx="5"/>
            </p:cNvCxnSpPr>
            <p:nvPr/>
          </p:nvCxnSpPr>
          <p:spPr bwMode="auto">
            <a:xfrm flipH="1" flipV="1">
              <a:off x="2646" y="1830"/>
              <a:ext cx="570" cy="522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7" name="AutoShape 28"/>
            <p:cNvCxnSpPr>
              <a:cxnSpLocks noChangeShapeType="1"/>
              <a:stCxn id="7" idx="7"/>
              <a:endCxn id="24" idx="4"/>
            </p:cNvCxnSpPr>
            <p:nvPr/>
          </p:nvCxnSpPr>
          <p:spPr bwMode="auto">
            <a:xfrm flipV="1">
              <a:off x="2646" y="2640"/>
              <a:ext cx="570" cy="61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816" y="264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1776" y="192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2928" y="187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latin typeface="Times New Roman" pitchFamily="18" charset="0"/>
                </a:rPr>
                <a:t>7</a:t>
              </a:r>
            </a:p>
          </p:txBody>
        </p:sp>
      </p:grpSp>
      <p:graphicFrame>
        <p:nvGraphicFramePr>
          <p:cNvPr id="31" name="Object 32"/>
          <p:cNvGraphicFramePr>
            <a:graphicFrameLocks noChangeAspect="1"/>
          </p:cNvGraphicFramePr>
          <p:nvPr/>
        </p:nvGraphicFramePr>
        <p:xfrm>
          <a:off x="4953000" y="4648200"/>
          <a:ext cx="3886200" cy="191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438376" imgH="1304859" progId="Excel.Sheet.8">
                  <p:embed/>
                </p:oleObj>
              </mc:Choice>
              <mc:Fallback>
                <p:oleObj name="Worksheet" r:id="rId3" imgW="2438376" imgH="1304859" progId="Excel.Sheet.8">
                  <p:embed/>
                  <p:pic>
                    <p:nvPicPr>
                      <p:cNvPr id="3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648200"/>
                        <a:ext cx="3886200" cy="191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3753D5A3-BFF4-4577-9107-B569C0C1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49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3B0A-5589-47C2-B52E-95AAC0E2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K-</a:t>
            </a:r>
            <a:r>
              <a:rPr lang="tr-TR" dirty="0" err="1"/>
              <a:t>Means</a:t>
            </a:r>
            <a:r>
              <a:rPr lang="tr-TR" dirty="0"/>
              <a:t> </a:t>
            </a:r>
            <a:r>
              <a:rPr lang="tr-TR" dirty="0" err="1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97F-9A58-48D4-BE9C-B5041462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 with a random set of cluster centers</a:t>
            </a:r>
          </a:p>
          <a:p>
            <a:r>
              <a:rPr lang="en-US" dirty="0"/>
              <a:t>Assign every customer to the closest cluster center</a:t>
            </a:r>
          </a:p>
          <a:p>
            <a:r>
              <a:rPr lang="en-US" dirty="0"/>
              <a:t>Update the cluster centers based on your assignment</a:t>
            </a:r>
          </a:p>
          <a:p>
            <a:r>
              <a:rPr lang="en-US" dirty="0"/>
              <a:t>Repeat this step until</a:t>
            </a:r>
          </a:p>
          <a:p>
            <a:pPr lvl="1"/>
            <a:r>
              <a:rPr lang="en-US" dirty="0"/>
              <a:t>A certain number of iterations</a:t>
            </a:r>
          </a:p>
          <a:p>
            <a:pPr lvl="1"/>
            <a:r>
              <a:rPr lang="en-US" dirty="0"/>
              <a:t>Changes are small or non-existent</a:t>
            </a:r>
            <a:endParaRPr lang="tr-TR" dirty="0"/>
          </a:p>
          <a:p>
            <a:r>
              <a:rPr lang="tr-TR" dirty="0"/>
              <a:t>Not </a:t>
            </a:r>
            <a:r>
              <a:rPr lang="tr-TR" dirty="0" err="1"/>
              <a:t>necessarily</a:t>
            </a:r>
            <a:r>
              <a:rPr lang="tr-TR" dirty="0"/>
              <a:t> optimal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80241-4B9B-4FA8-858D-216BB962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543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3B0A-5589-47C2-B52E-95AAC0E2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K-</a:t>
            </a:r>
            <a:r>
              <a:rPr lang="tr-TR" dirty="0" err="1"/>
              <a:t>Means</a:t>
            </a:r>
            <a:r>
              <a:rPr lang="tr-TR" dirty="0"/>
              <a:t> </a:t>
            </a:r>
            <a:r>
              <a:rPr lang="tr-TR" dirty="0" err="1"/>
              <a:t>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80241-4B9B-4FA8-858D-216BB962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7C986-102B-4B9C-B399-7F240CFC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5778" name="Picture 2" descr="https://www.projectrhea.org/rhea/images/f/f8/Kmeans_process.JPG">
            <a:extLst>
              <a:ext uri="{FF2B5EF4-FFF2-40B4-BE49-F238E27FC236}">
                <a16:creationId xmlns:a16="http://schemas.microsoft.com/office/drawing/2014/main" id="{1502AC30-090F-43FD-A5AF-406D11141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7200" y="1107596"/>
            <a:ext cx="9601200" cy="564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362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AEBC-1B34-45AD-BD3A-A7F79451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Heuristics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1AA3A-4D23-4A6C-B9C0-998755EF1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A </a:t>
            </a:r>
            <a:r>
              <a:rPr lang="tr-TR" dirty="0" err="1"/>
              <a:t>heuristic</a:t>
            </a:r>
            <a:r>
              <a:rPr lang="tr-TR" dirty="0"/>
              <a:t> is </a:t>
            </a:r>
            <a:r>
              <a:rPr lang="en-US" dirty="0"/>
              <a:t>any approach to problem solving or self-discovery that employs a practical method that is </a:t>
            </a:r>
            <a:r>
              <a:rPr lang="en-US" b="1" dirty="0"/>
              <a:t>not guaranteed to be optimal</a:t>
            </a:r>
            <a:r>
              <a:rPr lang="en-US" dirty="0"/>
              <a:t>, perfect or rational, but which is nevertheless </a:t>
            </a:r>
            <a:r>
              <a:rPr lang="en-US" b="1" dirty="0"/>
              <a:t>sufficient for reaching an immediate, short-term goal</a:t>
            </a:r>
            <a:r>
              <a:rPr lang="en-US" dirty="0"/>
              <a:t>.</a:t>
            </a:r>
            <a:endParaRPr lang="tr-TR" dirty="0"/>
          </a:p>
          <a:p>
            <a:r>
              <a:rPr lang="tr-TR" dirty="0"/>
              <a:t>H</a:t>
            </a:r>
            <a:r>
              <a:rPr lang="en-US" dirty="0" err="1"/>
              <a:t>euristic</a:t>
            </a:r>
            <a:r>
              <a:rPr lang="en-US" dirty="0"/>
              <a:t> methods can be used to speed up the process of finding a satisfactory solution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can </a:t>
            </a:r>
            <a:r>
              <a:rPr lang="tr-TR" dirty="0" err="1"/>
              <a:t>help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exact</a:t>
            </a:r>
            <a:r>
              <a:rPr lang="tr-TR" dirty="0"/>
              <a:t> </a:t>
            </a:r>
            <a:r>
              <a:rPr lang="tr-TR" dirty="0" err="1"/>
              <a:t>procedures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providing</a:t>
            </a:r>
            <a:r>
              <a:rPr lang="tr-TR" dirty="0"/>
              <a:t> </a:t>
            </a:r>
            <a:r>
              <a:rPr lang="tr-TR" dirty="0" err="1"/>
              <a:t>empirically</a:t>
            </a:r>
            <a:r>
              <a:rPr lang="tr-TR" dirty="0"/>
              <a:t> </a:t>
            </a:r>
            <a:r>
              <a:rPr lang="tr-TR" dirty="0" err="1"/>
              <a:t>good</a:t>
            </a:r>
            <a:r>
              <a:rPr lang="tr-TR" dirty="0"/>
              <a:t> </a:t>
            </a:r>
            <a:r>
              <a:rPr lang="tr-TR" dirty="0" err="1"/>
              <a:t>bounds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5C78B-6676-40D3-94FF-2B214319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065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P-Median: A myopic algorithm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were to locate only a single facility,</a:t>
            </a:r>
          </a:p>
          <a:p>
            <a:pPr lvl="1"/>
            <a:r>
              <a:rPr lang="en-US"/>
              <a:t>how would you choose?</a:t>
            </a:r>
          </a:p>
          <a:p>
            <a:pPr lvl="1"/>
            <a:r>
              <a:rPr lang="en-US"/>
              <a:t>how would you allocate?</a:t>
            </a:r>
          </a:p>
          <a:p>
            <a:pPr lvl="1"/>
            <a:endParaRPr lang="en-US"/>
          </a:p>
          <a:p>
            <a:r>
              <a:rPr lang="en-US"/>
              <a:t>If you know </a:t>
            </a:r>
            <a:r>
              <a:rPr lang="en-US" i="1"/>
              <a:t>p-1</a:t>
            </a:r>
            <a:r>
              <a:rPr lang="en-US"/>
              <a:t> facilities already,</a:t>
            </a:r>
          </a:p>
          <a:p>
            <a:pPr lvl="1"/>
            <a:r>
              <a:rPr lang="en-US"/>
              <a:t>how would you choose the last one?</a:t>
            </a:r>
          </a:p>
        </p:txBody>
      </p:sp>
    </p:spTree>
    <p:extLst>
      <p:ext uri="{BB962C8B-B14F-4D97-AF65-F5344CB8AC3E}">
        <p14:creationId xmlns:p14="http://schemas.microsoft.com/office/powerpoint/2010/main" val="2127993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P-Median: A myopic algorithm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2017713"/>
            <a:ext cx="87757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/>
              <a:t>Step 1: </a:t>
            </a:r>
            <a:r>
              <a:rPr lang="en-US" sz="2400">
                <a:latin typeface="Times New Roman" pitchFamily="18" charset="0"/>
              </a:rPr>
              <a:t>Initialize </a:t>
            </a:r>
            <a:r>
              <a:rPr lang="en-US" sz="2400" i="1">
                <a:latin typeface="Times New Roman" pitchFamily="18" charset="0"/>
              </a:rPr>
              <a:t>k=0</a:t>
            </a:r>
            <a:r>
              <a:rPr lang="en-US" sz="2400">
                <a:latin typeface="Times New Roman" pitchFamily="18" charset="0"/>
              </a:rPr>
              <a:t> and 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 i="1" baseline="-25000">
                <a:latin typeface="Times New Roman" pitchFamily="18" charset="0"/>
              </a:rPr>
              <a:t>k</a:t>
            </a:r>
            <a:r>
              <a:rPr lang="en-US" sz="2400" i="1">
                <a:latin typeface="Times New Roman" pitchFamily="18" charset="0"/>
              </a:rPr>
              <a:t>={}</a:t>
            </a:r>
            <a:r>
              <a:rPr lang="en-US" sz="2400">
                <a:latin typeface="Times New Roman" pitchFamily="18" charset="0"/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sz="240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/>
              <a:t>Step 2: </a:t>
            </a:r>
            <a:r>
              <a:rPr lang="en-US" sz="2400" i="1">
                <a:latin typeface="Times New Roman" pitchFamily="18" charset="0"/>
              </a:rPr>
              <a:t>k=k+1</a:t>
            </a:r>
          </a:p>
          <a:p>
            <a:pPr>
              <a:buFont typeface="Wingdings" pitchFamily="2" charset="2"/>
              <a:buNone/>
            </a:pPr>
            <a:endParaRPr lang="en-US" sz="2400" i="1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/>
              <a:t>Step 3: </a:t>
            </a:r>
            <a:r>
              <a:rPr lang="en-US" sz="2400">
                <a:latin typeface="Times New Roman" pitchFamily="18" charset="0"/>
              </a:rPr>
              <a:t>Compute </a:t>
            </a:r>
            <a:r>
              <a:rPr lang="en-US" sz="2400" i="1">
                <a:latin typeface="Times New Roman" pitchFamily="18" charset="0"/>
              </a:rPr>
              <a:t>Z</a:t>
            </a:r>
            <a:r>
              <a:rPr lang="en-US" sz="2400" i="1" baseline="30000">
                <a:latin typeface="Times New Roman" pitchFamily="18" charset="0"/>
              </a:rPr>
              <a:t>k</a:t>
            </a:r>
            <a:r>
              <a:rPr lang="en-US" sz="2400" i="1" baseline="-25000">
                <a:latin typeface="Times New Roman" pitchFamily="18" charset="0"/>
              </a:rPr>
              <a:t>i</a:t>
            </a:r>
            <a:r>
              <a:rPr lang="en-US" sz="2400" i="1">
                <a:latin typeface="Times New Roman" pitchFamily="18" charset="0"/>
              </a:rPr>
              <a:t>=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sz="2400" i="1" baseline="-25000">
                <a:latin typeface="Times New Roman" pitchFamily="18" charset="0"/>
              </a:rPr>
              <a:t>j</a:t>
            </a:r>
            <a:r>
              <a:rPr lang="en-US" sz="2400" i="1">
                <a:latin typeface="Times New Roman" pitchFamily="18" charset="0"/>
              </a:rPr>
              <a:t> d</a:t>
            </a:r>
            <a:r>
              <a:rPr lang="en-US" sz="2400" i="1" baseline="-25000">
                <a:latin typeface="Times New Roman" pitchFamily="18" charset="0"/>
              </a:rPr>
              <a:t>j</a:t>
            </a:r>
            <a:r>
              <a:rPr lang="en-US" sz="2400" i="1">
                <a:latin typeface="Times New Roman" pitchFamily="18" charset="0"/>
              </a:rPr>
              <a:t> c(i U X</a:t>
            </a:r>
            <a:r>
              <a:rPr lang="en-US" sz="2400" i="1" baseline="-25000">
                <a:latin typeface="Times New Roman" pitchFamily="18" charset="0"/>
              </a:rPr>
              <a:t>k-1</a:t>
            </a:r>
            <a:r>
              <a:rPr lang="en-US" sz="2400" i="1">
                <a:latin typeface="Times New Roman" pitchFamily="18" charset="0"/>
              </a:rPr>
              <a:t>, j) </a:t>
            </a:r>
            <a:r>
              <a:rPr lang="en-US" sz="2400">
                <a:latin typeface="Times New Roman" pitchFamily="18" charset="0"/>
              </a:rPr>
              <a:t>for all facilities not in</a:t>
            </a:r>
            <a:r>
              <a:rPr lang="en-US" sz="2400" i="1">
                <a:latin typeface="Times New Roman" pitchFamily="18" charset="0"/>
              </a:rPr>
              <a:t> X</a:t>
            </a:r>
            <a:r>
              <a:rPr lang="en-US" sz="2400" i="1" baseline="-25000">
                <a:latin typeface="Times New Roman" pitchFamily="18" charset="0"/>
              </a:rPr>
              <a:t>k-1</a:t>
            </a:r>
            <a:r>
              <a:rPr lang="en-US" sz="2400">
                <a:latin typeface="Times New Roman" pitchFamily="18" charset="0"/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sz="240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/>
              <a:t>Step 4: </a:t>
            </a:r>
            <a:r>
              <a:rPr lang="en-US" sz="2400">
                <a:latin typeface="Times New Roman" pitchFamily="18" charset="0"/>
              </a:rPr>
              <a:t>Find </a:t>
            </a:r>
            <a:r>
              <a:rPr lang="en-US" sz="2400" i="1">
                <a:latin typeface="Times New Roman" pitchFamily="18" charset="0"/>
              </a:rPr>
              <a:t>i</a:t>
            </a:r>
            <a:r>
              <a:rPr lang="en-US" sz="2400" i="1" baseline="30000">
                <a:latin typeface="Times New Roman" pitchFamily="18" charset="0"/>
              </a:rPr>
              <a:t>*</a:t>
            </a:r>
            <a:r>
              <a:rPr lang="en-US" sz="2400" i="1" baseline="-25000">
                <a:latin typeface="Times New Roman" pitchFamily="18" charset="0"/>
              </a:rPr>
              <a:t>k</a:t>
            </a:r>
            <a:r>
              <a:rPr lang="en-US" sz="2400" i="1">
                <a:latin typeface="Times New Roman" pitchFamily="18" charset="0"/>
              </a:rPr>
              <a:t>=argmin</a:t>
            </a:r>
            <a:r>
              <a:rPr lang="en-US" sz="2400" i="1" baseline="-25000">
                <a:latin typeface="Times New Roman" pitchFamily="18" charset="0"/>
              </a:rPr>
              <a:t>i</a:t>
            </a:r>
            <a:r>
              <a:rPr lang="en-US" sz="2400" i="1">
                <a:latin typeface="Times New Roman" pitchFamily="18" charset="0"/>
              </a:rPr>
              <a:t> {Z</a:t>
            </a:r>
            <a:r>
              <a:rPr lang="en-US" sz="2400" i="1" baseline="30000">
                <a:latin typeface="Times New Roman" pitchFamily="18" charset="0"/>
              </a:rPr>
              <a:t>k</a:t>
            </a:r>
            <a:r>
              <a:rPr lang="en-US" sz="2400" i="1" baseline="-25000">
                <a:latin typeface="Times New Roman" pitchFamily="18" charset="0"/>
              </a:rPr>
              <a:t>i</a:t>
            </a:r>
            <a:r>
              <a:rPr lang="en-US" sz="2400" i="1">
                <a:latin typeface="Times New Roman" pitchFamily="18" charset="0"/>
              </a:rPr>
              <a:t>}</a:t>
            </a:r>
            <a:r>
              <a:rPr lang="en-US" sz="2400">
                <a:latin typeface="Times New Roman" pitchFamily="18" charset="0"/>
              </a:rPr>
              <a:t>, and set 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 i="1" baseline="-25000">
                <a:latin typeface="Times New Roman" pitchFamily="18" charset="0"/>
              </a:rPr>
              <a:t>k-1</a:t>
            </a:r>
            <a:r>
              <a:rPr lang="en-US" sz="2400" i="1">
                <a:latin typeface="Times New Roman" pitchFamily="18" charset="0"/>
              </a:rPr>
              <a:t>=X</a:t>
            </a:r>
            <a:r>
              <a:rPr lang="en-US" sz="2400" i="1" baseline="-25000">
                <a:latin typeface="Times New Roman" pitchFamily="18" charset="0"/>
              </a:rPr>
              <a:t>k-1 </a:t>
            </a:r>
            <a:r>
              <a:rPr lang="en-US" sz="2400" i="1">
                <a:latin typeface="Times New Roman" pitchFamily="18" charset="0"/>
              </a:rPr>
              <a:t>U {i</a:t>
            </a:r>
            <a:r>
              <a:rPr lang="en-US" sz="2400" i="1" baseline="30000">
                <a:latin typeface="Times New Roman" pitchFamily="18" charset="0"/>
              </a:rPr>
              <a:t>*</a:t>
            </a:r>
            <a:r>
              <a:rPr lang="en-US" sz="2400" i="1" baseline="-25000">
                <a:latin typeface="Times New Roman" pitchFamily="18" charset="0"/>
              </a:rPr>
              <a:t>k</a:t>
            </a:r>
            <a:r>
              <a:rPr lang="en-US" sz="2400" i="1">
                <a:latin typeface="Times New Roman" pitchFamily="18" charset="0"/>
              </a:rPr>
              <a:t>}.</a:t>
            </a:r>
          </a:p>
          <a:p>
            <a:pPr>
              <a:buFont typeface="Wingdings" pitchFamily="2" charset="2"/>
              <a:buNone/>
            </a:pPr>
            <a:endParaRPr lang="en-US" sz="2400" i="1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/>
              <a:t>Step 5:</a:t>
            </a:r>
            <a:r>
              <a:rPr lang="en-US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If</a:t>
            </a:r>
            <a:r>
              <a:rPr lang="en-US" sz="2400" i="1">
                <a:latin typeface="Times New Roman" pitchFamily="18" charset="0"/>
              </a:rPr>
              <a:t> k=P, </a:t>
            </a:r>
            <a:r>
              <a:rPr lang="en-US" sz="2400">
                <a:latin typeface="Times New Roman" pitchFamily="18" charset="0"/>
              </a:rPr>
              <a:t>stop; the set</a:t>
            </a:r>
            <a:r>
              <a:rPr lang="en-US" sz="2400" i="1">
                <a:latin typeface="Times New Roman" pitchFamily="18" charset="0"/>
              </a:rPr>
              <a:t> X</a:t>
            </a:r>
            <a:r>
              <a:rPr lang="en-US" sz="2400" i="1" baseline="-25000">
                <a:latin typeface="Times New Roman" pitchFamily="18" charset="0"/>
              </a:rPr>
              <a:t>p</a:t>
            </a:r>
            <a:r>
              <a:rPr lang="en-US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is a solution. Otherwise, go to</a:t>
            </a:r>
            <a:r>
              <a:rPr lang="en-US" sz="2400" i="1">
                <a:latin typeface="Times New Roman" pitchFamily="18" charset="0"/>
              </a:rPr>
              <a:t> </a:t>
            </a:r>
            <a:r>
              <a:rPr lang="en-US" sz="2400"/>
              <a:t>Step 2</a:t>
            </a:r>
            <a:r>
              <a:rPr lang="en-US" sz="240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6091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197" name="Picture 5" descr="flowchart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5638" y="508000"/>
            <a:ext cx="5200650" cy="6024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7931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118" name="Group 94">
            <a:extLst>
              <a:ext uri="{FF2B5EF4-FFF2-40B4-BE49-F238E27FC236}">
                <a16:creationId xmlns:a16="http://schemas.microsoft.com/office/drawing/2014/main" id="{0AAA0DA7-2465-4DB2-9F58-5D36903CEEB7}"/>
              </a:ext>
            </a:extLst>
          </p:cNvPr>
          <p:cNvGrpSpPr>
            <a:grpSpLocks/>
          </p:cNvGrpSpPr>
          <p:nvPr/>
        </p:nvGrpSpPr>
        <p:grpSpPr bwMode="auto">
          <a:xfrm>
            <a:off x="1558925" y="1270000"/>
            <a:ext cx="6188075" cy="5295900"/>
            <a:chOff x="982" y="800"/>
            <a:chExt cx="3898" cy="3336"/>
          </a:xfrm>
        </p:grpSpPr>
        <p:grpSp>
          <p:nvGrpSpPr>
            <p:cNvPr id="257029" name="Group 5">
              <a:extLst>
                <a:ext uri="{FF2B5EF4-FFF2-40B4-BE49-F238E27FC236}">
                  <a16:creationId xmlns:a16="http://schemas.microsoft.com/office/drawing/2014/main" id="{33BED34C-9BF0-402D-B6E3-736251AE7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0" y="1121"/>
              <a:ext cx="285" cy="298"/>
              <a:chOff x="1048" y="1474"/>
              <a:chExt cx="285" cy="298"/>
            </a:xfrm>
          </p:grpSpPr>
          <p:sp>
            <p:nvSpPr>
              <p:cNvPr id="257027" name="Oval 3">
                <a:extLst>
                  <a:ext uri="{FF2B5EF4-FFF2-40B4-BE49-F238E27FC236}">
                    <a16:creationId xmlns:a16="http://schemas.microsoft.com/office/drawing/2014/main" id="{87A5D578-C3FB-43D9-A9AD-E742729D5A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28" name="Text Box 4">
                <a:extLst>
                  <a:ext uri="{FF2B5EF4-FFF2-40B4-BE49-F238E27FC236}">
                    <a16:creationId xmlns:a16="http://schemas.microsoft.com/office/drawing/2014/main" id="{C90CBD3D-23CB-4E01-AB94-6D0E4197D2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A</a:t>
                </a:r>
              </a:p>
            </p:txBody>
          </p:sp>
        </p:grpSp>
        <p:grpSp>
          <p:nvGrpSpPr>
            <p:cNvPr id="257030" name="Group 6">
              <a:extLst>
                <a:ext uri="{FF2B5EF4-FFF2-40B4-BE49-F238E27FC236}">
                  <a16:creationId xmlns:a16="http://schemas.microsoft.com/office/drawing/2014/main" id="{50CBD292-44CC-431D-BBF5-AA51DC5633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4" y="1121"/>
              <a:ext cx="276" cy="298"/>
              <a:chOff x="1048" y="1474"/>
              <a:chExt cx="276" cy="298"/>
            </a:xfrm>
          </p:grpSpPr>
          <p:sp>
            <p:nvSpPr>
              <p:cNvPr id="257031" name="Oval 7">
                <a:extLst>
                  <a:ext uri="{FF2B5EF4-FFF2-40B4-BE49-F238E27FC236}">
                    <a16:creationId xmlns:a16="http://schemas.microsoft.com/office/drawing/2014/main" id="{E3CECBE6-71F1-4343-B7D4-43B1AAD896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32" name="Text Box 8">
                <a:extLst>
                  <a:ext uri="{FF2B5EF4-FFF2-40B4-BE49-F238E27FC236}">
                    <a16:creationId xmlns:a16="http://schemas.microsoft.com/office/drawing/2014/main" id="{1E1DF15D-0DDE-4B51-AADB-1EC27F1A10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B</a:t>
                </a:r>
              </a:p>
            </p:txBody>
          </p:sp>
        </p:grpSp>
        <p:grpSp>
          <p:nvGrpSpPr>
            <p:cNvPr id="257033" name="Group 9">
              <a:extLst>
                <a:ext uri="{FF2B5EF4-FFF2-40B4-BE49-F238E27FC236}">
                  <a16:creationId xmlns:a16="http://schemas.microsoft.com/office/drawing/2014/main" id="{7080CE2B-0214-4CA0-8B41-4C9B9EDD1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1121"/>
              <a:ext cx="276" cy="298"/>
              <a:chOff x="1048" y="1474"/>
              <a:chExt cx="276" cy="298"/>
            </a:xfrm>
          </p:grpSpPr>
          <p:sp>
            <p:nvSpPr>
              <p:cNvPr id="257034" name="Oval 10">
                <a:extLst>
                  <a:ext uri="{FF2B5EF4-FFF2-40B4-BE49-F238E27FC236}">
                    <a16:creationId xmlns:a16="http://schemas.microsoft.com/office/drawing/2014/main" id="{B6A9D645-E863-4432-803C-48C1585524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35" name="Text Box 11">
                <a:extLst>
                  <a:ext uri="{FF2B5EF4-FFF2-40B4-BE49-F238E27FC236}">
                    <a16:creationId xmlns:a16="http://schemas.microsoft.com/office/drawing/2014/main" id="{04047AFB-0201-421E-9AC4-3A8C95A27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</a:t>
                </a:r>
              </a:p>
            </p:txBody>
          </p:sp>
        </p:grpSp>
        <p:grpSp>
          <p:nvGrpSpPr>
            <p:cNvPr id="257036" name="Group 12">
              <a:extLst>
                <a:ext uri="{FF2B5EF4-FFF2-40B4-BE49-F238E27FC236}">
                  <a16:creationId xmlns:a16="http://schemas.microsoft.com/office/drawing/2014/main" id="{FB52D67F-A78F-4487-988E-379BE327B7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5" y="1121"/>
              <a:ext cx="285" cy="298"/>
              <a:chOff x="1048" y="1474"/>
              <a:chExt cx="285" cy="298"/>
            </a:xfrm>
          </p:grpSpPr>
          <p:sp>
            <p:nvSpPr>
              <p:cNvPr id="257037" name="Oval 13">
                <a:extLst>
                  <a:ext uri="{FF2B5EF4-FFF2-40B4-BE49-F238E27FC236}">
                    <a16:creationId xmlns:a16="http://schemas.microsoft.com/office/drawing/2014/main" id="{E740E604-2C75-45AF-A4B7-3D72B7E6D0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38" name="Text Box 14">
                <a:extLst>
                  <a:ext uri="{FF2B5EF4-FFF2-40B4-BE49-F238E27FC236}">
                    <a16:creationId xmlns:a16="http://schemas.microsoft.com/office/drawing/2014/main" id="{B0AADB37-F9E6-4882-AF98-39A5DFC981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D</a:t>
                </a:r>
              </a:p>
            </p:txBody>
          </p:sp>
        </p:grpSp>
        <p:grpSp>
          <p:nvGrpSpPr>
            <p:cNvPr id="257039" name="Group 15">
              <a:extLst>
                <a:ext uri="{FF2B5EF4-FFF2-40B4-BE49-F238E27FC236}">
                  <a16:creationId xmlns:a16="http://schemas.microsoft.com/office/drawing/2014/main" id="{D18B9CAC-2BD8-445C-930D-986DEAC67D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841"/>
              <a:ext cx="276" cy="298"/>
              <a:chOff x="1048" y="1474"/>
              <a:chExt cx="276" cy="298"/>
            </a:xfrm>
          </p:grpSpPr>
          <p:sp>
            <p:nvSpPr>
              <p:cNvPr id="257040" name="Oval 16">
                <a:extLst>
                  <a:ext uri="{FF2B5EF4-FFF2-40B4-BE49-F238E27FC236}">
                    <a16:creationId xmlns:a16="http://schemas.microsoft.com/office/drawing/2014/main" id="{BA3D8979-35D6-46A5-A6E3-95095B61B6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41" name="Text Box 17">
                <a:extLst>
                  <a:ext uri="{FF2B5EF4-FFF2-40B4-BE49-F238E27FC236}">
                    <a16:creationId xmlns:a16="http://schemas.microsoft.com/office/drawing/2014/main" id="{327CB7BB-3723-4DDB-9403-D8184FF25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E</a:t>
                </a:r>
              </a:p>
            </p:txBody>
          </p:sp>
        </p:grpSp>
        <p:grpSp>
          <p:nvGrpSpPr>
            <p:cNvPr id="257042" name="Group 18">
              <a:extLst>
                <a:ext uri="{FF2B5EF4-FFF2-40B4-BE49-F238E27FC236}">
                  <a16:creationId xmlns:a16="http://schemas.microsoft.com/office/drawing/2014/main" id="{B08D56C4-A9D9-472C-A551-7ED098494E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6" y="1977"/>
              <a:ext cx="276" cy="298"/>
              <a:chOff x="1048" y="1474"/>
              <a:chExt cx="276" cy="298"/>
            </a:xfrm>
          </p:grpSpPr>
          <p:sp>
            <p:nvSpPr>
              <p:cNvPr id="257043" name="Oval 19">
                <a:extLst>
                  <a:ext uri="{FF2B5EF4-FFF2-40B4-BE49-F238E27FC236}">
                    <a16:creationId xmlns:a16="http://schemas.microsoft.com/office/drawing/2014/main" id="{1C6D7A8B-9D35-4EA9-A62D-B0F1E0ED46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44" name="Text Box 20">
                <a:extLst>
                  <a:ext uri="{FF2B5EF4-FFF2-40B4-BE49-F238E27FC236}">
                    <a16:creationId xmlns:a16="http://schemas.microsoft.com/office/drawing/2014/main" id="{C338F961-0270-4B74-8F0C-36E615EDC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F</a:t>
                </a:r>
              </a:p>
            </p:txBody>
          </p:sp>
        </p:grpSp>
        <p:grpSp>
          <p:nvGrpSpPr>
            <p:cNvPr id="257045" name="Group 21">
              <a:extLst>
                <a:ext uri="{FF2B5EF4-FFF2-40B4-BE49-F238E27FC236}">
                  <a16:creationId xmlns:a16="http://schemas.microsoft.com/office/drawing/2014/main" id="{3777A03C-DECA-48ED-91AD-A201A5188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513"/>
              <a:ext cx="285" cy="298"/>
              <a:chOff x="1048" y="1474"/>
              <a:chExt cx="285" cy="298"/>
            </a:xfrm>
          </p:grpSpPr>
          <p:sp>
            <p:nvSpPr>
              <p:cNvPr id="257046" name="Oval 22">
                <a:extLst>
                  <a:ext uri="{FF2B5EF4-FFF2-40B4-BE49-F238E27FC236}">
                    <a16:creationId xmlns:a16="http://schemas.microsoft.com/office/drawing/2014/main" id="{EC06A0A5-5402-4B51-9F35-3F6C49323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47" name="Text Box 23">
                <a:extLst>
                  <a:ext uri="{FF2B5EF4-FFF2-40B4-BE49-F238E27FC236}">
                    <a16:creationId xmlns:a16="http://schemas.microsoft.com/office/drawing/2014/main" id="{FB02419D-0F2C-40BF-9613-C518EFE36D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G</a:t>
                </a:r>
              </a:p>
            </p:txBody>
          </p:sp>
        </p:grpSp>
        <p:grpSp>
          <p:nvGrpSpPr>
            <p:cNvPr id="257048" name="Group 24">
              <a:extLst>
                <a:ext uri="{FF2B5EF4-FFF2-40B4-BE49-F238E27FC236}">
                  <a16:creationId xmlns:a16="http://schemas.microsoft.com/office/drawing/2014/main" id="{4777E7A6-9C7C-481F-A88D-F2707BC49F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0" y="2513"/>
              <a:ext cx="276" cy="298"/>
              <a:chOff x="1048" y="1474"/>
              <a:chExt cx="276" cy="298"/>
            </a:xfrm>
          </p:grpSpPr>
          <p:sp>
            <p:nvSpPr>
              <p:cNvPr id="257049" name="Oval 25">
                <a:extLst>
                  <a:ext uri="{FF2B5EF4-FFF2-40B4-BE49-F238E27FC236}">
                    <a16:creationId xmlns:a16="http://schemas.microsoft.com/office/drawing/2014/main" id="{83C2E113-3543-487F-9280-F3A9EAB91A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50" name="Text Box 26">
                <a:extLst>
                  <a:ext uri="{FF2B5EF4-FFF2-40B4-BE49-F238E27FC236}">
                    <a16:creationId xmlns:a16="http://schemas.microsoft.com/office/drawing/2014/main" id="{78F4D442-3BA5-493E-A48C-436D0FD16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I</a:t>
                </a:r>
              </a:p>
            </p:txBody>
          </p:sp>
        </p:grpSp>
        <p:grpSp>
          <p:nvGrpSpPr>
            <p:cNvPr id="257051" name="Group 27">
              <a:extLst>
                <a:ext uri="{FF2B5EF4-FFF2-40B4-BE49-F238E27FC236}">
                  <a16:creationId xmlns:a16="http://schemas.microsoft.com/office/drawing/2014/main" id="{07619B22-C31A-400B-837A-E3CCE0002E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2513"/>
              <a:ext cx="285" cy="298"/>
              <a:chOff x="1048" y="1474"/>
              <a:chExt cx="285" cy="298"/>
            </a:xfrm>
          </p:grpSpPr>
          <p:sp>
            <p:nvSpPr>
              <p:cNvPr id="257052" name="Oval 28">
                <a:extLst>
                  <a:ext uri="{FF2B5EF4-FFF2-40B4-BE49-F238E27FC236}">
                    <a16:creationId xmlns:a16="http://schemas.microsoft.com/office/drawing/2014/main" id="{670135CB-205F-4595-A038-315E85DA86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53" name="Text Box 29">
                <a:extLst>
                  <a:ext uri="{FF2B5EF4-FFF2-40B4-BE49-F238E27FC236}">
                    <a16:creationId xmlns:a16="http://schemas.microsoft.com/office/drawing/2014/main" id="{61C9898E-57B1-4C4A-BA23-D8583308BF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H</a:t>
                </a:r>
              </a:p>
            </p:txBody>
          </p:sp>
        </p:grpSp>
        <p:grpSp>
          <p:nvGrpSpPr>
            <p:cNvPr id="257054" name="Group 30">
              <a:extLst>
                <a:ext uri="{FF2B5EF4-FFF2-40B4-BE49-F238E27FC236}">
                  <a16:creationId xmlns:a16="http://schemas.microsoft.com/office/drawing/2014/main" id="{863919A5-259B-4CE1-975C-AEC41A87F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4" y="3521"/>
              <a:ext cx="276" cy="298"/>
              <a:chOff x="1048" y="1474"/>
              <a:chExt cx="276" cy="298"/>
            </a:xfrm>
          </p:grpSpPr>
          <p:sp>
            <p:nvSpPr>
              <p:cNvPr id="257055" name="Oval 31">
                <a:extLst>
                  <a:ext uri="{FF2B5EF4-FFF2-40B4-BE49-F238E27FC236}">
                    <a16:creationId xmlns:a16="http://schemas.microsoft.com/office/drawing/2014/main" id="{E475ACD1-F77F-41E0-BC6F-DD4E4C8894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56" name="Text Box 32">
                <a:extLst>
                  <a:ext uri="{FF2B5EF4-FFF2-40B4-BE49-F238E27FC236}">
                    <a16:creationId xmlns:a16="http://schemas.microsoft.com/office/drawing/2014/main" id="{F2EA7AA2-9CE7-4D02-9AE6-8298BD42D3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1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J</a:t>
                </a:r>
              </a:p>
            </p:txBody>
          </p:sp>
        </p:grpSp>
        <p:grpSp>
          <p:nvGrpSpPr>
            <p:cNvPr id="257057" name="Group 33">
              <a:extLst>
                <a:ext uri="{FF2B5EF4-FFF2-40B4-BE49-F238E27FC236}">
                  <a16:creationId xmlns:a16="http://schemas.microsoft.com/office/drawing/2014/main" id="{C7156CC8-CEDC-498F-8BF1-BD87A771F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4" y="3521"/>
              <a:ext cx="276" cy="298"/>
              <a:chOff x="1048" y="1474"/>
              <a:chExt cx="276" cy="298"/>
            </a:xfrm>
          </p:grpSpPr>
          <p:sp>
            <p:nvSpPr>
              <p:cNvPr id="257058" name="Oval 34">
                <a:extLst>
                  <a:ext uri="{FF2B5EF4-FFF2-40B4-BE49-F238E27FC236}">
                    <a16:creationId xmlns:a16="http://schemas.microsoft.com/office/drawing/2014/main" id="{9E30592E-CBA5-4502-A54B-4C43A8BA99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59" name="Text Box 35">
                <a:extLst>
                  <a:ext uri="{FF2B5EF4-FFF2-40B4-BE49-F238E27FC236}">
                    <a16:creationId xmlns:a16="http://schemas.microsoft.com/office/drawing/2014/main" id="{3CD4B31F-DE5E-46EA-8904-CA3988BEA5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L</a:t>
                </a:r>
              </a:p>
            </p:txBody>
          </p:sp>
        </p:grpSp>
        <p:grpSp>
          <p:nvGrpSpPr>
            <p:cNvPr id="257060" name="Group 36">
              <a:extLst>
                <a:ext uri="{FF2B5EF4-FFF2-40B4-BE49-F238E27FC236}">
                  <a16:creationId xmlns:a16="http://schemas.microsoft.com/office/drawing/2014/main" id="{5C158614-69DC-4693-B1A4-E30EFDB9F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3521"/>
              <a:ext cx="285" cy="298"/>
              <a:chOff x="1048" y="1474"/>
              <a:chExt cx="285" cy="298"/>
            </a:xfrm>
          </p:grpSpPr>
          <p:sp>
            <p:nvSpPr>
              <p:cNvPr id="257061" name="Oval 37">
                <a:extLst>
                  <a:ext uri="{FF2B5EF4-FFF2-40B4-BE49-F238E27FC236}">
                    <a16:creationId xmlns:a16="http://schemas.microsoft.com/office/drawing/2014/main" id="{45CAAC23-782A-42D0-99CE-3971761182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062" name="Text Box 38">
                <a:extLst>
                  <a:ext uri="{FF2B5EF4-FFF2-40B4-BE49-F238E27FC236}">
                    <a16:creationId xmlns:a16="http://schemas.microsoft.com/office/drawing/2014/main" id="{09EE8BC9-FAD2-4883-AC8D-AFFC0674AF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K</a:t>
                </a:r>
              </a:p>
            </p:txBody>
          </p:sp>
        </p:grpSp>
        <p:sp>
          <p:nvSpPr>
            <p:cNvPr id="257063" name="Line 39">
              <a:extLst>
                <a:ext uri="{FF2B5EF4-FFF2-40B4-BE49-F238E27FC236}">
                  <a16:creationId xmlns:a16="http://schemas.microsoft.com/office/drawing/2014/main" id="{1C53A741-5FD0-449D-A39A-619BFA144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273"/>
              <a:ext cx="5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4" name="Line 40">
              <a:extLst>
                <a:ext uri="{FF2B5EF4-FFF2-40B4-BE49-F238E27FC236}">
                  <a16:creationId xmlns:a16="http://schemas.microsoft.com/office/drawing/2014/main" id="{E158E9AA-44ED-453D-85F0-BA32193AA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1273"/>
              <a:ext cx="10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5" name="Line 41">
              <a:extLst>
                <a:ext uri="{FF2B5EF4-FFF2-40B4-BE49-F238E27FC236}">
                  <a16:creationId xmlns:a16="http://schemas.microsoft.com/office/drawing/2014/main" id="{C9FDED21-78CF-4F3B-A182-F1661B505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8" y="1273"/>
              <a:ext cx="6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6" name="Line 42">
              <a:extLst>
                <a:ext uri="{FF2B5EF4-FFF2-40B4-BE49-F238E27FC236}">
                  <a16:creationId xmlns:a16="http://schemas.microsoft.com/office/drawing/2014/main" id="{A007A605-167B-40E2-9FEE-5168C7782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0" y="1416"/>
              <a:ext cx="0" cy="1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7" name="Line 43">
              <a:extLst>
                <a:ext uri="{FF2B5EF4-FFF2-40B4-BE49-F238E27FC236}">
                  <a16:creationId xmlns:a16="http://schemas.microsoft.com/office/drawing/2014/main" id="{056144FC-0B7D-4CFE-8729-8BB74C33A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6" y="2665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8" name="Line 44">
              <a:extLst>
                <a:ext uri="{FF2B5EF4-FFF2-40B4-BE49-F238E27FC236}">
                  <a16:creationId xmlns:a16="http://schemas.microsoft.com/office/drawing/2014/main" id="{DC7EB6FB-FF4C-4F98-95D9-D7C14430D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665"/>
              <a:ext cx="1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9" name="Line 45">
              <a:extLst>
                <a:ext uri="{FF2B5EF4-FFF2-40B4-BE49-F238E27FC236}">
                  <a16:creationId xmlns:a16="http://schemas.microsoft.com/office/drawing/2014/main" id="{A11F9A7C-6829-4F6D-B124-536A230E4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4" y="1416"/>
              <a:ext cx="0" cy="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0" name="Line 46">
              <a:extLst>
                <a:ext uri="{FF2B5EF4-FFF2-40B4-BE49-F238E27FC236}">
                  <a16:creationId xmlns:a16="http://schemas.microsoft.com/office/drawing/2014/main" id="{1FA83CCD-169C-4618-8DA9-0460EE012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4" y="2264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1" name="Line 47">
              <a:extLst>
                <a:ext uri="{FF2B5EF4-FFF2-40B4-BE49-F238E27FC236}">
                  <a16:creationId xmlns:a16="http://schemas.microsoft.com/office/drawing/2014/main" id="{A5364122-3083-4CA3-A556-005E176D2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673"/>
              <a:ext cx="8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2" name="Line 48">
              <a:extLst>
                <a:ext uri="{FF2B5EF4-FFF2-40B4-BE49-F238E27FC236}">
                  <a16:creationId xmlns:a16="http://schemas.microsoft.com/office/drawing/2014/main" id="{E640AFDA-13C9-44F7-A63E-D9B79242A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673"/>
              <a:ext cx="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3" name="Line 49">
              <a:extLst>
                <a:ext uri="{FF2B5EF4-FFF2-40B4-BE49-F238E27FC236}">
                  <a16:creationId xmlns:a16="http://schemas.microsoft.com/office/drawing/2014/main" id="{D4505051-CA89-46B3-A272-50F7FF6AD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392"/>
              <a:ext cx="1096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4" name="Line 50">
              <a:extLst>
                <a:ext uri="{FF2B5EF4-FFF2-40B4-BE49-F238E27FC236}">
                  <a16:creationId xmlns:a16="http://schemas.microsoft.com/office/drawing/2014/main" id="{1BDBAF3E-66AE-4695-8319-4541FBA7F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4" y="2072"/>
              <a:ext cx="1072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5" name="Line 51">
              <a:extLst>
                <a:ext uri="{FF2B5EF4-FFF2-40B4-BE49-F238E27FC236}">
                  <a16:creationId xmlns:a16="http://schemas.microsoft.com/office/drawing/2014/main" id="{8FEB9CD3-FEAE-49C7-BE5C-B216A9783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6" y="2128"/>
              <a:ext cx="2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6" name="Line 52">
              <a:extLst>
                <a:ext uri="{FF2B5EF4-FFF2-40B4-BE49-F238E27FC236}">
                  <a16:creationId xmlns:a16="http://schemas.microsoft.com/office/drawing/2014/main" id="{B29C9010-C89C-499B-BEC7-F76CC86B3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056"/>
              <a:ext cx="1136" cy="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7" name="Line 53">
              <a:extLst>
                <a:ext uri="{FF2B5EF4-FFF2-40B4-BE49-F238E27FC236}">
                  <a16:creationId xmlns:a16="http://schemas.microsoft.com/office/drawing/2014/main" id="{D49FE067-081A-482B-A064-FF24142CD4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408"/>
              <a:ext cx="744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8" name="Line 54">
              <a:extLst>
                <a:ext uri="{FF2B5EF4-FFF2-40B4-BE49-F238E27FC236}">
                  <a16:creationId xmlns:a16="http://schemas.microsoft.com/office/drawing/2014/main" id="{04D5907E-44BF-4775-A468-95015DEEA8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248"/>
              <a:ext cx="352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9" name="Line 55">
              <a:extLst>
                <a:ext uri="{FF2B5EF4-FFF2-40B4-BE49-F238E27FC236}">
                  <a16:creationId xmlns:a16="http://schemas.microsoft.com/office/drawing/2014/main" id="{D8D2A2D1-F158-4171-863B-2C5523D36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2800"/>
              <a:ext cx="400" cy="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0" name="Line 56">
              <a:extLst>
                <a:ext uri="{FF2B5EF4-FFF2-40B4-BE49-F238E27FC236}">
                  <a16:creationId xmlns:a16="http://schemas.microsoft.com/office/drawing/2014/main" id="{945354BD-7FA4-47EF-840A-F4E7C400A8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2760"/>
              <a:ext cx="528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1" name="Line 57">
              <a:extLst>
                <a:ext uri="{FF2B5EF4-FFF2-40B4-BE49-F238E27FC236}">
                  <a16:creationId xmlns:a16="http://schemas.microsoft.com/office/drawing/2014/main" id="{52ECEDB4-57B1-4E8C-B203-539FDA73C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" y="2800"/>
              <a:ext cx="976" cy="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2" name="Line 58">
              <a:extLst>
                <a:ext uri="{FF2B5EF4-FFF2-40B4-BE49-F238E27FC236}">
                  <a16:creationId xmlns:a16="http://schemas.microsoft.com/office/drawing/2014/main" id="{A9B07A7C-2497-4B83-A3FC-56C83E791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8" y="2784"/>
              <a:ext cx="672" cy="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3" name="Line 59">
              <a:extLst>
                <a:ext uri="{FF2B5EF4-FFF2-40B4-BE49-F238E27FC236}">
                  <a16:creationId xmlns:a16="http://schemas.microsoft.com/office/drawing/2014/main" id="{3EDBDACB-D06B-40D7-8FE9-D11828DEC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" y="1408"/>
              <a:ext cx="416" cy="1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4" name="Text Box 60">
              <a:extLst>
                <a:ext uri="{FF2B5EF4-FFF2-40B4-BE49-F238E27FC236}">
                  <a16:creationId xmlns:a16="http://schemas.microsoft.com/office/drawing/2014/main" id="{1821ED8E-4B2A-4F54-8CCB-BB6738EB2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99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15</a:t>
              </a:r>
            </a:p>
          </p:txBody>
        </p:sp>
        <p:sp>
          <p:nvSpPr>
            <p:cNvPr id="257085" name="Text Box 61">
              <a:extLst>
                <a:ext uri="{FF2B5EF4-FFF2-40B4-BE49-F238E27FC236}">
                  <a16:creationId xmlns:a16="http://schemas.microsoft.com/office/drawing/2014/main" id="{A5F214EF-637A-4E70-8575-5C1408628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2" y="99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57086" name="Text Box 62">
              <a:extLst>
                <a:ext uri="{FF2B5EF4-FFF2-40B4-BE49-F238E27FC236}">
                  <a16:creationId xmlns:a16="http://schemas.microsoft.com/office/drawing/2014/main" id="{7802D6AD-D04E-4CBE-AE10-601D0C786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98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18</a:t>
              </a:r>
            </a:p>
          </p:txBody>
        </p:sp>
        <p:sp>
          <p:nvSpPr>
            <p:cNvPr id="257087" name="Text Box 63">
              <a:extLst>
                <a:ext uri="{FF2B5EF4-FFF2-40B4-BE49-F238E27FC236}">
                  <a16:creationId xmlns:a16="http://schemas.microsoft.com/office/drawing/2014/main" id="{18BC615C-E8B8-4A66-B199-93D899BE2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0" y="157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57088" name="Text Box 64">
              <a:extLst>
                <a:ext uri="{FF2B5EF4-FFF2-40B4-BE49-F238E27FC236}">
                  <a16:creationId xmlns:a16="http://schemas.microsoft.com/office/drawing/2014/main" id="{47EAA74D-A4C3-4164-ACE4-9782B9EB6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185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18</a:t>
              </a:r>
            </a:p>
          </p:txBody>
        </p:sp>
        <p:sp>
          <p:nvSpPr>
            <p:cNvPr id="257089" name="Text Box 65">
              <a:extLst>
                <a:ext uri="{FF2B5EF4-FFF2-40B4-BE49-F238E27FC236}">
                  <a16:creationId xmlns:a16="http://schemas.microsoft.com/office/drawing/2014/main" id="{A7873FC5-BF6C-45A5-9345-19AB21A47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" y="278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57090" name="Text Box 66">
              <a:extLst>
                <a:ext uri="{FF2B5EF4-FFF2-40B4-BE49-F238E27FC236}">
                  <a16:creationId xmlns:a16="http://schemas.microsoft.com/office/drawing/2014/main" id="{257FA181-4593-4DE0-A9A5-0F238E885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8" y="305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57091" name="Text Box 67">
              <a:extLst>
                <a:ext uri="{FF2B5EF4-FFF2-40B4-BE49-F238E27FC236}">
                  <a16:creationId xmlns:a16="http://schemas.microsoft.com/office/drawing/2014/main" id="{B83E3345-D3A9-4F94-B6C6-77F760078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303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</a:t>
              </a:r>
            </a:p>
          </p:txBody>
        </p:sp>
        <p:sp>
          <p:nvSpPr>
            <p:cNvPr id="257092" name="Text Box 68">
              <a:extLst>
                <a:ext uri="{FF2B5EF4-FFF2-40B4-BE49-F238E27FC236}">
                  <a16:creationId xmlns:a16="http://schemas.microsoft.com/office/drawing/2014/main" id="{8A755C1B-E217-4208-A2B4-19ACC7BDE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367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57093" name="Text Box 69">
              <a:extLst>
                <a:ext uri="{FF2B5EF4-FFF2-40B4-BE49-F238E27FC236}">
                  <a16:creationId xmlns:a16="http://schemas.microsoft.com/office/drawing/2014/main" id="{83CAFBBC-8CA1-4D07-B3BD-F9AC2DA42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" y="367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21</a:t>
              </a:r>
            </a:p>
          </p:txBody>
        </p:sp>
        <p:sp>
          <p:nvSpPr>
            <p:cNvPr id="257094" name="Text Box 70">
              <a:extLst>
                <a:ext uri="{FF2B5EF4-FFF2-40B4-BE49-F238E27FC236}">
                  <a16:creationId xmlns:a16="http://schemas.microsoft.com/office/drawing/2014/main" id="{FF42EB32-D62C-4947-BA36-033B96FCF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4" y="308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57095" name="Text Box 71">
              <a:extLst>
                <a:ext uri="{FF2B5EF4-FFF2-40B4-BE49-F238E27FC236}">
                  <a16:creationId xmlns:a16="http://schemas.microsoft.com/office/drawing/2014/main" id="{E3F097B2-66C7-4B5C-A0EC-72FF61DCA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0" y="290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57096" name="Text Box 72">
              <a:extLst>
                <a:ext uri="{FF2B5EF4-FFF2-40B4-BE49-F238E27FC236}">
                  <a16:creationId xmlns:a16="http://schemas.microsoft.com/office/drawing/2014/main" id="{48FD6236-56FA-4794-B63C-1D4758F56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6" y="242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30</a:t>
              </a:r>
            </a:p>
          </p:txBody>
        </p:sp>
        <p:sp>
          <p:nvSpPr>
            <p:cNvPr id="257097" name="Text Box 73">
              <a:extLst>
                <a:ext uri="{FF2B5EF4-FFF2-40B4-BE49-F238E27FC236}">
                  <a16:creationId xmlns:a16="http://schemas.microsoft.com/office/drawing/2014/main" id="{C2864E6D-2ADE-4346-AA31-98A3A2B1A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6" y="20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24</a:t>
              </a:r>
            </a:p>
          </p:txBody>
        </p:sp>
        <p:sp>
          <p:nvSpPr>
            <p:cNvPr id="257098" name="Text Box 74">
              <a:extLst>
                <a:ext uri="{FF2B5EF4-FFF2-40B4-BE49-F238E27FC236}">
                  <a16:creationId xmlns:a16="http://schemas.microsoft.com/office/drawing/2014/main" id="{F913D121-C469-4B3D-A8BF-6AD60762E8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166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20</a:t>
              </a:r>
            </a:p>
          </p:txBody>
        </p:sp>
        <p:sp>
          <p:nvSpPr>
            <p:cNvPr id="257099" name="Text Box 75">
              <a:extLst>
                <a:ext uri="{FF2B5EF4-FFF2-40B4-BE49-F238E27FC236}">
                  <a16:creationId xmlns:a16="http://schemas.microsoft.com/office/drawing/2014/main" id="{068CD16E-ABD2-4ECF-89EB-9110C59AE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" y="218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57100" name="Text Box 76">
              <a:extLst>
                <a:ext uri="{FF2B5EF4-FFF2-40B4-BE49-F238E27FC236}">
                  <a16:creationId xmlns:a16="http://schemas.microsoft.com/office/drawing/2014/main" id="{A8C42E29-3194-4BF3-A4C6-DD0DB0AEF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145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16</a:t>
              </a:r>
            </a:p>
          </p:txBody>
        </p:sp>
        <p:sp>
          <p:nvSpPr>
            <p:cNvPr id="257101" name="Text Box 77">
              <a:extLst>
                <a:ext uri="{FF2B5EF4-FFF2-40B4-BE49-F238E27FC236}">
                  <a16:creationId xmlns:a16="http://schemas.microsoft.com/office/drawing/2014/main" id="{39B079B4-01E4-48F2-A07D-0B5776BAC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153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24</a:t>
              </a:r>
            </a:p>
          </p:txBody>
        </p:sp>
        <p:sp>
          <p:nvSpPr>
            <p:cNvPr id="257102" name="Text Box 78">
              <a:extLst>
                <a:ext uri="{FF2B5EF4-FFF2-40B4-BE49-F238E27FC236}">
                  <a16:creationId xmlns:a16="http://schemas.microsoft.com/office/drawing/2014/main" id="{C494E412-C3CA-4522-BB8A-93177C48A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201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</a:t>
              </a:r>
            </a:p>
          </p:txBody>
        </p:sp>
        <p:sp>
          <p:nvSpPr>
            <p:cNvPr id="257103" name="Text Box 79">
              <a:extLst>
                <a:ext uri="{FF2B5EF4-FFF2-40B4-BE49-F238E27FC236}">
                  <a16:creationId xmlns:a16="http://schemas.microsoft.com/office/drawing/2014/main" id="{EB57413E-F0A4-422F-A7C3-1AF11A612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0" y="22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57104" name="Text Box 80">
              <a:extLst>
                <a:ext uri="{FF2B5EF4-FFF2-40B4-BE49-F238E27FC236}">
                  <a16:creationId xmlns:a16="http://schemas.microsoft.com/office/drawing/2014/main" id="{0B73B596-2669-4E92-AC20-196289CCF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243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15</a:t>
              </a:r>
            </a:p>
          </p:txBody>
        </p:sp>
        <p:sp>
          <p:nvSpPr>
            <p:cNvPr id="257105" name="Text Box 81">
              <a:extLst>
                <a:ext uri="{FF2B5EF4-FFF2-40B4-BE49-F238E27FC236}">
                  <a16:creationId xmlns:a16="http://schemas.microsoft.com/office/drawing/2014/main" id="{48363378-AE49-4A1B-9A43-08AF92F9D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800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15</a:t>
              </a:r>
            </a:p>
          </p:txBody>
        </p:sp>
        <p:sp>
          <p:nvSpPr>
            <p:cNvPr id="257106" name="Text Box 82">
              <a:extLst>
                <a:ext uri="{FF2B5EF4-FFF2-40B4-BE49-F238E27FC236}">
                  <a16:creationId xmlns:a16="http://schemas.microsoft.com/office/drawing/2014/main" id="{5C2E5FD5-CB60-47A2-9A52-AE9F70110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6" y="800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257107" name="Text Box 83">
              <a:extLst>
                <a:ext uri="{FF2B5EF4-FFF2-40B4-BE49-F238E27FC236}">
                  <a16:creationId xmlns:a16="http://schemas.microsoft.com/office/drawing/2014/main" id="{454A9612-5DE2-4E05-8C08-DF1C2F5E4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800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12</a:t>
              </a:r>
            </a:p>
          </p:txBody>
        </p:sp>
        <p:sp>
          <p:nvSpPr>
            <p:cNvPr id="257108" name="Text Box 84">
              <a:extLst>
                <a:ext uri="{FF2B5EF4-FFF2-40B4-BE49-F238E27FC236}">
                  <a16:creationId xmlns:a16="http://schemas.microsoft.com/office/drawing/2014/main" id="{847238E3-3DB6-4F8E-B741-07B70230A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0" y="800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18</a:t>
              </a:r>
            </a:p>
          </p:txBody>
        </p:sp>
        <p:sp>
          <p:nvSpPr>
            <p:cNvPr id="257109" name="Text Box 85">
              <a:extLst>
                <a:ext uri="{FF2B5EF4-FFF2-40B4-BE49-F238E27FC236}">
                  <a16:creationId xmlns:a16="http://schemas.microsoft.com/office/drawing/2014/main" id="{5BD641D8-4899-42D5-BB6F-68970E406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2856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11</a:t>
              </a:r>
            </a:p>
          </p:txBody>
        </p:sp>
        <p:sp>
          <p:nvSpPr>
            <p:cNvPr id="257110" name="Text Box 86">
              <a:extLst>
                <a:ext uri="{FF2B5EF4-FFF2-40B4-BE49-F238E27FC236}">
                  <a16:creationId xmlns:a16="http://schemas.microsoft.com/office/drawing/2014/main" id="{A973A01F-270E-47AA-817D-A60E7499F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8" y="2873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16</a:t>
              </a:r>
            </a:p>
          </p:txBody>
        </p:sp>
        <p:sp>
          <p:nvSpPr>
            <p:cNvPr id="257111" name="Text Box 87">
              <a:extLst>
                <a:ext uri="{FF2B5EF4-FFF2-40B4-BE49-F238E27FC236}">
                  <a16:creationId xmlns:a16="http://schemas.microsoft.com/office/drawing/2014/main" id="{465EA45B-AC7F-429C-B968-1555CC1F7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" y="3848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22</a:t>
              </a:r>
            </a:p>
          </p:txBody>
        </p:sp>
        <p:sp>
          <p:nvSpPr>
            <p:cNvPr id="257112" name="Text Box 88">
              <a:extLst>
                <a:ext uri="{FF2B5EF4-FFF2-40B4-BE49-F238E27FC236}">
                  <a16:creationId xmlns:a16="http://schemas.microsoft.com/office/drawing/2014/main" id="{618F61C4-A267-4D09-A9F7-04F8EA839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3872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19</a:t>
              </a:r>
            </a:p>
          </p:txBody>
        </p:sp>
        <p:sp>
          <p:nvSpPr>
            <p:cNvPr id="257113" name="Text Box 89">
              <a:extLst>
                <a:ext uri="{FF2B5EF4-FFF2-40B4-BE49-F238E27FC236}">
                  <a16:creationId xmlns:a16="http://schemas.microsoft.com/office/drawing/2014/main" id="{A89C54F0-F8B0-4DAA-9E23-A6E71A9D1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" y="3880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20</a:t>
              </a:r>
            </a:p>
          </p:txBody>
        </p:sp>
        <p:sp>
          <p:nvSpPr>
            <p:cNvPr id="257114" name="Text Box 90">
              <a:extLst>
                <a:ext uri="{FF2B5EF4-FFF2-40B4-BE49-F238E27FC236}">
                  <a16:creationId xmlns:a16="http://schemas.microsoft.com/office/drawing/2014/main" id="{95726082-127A-4E35-80BF-F6FEEBD49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4" y="2856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57115" name="Text Box 91">
              <a:extLst>
                <a:ext uri="{FF2B5EF4-FFF2-40B4-BE49-F238E27FC236}">
                  <a16:creationId xmlns:a16="http://schemas.microsoft.com/office/drawing/2014/main" id="{1D5A8734-7CDD-49D8-BE4C-4EF114BA3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024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24</a:t>
              </a:r>
            </a:p>
          </p:txBody>
        </p:sp>
        <p:sp>
          <p:nvSpPr>
            <p:cNvPr id="257116" name="Text Box 92">
              <a:extLst>
                <a:ext uri="{FF2B5EF4-FFF2-40B4-BE49-F238E27FC236}">
                  <a16:creationId xmlns:a16="http://schemas.microsoft.com/office/drawing/2014/main" id="{27E600F1-E170-423E-9A08-6A0994254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1832"/>
              <a:ext cx="20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94" name="Title 1">
            <a:extLst>
              <a:ext uri="{FF2B5EF4-FFF2-40B4-BE49-F238E27FC236}">
                <a16:creationId xmlns:a16="http://schemas.microsoft.com/office/drawing/2014/main" id="{837B2F50-A2F1-48E8-A374-AEFEB8D4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p</a:t>
            </a:r>
            <a:r>
              <a:rPr lang="tr-TR" dirty="0"/>
              <a:t>-</a:t>
            </a:r>
            <a:r>
              <a:rPr lang="tr-TR" dirty="0" err="1"/>
              <a:t>Median</a:t>
            </a:r>
            <a:r>
              <a:rPr lang="tr-TR" dirty="0"/>
              <a:t>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76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4" name="Text Box 4">
            <a:extLst>
              <a:ext uri="{FF2B5EF4-FFF2-40B4-BE49-F238E27FC236}">
                <a16:creationId xmlns:a16="http://schemas.microsoft.com/office/drawing/2014/main" id="{3AF2DBEC-AAC9-4400-A2BA-96290D096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1273175"/>
            <a:ext cx="4073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Distance matrix for the network</a:t>
            </a: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0983CF03-752B-45D5-A0DB-7D5F9CF200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2138363"/>
          <a:ext cx="7810500" cy="334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810827" imgH="3343731" progId="Excel.Sheet.8">
                  <p:embed/>
                </p:oleObj>
              </mc:Choice>
              <mc:Fallback>
                <p:oleObj name="Worksheet" r:id="rId3" imgW="7810827" imgH="3343731" progId="Excel.Sheet.8">
                  <p:embed/>
                  <p:pic>
                    <p:nvPicPr>
                      <p:cNvPr id="261125" name="Object 5">
                        <a:extLst>
                          <a:ext uri="{FF2B5EF4-FFF2-40B4-BE49-F238E27FC236}">
                            <a16:creationId xmlns:a16="http://schemas.microsoft.com/office/drawing/2014/main" id="{0983CF03-752B-45D5-A0DB-7D5F9CF200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2138363"/>
                        <a:ext cx="7810500" cy="334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920FC78-C6A1-4BA4-8475-B141CBAFA1A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6745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7" name="Text Box 3">
            <a:extLst>
              <a:ext uri="{FF2B5EF4-FFF2-40B4-BE49-F238E27FC236}">
                <a16:creationId xmlns:a16="http://schemas.microsoft.com/office/drawing/2014/main" id="{6D875BBD-31D0-45A1-9002-989853A9C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1220788"/>
            <a:ext cx="611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(demand x distance) matrix for the network</a:t>
            </a:r>
          </a:p>
        </p:txBody>
      </p:sp>
      <p:graphicFrame>
        <p:nvGraphicFramePr>
          <p:cNvPr id="262148" name="Object 4">
            <a:extLst>
              <a:ext uri="{FF2B5EF4-FFF2-40B4-BE49-F238E27FC236}">
                <a16:creationId xmlns:a16="http://schemas.microsoft.com/office/drawing/2014/main" id="{F7562494-E25F-41B7-ABCC-616795A80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2975" y="2138363"/>
          <a:ext cx="7867650" cy="334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867904" imgH="3343731" progId="Excel.Sheet.8">
                  <p:embed/>
                </p:oleObj>
              </mc:Choice>
              <mc:Fallback>
                <p:oleObj name="Worksheet" r:id="rId3" imgW="7867904" imgH="3343731" progId="Excel.Sheet.8">
                  <p:embed/>
                  <p:pic>
                    <p:nvPicPr>
                      <p:cNvPr id="262148" name="Object 4">
                        <a:extLst>
                          <a:ext uri="{FF2B5EF4-FFF2-40B4-BE49-F238E27FC236}">
                            <a16:creationId xmlns:a16="http://schemas.microsoft.com/office/drawing/2014/main" id="{F7562494-E25F-41B7-ABCC-616795A80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2138363"/>
                        <a:ext cx="7867650" cy="334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9" name="Text Box 5">
            <a:extLst>
              <a:ext uri="{FF2B5EF4-FFF2-40B4-BE49-F238E27FC236}">
                <a16:creationId xmlns:a16="http://schemas.microsoft.com/office/drawing/2014/main" id="{E72E0FD3-E6F5-4AD5-86BF-D39B71BC9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565275"/>
            <a:ext cx="1100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h</a:t>
            </a:r>
            <a:r>
              <a:rPr lang="en-US" altLang="en-US" i="1" baseline="-25000"/>
              <a:t>i</a:t>
            </a:r>
            <a:r>
              <a:rPr lang="en-US" altLang="en-US"/>
              <a:t> x </a:t>
            </a:r>
            <a:r>
              <a:rPr lang="en-US" altLang="en-US" i="1"/>
              <a:t>d</a:t>
            </a:r>
            <a:r>
              <a:rPr lang="en-US" altLang="en-US" i="1" baseline="-25000"/>
              <a:t>ij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77B35-36AB-4BE6-97A0-321CFEF92F9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8983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1" name="Text Box 3">
            <a:extLst>
              <a:ext uri="{FF2B5EF4-FFF2-40B4-BE49-F238E27FC236}">
                <a16:creationId xmlns:a16="http://schemas.microsoft.com/office/drawing/2014/main" id="{04DE7EB1-CFF9-4D18-8258-9132516DD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225" y="1220788"/>
            <a:ext cx="264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Heuristic Algorithm</a:t>
            </a:r>
          </a:p>
        </p:txBody>
      </p:sp>
      <p:pic>
        <p:nvPicPr>
          <p:cNvPr id="263173" name="Picture 5" descr="h1">
            <a:extLst>
              <a:ext uri="{FF2B5EF4-FFF2-40B4-BE49-F238E27FC236}">
                <a16:creationId xmlns:a16="http://schemas.microsoft.com/office/drawing/2014/main" id="{D37B618F-3726-4BF6-9B1E-D54AEB818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0" y="1731963"/>
            <a:ext cx="4108450" cy="47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B879C1-11D1-477A-9851-200F15B8EF7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74268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195" name="Object 3">
            <a:extLst>
              <a:ext uri="{FF2B5EF4-FFF2-40B4-BE49-F238E27FC236}">
                <a16:creationId xmlns:a16="http://schemas.microsoft.com/office/drawing/2014/main" id="{DAE96178-F05A-4251-BA84-60860ABF0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550" y="1651000"/>
          <a:ext cx="78105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810827" imgH="3581926" progId="Excel.Sheet.8">
                  <p:embed/>
                </p:oleObj>
              </mc:Choice>
              <mc:Fallback>
                <p:oleObj name="Worksheet" r:id="rId3" imgW="7810827" imgH="3581926" progId="Excel.Sheet.8">
                  <p:embed/>
                  <p:pic>
                    <p:nvPicPr>
                      <p:cNvPr id="264195" name="Object 3">
                        <a:extLst>
                          <a:ext uri="{FF2B5EF4-FFF2-40B4-BE49-F238E27FC236}">
                            <a16:creationId xmlns:a16="http://schemas.microsoft.com/office/drawing/2014/main" id="{DAE96178-F05A-4251-BA84-60860ABF0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1651000"/>
                        <a:ext cx="78105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6" name="Text Box 4">
            <a:extLst>
              <a:ext uri="{FF2B5EF4-FFF2-40B4-BE49-F238E27FC236}">
                <a16:creationId xmlns:a16="http://schemas.microsoft.com/office/drawing/2014/main" id="{14545EBC-AD1F-4E66-86B8-046A37CA0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5578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64197" name="Text Box 5">
            <a:extLst>
              <a:ext uri="{FF2B5EF4-FFF2-40B4-BE49-F238E27FC236}">
                <a16:creationId xmlns:a16="http://schemas.microsoft.com/office/drawing/2014/main" id="{22B7A490-970A-4091-80CC-CA25089A6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5667375"/>
            <a:ext cx="543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serving all the demand from a facility at A </a:t>
            </a:r>
          </a:p>
        </p:txBody>
      </p:sp>
      <p:cxnSp>
        <p:nvCxnSpPr>
          <p:cNvPr id="264198" name="AutoShape 6">
            <a:extLst>
              <a:ext uri="{FF2B5EF4-FFF2-40B4-BE49-F238E27FC236}">
                <a16:creationId xmlns:a16="http://schemas.microsoft.com/office/drawing/2014/main" id="{7E6A9795-4936-4619-856A-E69FB95F2F8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1695450" y="5429250"/>
            <a:ext cx="381000" cy="1905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54F508E9-D8E2-480B-B1EC-3A11164EBC2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493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0" name="Text Box 4">
            <a:extLst>
              <a:ext uri="{FF2B5EF4-FFF2-40B4-BE49-F238E27FC236}">
                <a16:creationId xmlns:a16="http://schemas.microsoft.com/office/drawing/2014/main" id="{D7A51A7A-BB59-4BAE-8835-1982EE93F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1133475"/>
            <a:ext cx="7459663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If we locate only one facility, it should be at site I with a total cost of 4772.</a:t>
            </a:r>
          </a:p>
          <a:p>
            <a:endParaRPr lang="en-US" altLang="en-US" sz="1200" dirty="0"/>
          </a:p>
          <a:p>
            <a:r>
              <a:rPr lang="en-US" altLang="en-US" dirty="0"/>
              <a:t>What if we want to open a second facility?</a:t>
            </a:r>
          </a:p>
        </p:txBody>
      </p:sp>
      <p:sp>
        <p:nvSpPr>
          <p:cNvPr id="265223" name="Text Box 7">
            <a:extLst>
              <a:ext uri="{FF2B5EF4-FFF2-40B4-BE49-F238E27FC236}">
                <a16:creationId xmlns:a16="http://schemas.microsoft.com/office/drawing/2014/main" id="{323ADC57-A0A4-4216-8730-CF966E9E0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025" y="2630488"/>
            <a:ext cx="352425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1943100" algn="ctr"/>
                <a:tab pos="2578100" algn="ctr"/>
                <a:tab pos="31496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	A	B	...	I</a:t>
            </a:r>
          </a:p>
          <a:p>
            <a:r>
              <a:rPr lang="en-US" altLang="en-US" sz="2000"/>
              <a:t>A	0	225		720</a:t>
            </a:r>
          </a:p>
          <a:p>
            <a:r>
              <a:rPr lang="en-US" altLang="en-US" sz="2000"/>
              <a:t>B	150	0		420</a:t>
            </a:r>
          </a:p>
          <a:p>
            <a:r>
              <a:rPr lang="en-US" altLang="en-US" sz="2000"/>
              <a:t>C	444	264		240</a:t>
            </a:r>
          </a:p>
          <a:p>
            <a:r>
              <a:rPr lang="en-US" altLang="en-US" sz="2000"/>
              <a:t>D	990	720		432</a:t>
            </a:r>
          </a:p>
          <a:p>
            <a:r>
              <a:rPr lang="en-US" altLang="en-US" sz="2000"/>
              <a:t>E	120	190		120</a:t>
            </a:r>
          </a:p>
          <a:p>
            <a:r>
              <a:rPr lang="en-US" altLang="en-US" sz="2000"/>
              <a:t>F	1440	1248		288</a:t>
            </a:r>
          </a:p>
          <a:p>
            <a:r>
              <a:rPr lang="en-US" altLang="en-US" sz="2000"/>
              <a:t>G	198	363		495</a:t>
            </a:r>
          </a:p>
          <a:p>
            <a:r>
              <a:rPr lang="en-US" altLang="en-US" sz="2000"/>
              <a:t>H	528	768		480</a:t>
            </a:r>
          </a:p>
          <a:p>
            <a:r>
              <a:rPr lang="en-US" altLang="en-US" sz="2000"/>
              <a:t>I	624	546		0</a:t>
            </a:r>
          </a:p>
          <a:p>
            <a:r>
              <a:rPr lang="en-US" altLang="en-US" sz="2000"/>
              <a:t>J	880	1210		836</a:t>
            </a:r>
          </a:p>
          <a:p>
            <a:r>
              <a:rPr lang="en-US" altLang="en-US" sz="2000"/>
              <a:t>K	1102	1159		361</a:t>
            </a:r>
          </a:p>
          <a:p>
            <a:r>
              <a:rPr lang="en-US" altLang="en-US" sz="2000"/>
              <a:t>L	1340	1230		380</a:t>
            </a:r>
          </a:p>
        </p:txBody>
      </p:sp>
      <p:sp>
        <p:nvSpPr>
          <p:cNvPr id="265224" name="Text Box 8">
            <a:extLst>
              <a:ext uri="{FF2B5EF4-FFF2-40B4-BE49-F238E27FC236}">
                <a16:creationId xmlns:a16="http://schemas.microsoft.com/office/drawing/2014/main" id="{FE7CE2BA-4512-412D-B63E-2D96155E2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2625725"/>
            <a:ext cx="254635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92200" algn="ctr"/>
                <a:tab pos="21717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	A	B</a:t>
            </a:r>
          </a:p>
          <a:p>
            <a:r>
              <a:rPr lang="en-US" altLang="en-US" sz="2000"/>
              <a:t>A	0	225</a:t>
            </a:r>
          </a:p>
          <a:p>
            <a:r>
              <a:rPr lang="en-US" altLang="en-US" sz="2000"/>
              <a:t>B	150	0</a:t>
            </a:r>
          </a:p>
          <a:p>
            <a:r>
              <a:rPr lang="en-US" altLang="en-US" sz="2000"/>
              <a:t>C	240	240</a:t>
            </a:r>
          </a:p>
          <a:p>
            <a:r>
              <a:rPr lang="en-US" altLang="en-US" sz="2000"/>
              <a:t>D	432	432</a:t>
            </a:r>
          </a:p>
          <a:p>
            <a:r>
              <a:rPr lang="en-US" altLang="en-US" sz="2000"/>
              <a:t>E	120	120</a:t>
            </a:r>
          </a:p>
          <a:p>
            <a:r>
              <a:rPr lang="en-US" altLang="en-US" sz="2000"/>
              <a:t>F	288	288</a:t>
            </a:r>
          </a:p>
          <a:p>
            <a:r>
              <a:rPr lang="en-US" altLang="en-US" sz="2000"/>
              <a:t>G	198	363</a:t>
            </a:r>
          </a:p>
          <a:p>
            <a:r>
              <a:rPr lang="en-US" altLang="en-US" sz="2000"/>
              <a:t>H	480	480</a:t>
            </a:r>
          </a:p>
          <a:p>
            <a:r>
              <a:rPr lang="en-US" altLang="en-US" sz="2000"/>
              <a:t>I	0	0</a:t>
            </a:r>
          </a:p>
          <a:p>
            <a:r>
              <a:rPr lang="en-US" altLang="en-US" sz="2000"/>
              <a:t>J	836	836</a:t>
            </a:r>
          </a:p>
          <a:p>
            <a:r>
              <a:rPr lang="en-US" altLang="en-US" sz="2000"/>
              <a:t>K	361	361</a:t>
            </a:r>
          </a:p>
          <a:p>
            <a:r>
              <a:rPr lang="en-US" altLang="en-US" sz="2000"/>
              <a:t>L	380	380</a:t>
            </a:r>
          </a:p>
        </p:txBody>
      </p:sp>
      <p:sp>
        <p:nvSpPr>
          <p:cNvPr id="265225" name="AutoShape 9">
            <a:extLst>
              <a:ext uri="{FF2B5EF4-FFF2-40B4-BE49-F238E27FC236}">
                <a16:creationId xmlns:a16="http://schemas.microsoft.com/office/drawing/2014/main" id="{65D3CB18-3059-4B8B-BCD7-F5155B0ED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4330700"/>
            <a:ext cx="723900" cy="431800"/>
          </a:xfrm>
          <a:prstGeom prst="rightArrow">
            <a:avLst>
              <a:gd name="adj1" fmla="val 50000"/>
              <a:gd name="adj2" fmla="val 4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AEA322-EB91-49E7-81A9-3290D69B004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5AC5C-EA20-4104-85E0-5D895A38244A}"/>
              </a:ext>
            </a:extLst>
          </p:cNvPr>
          <p:cNvSpPr txBox="1"/>
          <p:nvPr/>
        </p:nvSpPr>
        <p:spPr>
          <a:xfrm>
            <a:off x="6362626" y="195521"/>
            <a:ext cx="2781374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r-TR" sz="1600" dirty="0">
                <a:solidFill>
                  <a:srgbClr val="FF0000"/>
                </a:solidFill>
              </a:rPr>
              <a:t>I’nın açık olduğunu bildiğimizde A’ya açma durumunda maliyet sorusu</a:t>
            </a:r>
          </a:p>
        </p:txBody>
      </p:sp>
    </p:spTree>
    <p:extLst>
      <p:ext uri="{BB962C8B-B14F-4D97-AF65-F5344CB8AC3E}">
        <p14:creationId xmlns:p14="http://schemas.microsoft.com/office/powerpoint/2010/main" val="1311092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43" name="Object 3">
            <a:extLst>
              <a:ext uri="{FF2B5EF4-FFF2-40B4-BE49-F238E27FC236}">
                <a16:creationId xmlns:a16="http://schemas.microsoft.com/office/drawing/2014/main" id="{CD74A32C-2202-44EE-96A5-C06F4F8A29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950" y="1663700"/>
          <a:ext cx="78105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810827" imgH="3581926" progId="Excel.Sheet.8">
                  <p:embed/>
                </p:oleObj>
              </mc:Choice>
              <mc:Fallback>
                <p:oleObj name="Worksheet" r:id="rId3" imgW="7810827" imgH="3581926" progId="Excel.Sheet.8">
                  <p:embed/>
                  <p:pic>
                    <p:nvPicPr>
                      <p:cNvPr id="266243" name="Object 3">
                        <a:extLst>
                          <a:ext uri="{FF2B5EF4-FFF2-40B4-BE49-F238E27FC236}">
                            <a16:creationId xmlns:a16="http://schemas.microsoft.com/office/drawing/2014/main" id="{CD74A32C-2202-44EE-96A5-C06F4F8A29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1663700"/>
                        <a:ext cx="78105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6244" name="AutoShape 4">
            <a:extLst>
              <a:ext uri="{FF2B5EF4-FFF2-40B4-BE49-F238E27FC236}">
                <a16:creationId xmlns:a16="http://schemas.microsoft.com/office/drawing/2014/main" id="{56709E6E-B9AB-4AAA-A00E-DA0E26C0F8F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5276850" y="5378450"/>
            <a:ext cx="381000" cy="1905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245" name="Text Box 5">
            <a:extLst>
              <a:ext uri="{FF2B5EF4-FFF2-40B4-BE49-F238E27FC236}">
                <a16:creationId xmlns:a16="http://schemas.microsoft.com/office/drawing/2014/main" id="{A7480EA9-A7ED-43E8-9487-F3DF5ADB6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5680075"/>
            <a:ext cx="567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It is best to open the second facility at site G.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4C9609-E721-434B-9D39-CBA9C0735A9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4195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Text Box 3">
            <a:extLst>
              <a:ext uri="{FF2B5EF4-FFF2-40B4-BE49-F238E27FC236}">
                <a16:creationId xmlns:a16="http://schemas.microsoft.com/office/drawing/2014/main" id="{9E0AC9A0-D3DB-4997-916F-9CD63CC91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25" y="1220788"/>
            <a:ext cx="5097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Results for first five locations (medians)</a:t>
            </a:r>
          </a:p>
        </p:txBody>
      </p:sp>
      <p:sp>
        <p:nvSpPr>
          <p:cNvPr id="267268" name="Text Box 4">
            <a:extLst>
              <a:ext uri="{FF2B5EF4-FFF2-40B4-BE49-F238E27FC236}">
                <a16:creationId xmlns:a16="http://schemas.microsoft.com/office/drawing/2014/main" id="{3E2E717C-9F83-45DC-AA9E-29829D6F7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2136775"/>
            <a:ext cx="56705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ctr"/>
                <a:tab pos="3035300" algn="ctr"/>
                <a:tab pos="48641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	</a:t>
            </a:r>
            <a:r>
              <a:rPr lang="en-US" altLang="en-US" u="sng"/>
              <a:t>Location Number	Site	Total cost</a:t>
            </a:r>
          </a:p>
          <a:p>
            <a:endParaRPr lang="en-US" altLang="en-US" u="sng"/>
          </a:p>
          <a:p>
            <a:r>
              <a:rPr lang="en-US" altLang="en-US"/>
              <a:t>	1	</a:t>
            </a:r>
            <a:r>
              <a:rPr lang="en-US" altLang="en-US" i="1"/>
              <a:t>I</a:t>
            </a:r>
            <a:r>
              <a:rPr lang="en-US" altLang="en-US"/>
              <a:t>	4772</a:t>
            </a:r>
          </a:p>
          <a:p>
            <a:r>
              <a:rPr lang="en-US" altLang="en-US"/>
              <a:t>	2	</a:t>
            </a:r>
            <a:r>
              <a:rPr lang="en-US" altLang="en-US" i="1"/>
              <a:t>G</a:t>
            </a:r>
            <a:r>
              <a:rPr lang="en-US" altLang="en-US"/>
              <a:t>	3145</a:t>
            </a:r>
          </a:p>
          <a:p>
            <a:r>
              <a:rPr lang="en-US" altLang="en-US"/>
              <a:t>	3	</a:t>
            </a:r>
            <a:r>
              <a:rPr lang="en-US" altLang="en-US" i="1"/>
              <a:t>F</a:t>
            </a:r>
            <a:r>
              <a:rPr lang="en-US" altLang="en-US"/>
              <a:t>	2641</a:t>
            </a:r>
          </a:p>
          <a:p>
            <a:r>
              <a:rPr lang="en-US" altLang="en-US"/>
              <a:t>	4	</a:t>
            </a:r>
            <a:r>
              <a:rPr lang="en-US" altLang="en-US" i="1"/>
              <a:t>J</a:t>
            </a:r>
            <a:r>
              <a:rPr lang="en-US" altLang="en-US"/>
              <a:t>	2157</a:t>
            </a:r>
          </a:p>
          <a:p>
            <a:r>
              <a:rPr lang="en-US" altLang="en-US"/>
              <a:t>	5	</a:t>
            </a:r>
            <a:r>
              <a:rPr lang="en-US" altLang="en-US" i="1"/>
              <a:t>A</a:t>
            </a:r>
            <a:r>
              <a:rPr lang="en-US" altLang="en-US"/>
              <a:t>	1707	</a:t>
            </a:r>
          </a:p>
        </p:txBody>
      </p:sp>
      <p:sp>
        <p:nvSpPr>
          <p:cNvPr id="267269" name="Text Box 5">
            <a:extLst>
              <a:ext uri="{FF2B5EF4-FFF2-40B4-BE49-F238E27FC236}">
                <a16:creationId xmlns:a16="http://schemas.microsoft.com/office/drawing/2014/main" id="{EA7EE568-95DE-4D7D-8809-BF02B70B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5108575"/>
            <a:ext cx="77358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Now, given the location of five facilities, each demand node should be assigned to the nearest facility.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8F5EAA-E946-423C-96E1-C047650EE54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7194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291" name="Object 3">
            <a:extLst>
              <a:ext uri="{FF2B5EF4-FFF2-40B4-BE49-F238E27FC236}">
                <a16:creationId xmlns:a16="http://schemas.microsoft.com/office/drawing/2014/main" id="{6DCEA608-1D24-439F-80CD-7D6CC40D5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950" y="1220788"/>
          <a:ext cx="7905750" cy="339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810827" imgH="3353100" progId="Excel.Sheet.8">
                  <p:embed/>
                </p:oleObj>
              </mc:Choice>
              <mc:Fallback>
                <p:oleObj name="Worksheet" r:id="rId3" imgW="7810827" imgH="3353100" progId="Excel.Sheet.8">
                  <p:embed/>
                  <p:pic>
                    <p:nvPicPr>
                      <p:cNvPr id="268291" name="Object 3">
                        <a:extLst>
                          <a:ext uri="{FF2B5EF4-FFF2-40B4-BE49-F238E27FC236}">
                            <a16:creationId xmlns:a16="http://schemas.microsoft.com/office/drawing/2014/main" id="{6DCEA608-1D24-439F-80CD-7D6CC40D53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1220788"/>
                        <a:ext cx="7905750" cy="339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2" name="Text Box 4">
            <a:extLst>
              <a:ext uri="{FF2B5EF4-FFF2-40B4-BE49-F238E27FC236}">
                <a16:creationId xmlns:a16="http://schemas.microsoft.com/office/drawing/2014/main" id="{B8A64109-086C-429B-B8F1-CB8939269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4664075"/>
            <a:ext cx="67246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057400" algn="l"/>
                <a:tab pos="3949700" algn="l"/>
                <a:tab pos="5715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Assign nodes	</a:t>
            </a:r>
            <a:r>
              <a:rPr lang="en-US" altLang="en-US" i="1"/>
              <a:t>A</a:t>
            </a:r>
            <a:r>
              <a:rPr lang="en-US" altLang="en-US"/>
              <a:t>, </a:t>
            </a:r>
            <a:r>
              <a:rPr lang="en-US" altLang="en-US" i="1"/>
              <a:t>B</a:t>
            </a:r>
            <a:r>
              <a:rPr lang="en-US" altLang="en-US"/>
              <a:t>, </a:t>
            </a:r>
            <a:r>
              <a:rPr lang="en-US" altLang="en-US" i="1"/>
              <a:t>E</a:t>
            </a:r>
            <a:r>
              <a:rPr lang="en-US" altLang="en-US"/>
              <a:t>* 	to facility	</a:t>
            </a:r>
            <a:r>
              <a:rPr lang="en-US" altLang="en-US" i="1"/>
              <a:t>A</a:t>
            </a:r>
            <a:endParaRPr lang="en-US" altLang="en-US"/>
          </a:p>
          <a:p>
            <a:r>
              <a:rPr lang="en-US" altLang="en-US"/>
              <a:t>	</a:t>
            </a:r>
            <a:r>
              <a:rPr lang="en-US" altLang="en-US" i="1"/>
              <a:t>D</a:t>
            </a:r>
            <a:r>
              <a:rPr lang="en-US" altLang="en-US"/>
              <a:t>, </a:t>
            </a:r>
            <a:r>
              <a:rPr lang="en-US" altLang="en-US" i="1"/>
              <a:t>F</a:t>
            </a:r>
            <a:r>
              <a:rPr lang="en-US" altLang="en-US"/>
              <a:t>		</a:t>
            </a:r>
            <a:r>
              <a:rPr lang="en-US" altLang="en-US" i="1"/>
              <a:t>F</a:t>
            </a:r>
            <a:endParaRPr lang="en-US" altLang="en-US"/>
          </a:p>
          <a:p>
            <a:r>
              <a:rPr lang="en-US" altLang="en-US"/>
              <a:t>	</a:t>
            </a:r>
            <a:r>
              <a:rPr lang="en-US" altLang="en-US" i="1"/>
              <a:t>G</a:t>
            </a:r>
            <a:r>
              <a:rPr lang="en-US" altLang="en-US"/>
              <a:t>, </a:t>
            </a:r>
            <a:r>
              <a:rPr lang="en-US" altLang="en-US" i="1"/>
              <a:t>H</a:t>
            </a:r>
            <a:r>
              <a:rPr lang="en-US" altLang="en-US"/>
              <a:t>		</a:t>
            </a:r>
            <a:r>
              <a:rPr lang="en-US" altLang="en-US" i="1"/>
              <a:t>G</a:t>
            </a:r>
            <a:r>
              <a:rPr lang="en-US" altLang="en-US"/>
              <a:t>	</a:t>
            </a:r>
          </a:p>
          <a:p>
            <a:r>
              <a:rPr lang="en-US" altLang="en-US"/>
              <a:t>	</a:t>
            </a:r>
            <a:r>
              <a:rPr lang="en-US" altLang="en-US" i="1"/>
              <a:t>C</a:t>
            </a:r>
            <a:r>
              <a:rPr lang="en-US" altLang="en-US"/>
              <a:t>, </a:t>
            </a:r>
            <a:r>
              <a:rPr lang="en-US" altLang="en-US" i="1"/>
              <a:t>I</a:t>
            </a:r>
            <a:r>
              <a:rPr lang="en-US" altLang="en-US"/>
              <a:t>, </a:t>
            </a:r>
            <a:r>
              <a:rPr lang="en-US" altLang="en-US" i="1"/>
              <a:t>K</a:t>
            </a:r>
            <a:r>
              <a:rPr lang="en-US" altLang="en-US"/>
              <a:t>*, </a:t>
            </a:r>
            <a:r>
              <a:rPr lang="en-US" altLang="en-US" i="1"/>
              <a:t>L</a:t>
            </a:r>
            <a:r>
              <a:rPr lang="en-US" altLang="en-US"/>
              <a:t>		</a:t>
            </a:r>
            <a:r>
              <a:rPr lang="en-US" altLang="en-US" i="1"/>
              <a:t>I</a:t>
            </a:r>
            <a:endParaRPr lang="en-US" altLang="en-US"/>
          </a:p>
          <a:p>
            <a:r>
              <a:rPr lang="en-US" altLang="en-US"/>
              <a:t>	</a:t>
            </a:r>
            <a:r>
              <a:rPr lang="en-US" altLang="en-US" i="1"/>
              <a:t>J</a:t>
            </a:r>
            <a:r>
              <a:rPr lang="en-US" altLang="en-US"/>
              <a:t>		</a:t>
            </a:r>
            <a:r>
              <a:rPr lang="en-US" altLang="en-US" i="1"/>
              <a:t>J</a:t>
            </a:r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0E79FE-7E54-4023-B2FE-4DBCD0C40B2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6154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411" name="Group 99">
            <a:extLst>
              <a:ext uri="{FF2B5EF4-FFF2-40B4-BE49-F238E27FC236}">
                <a16:creationId xmlns:a16="http://schemas.microsoft.com/office/drawing/2014/main" id="{363C7B2C-2A72-44A2-9F89-057E9D981254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1104900"/>
            <a:ext cx="6731000" cy="5537200"/>
            <a:chOff x="728" y="696"/>
            <a:chExt cx="4240" cy="3488"/>
          </a:xfrm>
        </p:grpSpPr>
        <p:sp>
          <p:nvSpPr>
            <p:cNvPr id="269317" name="Oval 5">
              <a:extLst>
                <a:ext uri="{FF2B5EF4-FFF2-40B4-BE49-F238E27FC236}">
                  <a16:creationId xmlns:a16="http://schemas.microsoft.com/office/drawing/2014/main" id="{7F1B3C4A-85DD-4723-8414-8E4360624E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0" y="1112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18" name="Text Box 6">
              <a:extLst>
                <a:ext uri="{FF2B5EF4-FFF2-40B4-BE49-F238E27FC236}">
                  <a16:creationId xmlns:a16="http://schemas.microsoft.com/office/drawing/2014/main" id="{4CDCAF7A-1E65-4CF3-ACD6-46A1F5768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" y="109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  <p:grpSp>
          <p:nvGrpSpPr>
            <p:cNvPr id="269319" name="Group 7">
              <a:extLst>
                <a:ext uri="{FF2B5EF4-FFF2-40B4-BE49-F238E27FC236}">
                  <a16:creationId xmlns:a16="http://schemas.microsoft.com/office/drawing/2014/main" id="{99348C15-886A-45EB-8AE8-2B5BFE261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1090"/>
              <a:ext cx="276" cy="298"/>
              <a:chOff x="1048" y="1474"/>
              <a:chExt cx="276" cy="298"/>
            </a:xfrm>
          </p:grpSpPr>
          <p:sp>
            <p:nvSpPr>
              <p:cNvPr id="269320" name="Oval 8">
                <a:extLst>
                  <a:ext uri="{FF2B5EF4-FFF2-40B4-BE49-F238E27FC236}">
                    <a16:creationId xmlns:a16="http://schemas.microsoft.com/office/drawing/2014/main" id="{84F37A28-EAD4-4CD7-A207-BFD725EFD6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21" name="Text Box 9">
                <a:extLst>
                  <a:ext uri="{FF2B5EF4-FFF2-40B4-BE49-F238E27FC236}">
                    <a16:creationId xmlns:a16="http://schemas.microsoft.com/office/drawing/2014/main" id="{9F1BCAD6-C62D-47DC-A7A2-5A5D1AA16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B</a:t>
                </a:r>
              </a:p>
            </p:txBody>
          </p:sp>
        </p:grpSp>
        <p:grpSp>
          <p:nvGrpSpPr>
            <p:cNvPr id="269322" name="Group 10">
              <a:extLst>
                <a:ext uri="{FF2B5EF4-FFF2-40B4-BE49-F238E27FC236}">
                  <a16:creationId xmlns:a16="http://schemas.microsoft.com/office/drawing/2014/main" id="{1690BADD-E0C7-4B21-A36E-3EAAAA41DC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090"/>
              <a:ext cx="276" cy="298"/>
              <a:chOff x="1048" y="1474"/>
              <a:chExt cx="276" cy="298"/>
            </a:xfrm>
          </p:grpSpPr>
          <p:sp>
            <p:nvSpPr>
              <p:cNvPr id="269323" name="Oval 11">
                <a:extLst>
                  <a:ext uri="{FF2B5EF4-FFF2-40B4-BE49-F238E27FC236}">
                    <a16:creationId xmlns:a16="http://schemas.microsoft.com/office/drawing/2014/main" id="{C2F1AA0F-26EA-481E-B9F4-B4BA5398C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24" name="Text Box 12">
                <a:extLst>
                  <a:ext uri="{FF2B5EF4-FFF2-40B4-BE49-F238E27FC236}">
                    <a16:creationId xmlns:a16="http://schemas.microsoft.com/office/drawing/2014/main" id="{4BDC892C-B216-446D-880D-CDBEB1CF2A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</a:t>
                </a:r>
              </a:p>
            </p:txBody>
          </p:sp>
        </p:grpSp>
        <p:grpSp>
          <p:nvGrpSpPr>
            <p:cNvPr id="269325" name="Group 13">
              <a:extLst>
                <a:ext uri="{FF2B5EF4-FFF2-40B4-BE49-F238E27FC236}">
                  <a16:creationId xmlns:a16="http://schemas.microsoft.com/office/drawing/2014/main" id="{564B00CE-92BB-4DFB-84EE-03BD9E7657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5" y="1090"/>
              <a:ext cx="285" cy="298"/>
              <a:chOff x="1048" y="1474"/>
              <a:chExt cx="285" cy="298"/>
            </a:xfrm>
          </p:grpSpPr>
          <p:sp>
            <p:nvSpPr>
              <p:cNvPr id="269326" name="Oval 14">
                <a:extLst>
                  <a:ext uri="{FF2B5EF4-FFF2-40B4-BE49-F238E27FC236}">
                    <a16:creationId xmlns:a16="http://schemas.microsoft.com/office/drawing/2014/main" id="{73C222F6-503F-46D2-9D15-16849D6104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27" name="Text Box 15">
                <a:extLst>
                  <a:ext uri="{FF2B5EF4-FFF2-40B4-BE49-F238E27FC236}">
                    <a16:creationId xmlns:a16="http://schemas.microsoft.com/office/drawing/2014/main" id="{5C695F7F-1187-429D-A1FE-D362E150B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D</a:t>
                </a:r>
              </a:p>
            </p:txBody>
          </p:sp>
        </p:grpSp>
        <p:grpSp>
          <p:nvGrpSpPr>
            <p:cNvPr id="269328" name="Group 16">
              <a:extLst>
                <a:ext uri="{FF2B5EF4-FFF2-40B4-BE49-F238E27FC236}">
                  <a16:creationId xmlns:a16="http://schemas.microsoft.com/office/drawing/2014/main" id="{D3CC2BC1-2D3A-46A1-B11C-3938837B6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810"/>
              <a:ext cx="276" cy="298"/>
              <a:chOff x="1048" y="1474"/>
              <a:chExt cx="276" cy="298"/>
            </a:xfrm>
          </p:grpSpPr>
          <p:sp>
            <p:nvSpPr>
              <p:cNvPr id="269329" name="Oval 17">
                <a:extLst>
                  <a:ext uri="{FF2B5EF4-FFF2-40B4-BE49-F238E27FC236}">
                    <a16:creationId xmlns:a16="http://schemas.microsoft.com/office/drawing/2014/main" id="{2D142C05-82CB-4104-84BD-44C49BB705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30" name="Text Box 18">
                <a:extLst>
                  <a:ext uri="{FF2B5EF4-FFF2-40B4-BE49-F238E27FC236}">
                    <a16:creationId xmlns:a16="http://schemas.microsoft.com/office/drawing/2014/main" id="{43A4199B-CB35-40BA-B7C8-9A9F22EF1D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E</a:t>
                </a:r>
              </a:p>
            </p:txBody>
          </p:sp>
        </p:grpSp>
        <p:sp>
          <p:nvSpPr>
            <p:cNvPr id="269332" name="Oval 20">
              <a:extLst>
                <a:ext uri="{FF2B5EF4-FFF2-40B4-BE49-F238E27FC236}">
                  <a16:creationId xmlns:a16="http://schemas.microsoft.com/office/drawing/2014/main" id="{D48E55A7-FA46-4AC2-A38E-ADC64B1A6D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6" y="1968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3" name="Text Box 21">
              <a:extLst>
                <a:ext uri="{FF2B5EF4-FFF2-40B4-BE49-F238E27FC236}">
                  <a16:creationId xmlns:a16="http://schemas.microsoft.com/office/drawing/2014/main" id="{96E2D99F-7D91-42F6-B741-9807B7DC3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6" y="194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</a:p>
          </p:txBody>
        </p:sp>
        <p:sp>
          <p:nvSpPr>
            <p:cNvPr id="269335" name="Oval 23">
              <a:extLst>
                <a:ext uri="{FF2B5EF4-FFF2-40B4-BE49-F238E27FC236}">
                  <a16:creationId xmlns:a16="http://schemas.microsoft.com/office/drawing/2014/main" id="{EEBA7265-9AD2-4D27-A900-FA9DA01C44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6" y="2504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6" name="Text Box 24">
              <a:extLst>
                <a:ext uri="{FF2B5EF4-FFF2-40B4-BE49-F238E27FC236}">
                  <a16:creationId xmlns:a16="http://schemas.microsoft.com/office/drawing/2014/main" id="{41352E36-91DE-43C6-99C2-595A62111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6" y="248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G</a:t>
              </a:r>
            </a:p>
          </p:txBody>
        </p:sp>
        <p:sp>
          <p:nvSpPr>
            <p:cNvPr id="269338" name="Oval 26">
              <a:extLst>
                <a:ext uri="{FF2B5EF4-FFF2-40B4-BE49-F238E27FC236}">
                  <a16:creationId xmlns:a16="http://schemas.microsoft.com/office/drawing/2014/main" id="{453D72CC-7178-437A-882F-5CC98E2BCD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0" y="2504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9" name="Text Box 27">
              <a:extLst>
                <a:ext uri="{FF2B5EF4-FFF2-40B4-BE49-F238E27FC236}">
                  <a16:creationId xmlns:a16="http://schemas.microsoft.com/office/drawing/2014/main" id="{3E794AC9-7FC5-434E-8E1C-D1A684258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2482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</a:t>
              </a:r>
            </a:p>
          </p:txBody>
        </p:sp>
        <p:grpSp>
          <p:nvGrpSpPr>
            <p:cNvPr id="269340" name="Group 28">
              <a:extLst>
                <a:ext uri="{FF2B5EF4-FFF2-40B4-BE49-F238E27FC236}">
                  <a16:creationId xmlns:a16="http://schemas.microsoft.com/office/drawing/2014/main" id="{A69CA225-5FC5-4D42-A364-C3BBDA731A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482"/>
              <a:ext cx="285" cy="298"/>
              <a:chOff x="1048" y="1474"/>
              <a:chExt cx="285" cy="298"/>
            </a:xfrm>
          </p:grpSpPr>
          <p:sp>
            <p:nvSpPr>
              <p:cNvPr id="269341" name="Oval 29">
                <a:extLst>
                  <a:ext uri="{FF2B5EF4-FFF2-40B4-BE49-F238E27FC236}">
                    <a16:creationId xmlns:a16="http://schemas.microsoft.com/office/drawing/2014/main" id="{88EA5267-905E-415D-BCBE-1C5EEBB9E8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42" name="Text Box 30">
                <a:extLst>
                  <a:ext uri="{FF2B5EF4-FFF2-40B4-BE49-F238E27FC236}">
                    <a16:creationId xmlns:a16="http://schemas.microsoft.com/office/drawing/2014/main" id="{3FA32E95-74BD-4F93-955F-87C4F8CAA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H</a:t>
                </a:r>
              </a:p>
            </p:txBody>
          </p:sp>
        </p:grpSp>
        <p:sp>
          <p:nvSpPr>
            <p:cNvPr id="269344" name="Oval 32">
              <a:extLst>
                <a:ext uri="{FF2B5EF4-FFF2-40B4-BE49-F238E27FC236}">
                  <a16:creationId xmlns:a16="http://schemas.microsoft.com/office/drawing/2014/main" id="{C14B5DA8-FCD5-4985-B488-3AB5A582E6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4" y="3512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45" name="Text Box 33">
              <a:extLst>
                <a:ext uri="{FF2B5EF4-FFF2-40B4-BE49-F238E27FC236}">
                  <a16:creationId xmlns:a16="http://schemas.microsoft.com/office/drawing/2014/main" id="{F9896540-C8C8-4E5F-858A-54146F20F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498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J</a:t>
              </a:r>
            </a:p>
          </p:txBody>
        </p:sp>
        <p:grpSp>
          <p:nvGrpSpPr>
            <p:cNvPr id="269346" name="Group 34">
              <a:extLst>
                <a:ext uri="{FF2B5EF4-FFF2-40B4-BE49-F238E27FC236}">
                  <a16:creationId xmlns:a16="http://schemas.microsoft.com/office/drawing/2014/main" id="{E8BACB0B-D1A9-44C4-953C-25E473CD0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4" y="3490"/>
              <a:ext cx="276" cy="298"/>
              <a:chOff x="1048" y="1474"/>
              <a:chExt cx="276" cy="298"/>
            </a:xfrm>
          </p:grpSpPr>
          <p:sp>
            <p:nvSpPr>
              <p:cNvPr id="269347" name="Oval 35">
                <a:extLst>
                  <a:ext uri="{FF2B5EF4-FFF2-40B4-BE49-F238E27FC236}">
                    <a16:creationId xmlns:a16="http://schemas.microsoft.com/office/drawing/2014/main" id="{CDBDB00A-9E88-4CC8-9790-E5F66A2241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48" name="Text Box 36">
                <a:extLst>
                  <a:ext uri="{FF2B5EF4-FFF2-40B4-BE49-F238E27FC236}">
                    <a16:creationId xmlns:a16="http://schemas.microsoft.com/office/drawing/2014/main" id="{76A70E90-EE58-4F23-9552-737B2FBFF2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L</a:t>
                </a:r>
              </a:p>
            </p:txBody>
          </p:sp>
        </p:grpSp>
        <p:grpSp>
          <p:nvGrpSpPr>
            <p:cNvPr id="269349" name="Group 37">
              <a:extLst>
                <a:ext uri="{FF2B5EF4-FFF2-40B4-BE49-F238E27FC236}">
                  <a16:creationId xmlns:a16="http://schemas.microsoft.com/office/drawing/2014/main" id="{2C5CF9FE-2072-4C99-9225-AACF003FA5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8" y="3490"/>
              <a:ext cx="285" cy="298"/>
              <a:chOff x="1048" y="1474"/>
              <a:chExt cx="285" cy="298"/>
            </a:xfrm>
          </p:grpSpPr>
          <p:sp>
            <p:nvSpPr>
              <p:cNvPr id="269350" name="Oval 38">
                <a:extLst>
                  <a:ext uri="{FF2B5EF4-FFF2-40B4-BE49-F238E27FC236}">
                    <a16:creationId xmlns:a16="http://schemas.microsoft.com/office/drawing/2014/main" id="{6B2CB9D4-C501-423D-9A5D-236F5E66E1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51" name="Text Box 39">
                <a:extLst>
                  <a:ext uri="{FF2B5EF4-FFF2-40B4-BE49-F238E27FC236}">
                    <a16:creationId xmlns:a16="http://schemas.microsoft.com/office/drawing/2014/main" id="{195F4C06-A6B4-450B-905D-9C676D6755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K</a:t>
                </a:r>
              </a:p>
            </p:txBody>
          </p:sp>
        </p:grpSp>
        <p:sp>
          <p:nvSpPr>
            <p:cNvPr id="269352" name="Line 40">
              <a:extLst>
                <a:ext uri="{FF2B5EF4-FFF2-40B4-BE49-F238E27FC236}">
                  <a16:creationId xmlns:a16="http://schemas.microsoft.com/office/drawing/2014/main" id="{4A3D04DE-46EB-4BB1-A0CE-87635B77A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0" y="1242"/>
              <a:ext cx="5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3" name="Line 41">
              <a:extLst>
                <a:ext uri="{FF2B5EF4-FFF2-40B4-BE49-F238E27FC236}">
                  <a16:creationId xmlns:a16="http://schemas.microsoft.com/office/drawing/2014/main" id="{F74844DE-DE48-4C00-9E7C-062602669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1242"/>
              <a:ext cx="10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4" name="Line 42">
              <a:extLst>
                <a:ext uri="{FF2B5EF4-FFF2-40B4-BE49-F238E27FC236}">
                  <a16:creationId xmlns:a16="http://schemas.microsoft.com/office/drawing/2014/main" id="{4EDD18EC-E95F-4A8E-A136-DFE8A61AC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8" y="1242"/>
              <a:ext cx="6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5" name="Line 43">
              <a:extLst>
                <a:ext uri="{FF2B5EF4-FFF2-40B4-BE49-F238E27FC236}">
                  <a16:creationId xmlns:a16="http://schemas.microsoft.com/office/drawing/2014/main" id="{BAA34A03-D65A-42DC-A67C-31C78F408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0" y="1385"/>
              <a:ext cx="0" cy="1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6" name="Line 44">
              <a:extLst>
                <a:ext uri="{FF2B5EF4-FFF2-40B4-BE49-F238E27FC236}">
                  <a16:creationId xmlns:a16="http://schemas.microsoft.com/office/drawing/2014/main" id="{DCE3C0E4-E53E-4FFA-B4C5-FE8EB6B82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263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7" name="Line 45">
              <a:extLst>
                <a:ext uri="{FF2B5EF4-FFF2-40B4-BE49-F238E27FC236}">
                  <a16:creationId xmlns:a16="http://schemas.microsoft.com/office/drawing/2014/main" id="{E7A40D4E-FA4C-4660-88A8-09922FE83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2634"/>
              <a:ext cx="1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8" name="Line 46">
              <a:extLst>
                <a:ext uri="{FF2B5EF4-FFF2-40B4-BE49-F238E27FC236}">
                  <a16:creationId xmlns:a16="http://schemas.microsoft.com/office/drawing/2014/main" id="{8AEB00E6-C2C2-4BAC-BB27-DC9A33F17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4" y="1385"/>
              <a:ext cx="0" cy="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9" name="Line 47">
              <a:extLst>
                <a:ext uri="{FF2B5EF4-FFF2-40B4-BE49-F238E27FC236}">
                  <a16:creationId xmlns:a16="http://schemas.microsoft.com/office/drawing/2014/main" id="{C5893147-0FC4-4913-B6F6-D23E97E58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4" y="2233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0" name="Line 48">
              <a:extLst>
                <a:ext uri="{FF2B5EF4-FFF2-40B4-BE49-F238E27FC236}">
                  <a16:creationId xmlns:a16="http://schemas.microsoft.com/office/drawing/2014/main" id="{8DCE4B90-2E09-4953-9CC9-FCDB1AB9F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3642"/>
              <a:ext cx="8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1" name="Line 49">
              <a:extLst>
                <a:ext uri="{FF2B5EF4-FFF2-40B4-BE49-F238E27FC236}">
                  <a16:creationId xmlns:a16="http://schemas.microsoft.com/office/drawing/2014/main" id="{25A13142-BD95-49F3-972D-C832531E6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8" y="3642"/>
              <a:ext cx="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2" name="Line 50">
              <a:extLst>
                <a:ext uri="{FF2B5EF4-FFF2-40B4-BE49-F238E27FC236}">
                  <a16:creationId xmlns:a16="http://schemas.microsoft.com/office/drawing/2014/main" id="{BFFAAFC1-79F7-4BD6-9F3B-C05D92C1D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1361"/>
              <a:ext cx="1096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3" name="Line 51">
              <a:extLst>
                <a:ext uri="{FF2B5EF4-FFF2-40B4-BE49-F238E27FC236}">
                  <a16:creationId xmlns:a16="http://schemas.microsoft.com/office/drawing/2014/main" id="{61029BB3-044D-4BD1-8F40-F042082C00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041"/>
              <a:ext cx="1072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4" name="Line 52">
              <a:extLst>
                <a:ext uri="{FF2B5EF4-FFF2-40B4-BE49-F238E27FC236}">
                  <a16:creationId xmlns:a16="http://schemas.microsoft.com/office/drawing/2014/main" id="{CE3C6423-14E4-45A1-9995-E143CDE57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6" y="2097"/>
              <a:ext cx="2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5" name="Line 53">
              <a:extLst>
                <a:ext uri="{FF2B5EF4-FFF2-40B4-BE49-F238E27FC236}">
                  <a16:creationId xmlns:a16="http://schemas.microsoft.com/office/drawing/2014/main" id="{3F6E4ED0-82A8-4B1D-9697-60A52D456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025"/>
              <a:ext cx="1136" cy="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6" name="Line 54">
              <a:extLst>
                <a:ext uri="{FF2B5EF4-FFF2-40B4-BE49-F238E27FC236}">
                  <a16:creationId xmlns:a16="http://schemas.microsoft.com/office/drawing/2014/main" id="{FB8123E8-F757-4BEB-A80B-3B251B72D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2" y="1377"/>
              <a:ext cx="744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7" name="Line 55">
              <a:extLst>
                <a:ext uri="{FF2B5EF4-FFF2-40B4-BE49-F238E27FC236}">
                  <a16:creationId xmlns:a16="http://schemas.microsoft.com/office/drawing/2014/main" id="{EB04D62E-1A97-49CA-A0C8-892F32D8D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4" y="2217"/>
              <a:ext cx="352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8" name="Line 56">
              <a:extLst>
                <a:ext uri="{FF2B5EF4-FFF2-40B4-BE49-F238E27FC236}">
                  <a16:creationId xmlns:a16="http://schemas.microsoft.com/office/drawing/2014/main" id="{179423FB-A5CA-4BA1-95EE-BEE476866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2769"/>
              <a:ext cx="400" cy="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9" name="Line 57">
              <a:extLst>
                <a:ext uri="{FF2B5EF4-FFF2-40B4-BE49-F238E27FC236}">
                  <a16:creationId xmlns:a16="http://schemas.microsoft.com/office/drawing/2014/main" id="{ED7F9F68-C33E-4D43-8568-E63C77A2A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6" y="2729"/>
              <a:ext cx="528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70" name="Line 58">
              <a:extLst>
                <a:ext uri="{FF2B5EF4-FFF2-40B4-BE49-F238E27FC236}">
                  <a16:creationId xmlns:a16="http://schemas.microsoft.com/office/drawing/2014/main" id="{02EAAB54-BAD0-4B13-BFF4-5D4DA01F3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2769"/>
              <a:ext cx="976" cy="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71" name="Line 59">
              <a:extLst>
                <a:ext uri="{FF2B5EF4-FFF2-40B4-BE49-F238E27FC236}">
                  <a16:creationId xmlns:a16="http://schemas.microsoft.com/office/drawing/2014/main" id="{062F2E81-19AB-4266-BCE1-A26E68F59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2753"/>
              <a:ext cx="672" cy="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72" name="Line 60">
              <a:extLst>
                <a:ext uri="{FF2B5EF4-FFF2-40B4-BE49-F238E27FC236}">
                  <a16:creationId xmlns:a16="http://schemas.microsoft.com/office/drawing/2014/main" id="{4C87890B-7774-489C-8F30-504EA1059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1377"/>
              <a:ext cx="416" cy="1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73" name="Text Box 61">
              <a:extLst>
                <a:ext uri="{FF2B5EF4-FFF2-40B4-BE49-F238E27FC236}">
                  <a16:creationId xmlns:a16="http://schemas.microsoft.com/office/drawing/2014/main" id="{6701A5BD-21C9-4246-B875-553752AFB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6" y="96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15</a:t>
              </a:r>
            </a:p>
          </p:txBody>
        </p:sp>
        <p:sp>
          <p:nvSpPr>
            <p:cNvPr id="269374" name="Text Box 62">
              <a:extLst>
                <a:ext uri="{FF2B5EF4-FFF2-40B4-BE49-F238E27FC236}">
                  <a16:creationId xmlns:a16="http://schemas.microsoft.com/office/drawing/2014/main" id="{96542C23-DD68-418E-A904-7A91F0349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4" y="96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69375" name="Text Box 63">
              <a:extLst>
                <a:ext uri="{FF2B5EF4-FFF2-40B4-BE49-F238E27FC236}">
                  <a16:creationId xmlns:a16="http://schemas.microsoft.com/office/drawing/2014/main" id="{81E10889-B2F8-44FA-9417-7F473A9EA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6" y="95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18</a:t>
              </a:r>
            </a:p>
          </p:txBody>
        </p:sp>
        <p:sp>
          <p:nvSpPr>
            <p:cNvPr id="269376" name="Text Box 64">
              <a:extLst>
                <a:ext uri="{FF2B5EF4-FFF2-40B4-BE49-F238E27FC236}">
                  <a16:creationId xmlns:a16="http://schemas.microsoft.com/office/drawing/2014/main" id="{1BBB797C-E820-451E-B42B-092C29D0F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0" y="15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69377" name="Text Box 65">
              <a:extLst>
                <a:ext uri="{FF2B5EF4-FFF2-40B4-BE49-F238E27FC236}">
                  <a16:creationId xmlns:a16="http://schemas.microsoft.com/office/drawing/2014/main" id="{0130D134-46F0-4492-8514-9867458D1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0" y="182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18</a:t>
              </a:r>
            </a:p>
          </p:txBody>
        </p:sp>
        <p:sp>
          <p:nvSpPr>
            <p:cNvPr id="269378" name="Text Box 66">
              <a:extLst>
                <a:ext uri="{FF2B5EF4-FFF2-40B4-BE49-F238E27FC236}">
                  <a16:creationId xmlns:a16="http://schemas.microsoft.com/office/drawing/2014/main" id="{E596529A-0068-4441-BC1D-44CF1A8AC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8" y="275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69379" name="Text Box 67">
              <a:extLst>
                <a:ext uri="{FF2B5EF4-FFF2-40B4-BE49-F238E27FC236}">
                  <a16:creationId xmlns:a16="http://schemas.microsoft.com/office/drawing/2014/main" id="{F6C31D41-04DC-48DC-92AB-DC490B888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301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69380" name="Text Box 68">
              <a:extLst>
                <a:ext uri="{FF2B5EF4-FFF2-40B4-BE49-F238E27FC236}">
                  <a16:creationId xmlns:a16="http://schemas.microsoft.com/office/drawing/2014/main" id="{E747776A-B229-4B16-899F-32B00BF8D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300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</a:t>
              </a:r>
            </a:p>
          </p:txBody>
        </p:sp>
        <p:sp>
          <p:nvSpPr>
            <p:cNvPr id="269381" name="Text Box 69">
              <a:extLst>
                <a:ext uri="{FF2B5EF4-FFF2-40B4-BE49-F238E27FC236}">
                  <a16:creationId xmlns:a16="http://schemas.microsoft.com/office/drawing/2014/main" id="{10ED7C7A-4F41-410B-9599-3D7ADD924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0" y="36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69382" name="Text Box 70">
              <a:extLst>
                <a:ext uri="{FF2B5EF4-FFF2-40B4-BE49-F238E27FC236}">
                  <a16:creationId xmlns:a16="http://schemas.microsoft.com/office/drawing/2014/main" id="{8699C422-308E-4772-BD1B-CF6B8DEBC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0" y="36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21</a:t>
              </a:r>
            </a:p>
          </p:txBody>
        </p:sp>
        <p:sp>
          <p:nvSpPr>
            <p:cNvPr id="269383" name="Text Box 71">
              <a:extLst>
                <a:ext uri="{FF2B5EF4-FFF2-40B4-BE49-F238E27FC236}">
                  <a16:creationId xmlns:a16="http://schemas.microsoft.com/office/drawing/2014/main" id="{E2BB00AB-EA49-49C2-B9FB-83B65A89F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305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69384" name="Text Box 72">
              <a:extLst>
                <a:ext uri="{FF2B5EF4-FFF2-40B4-BE49-F238E27FC236}">
                  <a16:creationId xmlns:a16="http://schemas.microsoft.com/office/drawing/2014/main" id="{A805FA95-4A5E-49B3-B38E-BE559EBD6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87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69385" name="Text Box 73">
              <a:extLst>
                <a:ext uri="{FF2B5EF4-FFF2-40B4-BE49-F238E27FC236}">
                  <a16:creationId xmlns:a16="http://schemas.microsoft.com/office/drawing/2014/main" id="{67ED4B96-0555-4B33-85CC-7D8519863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239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30</a:t>
              </a:r>
            </a:p>
          </p:txBody>
        </p:sp>
        <p:sp>
          <p:nvSpPr>
            <p:cNvPr id="269386" name="Text Box 74">
              <a:extLst>
                <a:ext uri="{FF2B5EF4-FFF2-40B4-BE49-F238E27FC236}">
                  <a16:creationId xmlns:a16="http://schemas.microsoft.com/office/drawing/2014/main" id="{4915B958-9CBE-4376-90F6-3FF05CF99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6" y="201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24</a:t>
              </a:r>
            </a:p>
          </p:txBody>
        </p:sp>
        <p:sp>
          <p:nvSpPr>
            <p:cNvPr id="269387" name="Text Box 75">
              <a:extLst>
                <a:ext uri="{FF2B5EF4-FFF2-40B4-BE49-F238E27FC236}">
                  <a16:creationId xmlns:a16="http://schemas.microsoft.com/office/drawing/2014/main" id="{99A50115-3E16-425A-BC5B-196DA7EFC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16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20</a:t>
              </a:r>
            </a:p>
          </p:txBody>
        </p:sp>
        <p:sp>
          <p:nvSpPr>
            <p:cNvPr id="269388" name="Text Box 76">
              <a:extLst>
                <a:ext uri="{FF2B5EF4-FFF2-40B4-BE49-F238E27FC236}">
                  <a16:creationId xmlns:a16="http://schemas.microsoft.com/office/drawing/2014/main" id="{E608A4EE-A475-4F94-9453-56F9D53E5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2" y="2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69389" name="Text Box 77">
              <a:extLst>
                <a:ext uri="{FF2B5EF4-FFF2-40B4-BE49-F238E27FC236}">
                  <a16:creationId xmlns:a16="http://schemas.microsoft.com/office/drawing/2014/main" id="{7FD62F79-592E-4874-9F66-20B3417A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8" y="137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16</a:t>
              </a:r>
            </a:p>
          </p:txBody>
        </p:sp>
        <p:sp>
          <p:nvSpPr>
            <p:cNvPr id="269390" name="Text Box 78">
              <a:extLst>
                <a:ext uri="{FF2B5EF4-FFF2-40B4-BE49-F238E27FC236}">
                  <a16:creationId xmlns:a16="http://schemas.microsoft.com/office/drawing/2014/main" id="{0AD87E10-4F89-4E48-A286-8ECD2159B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149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24</a:t>
              </a:r>
            </a:p>
          </p:txBody>
        </p:sp>
        <p:sp>
          <p:nvSpPr>
            <p:cNvPr id="269391" name="Text Box 79">
              <a:extLst>
                <a:ext uri="{FF2B5EF4-FFF2-40B4-BE49-F238E27FC236}">
                  <a16:creationId xmlns:a16="http://schemas.microsoft.com/office/drawing/2014/main" id="{FD1BBB60-AF58-4659-87CE-D2962E6D0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6" y="198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</a:t>
              </a:r>
            </a:p>
          </p:txBody>
        </p:sp>
        <p:sp>
          <p:nvSpPr>
            <p:cNvPr id="269392" name="Text Box 80">
              <a:extLst>
                <a:ext uri="{FF2B5EF4-FFF2-40B4-BE49-F238E27FC236}">
                  <a16:creationId xmlns:a16="http://schemas.microsoft.com/office/drawing/2014/main" id="{FE42D1DA-3F84-4E0C-A863-0E36764E2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" y="221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69393" name="Text Box 81">
              <a:extLst>
                <a:ext uri="{FF2B5EF4-FFF2-40B4-BE49-F238E27FC236}">
                  <a16:creationId xmlns:a16="http://schemas.microsoft.com/office/drawing/2014/main" id="{CF4771B0-2A31-409C-B685-EDD24EED4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240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15</a:t>
              </a:r>
            </a:p>
          </p:txBody>
        </p:sp>
        <p:sp>
          <p:nvSpPr>
            <p:cNvPr id="269394" name="Text Box 82">
              <a:extLst>
                <a:ext uri="{FF2B5EF4-FFF2-40B4-BE49-F238E27FC236}">
                  <a16:creationId xmlns:a16="http://schemas.microsoft.com/office/drawing/2014/main" id="{684AC16C-36BD-4771-8790-E2C866AA3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15</a:t>
              </a:r>
            </a:p>
          </p:txBody>
        </p:sp>
        <p:sp>
          <p:nvSpPr>
            <p:cNvPr id="269395" name="Text Box 83">
              <a:extLst>
                <a:ext uri="{FF2B5EF4-FFF2-40B4-BE49-F238E27FC236}">
                  <a16:creationId xmlns:a16="http://schemas.microsoft.com/office/drawing/2014/main" id="{5BC5F2CC-17D3-4549-A37F-7D4533915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6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269396" name="Text Box 84">
              <a:extLst>
                <a:ext uri="{FF2B5EF4-FFF2-40B4-BE49-F238E27FC236}">
                  <a16:creationId xmlns:a16="http://schemas.microsoft.com/office/drawing/2014/main" id="{881893F4-7C51-46C8-91EE-AEC962573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12</a:t>
              </a:r>
            </a:p>
          </p:txBody>
        </p:sp>
        <p:sp>
          <p:nvSpPr>
            <p:cNvPr id="269397" name="Text Box 85">
              <a:extLst>
                <a:ext uri="{FF2B5EF4-FFF2-40B4-BE49-F238E27FC236}">
                  <a16:creationId xmlns:a16="http://schemas.microsoft.com/office/drawing/2014/main" id="{1B8FE283-991A-45C9-A7D3-970E9C7A3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18</a:t>
              </a:r>
            </a:p>
          </p:txBody>
        </p:sp>
        <p:sp>
          <p:nvSpPr>
            <p:cNvPr id="269398" name="Text Box 86">
              <a:extLst>
                <a:ext uri="{FF2B5EF4-FFF2-40B4-BE49-F238E27FC236}">
                  <a16:creationId xmlns:a16="http://schemas.microsoft.com/office/drawing/2014/main" id="{36D5DF9C-F545-4F44-8EB4-EDBB4460D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825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11</a:t>
              </a:r>
            </a:p>
          </p:txBody>
        </p:sp>
        <p:sp>
          <p:nvSpPr>
            <p:cNvPr id="269399" name="Text Box 87">
              <a:extLst>
                <a:ext uri="{FF2B5EF4-FFF2-40B4-BE49-F238E27FC236}">
                  <a16:creationId xmlns:a16="http://schemas.microsoft.com/office/drawing/2014/main" id="{5BC48077-A179-4FA4-A8FA-6ECBE35F0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842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16</a:t>
              </a:r>
            </a:p>
          </p:txBody>
        </p:sp>
        <p:sp>
          <p:nvSpPr>
            <p:cNvPr id="269400" name="Text Box 88">
              <a:extLst>
                <a:ext uri="{FF2B5EF4-FFF2-40B4-BE49-F238E27FC236}">
                  <a16:creationId xmlns:a16="http://schemas.microsoft.com/office/drawing/2014/main" id="{75DF9442-83A1-40ED-990A-BE8B787FE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8" y="3817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22</a:t>
              </a:r>
            </a:p>
          </p:txBody>
        </p:sp>
        <p:sp>
          <p:nvSpPr>
            <p:cNvPr id="269401" name="Text Box 89">
              <a:extLst>
                <a:ext uri="{FF2B5EF4-FFF2-40B4-BE49-F238E27FC236}">
                  <a16:creationId xmlns:a16="http://schemas.microsoft.com/office/drawing/2014/main" id="{DA8BA8C8-D72C-4F68-B5C3-68BBC5A35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4" y="3841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19</a:t>
              </a:r>
            </a:p>
          </p:txBody>
        </p:sp>
        <p:sp>
          <p:nvSpPr>
            <p:cNvPr id="269402" name="Text Box 90">
              <a:extLst>
                <a:ext uri="{FF2B5EF4-FFF2-40B4-BE49-F238E27FC236}">
                  <a16:creationId xmlns:a16="http://schemas.microsoft.com/office/drawing/2014/main" id="{AB8A3D1F-EEE9-45F3-93AC-BAF53AAFF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384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20</a:t>
              </a:r>
            </a:p>
          </p:txBody>
        </p:sp>
        <p:sp>
          <p:nvSpPr>
            <p:cNvPr id="269403" name="Text Box 91">
              <a:extLst>
                <a:ext uri="{FF2B5EF4-FFF2-40B4-BE49-F238E27FC236}">
                  <a16:creationId xmlns:a16="http://schemas.microsoft.com/office/drawing/2014/main" id="{9A540ED8-9361-4F06-9F41-18CD7A153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4" y="2825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69404" name="Text Box 92">
              <a:extLst>
                <a:ext uri="{FF2B5EF4-FFF2-40B4-BE49-F238E27FC236}">
                  <a16:creationId xmlns:a16="http://schemas.microsoft.com/office/drawing/2014/main" id="{68C5F038-E580-4884-94D2-DC9E02AF6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8" y="1993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24</a:t>
              </a:r>
            </a:p>
          </p:txBody>
        </p:sp>
        <p:sp>
          <p:nvSpPr>
            <p:cNvPr id="269405" name="Text Box 93">
              <a:extLst>
                <a:ext uri="{FF2B5EF4-FFF2-40B4-BE49-F238E27FC236}">
                  <a16:creationId xmlns:a16="http://schemas.microsoft.com/office/drawing/2014/main" id="{B7D43FCF-2462-4CB0-B09C-D0D4DCD52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1569"/>
              <a:ext cx="20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269406" name="Rectangle 94">
              <a:extLst>
                <a:ext uri="{FF2B5EF4-FFF2-40B4-BE49-F238E27FC236}">
                  <a16:creationId xmlns:a16="http://schemas.microsoft.com/office/drawing/2014/main" id="{D0242423-462B-44B3-8739-863E7597D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697"/>
              <a:ext cx="2072" cy="1535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407" name="Rectangle 95">
              <a:extLst>
                <a:ext uri="{FF2B5EF4-FFF2-40B4-BE49-F238E27FC236}">
                  <a16:creationId xmlns:a16="http://schemas.microsoft.com/office/drawing/2014/main" id="{1F7FE64C-6050-4626-8B09-F1B4A37E1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697"/>
              <a:ext cx="832" cy="1615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408" name="Rectangle 96">
              <a:extLst>
                <a:ext uri="{FF2B5EF4-FFF2-40B4-BE49-F238E27FC236}">
                  <a16:creationId xmlns:a16="http://schemas.microsoft.com/office/drawing/2014/main" id="{1A7F14A0-6788-4A77-ACD9-E71A4521D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3416"/>
              <a:ext cx="664" cy="736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409" name="Rectangle 97">
              <a:extLst>
                <a:ext uri="{FF2B5EF4-FFF2-40B4-BE49-F238E27FC236}">
                  <a16:creationId xmlns:a16="http://schemas.microsoft.com/office/drawing/2014/main" id="{6721BADE-6EB6-474A-A206-48ECF5434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" y="2448"/>
              <a:ext cx="1616" cy="824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410" name="Freeform 98">
              <a:extLst>
                <a:ext uri="{FF2B5EF4-FFF2-40B4-BE49-F238E27FC236}">
                  <a16:creationId xmlns:a16="http://schemas.microsoft.com/office/drawing/2014/main" id="{97DEB1DD-E060-4F16-8DEE-6A521FD7B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696"/>
              <a:ext cx="1920" cy="3488"/>
            </a:xfrm>
            <a:custGeom>
              <a:avLst/>
              <a:gdLst>
                <a:gd name="T0" fmla="*/ 0 w 1920"/>
                <a:gd name="T1" fmla="*/ 0 h 3488"/>
                <a:gd name="T2" fmla="*/ 0 w 1920"/>
                <a:gd name="T3" fmla="*/ 3480 h 3488"/>
                <a:gd name="T4" fmla="*/ 1920 w 1920"/>
                <a:gd name="T5" fmla="*/ 3488 h 3488"/>
                <a:gd name="T6" fmla="*/ 1920 w 1920"/>
                <a:gd name="T7" fmla="*/ 2000 h 3488"/>
                <a:gd name="T8" fmla="*/ 1248 w 1920"/>
                <a:gd name="T9" fmla="*/ 2000 h 3488"/>
                <a:gd name="T10" fmla="*/ 784 w 1920"/>
                <a:gd name="T11" fmla="*/ 0 h 3488"/>
                <a:gd name="T12" fmla="*/ 0 w 1920"/>
                <a:gd name="T13" fmla="*/ 0 h 3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0" h="3488">
                  <a:moveTo>
                    <a:pt x="0" y="0"/>
                  </a:moveTo>
                  <a:lnTo>
                    <a:pt x="0" y="3480"/>
                  </a:lnTo>
                  <a:lnTo>
                    <a:pt x="1920" y="3488"/>
                  </a:lnTo>
                  <a:lnTo>
                    <a:pt x="1920" y="2000"/>
                  </a:lnTo>
                  <a:lnTo>
                    <a:pt x="1248" y="2000"/>
                  </a:lnTo>
                  <a:lnTo>
                    <a:pt x="78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>
              <a:solidFill>
                <a:srgbClr val="3333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6026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1" name="Text Box 5">
            <a:extLst>
              <a:ext uri="{FF2B5EF4-FFF2-40B4-BE49-F238E27FC236}">
                <a16:creationId xmlns:a16="http://schemas.microsoft.com/office/drawing/2014/main" id="{FC233C7A-F267-4C31-860C-809B396AB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36675"/>
            <a:ext cx="806926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Note that the optimal solution had a total cost of 1444 whereas the heuristic solution provides a total cost of 1707.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This means that we can improve the solution obtained by the heuristic. Therefore we apply an improvement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For each facility site, this algorithm identifies the set of demand nodes that are served from the facility called as the neighborhood.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Within each neighborhood, the optimal 1-median is found.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C9328C-A318-4116-B6C4-55D6A9721A7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9123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Improvement: Neighborhood Search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Start with a feasible solution</a:t>
            </a:r>
          </a:p>
          <a:p>
            <a:endParaRPr lang="en-US"/>
          </a:p>
          <a:p>
            <a:r>
              <a:rPr lang="en-US"/>
              <a:t>For each allocation neighborhood</a:t>
            </a:r>
          </a:p>
          <a:p>
            <a:pPr lvl="1"/>
            <a:r>
              <a:rPr lang="en-US"/>
              <a:t>Find the optimal 1-median</a:t>
            </a:r>
          </a:p>
          <a:p>
            <a:r>
              <a:rPr lang="en-US"/>
              <a:t>Reallocate globally</a:t>
            </a:r>
          </a:p>
          <a:p>
            <a:r>
              <a:rPr lang="en-US"/>
              <a:t>Repeat until</a:t>
            </a:r>
          </a:p>
          <a:p>
            <a:pPr lvl="1"/>
            <a:r>
              <a:rPr lang="en-US"/>
              <a:t>no neighborhood 1-median changes, or</a:t>
            </a:r>
          </a:p>
          <a:p>
            <a:pPr lvl="1"/>
            <a:r>
              <a:rPr lang="en-US"/>
              <a:t>no neighborhood changes (???)</a:t>
            </a:r>
          </a:p>
        </p:txBody>
      </p:sp>
    </p:spTree>
    <p:extLst>
      <p:ext uri="{BB962C8B-B14F-4D97-AF65-F5344CB8AC3E}">
        <p14:creationId xmlns:p14="http://schemas.microsoft.com/office/powerpoint/2010/main" val="1625827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7" name="Oval 5">
            <a:extLst>
              <a:ext uri="{FF2B5EF4-FFF2-40B4-BE49-F238E27FC236}">
                <a16:creationId xmlns:a16="http://schemas.microsoft.com/office/drawing/2014/main" id="{7F1B3C4A-85DD-4723-8414-8E4360624E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77604" y="1765300"/>
            <a:ext cx="438150" cy="43815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318" name="Text Box 6">
            <a:extLst>
              <a:ext uri="{FF2B5EF4-FFF2-40B4-BE49-F238E27FC236}">
                <a16:creationId xmlns:a16="http://schemas.microsoft.com/office/drawing/2014/main" id="{4CDCAF7A-1E65-4CF3-ACD6-46A1F5768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229" y="17303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grpSp>
        <p:nvGrpSpPr>
          <p:cNvPr id="269319" name="Group 7">
            <a:extLst>
              <a:ext uri="{FF2B5EF4-FFF2-40B4-BE49-F238E27FC236}">
                <a16:creationId xmlns:a16="http://schemas.microsoft.com/office/drawing/2014/main" id="{99348C15-886A-45EB-8AE8-2B5BFE26103C}"/>
              </a:ext>
            </a:extLst>
          </p:cNvPr>
          <p:cNvGrpSpPr>
            <a:grpSpLocks/>
          </p:cNvGrpSpPr>
          <p:nvPr/>
        </p:nvGrpSpPr>
        <p:grpSpPr bwMode="auto">
          <a:xfrm>
            <a:off x="2517454" y="1730375"/>
            <a:ext cx="438150" cy="473075"/>
            <a:chOff x="1048" y="1474"/>
            <a:chExt cx="276" cy="298"/>
          </a:xfrm>
        </p:grpSpPr>
        <p:sp>
          <p:nvSpPr>
            <p:cNvPr id="269320" name="Oval 8">
              <a:extLst>
                <a:ext uri="{FF2B5EF4-FFF2-40B4-BE49-F238E27FC236}">
                  <a16:creationId xmlns:a16="http://schemas.microsoft.com/office/drawing/2014/main" id="{84F37A28-EAD4-4CD7-A207-BFD725EFD6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1496"/>
              <a:ext cx="276" cy="2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21" name="Text Box 9">
              <a:extLst>
                <a:ext uri="{FF2B5EF4-FFF2-40B4-BE49-F238E27FC236}">
                  <a16:creationId xmlns:a16="http://schemas.microsoft.com/office/drawing/2014/main" id="{9F1BCAD6-C62D-47DC-A7A2-5A5D1AA16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47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269328" name="Group 16">
            <a:extLst>
              <a:ext uri="{FF2B5EF4-FFF2-40B4-BE49-F238E27FC236}">
                <a16:creationId xmlns:a16="http://schemas.microsoft.com/office/drawing/2014/main" id="{D3CC2BC1-2D3A-46A1-B11C-3938837B64C1}"/>
              </a:ext>
            </a:extLst>
          </p:cNvPr>
          <p:cNvGrpSpPr>
            <a:grpSpLocks/>
          </p:cNvGrpSpPr>
          <p:nvPr/>
        </p:nvGrpSpPr>
        <p:grpSpPr bwMode="auto">
          <a:xfrm>
            <a:off x="3273104" y="2873375"/>
            <a:ext cx="438150" cy="473075"/>
            <a:chOff x="1048" y="1474"/>
            <a:chExt cx="276" cy="298"/>
          </a:xfrm>
        </p:grpSpPr>
        <p:sp>
          <p:nvSpPr>
            <p:cNvPr id="269329" name="Oval 17">
              <a:extLst>
                <a:ext uri="{FF2B5EF4-FFF2-40B4-BE49-F238E27FC236}">
                  <a16:creationId xmlns:a16="http://schemas.microsoft.com/office/drawing/2014/main" id="{2D142C05-82CB-4104-84BD-44C49BB705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1496"/>
              <a:ext cx="276" cy="2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0" name="Text Box 18">
              <a:extLst>
                <a:ext uri="{FF2B5EF4-FFF2-40B4-BE49-F238E27FC236}">
                  <a16:creationId xmlns:a16="http://schemas.microsoft.com/office/drawing/2014/main" id="{43A4199B-CB35-40BA-B7C8-9A9F22EF1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47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E</a:t>
              </a:r>
            </a:p>
          </p:txBody>
        </p:sp>
      </p:grpSp>
      <p:sp>
        <p:nvSpPr>
          <p:cNvPr id="269335" name="Oval 23">
            <a:extLst>
              <a:ext uri="{FF2B5EF4-FFF2-40B4-BE49-F238E27FC236}">
                <a16:creationId xmlns:a16="http://schemas.microsoft.com/office/drawing/2014/main" id="{EEBA7265-9AD2-4D27-A900-FA9DA01C44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004" y="3975100"/>
            <a:ext cx="438150" cy="43815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336" name="Text Box 24">
            <a:extLst>
              <a:ext uri="{FF2B5EF4-FFF2-40B4-BE49-F238E27FC236}">
                <a16:creationId xmlns:a16="http://schemas.microsoft.com/office/drawing/2014/main" id="{41352E36-91DE-43C6-99C2-595A62111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629" y="39401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G</a:t>
            </a:r>
          </a:p>
        </p:txBody>
      </p:sp>
      <p:grpSp>
        <p:nvGrpSpPr>
          <p:cNvPr id="269340" name="Group 28">
            <a:extLst>
              <a:ext uri="{FF2B5EF4-FFF2-40B4-BE49-F238E27FC236}">
                <a16:creationId xmlns:a16="http://schemas.microsoft.com/office/drawing/2014/main" id="{A69CA225-5FC5-4D42-A364-C3BBDA731AAC}"/>
              </a:ext>
            </a:extLst>
          </p:cNvPr>
          <p:cNvGrpSpPr>
            <a:grpSpLocks/>
          </p:cNvGrpSpPr>
          <p:nvPr/>
        </p:nvGrpSpPr>
        <p:grpSpPr bwMode="auto">
          <a:xfrm>
            <a:off x="2561904" y="3940175"/>
            <a:ext cx="452438" cy="473075"/>
            <a:chOff x="1048" y="1474"/>
            <a:chExt cx="285" cy="298"/>
          </a:xfrm>
        </p:grpSpPr>
        <p:sp>
          <p:nvSpPr>
            <p:cNvPr id="269341" name="Oval 29">
              <a:extLst>
                <a:ext uri="{FF2B5EF4-FFF2-40B4-BE49-F238E27FC236}">
                  <a16:creationId xmlns:a16="http://schemas.microsoft.com/office/drawing/2014/main" id="{88EA5267-905E-415D-BCBE-1C5EEBB9E8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1496"/>
              <a:ext cx="276" cy="2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42" name="Text Box 30">
              <a:extLst>
                <a:ext uri="{FF2B5EF4-FFF2-40B4-BE49-F238E27FC236}">
                  <a16:creationId xmlns:a16="http://schemas.microsoft.com/office/drawing/2014/main" id="{3FA32E95-74BD-4F93-955F-87C4F8CAA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47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H</a:t>
              </a:r>
            </a:p>
          </p:txBody>
        </p:sp>
      </p:grpSp>
      <p:sp>
        <p:nvSpPr>
          <p:cNvPr id="269352" name="Line 40">
            <a:extLst>
              <a:ext uri="{FF2B5EF4-FFF2-40B4-BE49-F238E27FC236}">
                <a16:creationId xmlns:a16="http://schemas.microsoft.com/office/drawing/2014/main" id="{4A3D04DE-46EB-4BB1-A0CE-87635B77A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2104" y="1971675"/>
            <a:ext cx="895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5" name="Line 43">
            <a:extLst>
              <a:ext uri="{FF2B5EF4-FFF2-40B4-BE49-F238E27FC236}">
                <a16:creationId xmlns:a16="http://schemas.microsoft.com/office/drawing/2014/main" id="{BAA34A03-D65A-42DC-A67C-31C78F408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9854" y="2198688"/>
            <a:ext cx="0" cy="176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6" name="Line 44">
            <a:extLst>
              <a:ext uri="{FF2B5EF4-FFF2-40B4-BE49-F238E27FC236}">
                <a16:creationId xmlns:a16="http://schemas.microsoft.com/office/drawing/2014/main" id="{DCE3C0E4-E53E-4FFA-B4C5-FE8EB6B82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504" y="41814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62" name="Line 50">
            <a:extLst>
              <a:ext uri="{FF2B5EF4-FFF2-40B4-BE49-F238E27FC236}">
                <a16:creationId xmlns:a16="http://schemas.microsoft.com/office/drawing/2014/main" id="{BFFAAFC1-79F7-4BD6-9F3B-C05D92C1D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5904" y="2160588"/>
            <a:ext cx="1739900" cy="88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63" name="Line 51">
            <a:extLst>
              <a:ext uri="{FF2B5EF4-FFF2-40B4-BE49-F238E27FC236}">
                <a16:creationId xmlns:a16="http://schemas.microsoft.com/office/drawing/2014/main" id="{61029BB3-044D-4BD1-8F40-F042082C00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6704" y="3240088"/>
            <a:ext cx="17018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64" name="Line 52">
            <a:extLst>
              <a:ext uri="{FF2B5EF4-FFF2-40B4-BE49-F238E27FC236}">
                <a16:creationId xmlns:a16="http://schemas.microsoft.com/office/drawing/2014/main" id="{CE3C6423-14E4-45A1-9995-E143CDE57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7504" y="3328988"/>
            <a:ext cx="4699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73" name="Text Box 61">
            <a:extLst>
              <a:ext uri="{FF2B5EF4-FFF2-40B4-BE49-F238E27FC236}">
                <a16:creationId xmlns:a16="http://schemas.microsoft.com/office/drawing/2014/main" id="{6701A5BD-21C9-4246-B875-553752AFB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129" y="1528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15</a:t>
            </a:r>
          </a:p>
        </p:txBody>
      </p:sp>
      <p:sp>
        <p:nvSpPr>
          <p:cNvPr id="269377" name="Text Box 65">
            <a:extLst>
              <a:ext uri="{FF2B5EF4-FFF2-40B4-BE49-F238E27FC236}">
                <a16:creationId xmlns:a16="http://schemas.microsoft.com/office/drawing/2014/main" id="{0130D134-46F0-4492-8514-9867458D1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729" y="29003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18</a:t>
            </a:r>
          </a:p>
        </p:txBody>
      </p:sp>
      <p:sp>
        <p:nvSpPr>
          <p:cNvPr id="269390" name="Text Box 78">
            <a:extLst>
              <a:ext uri="{FF2B5EF4-FFF2-40B4-BE49-F238E27FC236}">
                <a16:creationId xmlns:a16="http://schemas.microsoft.com/office/drawing/2014/main" id="{0AD87E10-4F89-4E48-A286-8ECD2159B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8729" y="23796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24</a:t>
            </a:r>
          </a:p>
        </p:txBody>
      </p:sp>
      <p:sp>
        <p:nvSpPr>
          <p:cNvPr id="269391" name="Text Box 79">
            <a:extLst>
              <a:ext uri="{FF2B5EF4-FFF2-40B4-BE49-F238E27FC236}">
                <a16:creationId xmlns:a16="http://schemas.microsoft.com/office/drawing/2014/main" id="{FD1BBB60-AF58-4659-87CE-D2962E6D0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129" y="31543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25</a:t>
            </a:r>
          </a:p>
        </p:txBody>
      </p:sp>
      <p:sp>
        <p:nvSpPr>
          <p:cNvPr id="269392" name="Text Box 80">
            <a:extLst>
              <a:ext uri="{FF2B5EF4-FFF2-40B4-BE49-F238E27FC236}">
                <a16:creationId xmlns:a16="http://schemas.microsoft.com/office/drawing/2014/main" id="{FE42D1DA-3F84-4E0C-A863-0E36764E2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729" y="3509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269393" name="Text Box 81">
            <a:extLst>
              <a:ext uri="{FF2B5EF4-FFF2-40B4-BE49-F238E27FC236}">
                <a16:creationId xmlns:a16="http://schemas.microsoft.com/office/drawing/2014/main" id="{CF4771B0-2A31-409C-B685-EDD24EED4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829" y="3814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15</a:t>
            </a:r>
          </a:p>
        </p:txBody>
      </p:sp>
      <p:sp>
        <p:nvSpPr>
          <p:cNvPr id="269394" name="Text Box 82">
            <a:extLst>
              <a:ext uri="{FF2B5EF4-FFF2-40B4-BE49-F238E27FC236}">
                <a16:creationId xmlns:a16="http://schemas.microsoft.com/office/drawing/2014/main" id="{684AC16C-36BD-4771-8790-E2C866AA3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529" y="12207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269395" name="Text Box 83">
            <a:extLst>
              <a:ext uri="{FF2B5EF4-FFF2-40B4-BE49-F238E27FC236}">
                <a16:creationId xmlns:a16="http://schemas.microsoft.com/office/drawing/2014/main" id="{5BC5F2CC-17D3-4549-A37F-7D4533915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629" y="12207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69398" name="Text Box 86">
            <a:extLst>
              <a:ext uri="{FF2B5EF4-FFF2-40B4-BE49-F238E27FC236}">
                <a16:creationId xmlns:a16="http://schemas.microsoft.com/office/drawing/2014/main" id="{36D5DF9C-F545-4F44-8EB4-EDBB4460D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829" y="44846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269399" name="Text Box 87">
            <a:extLst>
              <a:ext uri="{FF2B5EF4-FFF2-40B4-BE49-F238E27FC236}">
                <a16:creationId xmlns:a16="http://schemas.microsoft.com/office/drawing/2014/main" id="{5BC48077-A179-4FA4-A8FA-6ECBE35F0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429" y="4511675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269405" name="Text Box 93">
            <a:extLst>
              <a:ext uri="{FF2B5EF4-FFF2-40B4-BE49-F238E27FC236}">
                <a16:creationId xmlns:a16="http://schemas.microsoft.com/office/drawing/2014/main" id="{B7D43FCF-2462-4CB0-B09C-D0D4DCD52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429" y="2490788"/>
            <a:ext cx="320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69406" name="Rectangle 94">
            <a:extLst>
              <a:ext uri="{FF2B5EF4-FFF2-40B4-BE49-F238E27FC236}">
                <a16:creationId xmlns:a16="http://schemas.microsoft.com/office/drawing/2014/main" id="{D0242423-462B-44B3-8739-863E7597D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04" y="1106488"/>
            <a:ext cx="3289300" cy="2436813"/>
          </a:xfrm>
          <a:prstGeom prst="rect">
            <a:avLst/>
          </a:prstGeom>
          <a:noFill/>
          <a:ln w="38100">
            <a:solidFill>
              <a:srgbClr val="00008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409" name="Rectangle 97">
            <a:extLst>
              <a:ext uri="{FF2B5EF4-FFF2-40B4-BE49-F238E27FC236}">
                <a16:creationId xmlns:a16="http://schemas.microsoft.com/office/drawing/2014/main" id="{6721BADE-6EB6-474A-A206-48ECF54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4" y="3886200"/>
            <a:ext cx="2565400" cy="1308100"/>
          </a:xfrm>
          <a:prstGeom prst="rect">
            <a:avLst/>
          </a:prstGeom>
          <a:noFill/>
          <a:ln w="38100">
            <a:solidFill>
              <a:srgbClr val="00008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E0389-2464-4A6D-95DF-55A8DECE31F0}"/>
              </a:ext>
            </a:extLst>
          </p:cNvPr>
          <p:cNvSpPr txBox="1"/>
          <p:nvPr/>
        </p:nvSpPr>
        <p:spPr>
          <a:xfrm>
            <a:off x="4185916" y="1220788"/>
            <a:ext cx="49580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remove the cluster center from G to H we have two sources of profit:</a:t>
            </a:r>
          </a:p>
          <a:p>
            <a:pPr marL="342900" indent="-342900">
              <a:buFontTx/>
              <a:buChar char="-"/>
            </a:pPr>
            <a:r>
              <a:rPr lang="en-US" dirty="0"/>
              <a:t>Assigning the demand of H to G costs 16*15 = 240</a:t>
            </a:r>
          </a:p>
          <a:p>
            <a:pPr marL="342900" indent="-342900">
              <a:buFontTx/>
              <a:buChar char="-"/>
            </a:pPr>
            <a:r>
              <a:rPr lang="en-US" dirty="0"/>
              <a:t>Assigning the demand of G to H costs 11 * 15 = 165 (profit 75$)</a:t>
            </a:r>
          </a:p>
          <a:p>
            <a:pPr marL="342900" indent="-342900">
              <a:buFontTx/>
              <a:buChar char="-"/>
            </a:pPr>
            <a:r>
              <a:rPr lang="en-US" dirty="0"/>
              <a:t>We can assign E to H (instead of A) to reduce the cost further (5*24 – 5 *12 = 60$ profit)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objective function value decreases by 135$ to </a:t>
            </a:r>
            <a:r>
              <a:rPr lang="en-US" b="1" dirty="0">
                <a:solidFill>
                  <a:srgbClr val="FF0000"/>
                </a:solidFill>
              </a:rPr>
              <a:t>1572$. 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416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6" name="Picture 4" descr="h2">
            <a:extLst>
              <a:ext uri="{FF2B5EF4-FFF2-40B4-BE49-F238E27FC236}">
                <a16:creationId xmlns:a16="http://schemas.microsoft.com/office/drawing/2014/main" id="{A07B5572-93DE-4B1C-BA11-97F7FAE03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1106488"/>
            <a:ext cx="3621088" cy="50434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8C0CBAA-5946-490A-BDD0-6096EF25860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 (</a:t>
            </a:r>
            <a:r>
              <a:rPr lang="tr-TR" b="1" dirty="0" err="1"/>
              <a:t>Improvement</a:t>
            </a:r>
            <a:r>
              <a:rPr lang="tr-TR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8916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485" name="Group 101">
            <a:extLst>
              <a:ext uri="{FF2B5EF4-FFF2-40B4-BE49-F238E27FC236}">
                <a16:creationId xmlns:a16="http://schemas.microsoft.com/office/drawing/2014/main" id="{D84A4072-9FA7-4728-A065-0020F7D5CFDC}"/>
              </a:ext>
            </a:extLst>
          </p:cNvPr>
          <p:cNvGrpSpPr>
            <a:grpSpLocks/>
          </p:cNvGrpSpPr>
          <p:nvPr/>
        </p:nvGrpSpPr>
        <p:grpSpPr bwMode="auto">
          <a:xfrm>
            <a:off x="1089025" y="1104900"/>
            <a:ext cx="7407275" cy="5537200"/>
            <a:chOff x="686" y="696"/>
            <a:chExt cx="4666" cy="3488"/>
          </a:xfrm>
        </p:grpSpPr>
        <p:sp>
          <p:nvSpPr>
            <p:cNvPr id="272388" name="Oval 4">
              <a:extLst>
                <a:ext uri="{FF2B5EF4-FFF2-40B4-BE49-F238E27FC236}">
                  <a16:creationId xmlns:a16="http://schemas.microsoft.com/office/drawing/2014/main" id="{D3707AB9-0E15-4FFF-85B6-AB1949872A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4" y="1112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389" name="Text Box 5">
              <a:extLst>
                <a:ext uri="{FF2B5EF4-FFF2-40B4-BE49-F238E27FC236}">
                  <a16:creationId xmlns:a16="http://schemas.microsoft.com/office/drawing/2014/main" id="{E43815E2-7E5E-4A7F-836A-119BB345F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" y="109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  <p:grpSp>
          <p:nvGrpSpPr>
            <p:cNvPr id="272390" name="Group 6">
              <a:extLst>
                <a:ext uri="{FF2B5EF4-FFF2-40B4-BE49-F238E27FC236}">
                  <a16:creationId xmlns:a16="http://schemas.microsoft.com/office/drawing/2014/main" id="{30A4909E-BAF6-4733-91E3-DBBB79087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8" y="1090"/>
              <a:ext cx="276" cy="298"/>
              <a:chOff x="1048" y="1474"/>
              <a:chExt cx="276" cy="298"/>
            </a:xfrm>
          </p:grpSpPr>
          <p:sp>
            <p:nvSpPr>
              <p:cNvPr id="272391" name="Oval 7">
                <a:extLst>
                  <a:ext uri="{FF2B5EF4-FFF2-40B4-BE49-F238E27FC236}">
                    <a16:creationId xmlns:a16="http://schemas.microsoft.com/office/drawing/2014/main" id="{FCF7C7FE-DB3D-4F42-94D9-153C0B7692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392" name="Text Box 8">
                <a:extLst>
                  <a:ext uri="{FF2B5EF4-FFF2-40B4-BE49-F238E27FC236}">
                    <a16:creationId xmlns:a16="http://schemas.microsoft.com/office/drawing/2014/main" id="{E9801952-081C-4C2C-9090-54CA438677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B</a:t>
                </a:r>
              </a:p>
            </p:txBody>
          </p:sp>
        </p:grpSp>
        <p:grpSp>
          <p:nvGrpSpPr>
            <p:cNvPr id="272393" name="Group 9">
              <a:extLst>
                <a:ext uri="{FF2B5EF4-FFF2-40B4-BE49-F238E27FC236}">
                  <a16:creationId xmlns:a16="http://schemas.microsoft.com/office/drawing/2014/main" id="{D48CB92A-3BCC-43F0-9DB3-1165D5D76F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090"/>
              <a:ext cx="276" cy="298"/>
              <a:chOff x="1048" y="1474"/>
              <a:chExt cx="276" cy="298"/>
            </a:xfrm>
          </p:grpSpPr>
          <p:sp>
            <p:nvSpPr>
              <p:cNvPr id="272394" name="Oval 10">
                <a:extLst>
                  <a:ext uri="{FF2B5EF4-FFF2-40B4-BE49-F238E27FC236}">
                    <a16:creationId xmlns:a16="http://schemas.microsoft.com/office/drawing/2014/main" id="{582C9A6B-D874-4077-9716-4A2CE84CE6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395" name="Text Box 11">
                <a:extLst>
                  <a:ext uri="{FF2B5EF4-FFF2-40B4-BE49-F238E27FC236}">
                    <a16:creationId xmlns:a16="http://schemas.microsoft.com/office/drawing/2014/main" id="{17092E60-89D9-403B-ADEF-2814EDE497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</a:t>
                </a:r>
              </a:p>
            </p:txBody>
          </p:sp>
        </p:grpSp>
        <p:grpSp>
          <p:nvGrpSpPr>
            <p:cNvPr id="272396" name="Group 12">
              <a:extLst>
                <a:ext uri="{FF2B5EF4-FFF2-40B4-BE49-F238E27FC236}">
                  <a16:creationId xmlns:a16="http://schemas.microsoft.com/office/drawing/2014/main" id="{B7B1B66C-64BC-4421-B9FF-4A54AEAD2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9" y="1090"/>
              <a:ext cx="285" cy="298"/>
              <a:chOff x="1048" y="1474"/>
              <a:chExt cx="285" cy="298"/>
            </a:xfrm>
          </p:grpSpPr>
          <p:sp>
            <p:nvSpPr>
              <p:cNvPr id="272397" name="Oval 13">
                <a:extLst>
                  <a:ext uri="{FF2B5EF4-FFF2-40B4-BE49-F238E27FC236}">
                    <a16:creationId xmlns:a16="http://schemas.microsoft.com/office/drawing/2014/main" id="{229073EE-D5A0-4727-BA58-D52FE96434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398" name="Text Box 14">
                <a:extLst>
                  <a:ext uri="{FF2B5EF4-FFF2-40B4-BE49-F238E27FC236}">
                    <a16:creationId xmlns:a16="http://schemas.microsoft.com/office/drawing/2014/main" id="{D3FEC233-A1B6-4285-8039-97F9CD920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D</a:t>
                </a:r>
              </a:p>
            </p:txBody>
          </p:sp>
        </p:grpSp>
        <p:grpSp>
          <p:nvGrpSpPr>
            <p:cNvPr id="272399" name="Group 15">
              <a:extLst>
                <a:ext uri="{FF2B5EF4-FFF2-40B4-BE49-F238E27FC236}">
                  <a16:creationId xmlns:a16="http://schemas.microsoft.com/office/drawing/2014/main" id="{8CBBCE71-19CB-4891-9CFF-29818FE5E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810"/>
              <a:ext cx="276" cy="298"/>
              <a:chOff x="1048" y="1474"/>
              <a:chExt cx="276" cy="298"/>
            </a:xfrm>
          </p:grpSpPr>
          <p:sp>
            <p:nvSpPr>
              <p:cNvPr id="272400" name="Oval 16">
                <a:extLst>
                  <a:ext uri="{FF2B5EF4-FFF2-40B4-BE49-F238E27FC236}">
                    <a16:creationId xmlns:a16="http://schemas.microsoft.com/office/drawing/2014/main" id="{F8F1E563-83EB-46E9-8C9F-F2E5CD24F6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401" name="Text Box 17">
                <a:extLst>
                  <a:ext uri="{FF2B5EF4-FFF2-40B4-BE49-F238E27FC236}">
                    <a16:creationId xmlns:a16="http://schemas.microsoft.com/office/drawing/2014/main" id="{79507CD6-6323-4734-8D6F-B611B32BDB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E</a:t>
                </a:r>
              </a:p>
            </p:txBody>
          </p:sp>
        </p:grpSp>
        <p:sp>
          <p:nvSpPr>
            <p:cNvPr id="272402" name="Oval 18">
              <a:extLst>
                <a:ext uri="{FF2B5EF4-FFF2-40B4-BE49-F238E27FC236}">
                  <a16:creationId xmlns:a16="http://schemas.microsoft.com/office/drawing/2014/main" id="{C8A1EB78-2806-4FDB-9FBE-D759034BA1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90" y="1968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03" name="Text Box 19">
              <a:extLst>
                <a:ext uri="{FF2B5EF4-FFF2-40B4-BE49-F238E27FC236}">
                  <a16:creationId xmlns:a16="http://schemas.microsoft.com/office/drawing/2014/main" id="{C239B3A4-AACD-4843-B3C7-8B478D0D4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0" y="194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</a:p>
          </p:txBody>
        </p:sp>
        <p:sp>
          <p:nvSpPr>
            <p:cNvPr id="272404" name="Oval 20">
              <a:extLst>
                <a:ext uri="{FF2B5EF4-FFF2-40B4-BE49-F238E27FC236}">
                  <a16:creationId xmlns:a16="http://schemas.microsoft.com/office/drawing/2014/main" id="{5DA969CB-8CCF-4BC8-8E14-37B94A21C4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80" y="2504"/>
              <a:ext cx="276" cy="2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05" name="Text Box 21">
              <a:extLst>
                <a:ext uri="{FF2B5EF4-FFF2-40B4-BE49-F238E27FC236}">
                  <a16:creationId xmlns:a16="http://schemas.microsoft.com/office/drawing/2014/main" id="{DEA024A9-706B-487C-A4C1-D80FB61AB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" y="248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G</a:t>
              </a:r>
            </a:p>
          </p:txBody>
        </p:sp>
        <p:sp>
          <p:nvSpPr>
            <p:cNvPr id="272406" name="Oval 22">
              <a:extLst>
                <a:ext uri="{FF2B5EF4-FFF2-40B4-BE49-F238E27FC236}">
                  <a16:creationId xmlns:a16="http://schemas.microsoft.com/office/drawing/2014/main" id="{585BEF16-BD10-4C98-B838-944ECE3486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4" y="2504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07" name="Text Box 23">
              <a:extLst>
                <a:ext uri="{FF2B5EF4-FFF2-40B4-BE49-F238E27FC236}">
                  <a16:creationId xmlns:a16="http://schemas.microsoft.com/office/drawing/2014/main" id="{3D8B04DB-5C93-4F31-9D94-C6170E794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2482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</a:t>
              </a:r>
            </a:p>
          </p:txBody>
        </p:sp>
        <p:sp>
          <p:nvSpPr>
            <p:cNvPr id="272409" name="Oval 25">
              <a:extLst>
                <a:ext uri="{FF2B5EF4-FFF2-40B4-BE49-F238E27FC236}">
                  <a16:creationId xmlns:a16="http://schemas.microsoft.com/office/drawing/2014/main" id="{694BF5A8-E333-4966-B9B1-02D717DED7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36" y="2504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10" name="Text Box 26">
              <a:extLst>
                <a:ext uri="{FF2B5EF4-FFF2-40B4-BE49-F238E27FC236}">
                  <a16:creationId xmlns:a16="http://schemas.microsoft.com/office/drawing/2014/main" id="{D80BD1F2-AE3B-4E36-B1BC-F13117CDC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248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H</a:t>
              </a:r>
            </a:p>
          </p:txBody>
        </p:sp>
        <p:sp>
          <p:nvSpPr>
            <p:cNvPr id="272411" name="Oval 27">
              <a:extLst>
                <a:ext uri="{FF2B5EF4-FFF2-40B4-BE49-F238E27FC236}">
                  <a16:creationId xmlns:a16="http://schemas.microsoft.com/office/drawing/2014/main" id="{F2E4C8D0-568E-4449-AC49-5C3E6A7FB0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8" y="3512"/>
              <a:ext cx="276" cy="27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12" name="Text Box 28">
              <a:extLst>
                <a:ext uri="{FF2B5EF4-FFF2-40B4-BE49-F238E27FC236}">
                  <a16:creationId xmlns:a16="http://schemas.microsoft.com/office/drawing/2014/main" id="{AA6E9248-1A88-4F36-8ADC-67F0E7CA2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4" y="3498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J</a:t>
              </a:r>
            </a:p>
          </p:txBody>
        </p:sp>
        <p:grpSp>
          <p:nvGrpSpPr>
            <p:cNvPr id="272413" name="Group 29">
              <a:extLst>
                <a:ext uri="{FF2B5EF4-FFF2-40B4-BE49-F238E27FC236}">
                  <a16:creationId xmlns:a16="http://schemas.microsoft.com/office/drawing/2014/main" id="{52F98B6B-AD4F-4071-94E0-CF11A03A3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8" y="3490"/>
              <a:ext cx="276" cy="298"/>
              <a:chOff x="1048" y="1474"/>
              <a:chExt cx="276" cy="298"/>
            </a:xfrm>
          </p:grpSpPr>
          <p:sp>
            <p:nvSpPr>
              <p:cNvPr id="272414" name="Oval 30">
                <a:extLst>
                  <a:ext uri="{FF2B5EF4-FFF2-40B4-BE49-F238E27FC236}">
                    <a16:creationId xmlns:a16="http://schemas.microsoft.com/office/drawing/2014/main" id="{612E664B-1073-4203-8EDA-FF9BA6386A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415" name="Text Box 31">
                <a:extLst>
                  <a:ext uri="{FF2B5EF4-FFF2-40B4-BE49-F238E27FC236}">
                    <a16:creationId xmlns:a16="http://schemas.microsoft.com/office/drawing/2014/main" id="{3004463C-1F7C-488E-89A6-24687686CE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L</a:t>
                </a:r>
              </a:p>
            </p:txBody>
          </p:sp>
        </p:grpSp>
        <p:grpSp>
          <p:nvGrpSpPr>
            <p:cNvPr id="272416" name="Group 32">
              <a:extLst>
                <a:ext uri="{FF2B5EF4-FFF2-40B4-BE49-F238E27FC236}">
                  <a16:creationId xmlns:a16="http://schemas.microsoft.com/office/drawing/2014/main" id="{589439BC-412D-45E6-87F9-1CC86474B8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2" y="3490"/>
              <a:ext cx="285" cy="298"/>
              <a:chOff x="1048" y="1474"/>
              <a:chExt cx="285" cy="298"/>
            </a:xfrm>
          </p:grpSpPr>
          <p:sp>
            <p:nvSpPr>
              <p:cNvPr id="272417" name="Oval 33">
                <a:extLst>
                  <a:ext uri="{FF2B5EF4-FFF2-40B4-BE49-F238E27FC236}">
                    <a16:creationId xmlns:a16="http://schemas.microsoft.com/office/drawing/2014/main" id="{E574CE32-D54E-48B1-A7A8-96C621D4A1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48" y="1496"/>
                <a:ext cx="276" cy="2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418" name="Text Box 34">
                <a:extLst>
                  <a:ext uri="{FF2B5EF4-FFF2-40B4-BE49-F238E27FC236}">
                    <a16:creationId xmlns:a16="http://schemas.microsoft.com/office/drawing/2014/main" id="{FBA1BE05-254E-42B2-A734-379AA5609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147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K</a:t>
                </a:r>
              </a:p>
            </p:txBody>
          </p:sp>
        </p:grpSp>
        <p:sp>
          <p:nvSpPr>
            <p:cNvPr id="272419" name="Line 35">
              <a:extLst>
                <a:ext uri="{FF2B5EF4-FFF2-40B4-BE49-F238E27FC236}">
                  <a16:creationId xmlns:a16="http://schemas.microsoft.com/office/drawing/2014/main" id="{2ACA1B9A-44FE-4841-BAAC-D12A30C5E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1242"/>
              <a:ext cx="5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0" name="Line 36">
              <a:extLst>
                <a:ext uri="{FF2B5EF4-FFF2-40B4-BE49-F238E27FC236}">
                  <a16:creationId xmlns:a16="http://schemas.microsoft.com/office/drawing/2014/main" id="{59B20864-6202-488A-ABBA-DF6E7D37B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242"/>
              <a:ext cx="10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1" name="Line 37">
              <a:extLst>
                <a:ext uri="{FF2B5EF4-FFF2-40B4-BE49-F238E27FC236}">
                  <a16:creationId xmlns:a16="http://schemas.microsoft.com/office/drawing/2014/main" id="{3AD977F4-F53A-4E1A-ABDA-4B65B4FE8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2" y="1242"/>
              <a:ext cx="6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2" name="Line 38">
              <a:extLst>
                <a:ext uri="{FF2B5EF4-FFF2-40B4-BE49-F238E27FC236}">
                  <a16:creationId xmlns:a16="http://schemas.microsoft.com/office/drawing/2014/main" id="{F9F35E86-A0C4-4B04-A4A8-9A9E6F896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4" y="1385"/>
              <a:ext cx="0" cy="1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3" name="Line 39">
              <a:extLst>
                <a:ext uri="{FF2B5EF4-FFF2-40B4-BE49-F238E27FC236}">
                  <a16:creationId xmlns:a16="http://schemas.microsoft.com/office/drawing/2014/main" id="{B3150B9B-F20A-4E93-A84E-A0864CDC0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63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4" name="Line 40">
              <a:extLst>
                <a:ext uri="{FF2B5EF4-FFF2-40B4-BE49-F238E27FC236}">
                  <a16:creationId xmlns:a16="http://schemas.microsoft.com/office/drawing/2014/main" id="{8877C72F-A896-4568-97DA-0BF5F94A4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" y="2634"/>
              <a:ext cx="1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5" name="Line 41">
              <a:extLst>
                <a:ext uri="{FF2B5EF4-FFF2-40B4-BE49-F238E27FC236}">
                  <a16:creationId xmlns:a16="http://schemas.microsoft.com/office/drawing/2014/main" id="{3DFBFF59-9F06-4BF5-8C6C-2A909FABD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8" y="1385"/>
              <a:ext cx="0" cy="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6" name="Line 42">
              <a:extLst>
                <a:ext uri="{FF2B5EF4-FFF2-40B4-BE49-F238E27FC236}">
                  <a16:creationId xmlns:a16="http://schemas.microsoft.com/office/drawing/2014/main" id="{C9C83497-B887-421A-80E2-83BEC9A42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8" y="2233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7" name="Line 43">
              <a:extLst>
                <a:ext uri="{FF2B5EF4-FFF2-40B4-BE49-F238E27FC236}">
                  <a16:creationId xmlns:a16="http://schemas.microsoft.com/office/drawing/2014/main" id="{0717BAAC-F0C4-44A5-A19B-1A19AD034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3642"/>
              <a:ext cx="8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8" name="Line 44">
              <a:extLst>
                <a:ext uri="{FF2B5EF4-FFF2-40B4-BE49-F238E27FC236}">
                  <a16:creationId xmlns:a16="http://schemas.microsoft.com/office/drawing/2014/main" id="{DFD7E468-30A5-4BD7-BB6C-1051C49E1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3642"/>
              <a:ext cx="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29" name="Line 45">
              <a:extLst>
                <a:ext uri="{FF2B5EF4-FFF2-40B4-BE49-F238E27FC236}">
                  <a16:creationId xmlns:a16="http://schemas.microsoft.com/office/drawing/2014/main" id="{483F30B1-9A7A-4EBF-B6B7-E67AD5B08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1361"/>
              <a:ext cx="1096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0" name="Line 46">
              <a:extLst>
                <a:ext uri="{FF2B5EF4-FFF2-40B4-BE49-F238E27FC236}">
                  <a16:creationId xmlns:a16="http://schemas.microsoft.com/office/drawing/2014/main" id="{8DBE4F15-47F5-43D7-9A1D-56AE87C93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041"/>
              <a:ext cx="1072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1" name="Line 47">
              <a:extLst>
                <a:ext uri="{FF2B5EF4-FFF2-40B4-BE49-F238E27FC236}">
                  <a16:creationId xmlns:a16="http://schemas.microsoft.com/office/drawing/2014/main" id="{6518AA84-7449-4F8E-B388-6244F1766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0" y="2097"/>
              <a:ext cx="2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2" name="Line 48">
              <a:extLst>
                <a:ext uri="{FF2B5EF4-FFF2-40B4-BE49-F238E27FC236}">
                  <a16:creationId xmlns:a16="http://schemas.microsoft.com/office/drawing/2014/main" id="{93403CA1-7588-4197-B000-994C2F4CC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" y="2025"/>
              <a:ext cx="1136" cy="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3" name="Line 49">
              <a:extLst>
                <a:ext uri="{FF2B5EF4-FFF2-40B4-BE49-F238E27FC236}">
                  <a16:creationId xmlns:a16="http://schemas.microsoft.com/office/drawing/2014/main" id="{D0EFA4B8-B8F0-44A1-92DA-CCE40E551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6" y="1377"/>
              <a:ext cx="744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4" name="Line 50">
              <a:extLst>
                <a:ext uri="{FF2B5EF4-FFF2-40B4-BE49-F238E27FC236}">
                  <a16:creationId xmlns:a16="http://schemas.microsoft.com/office/drawing/2014/main" id="{A49B55B8-DCE7-4567-983B-A28DE84B81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8" y="2217"/>
              <a:ext cx="352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5" name="Line 51">
              <a:extLst>
                <a:ext uri="{FF2B5EF4-FFF2-40B4-BE49-F238E27FC236}">
                  <a16:creationId xmlns:a16="http://schemas.microsoft.com/office/drawing/2014/main" id="{63A6D703-DDC7-4230-B657-C78330462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" y="2769"/>
              <a:ext cx="400" cy="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6" name="Line 52">
              <a:extLst>
                <a:ext uri="{FF2B5EF4-FFF2-40B4-BE49-F238E27FC236}">
                  <a16:creationId xmlns:a16="http://schemas.microsoft.com/office/drawing/2014/main" id="{AD8A6BCD-6F20-4860-9BD9-1AE7FE3B9F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0" y="2729"/>
              <a:ext cx="528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7" name="Line 53">
              <a:extLst>
                <a:ext uri="{FF2B5EF4-FFF2-40B4-BE49-F238E27FC236}">
                  <a16:creationId xmlns:a16="http://schemas.microsoft.com/office/drawing/2014/main" id="{1998D365-0FBF-495F-9839-34B04649B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2" y="2769"/>
              <a:ext cx="976" cy="7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8" name="Line 54">
              <a:extLst>
                <a:ext uri="{FF2B5EF4-FFF2-40B4-BE49-F238E27FC236}">
                  <a16:creationId xmlns:a16="http://schemas.microsoft.com/office/drawing/2014/main" id="{7343A8C1-D663-4649-9D85-3E39BA614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753"/>
              <a:ext cx="672" cy="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39" name="Line 55">
              <a:extLst>
                <a:ext uri="{FF2B5EF4-FFF2-40B4-BE49-F238E27FC236}">
                  <a16:creationId xmlns:a16="http://schemas.microsoft.com/office/drawing/2014/main" id="{636CB206-D42F-4946-AA36-ADB5443C5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1377"/>
              <a:ext cx="416" cy="1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40" name="Text Box 56">
              <a:extLst>
                <a:ext uri="{FF2B5EF4-FFF2-40B4-BE49-F238E27FC236}">
                  <a16:creationId xmlns:a16="http://schemas.microsoft.com/office/drawing/2014/main" id="{D5071D70-B8AF-4FC2-AA3D-272BFC807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96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15</a:t>
              </a:r>
            </a:p>
          </p:txBody>
        </p:sp>
        <p:sp>
          <p:nvSpPr>
            <p:cNvPr id="272441" name="Text Box 57">
              <a:extLst>
                <a:ext uri="{FF2B5EF4-FFF2-40B4-BE49-F238E27FC236}">
                  <a16:creationId xmlns:a16="http://schemas.microsoft.com/office/drawing/2014/main" id="{207A794A-BC99-424D-B9C6-0A9605E17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" y="96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72442" name="Text Box 58">
              <a:extLst>
                <a:ext uri="{FF2B5EF4-FFF2-40B4-BE49-F238E27FC236}">
                  <a16:creationId xmlns:a16="http://schemas.microsoft.com/office/drawing/2014/main" id="{60A8A271-D64D-445D-A3AE-26EEDD4A2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0" y="95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18</a:t>
              </a:r>
            </a:p>
          </p:txBody>
        </p:sp>
        <p:sp>
          <p:nvSpPr>
            <p:cNvPr id="272443" name="Text Box 59">
              <a:extLst>
                <a:ext uri="{FF2B5EF4-FFF2-40B4-BE49-F238E27FC236}">
                  <a16:creationId xmlns:a16="http://schemas.microsoft.com/office/drawing/2014/main" id="{FA749C7C-A57C-4721-AC1F-D9EED8765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4" y="15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72444" name="Text Box 60">
              <a:extLst>
                <a:ext uri="{FF2B5EF4-FFF2-40B4-BE49-F238E27FC236}">
                  <a16:creationId xmlns:a16="http://schemas.microsoft.com/office/drawing/2014/main" id="{311C6E7F-E1B5-4688-B9A9-32FF7A17D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182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18</a:t>
              </a:r>
            </a:p>
          </p:txBody>
        </p:sp>
        <p:sp>
          <p:nvSpPr>
            <p:cNvPr id="272445" name="Text Box 61">
              <a:extLst>
                <a:ext uri="{FF2B5EF4-FFF2-40B4-BE49-F238E27FC236}">
                  <a16:creationId xmlns:a16="http://schemas.microsoft.com/office/drawing/2014/main" id="{13DAC971-0978-477C-89BA-DAA7B299A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2" y="275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72446" name="Text Box 62">
              <a:extLst>
                <a:ext uri="{FF2B5EF4-FFF2-40B4-BE49-F238E27FC236}">
                  <a16:creationId xmlns:a16="http://schemas.microsoft.com/office/drawing/2014/main" id="{F32627EA-76EB-49A5-AFF2-F104979BD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2" y="301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22</a:t>
              </a:r>
            </a:p>
          </p:txBody>
        </p:sp>
        <p:sp>
          <p:nvSpPr>
            <p:cNvPr id="272447" name="Text Box 63">
              <a:extLst>
                <a:ext uri="{FF2B5EF4-FFF2-40B4-BE49-F238E27FC236}">
                  <a16:creationId xmlns:a16="http://schemas.microsoft.com/office/drawing/2014/main" id="{6BF9D22B-3B1C-4E4E-A00B-C899D5403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00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</a:t>
              </a:r>
            </a:p>
          </p:txBody>
        </p:sp>
        <p:sp>
          <p:nvSpPr>
            <p:cNvPr id="272448" name="Text Box 64">
              <a:extLst>
                <a:ext uri="{FF2B5EF4-FFF2-40B4-BE49-F238E27FC236}">
                  <a16:creationId xmlns:a16="http://schemas.microsoft.com/office/drawing/2014/main" id="{DA1950D2-A992-4DDB-930D-7F9FA0841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4" y="36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72449" name="Text Box 65">
              <a:extLst>
                <a:ext uri="{FF2B5EF4-FFF2-40B4-BE49-F238E27FC236}">
                  <a16:creationId xmlns:a16="http://schemas.microsoft.com/office/drawing/2014/main" id="{BE8C94E6-1467-4EC3-B88F-0DC526164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" y="36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21</a:t>
              </a:r>
            </a:p>
          </p:txBody>
        </p:sp>
        <p:sp>
          <p:nvSpPr>
            <p:cNvPr id="272450" name="Text Box 66">
              <a:extLst>
                <a:ext uri="{FF2B5EF4-FFF2-40B4-BE49-F238E27FC236}">
                  <a16:creationId xmlns:a16="http://schemas.microsoft.com/office/drawing/2014/main" id="{7C320F54-84C5-4730-BF70-DFCE32FDA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" y="305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72451" name="Text Box 67">
              <a:extLst>
                <a:ext uri="{FF2B5EF4-FFF2-40B4-BE49-F238E27FC236}">
                  <a16:creationId xmlns:a16="http://schemas.microsoft.com/office/drawing/2014/main" id="{883844F8-4C1E-4241-9379-9A3C9F246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4" y="287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19</a:t>
              </a:r>
            </a:p>
          </p:txBody>
        </p:sp>
        <p:sp>
          <p:nvSpPr>
            <p:cNvPr id="272452" name="Text Box 68">
              <a:extLst>
                <a:ext uri="{FF2B5EF4-FFF2-40B4-BE49-F238E27FC236}">
                  <a16:creationId xmlns:a16="http://schemas.microsoft.com/office/drawing/2014/main" id="{7F938C14-5DCF-405E-95F4-96D411B54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239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30</a:t>
              </a:r>
            </a:p>
          </p:txBody>
        </p:sp>
        <p:sp>
          <p:nvSpPr>
            <p:cNvPr id="272453" name="Text Box 69">
              <a:extLst>
                <a:ext uri="{FF2B5EF4-FFF2-40B4-BE49-F238E27FC236}">
                  <a16:creationId xmlns:a16="http://schemas.microsoft.com/office/drawing/2014/main" id="{65E9D371-922C-4BA1-8A0B-58F55FBD6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0" y="201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24</a:t>
              </a:r>
            </a:p>
          </p:txBody>
        </p:sp>
        <p:sp>
          <p:nvSpPr>
            <p:cNvPr id="272454" name="Text Box 70">
              <a:extLst>
                <a:ext uri="{FF2B5EF4-FFF2-40B4-BE49-F238E27FC236}">
                  <a16:creationId xmlns:a16="http://schemas.microsoft.com/office/drawing/2014/main" id="{B9C0ABEC-48EE-40E3-8818-C87B64427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8" y="16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20</a:t>
              </a:r>
            </a:p>
          </p:txBody>
        </p:sp>
        <p:sp>
          <p:nvSpPr>
            <p:cNvPr id="272455" name="Text Box 71">
              <a:extLst>
                <a:ext uri="{FF2B5EF4-FFF2-40B4-BE49-F238E27FC236}">
                  <a16:creationId xmlns:a16="http://schemas.microsoft.com/office/drawing/2014/main" id="{0256FADF-AFF4-4910-BED8-BDE63A428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2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72456" name="Text Box 72">
              <a:extLst>
                <a:ext uri="{FF2B5EF4-FFF2-40B4-BE49-F238E27FC236}">
                  <a16:creationId xmlns:a16="http://schemas.microsoft.com/office/drawing/2014/main" id="{6758E3A7-DCC0-4E79-BD12-15378AF1F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2" y="137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16</a:t>
              </a:r>
            </a:p>
          </p:txBody>
        </p:sp>
        <p:sp>
          <p:nvSpPr>
            <p:cNvPr id="272457" name="Text Box 73">
              <a:extLst>
                <a:ext uri="{FF2B5EF4-FFF2-40B4-BE49-F238E27FC236}">
                  <a16:creationId xmlns:a16="http://schemas.microsoft.com/office/drawing/2014/main" id="{5D501F3D-7DF3-4039-BC5C-1C2874F56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6" y="141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24</a:t>
              </a:r>
            </a:p>
          </p:txBody>
        </p:sp>
        <p:sp>
          <p:nvSpPr>
            <p:cNvPr id="272458" name="Text Box 74">
              <a:extLst>
                <a:ext uri="{FF2B5EF4-FFF2-40B4-BE49-F238E27FC236}">
                  <a16:creationId xmlns:a16="http://schemas.microsoft.com/office/drawing/2014/main" id="{DDD9E9E7-F8B9-4C2E-9F5C-D26FDB20B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" y="198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</a:t>
              </a:r>
            </a:p>
          </p:txBody>
        </p:sp>
        <p:sp>
          <p:nvSpPr>
            <p:cNvPr id="272459" name="Text Box 75">
              <a:extLst>
                <a:ext uri="{FF2B5EF4-FFF2-40B4-BE49-F238E27FC236}">
                  <a16:creationId xmlns:a16="http://schemas.microsoft.com/office/drawing/2014/main" id="{DCE55BC5-287F-41DB-AE2F-34469FAAD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" y="221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12</a:t>
              </a:r>
            </a:p>
          </p:txBody>
        </p:sp>
        <p:sp>
          <p:nvSpPr>
            <p:cNvPr id="272460" name="Text Box 76">
              <a:extLst>
                <a:ext uri="{FF2B5EF4-FFF2-40B4-BE49-F238E27FC236}">
                  <a16:creationId xmlns:a16="http://schemas.microsoft.com/office/drawing/2014/main" id="{FEF3D8AE-D940-42F9-AFFF-7835448BF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40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15</a:t>
              </a:r>
            </a:p>
          </p:txBody>
        </p:sp>
        <p:sp>
          <p:nvSpPr>
            <p:cNvPr id="272461" name="Text Box 77">
              <a:extLst>
                <a:ext uri="{FF2B5EF4-FFF2-40B4-BE49-F238E27FC236}">
                  <a16:creationId xmlns:a16="http://schemas.microsoft.com/office/drawing/2014/main" id="{23E2AEC4-780C-4814-8889-A04CB74E1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6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15</a:t>
              </a:r>
            </a:p>
          </p:txBody>
        </p:sp>
        <p:sp>
          <p:nvSpPr>
            <p:cNvPr id="272462" name="Text Box 78">
              <a:extLst>
                <a:ext uri="{FF2B5EF4-FFF2-40B4-BE49-F238E27FC236}">
                  <a16:creationId xmlns:a16="http://schemas.microsoft.com/office/drawing/2014/main" id="{DDA7D0E6-055F-4888-993C-518A658C0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272463" name="Text Box 79">
              <a:extLst>
                <a:ext uri="{FF2B5EF4-FFF2-40B4-BE49-F238E27FC236}">
                  <a16:creationId xmlns:a16="http://schemas.microsoft.com/office/drawing/2014/main" id="{75EF88B9-F2D7-4CBF-A0B6-236B4ACD2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8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12</a:t>
              </a:r>
            </a:p>
          </p:txBody>
        </p:sp>
        <p:sp>
          <p:nvSpPr>
            <p:cNvPr id="272464" name="Text Box 80">
              <a:extLst>
                <a:ext uri="{FF2B5EF4-FFF2-40B4-BE49-F238E27FC236}">
                  <a16:creationId xmlns:a16="http://schemas.microsoft.com/office/drawing/2014/main" id="{EA2CC037-B97A-4F7B-9F0E-4D8106B06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" y="76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18</a:t>
              </a:r>
            </a:p>
          </p:txBody>
        </p:sp>
        <p:sp>
          <p:nvSpPr>
            <p:cNvPr id="272465" name="Text Box 81">
              <a:extLst>
                <a:ext uri="{FF2B5EF4-FFF2-40B4-BE49-F238E27FC236}">
                  <a16:creationId xmlns:a16="http://schemas.microsoft.com/office/drawing/2014/main" id="{916AC5B2-C5FF-4951-87ED-069D76B84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" y="2825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11</a:t>
              </a:r>
            </a:p>
          </p:txBody>
        </p:sp>
        <p:sp>
          <p:nvSpPr>
            <p:cNvPr id="272466" name="Text Box 82">
              <a:extLst>
                <a:ext uri="{FF2B5EF4-FFF2-40B4-BE49-F238E27FC236}">
                  <a16:creationId xmlns:a16="http://schemas.microsoft.com/office/drawing/2014/main" id="{643B4B4B-939E-4D84-920E-2A33DBB8D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2842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16</a:t>
              </a:r>
            </a:p>
          </p:txBody>
        </p:sp>
        <p:sp>
          <p:nvSpPr>
            <p:cNvPr id="272467" name="Text Box 83">
              <a:extLst>
                <a:ext uri="{FF2B5EF4-FFF2-40B4-BE49-F238E27FC236}">
                  <a16:creationId xmlns:a16="http://schemas.microsoft.com/office/drawing/2014/main" id="{018422EA-6864-42AA-8F4E-9DAD79E61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3817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22</a:t>
              </a:r>
            </a:p>
          </p:txBody>
        </p:sp>
        <p:sp>
          <p:nvSpPr>
            <p:cNvPr id="272468" name="Text Box 84">
              <a:extLst>
                <a:ext uri="{FF2B5EF4-FFF2-40B4-BE49-F238E27FC236}">
                  <a16:creationId xmlns:a16="http://schemas.microsoft.com/office/drawing/2014/main" id="{364D7BDA-3DA1-4EBD-95CF-B0D771366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3841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19</a:t>
              </a:r>
            </a:p>
          </p:txBody>
        </p:sp>
        <p:sp>
          <p:nvSpPr>
            <p:cNvPr id="272469" name="Text Box 85">
              <a:extLst>
                <a:ext uri="{FF2B5EF4-FFF2-40B4-BE49-F238E27FC236}">
                  <a16:creationId xmlns:a16="http://schemas.microsoft.com/office/drawing/2014/main" id="{764BADAC-FB4E-45C7-8406-0D439ECCD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" y="3849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20</a:t>
              </a:r>
            </a:p>
          </p:txBody>
        </p:sp>
        <p:sp>
          <p:nvSpPr>
            <p:cNvPr id="272470" name="Text Box 86">
              <a:extLst>
                <a:ext uri="{FF2B5EF4-FFF2-40B4-BE49-F238E27FC236}">
                  <a16:creationId xmlns:a16="http://schemas.microsoft.com/office/drawing/2014/main" id="{D246A909-907B-425E-A5C2-A933CA45E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825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272471" name="Text Box 87">
              <a:extLst>
                <a:ext uri="{FF2B5EF4-FFF2-40B4-BE49-F238E27FC236}">
                  <a16:creationId xmlns:a16="http://schemas.microsoft.com/office/drawing/2014/main" id="{32EAB07B-BE42-4983-86AC-8F40979EF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2" y="1993"/>
              <a:ext cx="28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24</a:t>
              </a:r>
            </a:p>
          </p:txBody>
        </p:sp>
        <p:sp>
          <p:nvSpPr>
            <p:cNvPr id="272472" name="Text Box 88">
              <a:extLst>
                <a:ext uri="{FF2B5EF4-FFF2-40B4-BE49-F238E27FC236}">
                  <a16:creationId xmlns:a16="http://schemas.microsoft.com/office/drawing/2014/main" id="{64ED1209-FA01-4339-8876-2E16361A9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4" y="1833"/>
              <a:ext cx="202" cy="25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272473" name="Rectangle 89">
              <a:extLst>
                <a:ext uri="{FF2B5EF4-FFF2-40B4-BE49-F238E27FC236}">
                  <a16:creationId xmlns:a16="http://schemas.microsoft.com/office/drawing/2014/main" id="{51E5CB88-912D-441F-8C9F-F4768F86C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697"/>
              <a:ext cx="1560" cy="967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74" name="Rectangle 90">
              <a:extLst>
                <a:ext uri="{FF2B5EF4-FFF2-40B4-BE49-F238E27FC236}">
                  <a16:creationId xmlns:a16="http://schemas.microsoft.com/office/drawing/2014/main" id="{1D555CBD-4E36-4DB3-A347-982A2521A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" y="697"/>
              <a:ext cx="832" cy="1615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75" name="Rectangle 91">
              <a:extLst>
                <a:ext uri="{FF2B5EF4-FFF2-40B4-BE49-F238E27FC236}">
                  <a16:creationId xmlns:a16="http://schemas.microsoft.com/office/drawing/2014/main" id="{7635579F-B762-4607-B9B2-A599D8100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" y="3416"/>
              <a:ext cx="664" cy="736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77" name="Freeform 93">
              <a:extLst>
                <a:ext uri="{FF2B5EF4-FFF2-40B4-BE49-F238E27FC236}">
                  <a16:creationId xmlns:a16="http://schemas.microsoft.com/office/drawing/2014/main" id="{91FBDEA5-C9FF-4877-89E5-8AE7A9868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696"/>
              <a:ext cx="1920" cy="3488"/>
            </a:xfrm>
            <a:custGeom>
              <a:avLst/>
              <a:gdLst>
                <a:gd name="T0" fmla="*/ 0 w 1920"/>
                <a:gd name="T1" fmla="*/ 0 h 3488"/>
                <a:gd name="T2" fmla="*/ 0 w 1920"/>
                <a:gd name="T3" fmla="*/ 3480 h 3488"/>
                <a:gd name="T4" fmla="*/ 1920 w 1920"/>
                <a:gd name="T5" fmla="*/ 3488 h 3488"/>
                <a:gd name="T6" fmla="*/ 1920 w 1920"/>
                <a:gd name="T7" fmla="*/ 2000 h 3488"/>
                <a:gd name="T8" fmla="*/ 1248 w 1920"/>
                <a:gd name="T9" fmla="*/ 2000 h 3488"/>
                <a:gd name="T10" fmla="*/ 784 w 1920"/>
                <a:gd name="T11" fmla="*/ 0 h 3488"/>
                <a:gd name="T12" fmla="*/ 0 w 1920"/>
                <a:gd name="T13" fmla="*/ 0 h 3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0" h="3488">
                  <a:moveTo>
                    <a:pt x="0" y="0"/>
                  </a:moveTo>
                  <a:lnTo>
                    <a:pt x="0" y="3480"/>
                  </a:lnTo>
                  <a:lnTo>
                    <a:pt x="1920" y="3488"/>
                  </a:lnTo>
                  <a:lnTo>
                    <a:pt x="1920" y="2000"/>
                  </a:lnTo>
                  <a:lnTo>
                    <a:pt x="1248" y="2000"/>
                  </a:lnTo>
                  <a:lnTo>
                    <a:pt x="78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>
              <a:solidFill>
                <a:srgbClr val="3333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81" name="Freeform 97">
              <a:extLst>
                <a:ext uri="{FF2B5EF4-FFF2-40B4-BE49-F238E27FC236}">
                  <a16:creationId xmlns:a16="http://schemas.microsoft.com/office/drawing/2014/main" id="{133A0A63-5118-4A42-AF10-FA07F892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1800"/>
              <a:ext cx="2128" cy="1520"/>
            </a:xfrm>
            <a:custGeom>
              <a:avLst/>
              <a:gdLst>
                <a:gd name="T0" fmla="*/ 0 w 2128"/>
                <a:gd name="T1" fmla="*/ 48 h 1576"/>
                <a:gd name="T2" fmla="*/ 0 w 2128"/>
                <a:gd name="T3" fmla="*/ 1576 h 1576"/>
                <a:gd name="T4" fmla="*/ 1560 w 2128"/>
                <a:gd name="T5" fmla="*/ 1576 h 1576"/>
                <a:gd name="T6" fmla="*/ 2128 w 2128"/>
                <a:gd name="T7" fmla="*/ 8 h 1576"/>
                <a:gd name="T8" fmla="*/ 0 w 2128"/>
                <a:gd name="T9" fmla="*/ 0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8" h="1576">
                  <a:moveTo>
                    <a:pt x="0" y="48"/>
                  </a:moveTo>
                  <a:lnTo>
                    <a:pt x="0" y="1576"/>
                  </a:lnTo>
                  <a:lnTo>
                    <a:pt x="1560" y="1576"/>
                  </a:lnTo>
                  <a:lnTo>
                    <a:pt x="2128" y="8"/>
                  </a:lnTo>
                  <a:lnTo>
                    <a:pt x="0" y="0"/>
                  </a:lnTo>
                </a:path>
              </a:pathLst>
            </a:custGeom>
            <a:noFill/>
            <a:ln w="38100" cap="flat">
              <a:solidFill>
                <a:srgbClr val="000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8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483" name="Text Box 99">
              <a:extLst>
                <a:ext uri="{FF2B5EF4-FFF2-40B4-BE49-F238E27FC236}">
                  <a16:creationId xmlns:a16="http://schemas.microsoft.com/office/drawing/2014/main" id="{1B6014FB-C0CF-4764-A163-E1E212034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" y="3442"/>
              <a:ext cx="126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change=-135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536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6" name="Text Box 4">
            <a:extLst>
              <a:ext uri="{FF2B5EF4-FFF2-40B4-BE49-F238E27FC236}">
                <a16:creationId xmlns:a16="http://schemas.microsoft.com/office/drawing/2014/main" id="{A02B39EA-4863-4422-AAC7-B93E6F6FE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11842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79557" name="Text Box 5">
            <a:extLst>
              <a:ext uri="{FF2B5EF4-FFF2-40B4-BE49-F238E27FC236}">
                <a16:creationId xmlns:a16="http://schemas.microsoft.com/office/drawing/2014/main" id="{FD673A87-47C4-4B8C-BAD7-A8624B511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1323975"/>
            <a:ext cx="73390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Summary of Exchange Opportunities from Neighborhood Search Solution (Facilities at sites </a:t>
            </a:r>
            <a:r>
              <a:rPr lang="en-US" altLang="en-US" i="1"/>
              <a:t>A</a:t>
            </a:r>
            <a:r>
              <a:rPr lang="en-US" altLang="en-US"/>
              <a:t>, </a:t>
            </a:r>
            <a:r>
              <a:rPr lang="en-US" altLang="en-US" i="1"/>
              <a:t>F</a:t>
            </a:r>
            <a:r>
              <a:rPr lang="en-US" altLang="en-US"/>
              <a:t>, </a:t>
            </a:r>
            <a:r>
              <a:rPr lang="en-US" altLang="en-US" i="1"/>
              <a:t>H</a:t>
            </a:r>
            <a:r>
              <a:rPr lang="en-US" altLang="en-US"/>
              <a:t>, </a:t>
            </a:r>
            <a:r>
              <a:rPr lang="en-US" altLang="en-US" i="1"/>
              <a:t>I</a:t>
            </a:r>
            <a:r>
              <a:rPr lang="en-US" altLang="en-US"/>
              <a:t> and </a:t>
            </a:r>
            <a:r>
              <a:rPr lang="en-US" altLang="en-US" i="1"/>
              <a:t>J</a:t>
            </a:r>
            <a:r>
              <a:rPr lang="en-US" altLang="en-US"/>
              <a:t> with a total cost of 1572)</a:t>
            </a:r>
          </a:p>
        </p:txBody>
      </p:sp>
      <p:sp>
        <p:nvSpPr>
          <p:cNvPr id="279558" name="Text Box 6">
            <a:extLst>
              <a:ext uri="{FF2B5EF4-FFF2-40B4-BE49-F238E27FC236}">
                <a16:creationId xmlns:a16="http://schemas.microsoft.com/office/drawing/2014/main" id="{006768CB-AE9D-471F-AEEE-21329D7AA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902853"/>
            <a:ext cx="7431088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	Remove	Replace 	Total	Change</a:t>
            </a:r>
          </a:p>
          <a:p>
            <a:r>
              <a:rPr lang="en-US" altLang="en-US"/>
              <a:t>		With	Cost</a:t>
            </a:r>
          </a:p>
          <a:p>
            <a:endParaRPr lang="en-US" altLang="en-US"/>
          </a:p>
          <a:p>
            <a:r>
              <a:rPr lang="en-US" altLang="en-US"/>
              <a:t>	</a:t>
            </a:r>
            <a:r>
              <a:rPr lang="en-US" altLang="en-US" i="1"/>
              <a:t>A	B</a:t>
            </a:r>
            <a:r>
              <a:rPr lang="en-US" altLang="en-US"/>
              <a:t>	1647	75</a:t>
            </a:r>
          </a:p>
          <a:p>
            <a:r>
              <a:rPr lang="en-US" altLang="en-US"/>
              <a:t>	</a:t>
            </a:r>
            <a:r>
              <a:rPr lang="en-US" altLang="en-US" i="1"/>
              <a:t>F	D</a:t>
            </a:r>
            <a:r>
              <a:rPr lang="en-US" altLang="en-US"/>
              <a:t>	1620	48</a:t>
            </a:r>
          </a:p>
          <a:p>
            <a:r>
              <a:rPr lang="en-US" altLang="en-US"/>
              <a:t>	</a:t>
            </a:r>
            <a:r>
              <a:rPr lang="en-US" altLang="en-US" i="1"/>
              <a:t>H	E</a:t>
            </a:r>
            <a:r>
              <a:rPr lang="en-US" altLang="en-US"/>
              <a:t>	1689	117</a:t>
            </a:r>
          </a:p>
          <a:p>
            <a:r>
              <a:rPr lang="en-US" altLang="en-US"/>
              <a:t>	</a:t>
            </a:r>
            <a:r>
              <a:rPr lang="en-US" altLang="en-US" b="1" i="1"/>
              <a:t>I	L</a:t>
            </a:r>
            <a:r>
              <a:rPr lang="en-US" altLang="en-US" b="1"/>
              <a:t>	1444	-128</a:t>
            </a:r>
          </a:p>
          <a:p>
            <a:r>
              <a:rPr lang="en-US" altLang="en-US"/>
              <a:t>	</a:t>
            </a:r>
            <a:r>
              <a:rPr lang="en-US" altLang="en-US" i="1"/>
              <a:t>J	K</a:t>
            </a:r>
            <a:r>
              <a:rPr lang="en-US" altLang="en-US"/>
              <a:t>	1629	57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5E378C-CA12-45CB-8909-638A83DAB1F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 (</a:t>
            </a:r>
            <a:r>
              <a:rPr lang="tr-TR" b="1" dirty="0" err="1"/>
              <a:t>Improvement</a:t>
            </a:r>
            <a:r>
              <a:rPr lang="tr-TR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9931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5" name="Oval 5">
            <a:extLst>
              <a:ext uri="{FF2B5EF4-FFF2-40B4-BE49-F238E27FC236}">
                <a16:creationId xmlns:a16="http://schemas.microsoft.com/office/drawing/2014/main" id="{C6A149EC-4736-4EA5-AA83-9FF942CA0B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24100" y="1765300"/>
            <a:ext cx="438150" cy="43815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06" name="Text Box 6">
            <a:extLst>
              <a:ext uri="{FF2B5EF4-FFF2-40B4-BE49-F238E27FC236}">
                <a16:creationId xmlns:a16="http://schemas.microsoft.com/office/drawing/2014/main" id="{B303E398-A817-48BA-82A0-4D1FFAC10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525" y="1730375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A*</a:t>
            </a:r>
          </a:p>
        </p:txBody>
      </p:sp>
      <p:sp>
        <p:nvSpPr>
          <p:cNvPr id="281608" name="Oval 8">
            <a:extLst>
              <a:ext uri="{FF2B5EF4-FFF2-40B4-BE49-F238E27FC236}">
                <a16:creationId xmlns:a16="http://schemas.microsoft.com/office/drawing/2014/main" id="{DE33A42A-449A-4633-91B7-325916CC3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3950" y="1765300"/>
            <a:ext cx="438150" cy="43815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09" name="Text Box 9">
            <a:extLst>
              <a:ext uri="{FF2B5EF4-FFF2-40B4-BE49-F238E27FC236}">
                <a16:creationId xmlns:a16="http://schemas.microsoft.com/office/drawing/2014/main" id="{1114C738-0C6D-45F4-BA89-4181BF1AA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17303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</a:p>
        </p:txBody>
      </p:sp>
      <p:sp>
        <p:nvSpPr>
          <p:cNvPr id="281611" name="Oval 11">
            <a:extLst>
              <a:ext uri="{FF2B5EF4-FFF2-40B4-BE49-F238E27FC236}">
                <a16:creationId xmlns:a16="http://schemas.microsoft.com/office/drawing/2014/main" id="{ECB6B5AB-15F2-4B53-9066-FA2A7519A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1765300"/>
            <a:ext cx="438150" cy="4381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2" name="Text Box 12">
            <a:extLst>
              <a:ext uri="{FF2B5EF4-FFF2-40B4-BE49-F238E27FC236}">
                <a16:creationId xmlns:a16="http://schemas.microsoft.com/office/drawing/2014/main" id="{7A3068A1-4163-4868-BFB1-EAD955F67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025" y="17303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</a:t>
            </a:r>
          </a:p>
        </p:txBody>
      </p:sp>
      <p:sp>
        <p:nvSpPr>
          <p:cNvPr id="281614" name="Oval 14">
            <a:extLst>
              <a:ext uri="{FF2B5EF4-FFF2-40B4-BE49-F238E27FC236}">
                <a16:creationId xmlns:a16="http://schemas.microsoft.com/office/drawing/2014/main" id="{2F3D7248-BDBA-4FE5-905B-C3D091C0C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27913" y="1765300"/>
            <a:ext cx="438150" cy="43815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5" name="Text Box 15">
            <a:extLst>
              <a:ext uri="{FF2B5EF4-FFF2-40B4-BE49-F238E27FC236}">
                <a16:creationId xmlns:a16="http://schemas.microsoft.com/office/drawing/2014/main" id="{9BF4D50A-9629-4866-96EE-25B626264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538" y="17303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</a:t>
            </a:r>
          </a:p>
        </p:txBody>
      </p:sp>
      <p:sp>
        <p:nvSpPr>
          <p:cNvPr id="281617" name="Oval 17">
            <a:extLst>
              <a:ext uri="{FF2B5EF4-FFF2-40B4-BE49-F238E27FC236}">
                <a16:creationId xmlns:a16="http://schemas.microsoft.com/office/drawing/2014/main" id="{D6F62972-21C0-40E7-8CC9-D55520E53A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908300"/>
            <a:ext cx="438150" cy="4381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8" name="Text Box 18">
            <a:extLst>
              <a:ext uri="{FF2B5EF4-FFF2-40B4-BE49-F238E27FC236}">
                <a16:creationId xmlns:a16="http://schemas.microsoft.com/office/drawing/2014/main" id="{FD858AD0-F7EE-4183-BA3A-DA9456830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225" y="28733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281619" name="Oval 19">
            <a:extLst>
              <a:ext uri="{FF2B5EF4-FFF2-40B4-BE49-F238E27FC236}">
                <a16:creationId xmlns:a16="http://schemas.microsoft.com/office/drawing/2014/main" id="{BD91A586-2654-4517-8330-CF1B0492AE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45375" y="3124200"/>
            <a:ext cx="438150" cy="43815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0" name="Text Box 20">
            <a:extLst>
              <a:ext uri="{FF2B5EF4-FFF2-40B4-BE49-F238E27FC236}">
                <a16:creationId xmlns:a16="http://schemas.microsoft.com/office/drawing/2014/main" id="{2DCA880B-4366-4822-A667-78312AA20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3089275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F*</a:t>
            </a:r>
          </a:p>
        </p:txBody>
      </p:sp>
      <p:sp>
        <p:nvSpPr>
          <p:cNvPr id="281621" name="Oval 21">
            <a:extLst>
              <a:ext uri="{FF2B5EF4-FFF2-40B4-BE49-F238E27FC236}">
                <a16:creationId xmlns:a16="http://schemas.microsoft.com/office/drawing/2014/main" id="{CA82A0F6-D708-46AE-A1CD-5DF41C0871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9500" y="3975100"/>
            <a:ext cx="438150" cy="4381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2" name="Text Box 22">
            <a:extLst>
              <a:ext uri="{FF2B5EF4-FFF2-40B4-BE49-F238E27FC236}">
                <a16:creationId xmlns:a16="http://schemas.microsoft.com/office/drawing/2014/main" id="{FC2F63BF-30D5-4744-A2F4-6C08205F3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25" y="39401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G</a:t>
            </a:r>
          </a:p>
        </p:txBody>
      </p:sp>
      <p:sp>
        <p:nvSpPr>
          <p:cNvPr id="281623" name="Oval 23">
            <a:extLst>
              <a:ext uri="{FF2B5EF4-FFF2-40B4-BE49-F238E27FC236}">
                <a16:creationId xmlns:a16="http://schemas.microsoft.com/office/drawing/2014/main" id="{68B06BC9-2600-4FEA-A9DC-32D02E00C9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78600" y="3975100"/>
            <a:ext cx="438150" cy="43815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4" name="Text Box 24">
            <a:extLst>
              <a:ext uri="{FF2B5EF4-FFF2-40B4-BE49-F238E27FC236}">
                <a16:creationId xmlns:a16="http://schemas.microsoft.com/office/drawing/2014/main" id="{BF46B6A0-0576-4AD6-B2B1-B43944CA9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025" y="3940175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</a:t>
            </a:r>
          </a:p>
        </p:txBody>
      </p:sp>
      <p:sp>
        <p:nvSpPr>
          <p:cNvPr id="281625" name="Oval 25">
            <a:extLst>
              <a:ext uri="{FF2B5EF4-FFF2-40B4-BE49-F238E27FC236}">
                <a16:creationId xmlns:a16="http://schemas.microsoft.com/office/drawing/2014/main" id="{E33BD383-E1C1-4294-8E82-D8DCA49D7D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8400" y="3975100"/>
            <a:ext cx="438150" cy="4381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6" name="Text Box 26">
            <a:extLst>
              <a:ext uri="{FF2B5EF4-FFF2-40B4-BE49-F238E27FC236}">
                <a16:creationId xmlns:a16="http://schemas.microsoft.com/office/drawing/2014/main" id="{CFA9E889-7280-44F0-B9E2-103E9153F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3940175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H*</a:t>
            </a:r>
          </a:p>
        </p:txBody>
      </p:sp>
      <p:sp>
        <p:nvSpPr>
          <p:cNvPr id="281627" name="Oval 27">
            <a:extLst>
              <a:ext uri="{FF2B5EF4-FFF2-40B4-BE49-F238E27FC236}">
                <a16:creationId xmlns:a16="http://schemas.microsoft.com/office/drawing/2014/main" id="{F80409E6-94BB-4473-A7DF-A276A6209F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3950" y="5575300"/>
            <a:ext cx="438150" cy="438150"/>
          </a:xfrm>
          <a:prstGeom prst="ellipse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8" name="Text Box 28">
            <a:extLst>
              <a:ext uri="{FF2B5EF4-FFF2-40B4-BE49-F238E27FC236}">
                <a16:creationId xmlns:a16="http://schemas.microsoft.com/office/drawing/2014/main" id="{140F95DF-1800-43E0-B9F0-DE4E48026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5553075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J*</a:t>
            </a:r>
          </a:p>
        </p:txBody>
      </p:sp>
      <p:sp>
        <p:nvSpPr>
          <p:cNvPr id="281630" name="Oval 30">
            <a:extLst>
              <a:ext uri="{FF2B5EF4-FFF2-40B4-BE49-F238E27FC236}">
                <a16:creationId xmlns:a16="http://schemas.microsoft.com/office/drawing/2014/main" id="{B306288A-B323-494D-973D-B27538EBC1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42200" y="5575300"/>
            <a:ext cx="438150" cy="438150"/>
          </a:xfrm>
          <a:prstGeom prst="ellipse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1" name="Text Box 31">
            <a:extLst>
              <a:ext uri="{FF2B5EF4-FFF2-40B4-BE49-F238E27FC236}">
                <a16:creationId xmlns:a16="http://schemas.microsoft.com/office/drawing/2014/main" id="{A7D4EE3C-A1BD-4D6A-A15D-C8794ABEE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25" y="5540375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L*</a:t>
            </a:r>
          </a:p>
        </p:txBody>
      </p:sp>
      <p:sp>
        <p:nvSpPr>
          <p:cNvPr id="281633" name="Oval 33">
            <a:extLst>
              <a:ext uri="{FF2B5EF4-FFF2-40B4-BE49-F238E27FC236}">
                <a16:creationId xmlns:a16="http://schemas.microsoft.com/office/drawing/2014/main" id="{C9C92C1C-47C6-489F-9B40-479D3519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8300" y="5575300"/>
            <a:ext cx="438150" cy="438150"/>
          </a:xfrm>
          <a:prstGeom prst="ellipse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4" name="Text Box 34">
            <a:extLst>
              <a:ext uri="{FF2B5EF4-FFF2-40B4-BE49-F238E27FC236}">
                <a16:creationId xmlns:a16="http://schemas.microsoft.com/office/drawing/2014/main" id="{188DB29D-515E-4AA4-A126-70AB272FC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5" y="55403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K</a:t>
            </a:r>
          </a:p>
        </p:txBody>
      </p:sp>
      <p:sp>
        <p:nvSpPr>
          <p:cNvPr id="281635" name="Line 35">
            <a:extLst>
              <a:ext uri="{FF2B5EF4-FFF2-40B4-BE49-F238E27FC236}">
                <a16:creationId xmlns:a16="http://schemas.microsoft.com/office/drawing/2014/main" id="{E1B13985-2B09-4750-8BE1-3E6BA6AFA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1971675"/>
            <a:ext cx="895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36" name="Line 36">
            <a:extLst>
              <a:ext uri="{FF2B5EF4-FFF2-40B4-BE49-F238E27FC236}">
                <a16:creationId xmlns:a16="http://schemas.microsoft.com/office/drawing/2014/main" id="{BD423D37-9AA7-4B69-8B94-DF8E48055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1971675"/>
            <a:ext cx="170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37" name="Line 37">
            <a:extLst>
              <a:ext uri="{FF2B5EF4-FFF2-40B4-BE49-F238E27FC236}">
                <a16:creationId xmlns:a16="http://schemas.microsoft.com/office/drawing/2014/main" id="{676E97AB-CA7C-426F-99B5-5769A8B4C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7300" y="1971675"/>
            <a:ext cx="1073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38" name="Line 38">
            <a:extLst>
              <a:ext uri="{FF2B5EF4-FFF2-40B4-BE49-F238E27FC236}">
                <a16:creationId xmlns:a16="http://schemas.microsoft.com/office/drawing/2014/main" id="{390E606C-B2FA-4F12-BEAC-86BFCB856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6350" y="2198688"/>
            <a:ext cx="0" cy="176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39" name="Line 39">
            <a:extLst>
              <a:ext uri="{FF2B5EF4-FFF2-40B4-BE49-F238E27FC236}">
                <a16:creationId xmlns:a16="http://schemas.microsoft.com/office/drawing/2014/main" id="{5B9C8DE3-2D9B-47B8-A15C-8112BDF96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41814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0" name="Line 40">
            <a:extLst>
              <a:ext uri="{FF2B5EF4-FFF2-40B4-BE49-F238E27FC236}">
                <a16:creationId xmlns:a16="http://schemas.microsoft.com/office/drawing/2014/main" id="{4C79392D-0D54-4354-A7EA-33CA7EFCF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900" y="4181475"/>
            <a:ext cx="2425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1" name="Line 41">
            <a:extLst>
              <a:ext uri="{FF2B5EF4-FFF2-40B4-BE49-F238E27FC236}">
                <a16:creationId xmlns:a16="http://schemas.microsoft.com/office/drawing/2014/main" id="{A82486F4-E6D4-4B97-99E9-7EE53B384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4450" y="2198688"/>
            <a:ext cx="0" cy="927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2" name="Line 42">
            <a:extLst>
              <a:ext uri="{FF2B5EF4-FFF2-40B4-BE49-F238E27FC236}">
                <a16:creationId xmlns:a16="http://schemas.microsoft.com/office/drawing/2014/main" id="{1D76B28D-1E85-454F-B199-44F6D6F73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4450" y="3544888"/>
            <a:ext cx="0" cy="203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3" name="Line 43">
            <a:extLst>
              <a:ext uri="{FF2B5EF4-FFF2-40B4-BE49-F238E27FC236}">
                <a16:creationId xmlns:a16="http://schemas.microsoft.com/office/drawing/2014/main" id="{DDC8B8A1-05C0-4BFD-8835-D22B45946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2100" y="5781675"/>
            <a:ext cx="134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4" name="Line 44">
            <a:extLst>
              <a:ext uri="{FF2B5EF4-FFF2-40B4-BE49-F238E27FC236}">
                <a16:creationId xmlns:a16="http://schemas.microsoft.com/office/drawing/2014/main" id="{26E9D537-1357-4A4E-90C2-D7578F6A5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2800" y="5781675"/>
            <a:ext cx="154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5" name="Line 45">
            <a:extLst>
              <a:ext uri="{FF2B5EF4-FFF2-40B4-BE49-F238E27FC236}">
                <a16:creationId xmlns:a16="http://schemas.microsoft.com/office/drawing/2014/main" id="{7D244B0D-89E0-4A54-82D0-F33AA2FCF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2160588"/>
            <a:ext cx="1739900" cy="88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6" name="Line 46">
            <a:extLst>
              <a:ext uri="{FF2B5EF4-FFF2-40B4-BE49-F238E27FC236}">
                <a16:creationId xmlns:a16="http://schemas.microsoft.com/office/drawing/2014/main" id="{550EF5B1-BCD6-4C92-A52D-A2E274B990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3240088"/>
            <a:ext cx="17018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7" name="Line 47">
            <a:extLst>
              <a:ext uri="{FF2B5EF4-FFF2-40B4-BE49-F238E27FC236}">
                <a16:creationId xmlns:a16="http://schemas.microsoft.com/office/drawing/2014/main" id="{59CA7489-6EDE-4FAB-9F23-EBF8F56648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4000" y="3328988"/>
            <a:ext cx="4699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8" name="Line 48">
            <a:extLst>
              <a:ext uri="{FF2B5EF4-FFF2-40B4-BE49-F238E27FC236}">
                <a16:creationId xmlns:a16="http://schemas.microsoft.com/office/drawing/2014/main" id="{93D6A4D0-6060-4550-8397-F9860C112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3214688"/>
            <a:ext cx="1803400" cy="825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49" name="Line 49">
            <a:extLst>
              <a:ext uri="{FF2B5EF4-FFF2-40B4-BE49-F238E27FC236}">
                <a16:creationId xmlns:a16="http://schemas.microsoft.com/office/drawing/2014/main" id="{17374C19-9E48-433F-86C7-8162D5E3B2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7900" y="2185988"/>
            <a:ext cx="1181100" cy="774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0" name="Line 50">
            <a:extLst>
              <a:ext uri="{FF2B5EF4-FFF2-40B4-BE49-F238E27FC236}">
                <a16:creationId xmlns:a16="http://schemas.microsoft.com/office/drawing/2014/main" id="{AF1E6A45-3504-4562-AFE2-010661E20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7700" y="3519488"/>
            <a:ext cx="5588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1" name="Line 51">
            <a:extLst>
              <a:ext uri="{FF2B5EF4-FFF2-40B4-BE49-F238E27FC236}">
                <a16:creationId xmlns:a16="http://schemas.microsoft.com/office/drawing/2014/main" id="{277984C0-C25C-466D-A795-6C31399CC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8800" y="4395788"/>
            <a:ext cx="635000" cy="120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2" name="Line 52">
            <a:extLst>
              <a:ext uri="{FF2B5EF4-FFF2-40B4-BE49-F238E27FC236}">
                <a16:creationId xmlns:a16="http://schemas.microsoft.com/office/drawing/2014/main" id="{68C423C8-20FF-4A54-9F6C-C5E2684A42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8500" y="4332288"/>
            <a:ext cx="838200" cy="1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3" name="Line 53">
            <a:extLst>
              <a:ext uri="{FF2B5EF4-FFF2-40B4-BE49-F238E27FC236}">
                <a16:creationId xmlns:a16="http://schemas.microsoft.com/office/drawing/2014/main" id="{55D39F82-03E7-4BDD-B0B7-CE28D2DC9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7800" y="4395788"/>
            <a:ext cx="1549400" cy="120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4" name="Line 54">
            <a:extLst>
              <a:ext uri="{FF2B5EF4-FFF2-40B4-BE49-F238E27FC236}">
                <a16:creationId xmlns:a16="http://schemas.microsoft.com/office/drawing/2014/main" id="{0D903F05-B4BE-4C6A-99C7-66E5EAE8C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7800" y="4370388"/>
            <a:ext cx="1066800" cy="1231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5" name="Line 55">
            <a:extLst>
              <a:ext uri="{FF2B5EF4-FFF2-40B4-BE49-F238E27FC236}">
                <a16:creationId xmlns:a16="http://schemas.microsoft.com/office/drawing/2014/main" id="{0AE9CEB5-05AD-424D-AFDA-1A54EAECC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2185988"/>
            <a:ext cx="660400" cy="179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656" name="Text Box 56">
            <a:extLst>
              <a:ext uri="{FF2B5EF4-FFF2-40B4-BE49-F238E27FC236}">
                <a16:creationId xmlns:a16="http://schemas.microsoft.com/office/drawing/2014/main" id="{1ACCC843-24E3-4EB2-A45E-B6C36FDCB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1528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15</a:t>
            </a:r>
          </a:p>
        </p:txBody>
      </p:sp>
      <p:sp>
        <p:nvSpPr>
          <p:cNvPr id="281657" name="Text Box 57">
            <a:extLst>
              <a:ext uri="{FF2B5EF4-FFF2-40B4-BE49-F238E27FC236}">
                <a16:creationId xmlns:a16="http://schemas.microsoft.com/office/drawing/2014/main" id="{B635FB72-9573-44F7-9E88-B756341DA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5325" y="1528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22</a:t>
            </a:r>
          </a:p>
        </p:txBody>
      </p:sp>
      <p:sp>
        <p:nvSpPr>
          <p:cNvPr id="281658" name="Text Box 58">
            <a:extLst>
              <a:ext uri="{FF2B5EF4-FFF2-40B4-BE49-F238E27FC236}">
                <a16:creationId xmlns:a16="http://schemas.microsoft.com/office/drawing/2014/main" id="{FDDCD1D8-60EF-4503-834C-5CA5E2603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25" y="15160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18</a:t>
            </a:r>
          </a:p>
        </p:txBody>
      </p:sp>
      <p:sp>
        <p:nvSpPr>
          <p:cNvPr id="281659" name="Text Box 59">
            <a:extLst>
              <a:ext uri="{FF2B5EF4-FFF2-40B4-BE49-F238E27FC236}">
                <a16:creationId xmlns:a16="http://schemas.microsoft.com/office/drawing/2014/main" id="{9F53C4AC-48E3-4546-A62D-BDBF20E5C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5725" y="2443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281660" name="Text Box 60">
            <a:extLst>
              <a:ext uri="{FF2B5EF4-FFF2-40B4-BE49-F238E27FC236}">
                <a16:creationId xmlns:a16="http://schemas.microsoft.com/office/drawing/2014/main" id="{AB701E67-C372-49A6-BE20-A54868639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29003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18</a:t>
            </a:r>
          </a:p>
        </p:txBody>
      </p:sp>
      <p:sp>
        <p:nvSpPr>
          <p:cNvPr id="281661" name="Text Box 61">
            <a:extLst>
              <a:ext uri="{FF2B5EF4-FFF2-40B4-BE49-F238E27FC236}">
                <a16:creationId xmlns:a16="http://schemas.microsoft.com/office/drawing/2014/main" id="{48EA2619-0C64-4DEB-BA9A-D9F6E527F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425" y="43735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22</a:t>
            </a:r>
          </a:p>
        </p:txBody>
      </p:sp>
      <p:sp>
        <p:nvSpPr>
          <p:cNvPr id="281662" name="Text Box 62">
            <a:extLst>
              <a:ext uri="{FF2B5EF4-FFF2-40B4-BE49-F238E27FC236}">
                <a16:creationId xmlns:a16="http://schemas.microsoft.com/office/drawing/2014/main" id="{2DF41FAA-1D12-4DA7-A6DF-0F1C1A971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7926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22</a:t>
            </a:r>
          </a:p>
        </p:txBody>
      </p:sp>
      <p:sp>
        <p:nvSpPr>
          <p:cNvPr id="281663" name="Text Box 63">
            <a:extLst>
              <a:ext uri="{FF2B5EF4-FFF2-40B4-BE49-F238E27FC236}">
                <a16:creationId xmlns:a16="http://schemas.microsoft.com/office/drawing/2014/main" id="{F73B3871-8FA3-40E8-9291-0742BC98C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25" y="47672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25</a:t>
            </a:r>
          </a:p>
        </p:txBody>
      </p:sp>
      <p:sp>
        <p:nvSpPr>
          <p:cNvPr id="281664" name="Text Box 64">
            <a:extLst>
              <a:ext uri="{FF2B5EF4-FFF2-40B4-BE49-F238E27FC236}">
                <a16:creationId xmlns:a16="http://schemas.microsoft.com/office/drawing/2014/main" id="{97E59F21-A9A4-4022-8A36-6A69110DB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225" y="57816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19</a:t>
            </a:r>
          </a:p>
        </p:txBody>
      </p:sp>
      <p:sp>
        <p:nvSpPr>
          <p:cNvPr id="281665" name="Text Box 65">
            <a:extLst>
              <a:ext uri="{FF2B5EF4-FFF2-40B4-BE49-F238E27FC236}">
                <a16:creationId xmlns:a16="http://schemas.microsoft.com/office/drawing/2014/main" id="{F9853850-778F-49F5-9F3F-DFB1BDD75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57816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21</a:t>
            </a:r>
          </a:p>
        </p:txBody>
      </p:sp>
      <p:sp>
        <p:nvSpPr>
          <p:cNvPr id="281666" name="Text Box 66">
            <a:extLst>
              <a:ext uri="{FF2B5EF4-FFF2-40B4-BE49-F238E27FC236}">
                <a16:creationId xmlns:a16="http://schemas.microsoft.com/office/drawing/2014/main" id="{DE0B1A3E-AB8A-496C-BDD4-E3A8DD2C9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4983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19</a:t>
            </a:r>
          </a:p>
        </p:txBody>
      </p:sp>
      <p:sp>
        <p:nvSpPr>
          <p:cNvPr id="281667" name="Text Box 67">
            <a:extLst>
              <a:ext uri="{FF2B5EF4-FFF2-40B4-BE49-F238E27FC236}">
                <a16:creationId xmlns:a16="http://schemas.microsoft.com/office/drawing/2014/main" id="{80B6BD04-8F4A-41FE-AF73-C0EC29B4F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225" y="4576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19</a:t>
            </a:r>
          </a:p>
        </p:txBody>
      </p:sp>
      <p:sp>
        <p:nvSpPr>
          <p:cNvPr id="281668" name="Text Box 68">
            <a:extLst>
              <a:ext uri="{FF2B5EF4-FFF2-40B4-BE49-F238E27FC236}">
                <a16:creationId xmlns:a16="http://schemas.microsoft.com/office/drawing/2014/main" id="{90AD488F-06CE-4F5E-8912-DED9D7AD8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38020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30</a:t>
            </a:r>
          </a:p>
        </p:txBody>
      </p:sp>
      <p:sp>
        <p:nvSpPr>
          <p:cNvPr id="281669" name="Text Box 69">
            <a:extLst>
              <a:ext uri="{FF2B5EF4-FFF2-40B4-BE49-F238E27FC236}">
                <a16:creationId xmlns:a16="http://schemas.microsoft.com/office/drawing/2014/main" id="{D740826F-8E68-496B-8FBD-83F308D79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325" y="3255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24</a:t>
            </a:r>
          </a:p>
        </p:txBody>
      </p:sp>
      <p:sp>
        <p:nvSpPr>
          <p:cNvPr id="281670" name="Text Box 70">
            <a:extLst>
              <a:ext uri="{FF2B5EF4-FFF2-40B4-BE49-F238E27FC236}">
                <a16:creationId xmlns:a16="http://schemas.microsoft.com/office/drawing/2014/main" id="{DC68BFD2-6A3D-4F8D-8646-FDBA612FD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825" y="25955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20</a:t>
            </a:r>
          </a:p>
        </p:txBody>
      </p:sp>
      <p:sp>
        <p:nvSpPr>
          <p:cNvPr id="281671" name="Text Box 71">
            <a:extLst>
              <a:ext uri="{FF2B5EF4-FFF2-40B4-BE49-F238E27FC236}">
                <a16:creationId xmlns:a16="http://schemas.microsoft.com/office/drawing/2014/main" id="{D2E72A75-085A-4B58-B61D-A2169D1E7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025" y="3713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281672" name="Text Box 72">
            <a:extLst>
              <a:ext uri="{FF2B5EF4-FFF2-40B4-BE49-F238E27FC236}">
                <a16:creationId xmlns:a16="http://schemas.microsoft.com/office/drawing/2014/main" id="{57F46657-4267-4AD9-A48D-CD6305A29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21764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16</a:t>
            </a:r>
          </a:p>
        </p:txBody>
      </p:sp>
      <p:sp>
        <p:nvSpPr>
          <p:cNvPr id="281673" name="Text Box 73">
            <a:extLst>
              <a:ext uri="{FF2B5EF4-FFF2-40B4-BE49-F238E27FC236}">
                <a16:creationId xmlns:a16="http://schemas.microsoft.com/office/drawing/2014/main" id="{7EDD1613-7FA2-4D10-8C80-D232951B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25" y="2239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24</a:t>
            </a:r>
          </a:p>
        </p:txBody>
      </p:sp>
      <p:sp>
        <p:nvSpPr>
          <p:cNvPr id="281674" name="Text Box 74">
            <a:extLst>
              <a:ext uri="{FF2B5EF4-FFF2-40B4-BE49-F238E27FC236}">
                <a16:creationId xmlns:a16="http://schemas.microsoft.com/office/drawing/2014/main" id="{0660A9CD-58DA-420D-B409-3F8601D9F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31543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25</a:t>
            </a:r>
          </a:p>
        </p:txBody>
      </p:sp>
      <p:sp>
        <p:nvSpPr>
          <p:cNvPr id="281675" name="Text Box 75">
            <a:extLst>
              <a:ext uri="{FF2B5EF4-FFF2-40B4-BE49-F238E27FC236}">
                <a16:creationId xmlns:a16="http://schemas.microsoft.com/office/drawing/2014/main" id="{CE86F2A1-B8D9-460C-9F21-D9CF008F6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225" y="3509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281676" name="Text Box 76">
            <a:extLst>
              <a:ext uri="{FF2B5EF4-FFF2-40B4-BE49-F238E27FC236}">
                <a16:creationId xmlns:a16="http://schemas.microsoft.com/office/drawing/2014/main" id="{739F05A1-2F94-425E-A6AB-4DDEE5980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3814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15</a:t>
            </a:r>
          </a:p>
        </p:txBody>
      </p:sp>
      <p:sp>
        <p:nvSpPr>
          <p:cNvPr id="281677" name="Text Box 77">
            <a:extLst>
              <a:ext uri="{FF2B5EF4-FFF2-40B4-BE49-F238E27FC236}">
                <a16:creationId xmlns:a16="http://schemas.microsoft.com/office/drawing/2014/main" id="{D9D26071-18FB-4306-A29C-3A7DB389C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12207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281678" name="Text Box 78">
            <a:extLst>
              <a:ext uri="{FF2B5EF4-FFF2-40B4-BE49-F238E27FC236}">
                <a16:creationId xmlns:a16="http://schemas.microsoft.com/office/drawing/2014/main" id="{836877EB-AE5C-4BC0-9C13-956AC7294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12207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81679" name="Text Box 79">
            <a:extLst>
              <a:ext uri="{FF2B5EF4-FFF2-40B4-BE49-F238E27FC236}">
                <a16:creationId xmlns:a16="http://schemas.microsoft.com/office/drawing/2014/main" id="{68B69E59-88B8-464C-AD8F-0689AFAAD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12207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81680" name="Text Box 80">
            <a:extLst>
              <a:ext uri="{FF2B5EF4-FFF2-40B4-BE49-F238E27FC236}">
                <a16:creationId xmlns:a16="http://schemas.microsoft.com/office/drawing/2014/main" id="{629A3D51-B7FE-48D4-991F-88367B506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8225" y="12207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281681" name="Text Box 81">
            <a:extLst>
              <a:ext uri="{FF2B5EF4-FFF2-40B4-BE49-F238E27FC236}">
                <a16:creationId xmlns:a16="http://schemas.microsoft.com/office/drawing/2014/main" id="{A915EDF9-46AF-4F6D-8264-36A2809C1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44846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281682" name="Text Box 82">
            <a:extLst>
              <a:ext uri="{FF2B5EF4-FFF2-40B4-BE49-F238E27FC236}">
                <a16:creationId xmlns:a16="http://schemas.microsoft.com/office/drawing/2014/main" id="{860BB9E9-528C-46E4-8BEC-AA8C7CE9C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4511675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281683" name="Text Box 83">
            <a:extLst>
              <a:ext uri="{FF2B5EF4-FFF2-40B4-BE49-F238E27FC236}">
                <a16:creationId xmlns:a16="http://schemas.microsoft.com/office/drawing/2014/main" id="{12C5D6C7-FE3C-42C2-A145-0047B9B6A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425" y="60594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281684" name="Text Box 84">
            <a:extLst>
              <a:ext uri="{FF2B5EF4-FFF2-40B4-BE49-F238E27FC236}">
                <a16:creationId xmlns:a16="http://schemas.microsoft.com/office/drawing/2014/main" id="{5605040C-C5FF-4BBC-BB55-BB35F6237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7825" y="60975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19</a:t>
            </a:r>
          </a:p>
        </p:txBody>
      </p:sp>
      <p:sp>
        <p:nvSpPr>
          <p:cNvPr id="281685" name="Text Box 85">
            <a:extLst>
              <a:ext uri="{FF2B5EF4-FFF2-40B4-BE49-F238E27FC236}">
                <a16:creationId xmlns:a16="http://schemas.microsoft.com/office/drawing/2014/main" id="{38E9D4D3-D1B4-4306-9F06-A06B344AC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61102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281686" name="Text Box 86">
            <a:extLst>
              <a:ext uri="{FF2B5EF4-FFF2-40B4-BE49-F238E27FC236}">
                <a16:creationId xmlns:a16="http://schemas.microsoft.com/office/drawing/2014/main" id="{C626E8D9-9874-41DC-B9EA-71887705C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44846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281687" name="Text Box 87">
            <a:extLst>
              <a:ext uri="{FF2B5EF4-FFF2-40B4-BE49-F238E27FC236}">
                <a16:creationId xmlns:a16="http://schemas.microsoft.com/office/drawing/2014/main" id="{377EB979-BA2F-4D56-8079-8B2709236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5" y="3163888"/>
            <a:ext cx="447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281688" name="Text Box 88">
            <a:extLst>
              <a:ext uri="{FF2B5EF4-FFF2-40B4-BE49-F238E27FC236}">
                <a16:creationId xmlns:a16="http://schemas.microsoft.com/office/drawing/2014/main" id="{81888F47-7F15-4E9D-A71F-2A3BCAF87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425" y="2935288"/>
            <a:ext cx="320675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734287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9" name="Text Box 3">
            <a:extLst>
              <a:ext uri="{FF2B5EF4-FFF2-40B4-BE49-F238E27FC236}">
                <a16:creationId xmlns:a16="http://schemas.microsoft.com/office/drawing/2014/main" id="{796C0902-C28C-41D2-AFDB-60A1A1F44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11842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80580" name="Text Box 4">
            <a:extLst>
              <a:ext uri="{FF2B5EF4-FFF2-40B4-BE49-F238E27FC236}">
                <a16:creationId xmlns:a16="http://schemas.microsoft.com/office/drawing/2014/main" id="{CE5A3387-4619-4264-BF5A-F6CF0BB8A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1323975"/>
            <a:ext cx="73390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Summary of Exchange Opportunities from Improved Solution (Facilities at sites </a:t>
            </a:r>
            <a:r>
              <a:rPr lang="en-US" altLang="en-US" i="1"/>
              <a:t>A</a:t>
            </a:r>
            <a:r>
              <a:rPr lang="en-US" altLang="en-US"/>
              <a:t>, </a:t>
            </a:r>
            <a:r>
              <a:rPr lang="en-US" altLang="en-US" i="1"/>
              <a:t>F</a:t>
            </a:r>
            <a:r>
              <a:rPr lang="en-US" altLang="en-US"/>
              <a:t>, </a:t>
            </a:r>
            <a:r>
              <a:rPr lang="en-US" altLang="en-US" i="1"/>
              <a:t>H</a:t>
            </a:r>
            <a:r>
              <a:rPr lang="en-US" altLang="en-US"/>
              <a:t>, </a:t>
            </a:r>
            <a:r>
              <a:rPr lang="en-US" altLang="en-US" i="1"/>
              <a:t>J</a:t>
            </a:r>
            <a:r>
              <a:rPr lang="en-US" altLang="en-US"/>
              <a:t> and </a:t>
            </a:r>
            <a:r>
              <a:rPr lang="en-US" altLang="en-US" i="1"/>
              <a:t>L</a:t>
            </a:r>
            <a:r>
              <a:rPr lang="en-US" altLang="en-US"/>
              <a:t> with a total cost of 1444)</a:t>
            </a:r>
          </a:p>
        </p:txBody>
      </p:sp>
      <p:sp>
        <p:nvSpPr>
          <p:cNvPr id="280581" name="Text Box 5">
            <a:extLst>
              <a:ext uri="{FF2B5EF4-FFF2-40B4-BE49-F238E27FC236}">
                <a16:creationId xmlns:a16="http://schemas.microsoft.com/office/drawing/2014/main" id="{91E495F1-EDAF-4FC2-B4A6-3D1F1DC25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886075"/>
            <a:ext cx="7431088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ctr"/>
                <a:tab pos="2806700" algn="ctr"/>
                <a:tab pos="4635500" algn="ctr"/>
                <a:tab pos="6400800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	Remove	Replace 	Total	Change</a:t>
            </a:r>
          </a:p>
          <a:p>
            <a:r>
              <a:rPr lang="en-US" altLang="en-US"/>
              <a:t>		With	Cost</a:t>
            </a:r>
          </a:p>
          <a:p>
            <a:endParaRPr lang="en-US" altLang="en-US"/>
          </a:p>
          <a:p>
            <a:r>
              <a:rPr lang="en-US" altLang="en-US"/>
              <a:t>	</a:t>
            </a:r>
            <a:r>
              <a:rPr lang="en-US" altLang="en-US" i="1"/>
              <a:t>A	B</a:t>
            </a:r>
            <a:r>
              <a:rPr lang="en-US" altLang="en-US"/>
              <a:t>	1447	3</a:t>
            </a:r>
          </a:p>
          <a:p>
            <a:r>
              <a:rPr lang="en-US" altLang="en-US"/>
              <a:t>	</a:t>
            </a:r>
            <a:r>
              <a:rPr lang="en-US" altLang="en-US" i="1"/>
              <a:t>F	D</a:t>
            </a:r>
            <a:r>
              <a:rPr lang="en-US" altLang="en-US"/>
              <a:t>	1487	43</a:t>
            </a:r>
          </a:p>
          <a:p>
            <a:r>
              <a:rPr lang="en-US" altLang="en-US"/>
              <a:t>	</a:t>
            </a:r>
            <a:r>
              <a:rPr lang="en-US" altLang="en-US" i="1"/>
              <a:t>H	E</a:t>
            </a:r>
            <a:r>
              <a:rPr lang="en-US" altLang="en-US"/>
              <a:t>	1465	21</a:t>
            </a:r>
          </a:p>
          <a:p>
            <a:r>
              <a:rPr lang="en-US" altLang="en-US"/>
              <a:t>	</a:t>
            </a:r>
            <a:r>
              <a:rPr lang="en-US" altLang="en-US" i="1"/>
              <a:t>J	K</a:t>
            </a:r>
            <a:r>
              <a:rPr lang="en-US" altLang="en-US"/>
              <a:t>	1501	57</a:t>
            </a:r>
          </a:p>
          <a:p>
            <a:r>
              <a:rPr lang="en-US" altLang="en-US"/>
              <a:t>	</a:t>
            </a:r>
            <a:r>
              <a:rPr lang="en-US" altLang="en-US" i="1"/>
              <a:t>L	K</a:t>
            </a:r>
            <a:r>
              <a:rPr lang="en-US" altLang="en-US"/>
              <a:t>	1503	59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7C8872-0454-40D1-BB70-9E7B8748E38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p</a:t>
            </a:r>
            <a:r>
              <a:rPr lang="tr-TR" b="1" dirty="0"/>
              <a:t>-</a:t>
            </a:r>
            <a:r>
              <a:rPr lang="tr-TR" b="1" dirty="0" err="1"/>
              <a:t>Median</a:t>
            </a:r>
            <a:r>
              <a:rPr lang="tr-TR" b="1" dirty="0"/>
              <a:t> Problem (</a:t>
            </a:r>
            <a:r>
              <a:rPr lang="tr-TR" b="1" dirty="0" err="1"/>
              <a:t>Improvement</a:t>
            </a:r>
            <a:r>
              <a:rPr lang="tr-TR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21548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4" name="Picture 4" descr="flowchart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0163" y="0"/>
            <a:ext cx="472757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Improvement: Exchange Facilities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Start with a feasible solution</a:t>
            </a:r>
          </a:p>
          <a:p>
            <a:endParaRPr lang="en-US"/>
          </a:p>
          <a:p>
            <a:r>
              <a:rPr lang="en-US"/>
              <a:t>For each open facility in the solution</a:t>
            </a:r>
          </a:p>
          <a:p>
            <a:pPr lvl="1"/>
            <a:r>
              <a:rPr lang="en-US"/>
              <a:t>For each closed facility in the solution</a:t>
            </a:r>
          </a:p>
          <a:p>
            <a:pPr lvl="2"/>
            <a:r>
              <a:rPr lang="en-US"/>
              <a:t>Replace it with one of the closed</a:t>
            </a:r>
          </a:p>
          <a:p>
            <a:pPr lvl="2"/>
            <a:r>
              <a:rPr lang="en-US"/>
              <a:t>Calculate improvement</a:t>
            </a:r>
          </a:p>
          <a:p>
            <a:pPr lvl="1"/>
            <a:r>
              <a:rPr lang="en-US"/>
              <a:t>Find best improvement if there is any</a:t>
            </a:r>
          </a:p>
          <a:p>
            <a:pPr lvl="1"/>
            <a:r>
              <a:rPr lang="en-US"/>
              <a:t>Replace the open facility with the closed one</a:t>
            </a:r>
          </a:p>
          <a:p>
            <a:pPr lvl="2"/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Near-optimal? Sub-optimal?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 it always all wrong/unwanted to be only near-optimal instead of optimal?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416e2cc4-927b-4a48-abf1-08c8b7746fe4" origin="userSelected">
  <element uid="id_classification_generalbusiness" value=""/>
</sisl>
</file>

<file path=customXml/itemProps1.xml><?xml version="1.0" encoding="utf-8"?>
<ds:datastoreItem xmlns:ds="http://schemas.openxmlformats.org/officeDocument/2006/customXml" ds:itemID="{2A038412-0E4D-4A26-AB39-F890AA4FE22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6340</TotalTime>
  <Words>2469</Words>
  <Application>Microsoft Office PowerPoint</Application>
  <PresentationFormat>On-screen Show (4:3)</PresentationFormat>
  <Paragraphs>581</Paragraphs>
  <Slides>47</Slides>
  <Notes>47</Notes>
  <HiddenSlides>3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Cambria Math</vt:lpstr>
      <vt:lpstr>Tahoma</vt:lpstr>
      <vt:lpstr>Times New Roman</vt:lpstr>
      <vt:lpstr>Wingdings</vt:lpstr>
      <vt:lpstr>Office Theme</vt:lpstr>
      <vt:lpstr>Equation</vt:lpstr>
      <vt:lpstr>Worksheet</vt:lpstr>
      <vt:lpstr>DA 507 modeling and optimization </vt:lpstr>
      <vt:lpstr>Data Mining: Clustering Problem</vt:lpstr>
      <vt:lpstr>Data mining: Applications</vt:lpstr>
      <vt:lpstr>Data mining: Applications</vt:lpstr>
      <vt:lpstr>Data mining: Applications</vt:lpstr>
      <vt:lpstr>K-Clustering Problem (Practice)</vt:lpstr>
      <vt:lpstr>K-Clustering Problem: definition &amp; notation</vt:lpstr>
      <vt:lpstr>K-Clustering Problem: definition &amp; notation</vt:lpstr>
      <vt:lpstr>p-Median Problem</vt:lpstr>
      <vt:lpstr>PowerPoint Presentation</vt:lpstr>
      <vt:lpstr>PowerPoint Presentation</vt:lpstr>
      <vt:lpstr>p-median Example</vt:lpstr>
      <vt:lpstr>The p-Median Problem</vt:lpstr>
      <vt:lpstr>The (K-Median) p-Median Problem</vt:lpstr>
      <vt:lpstr>The p-Median Problem</vt:lpstr>
      <vt:lpstr>The p-Median Problem</vt:lpstr>
      <vt:lpstr>P-Median: Heuristic algorithms</vt:lpstr>
      <vt:lpstr>p-centers Problem</vt:lpstr>
      <vt:lpstr>p-center Example</vt:lpstr>
      <vt:lpstr>K-Clustering: K-center Example</vt:lpstr>
      <vt:lpstr>K-Means Algorithm</vt:lpstr>
      <vt:lpstr>K-Means Algorithm</vt:lpstr>
      <vt:lpstr>Heuristics</vt:lpstr>
      <vt:lpstr>P-Median: A myopic algorithm</vt:lpstr>
      <vt:lpstr>P-Median: A myopic algorithm</vt:lpstr>
      <vt:lpstr>PowerPoint Presentation</vt:lpstr>
      <vt:lpstr>p-Median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Improvement: Neighborhood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Improvement: Exchange Facilities</vt:lpstr>
      <vt:lpstr>Near-optimal? Sub-optimal?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MS430  Logistics Systems  Planning &amp; Design</dc:title>
  <dc:creator>Guvenc Sahin</dc:creator>
  <cp:lastModifiedBy>Volkan Yurtseven</cp:lastModifiedBy>
  <cp:revision>125</cp:revision>
  <cp:lastPrinted>2019-11-29T13:03:44Z</cp:lastPrinted>
  <dcterms:created xsi:type="dcterms:W3CDTF">2005-08-12T08:28:54Z</dcterms:created>
  <dcterms:modified xsi:type="dcterms:W3CDTF">2022-01-02T10:01:19Z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ce131d80-0279-46e4-abd1-504551ce530f</vt:lpwstr>
  </property>
  <property fmtid="{D5CDD505-2E9C-101B-9397-08002B2CF9AE}" pid="3" name="bjSaver">
    <vt:lpwstr>GCQzHYWfdzjTrjdlW3avldOuoiAZmI8T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policy="416e2cc4-927b-4a48-abf1-08c8b7746fe4" origin="userSelected" xmlns="http://www.boldonj</vt:lpwstr>
  </property>
  <property fmtid="{D5CDD505-2E9C-101B-9397-08002B2CF9AE}" pid="5" name="bjDocumentLabelXML-0">
    <vt:lpwstr>ames.com/2008/01/sie/internal/label"&gt;&lt;element uid="id_classification_generalbusiness" value="" /&gt;&lt;/sisl&gt;</vt:lpwstr>
  </property>
  <property fmtid="{D5CDD505-2E9C-101B-9397-08002B2CF9AE}" pid="6" name="bjDocumentSecurityLabel">
    <vt:lpwstr>Genel</vt:lpwstr>
  </property>
</Properties>
</file>