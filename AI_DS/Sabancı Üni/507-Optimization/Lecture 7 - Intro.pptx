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8"/>
  </p:notesMasterIdLst>
  <p:handoutMasterIdLst>
    <p:handoutMasterId r:id="rId19"/>
  </p:handoutMasterIdLst>
  <p:sldIdLst>
    <p:sldId id="256" r:id="rId3"/>
    <p:sldId id="273" r:id="rId4"/>
    <p:sldId id="272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lkan Yurtseven" userId="dba8ffe1f143b8c1" providerId="LiveId" clId="{2FC5A567-5022-497D-A43A-07FEF6AEDCBC}"/>
    <pc:docChg chg="addSld">
      <pc:chgData name="Volkan Yurtseven" userId="dba8ffe1f143b8c1" providerId="LiveId" clId="{2FC5A567-5022-497D-A43A-07FEF6AEDCBC}" dt="2022-01-02T16:30:55.133" v="0" actId="680"/>
      <pc:docMkLst>
        <pc:docMk/>
      </pc:docMkLst>
      <pc:sldChg chg="new">
        <pc:chgData name="Volkan Yurtseven" userId="dba8ffe1f143b8c1" providerId="LiveId" clId="{2FC5A567-5022-497D-A43A-07FEF6AEDCBC}" dt="2022-01-02T16:30:55.133" v="0" actId="680"/>
        <pc:sldMkLst>
          <pc:docMk/>
          <pc:sldMk cId="691380913" sldId="2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6A6CD5-A837-4A97-8D01-F5A73716FA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A4DC0-AE98-4977-A751-1B88C9FC28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D4E4F-B167-4BF2-A04D-E5211827D9D2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04548-CBF5-483F-A960-C3F8B0D573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0CCA3-E74C-44BC-9FD9-1DEF75673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BCCA4-4D84-47E8-84C9-7FF33EF8E0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3172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484CB-964C-45B4-8E4A-FB14A43F95C5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CBD5B-6F61-4B0B-96E7-5FD41AC50C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44684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4945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C39345C-049C-4A11-845E-2FA0FEB69144}" type="datetime1">
              <a:rPr lang="tr-TR" smtClean="0"/>
              <a:t>02.01.2022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5D45C5A-7B33-413E-91D4-8AC09C6286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2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4059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0864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4682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1644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3551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7555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8893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692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664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0960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8881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BD5B-6F61-4B0B-96E7-5FD41AC50CCB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557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197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34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656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968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529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3452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253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400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1997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199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607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9739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0635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7850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7820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886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AE4EB-3B32-4232-A5E9-BE4BBD614890}" type="datetimeFigureOut">
              <a:rPr lang="tr-TR" smtClean="0"/>
              <a:t>02.01.2022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34A511-7DD6-49CC-AC80-80399AB37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495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0A12-7B31-43E0-AFD5-89B1109E3D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Simulation</a:t>
            </a:r>
            <a:br>
              <a:rPr lang="en-US" dirty="0"/>
            </a:br>
            <a:r>
              <a:rPr lang="en-US" dirty="0"/>
              <a:t>Motivation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3BD01-CEC0-43DB-A9D9-9D3A802A8E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dirty="0"/>
              <a:t>DA 507 </a:t>
            </a:r>
          </a:p>
          <a:p>
            <a:r>
              <a:rPr lang="tr-TR" dirty="0"/>
              <a:t>Birol Yüceoğlu</a:t>
            </a:r>
          </a:p>
          <a:p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Simulations</a:t>
            </a:r>
            <a:endParaRPr lang="tr-TR" dirty="0"/>
          </a:p>
          <a:p>
            <a:r>
              <a:rPr lang="tr-TR" dirty="0" err="1"/>
              <a:t>Discrete</a:t>
            </a:r>
            <a:r>
              <a:rPr lang="tr-TR" dirty="0"/>
              <a:t> </a:t>
            </a:r>
            <a:r>
              <a:rPr lang="tr-TR" dirty="0" err="1"/>
              <a:t>Event</a:t>
            </a:r>
            <a:r>
              <a:rPr lang="tr-TR" dirty="0"/>
              <a:t> </a:t>
            </a:r>
            <a:r>
              <a:rPr lang="tr-TR" dirty="0" err="1"/>
              <a:t>Simulation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5230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0C2A-939B-441A-8D2B-4C470973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781D8-79E0-42E8-BE4F-E3797A0A9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138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17C91-DC14-415D-A931-341ADE8F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3D964A-7320-41F8-8F5D-62C371B7FB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311597"/>
              </p:ext>
            </p:extLst>
          </p:nvPr>
        </p:nvGraphicFramePr>
        <p:xfrm>
          <a:off x="1981200" y="2103541"/>
          <a:ext cx="8229600" cy="3090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36542133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9594895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2941034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090518707"/>
                    </a:ext>
                  </a:extLst>
                </a:gridCol>
              </a:tblGrid>
              <a:tr h="522225">
                <a:tc rowSpan="2"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90632"/>
                  </a:ext>
                </a:extLst>
              </a:tr>
              <a:tr h="1287678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Known (Approximated)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Unknown</a:t>
                      </a:r>
                    </a:p>
                    <a:p>
                      <a:pPr algn="ctr"/>
                      <a:r>
                        <a:rPr lang="en-US" dirty="0"/>
                        <a:t>(Distribution is known)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813406"/>
                  </a:ext>
                </a:extLst>
              </a:tr>
              <a:tr h="522225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Solution Approach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Optimal (analytical)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LP &amp;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Markov Chains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7943256"/>
                  </a:ext>
                </a:extLst>
              </a:tr>
              <a:tr h="52222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enough</a:t>
                      </a:r>
                    </a:p>
                    <a:p>
                      <a:pPr algn="ctr"/>
                      <a:r>
                        <a:rPr lang="en-US" dirty="0"/>
                        <a:t>(numerical)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Heuristics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002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2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3B0E-37E0-4AF4-9880-25202DFC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Simulation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8B46C-F936-4705-97FA-4F395ABB0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is the process of designing a model of a system and conducting experiments for</a:t>
            </a:r>
          </a:p>
          <a:p>
            <a:pPr lvl="1"/>
            <a:r>
              <a:rPr lang="en-US" dirty="0"/>
              <a:t>Understanding the behavior of the systems</a:t>
            </a:r>
          </a:p>
          <a:p>
            <a:pPr lvl="1"/>
            <a:r>
              <a:rPr lang="en-US" dirty="0"/>
              <a:t>Proposing new strategies and policies for the operation of this system</a:t>
            </a:r>
          </a:p>
        </p:txBody>
      </p:sp>
    </p:spTree>
    <p:extLst>
      <p:ext uri="{BB962C8B-B14F-4D97-AF65-F5344CB8AC3E}">
        <p14:creationId xmlns:p14="http://schemas.microsoft.com/office/powerpoint/2010/main" val="2560076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FB01-90ED-4AA0-A992-FBAEFA1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and when to use simulation?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7FB1F-D063-4144-B406-551A7E398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Safe and cheap</a:t>
            </a:r>
          </a:p>
          <a:p>
            <a:pPr lvl="1"/>
            <a:r>
              <a:rPr lang="en-US" dirty="0"/>
              <a:t>Consider a flight simulator used for training of aircraft pilots.</a:t>
            </a:r>
          </a:p>
          <a:p>
            <a:r>
              <a:rPr lang="tr-TR" dirty="0" err="1"/>
              <a:t>Analyzing</a:t>
            </a:r>
            <a:r>
              <a:rPr lang="tr-TR" dirty="0"/>
              <a:t> </a:t>
            </a:r>
            <a:r>
              <a:rPr lang="tr-TR" dirty="0" err="1"/>
              <a:t>complex</a:t>
            </a:r>
            <a:r>
              <a:rPr lang="tr-TR" dirty="0"/>
              <a:t> </a:t>
            </a:r>
            <a:r>
              <a:rPr lang="tr-TR" dirty="0" err="1"/>
              <a:t>systems</a:t>
            </a:r>
            <a:endParaRPr lang="tr-TR" dirty="0"/>
          </a:p>
          <a:p>
            <a:pPr lvl="1"/>
            <a:r>
              <a:rPr lang="en-US" dirty="0"/>
              <a:t>Consider the queues in your bank branches, the assembly line in your factory</a:t>
            </a:r>
            <a:r>
              <a:rPr lang="tr-TR" dirty="0"/>
              <a:t>.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a </a:t>
            </a:r>
            <a:r>
              <a:rPr lang="tr-TR" dirty="0" err="1"/>
              <a:t>decision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counters</a:t>
            </a:r>
            <a:r>
              <a:rPr lang="tr-TR" dirty="0"/>
              <a:t> </a:t>
            </a:r>
            <a:r>
              <a:rPr lang="tr-TR" dirty="0" err="1"/>
              <a:t>opened</a:t>
            </a:r>
            <a:r>
              <a:rPr lang="tr-TR" dirty="0"/>
              <a:t> </a:t>
            </a:r>
            <a:r>
              <a:rPr lang="tr-TR" dirty="0" err="1"/>
              <a:t>during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times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day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Can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integer</a:t>
            </a:r>
            <a:r>
              <a:rPr lang="tr-TR" dirty="0"/>
              <a:t>/</a:t>
            </a:r>
            <a:r>
              <a:rPr lang="tr-TR" dirty="0" err="1"/>
              <a:t>linear</a:t>
            </a:r>
            <a:r>
              <a:rPr lang="tr-TR" dirty="0"/>
              <a:t> </a:t>
            </a:r>
            <a:r>
              <a:rPr lang="tr-TR" dirty="0" err="1"/>
              <a:t>programming</a:t>
            </a:r>
            <a:r>
              <a:rPr lang="tr-TR" dirty="0"/>
              <a:t>?</a:t>
            </a:r>
          </a:p>
          <a:p>
            <a:pPr lvl="1"/>
            <a:r>
              <a:rPr lang="tr-TR" dirty="0" err="1"/>
              <a:t>Only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know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arrival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processing</a:t>
            </a:r>
            <a:r>
              <a:rPr lang="tr-TR" dirty="0"/>
              <a:t> </a:t>
            </a:r>
            <a:r>
              <a:rPr lang="tr-TR" dirty="0" err="1"/>
              <a:t>times</a:t>
            </a:r>
            <a:r>
              <a:rPr lang="tr-TR" dirty="0"/>
              <a:t> of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customers</a:t>
            </a:r>
            <a:r>
              <a:rPr lang="tr-TR" dirty="0"/>
              <a:t> (</a:t>
            </a:r>
            <a:r>
              <a:rPr lang="tr-TR" dirty="0" err="1"/>
              <a:t>there</a:t>
            </a:r>
            <a:r>
              <a:rPr lang="tr-TR" dirty="0"/>
              <a:t> is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randomness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 </a:t>
            </a:r>
            <a:r>
              <a:rPr lang="tr-TR" dirty="0" err="1"/>
              <a:t>better</a:t>
            </a:r>
            <a:r>
              <a:rPr lang="tr-TR" dirty="0"/>
              <a:t> model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able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generalize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results</a:t>
            </a:r>
            <a:endParaRPr lang="tr-TR" dirty="0"/>
          </a:p>
          <a:p>
            <a:r>
              <a:rPr lang="tr-TR" dirty="0" err="1"/>
              <a:t>Causes</a:t>
            </a:r>
            <a:r>
              <a:rPr lang="tr-TR" dirty="0"/>
              <a:t>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disruption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2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FCA5-B9E4-4E66-978D-AEAF73BF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D0BD3-D7BC-4061-8BC8-D7C3477C6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vs </a:t>
            </a:r>
            <a:r>
              <a:rPr lang="en-US" b="1" dirty="0"/>
              <a:t>dynamic</a:t>
            </a:r>
          </a:p>
          <a:p>
            <a:pPr lvl="1"/>
            <a:r>
              <a:rPr lang="en-US" dirty="0"/>
              <a:t>Static models represent a system at a particular time</a:t>
            </a:r>
            <a:r>
              <a:rPr lang="tr-TR" dirty="0"/>
              <a:t> (Monte Carlo)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Dynamic models represent systems where the state of the variables change over time (simulation of a bank, factory)</a:t>
            </a:r>
            <a:endParaRPr lang="tr-TR" dirty="0"/>
          </a:p>
          <a:p>
            <a:r>
              <a:rPr lang="tr-TR" dirty="0" err="1"/>
              <a:t>Deterministic</a:t>
            </a:r>
            <a:r>
              <a:rPr lang="tr-TR" dirty="0"/>
              <a:t> </a:t>
            </a:r>
            <a:r>
              <a:rPr lang="tr-TR" dirty="0" err="1"/>
              <a:t>vs</a:t>
            </a:r>
            <a:r>
              <a:rPr lang="tr-TR" dirty="0"/>
              <a:t> </a:t>
            </a:r>
            <a:r>
              <a:rPr lang="tr-TR" b="1" dirty="0" err="1"/>
              <a:t>stochastic</a:t>
            </a:r>
            <a:endParaRPr lang="tr-TR" b="1" dirty="0"/>
          </a:p>
          <a:p>
            <a:pPr lvl="1"/>
            <a:r>
              <a:rPr lang="tr-TR" dirty="0" err="1"/>
              <a:t>Deterministic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do not </a:t>
            </a:r>
            <a:r>
              <a:rPr lang="tr-TR" dirty="0" err="1"/>
              <a:t>contain</a:t>
            </a:r>
            <a:r>
              <a:rPr lang="tr-TR" dirty="0"/>
              <a:t> </a:t>
            </a:r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 (</a:t>
            </a:r>
            <a:r>
              <a:rPr lang="tr-TR" dirty="0" err="1"/>
              <a:t>Dentist</a:t>
            </a:r>
            <a:r>
              <a:rPr lang="tr-TR" dirty="0"/>
              <a:t> Office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customers</a:t>
            </a:r>
            <a:r>
              <a:rPr lang="tr-TR" dirty="0"/>
              <a:t> </a:t>
            </a:r>
            <a:r>
              <a:rPr lang="tr-TR" dirty="0" err="1"/>
              <a:t>arrive</a:t>
            </a:r>
            <a:r>
              <a:rPr lang="tr-TR" dirty="0"/>
              <a:t> on </a:t>
            </a:r>
            <a:r>
              <a:rPr lang="tr-TR" dirty="0" err="1"/>
              <a:t>appointed</a:t>
            </a:r>
            <a:r>
              <a:rPr lang="tr-TR" dirty="0"/>
              <a:t> </a:t>
            </a:r>
            <a:r>
              <a:rPr lang="tr-TR" dirty="0" err="1"/>
              <a:t>times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service </a:t>
            </a:r>
            <a:r>
              <a:rPr lang="tr-TR" dirty="0" err="1"/>
              <a:t>times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known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Stochastic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at </a:t>
            </a:r>
            <a:r>
              <a:rPr lang="tr-TR" dirty="0" err="1"/>
              <a:t>least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variable</a:t>
            </a:r>
            <a:r>
              <a:rPr lang="tr-TR" dirty="0"/>
              <a:t> (</a:t>
            </a:r>
            <a:r>
              <a:rPr lang="tr-TR" dirty="0" err="1"/>
              <a:t>Dentist</a:t>
            </a:r>
            <a:r>
              <a:rPr lang="tr-TR" dirty="0"/>
              <a:t> Office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customers</a:t>
            </a:r>
            <a:r>
              <a:rPr lang="tr-TR" dirty="0"/>
              <a:t> </a:t>
            </a:r>
            <a:r>
              <a:rPr lang="tr-TR" dirty="0" err="1"/>
              <a:t>arrive</a:t>
            </a:r>
            <a:r>
              <a:rPr lang="tr-TR" dirty="0"/>
              <a:t> on time but </a:t>
            </a:r>
            <a:r>
              <a:rPr lang="tr-TR" dirty="0" err="1"/>
              <a:t>the</a:t>
            </a:r>
            <a:r>
              <a:rPr lang="tr-TR" dirty="0"/>
              <a:t> service time is not </a:t>
            </a:r>
            <a:r>
              <a:rPr lang="tr-TR" dirty="0" err="1"/>
              <a:t>known</a:t>
            </a:r>
            <a:r>
              <a:rPr lang="tr-TR" dirty="0"/>
              <a:t> apriori)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16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FCA5-B9E4-4E66-978D-AEAF73BF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D0BD3-D7BC-4061-8BC8-D7C3477C6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Continuous</a:t>
            </a:r>
            <a:r>
              <a:rPr lang="tr-TR" dirty="0"/>
              <a:t> </a:t>
            </a:r>
            <a:r>
              <a:rPr lang="tr-TR" dirty="0" err="1"/>
              <a:t>vs</a:t>
            </a:r>
            <a:r>
              <a:rPr lang="tr-TR" dirty="0"/>
              <a:t> </a:t>
            </a:r>
            <a:r>
              <a:rPr lang="tr-TR" b="1" dirty="0" err="1"/>
              <a:t>discrete</a:t>
            </a:r>
            <a:r>
              <a:rPr lang="tr-TR" b="1" dirty="0"/>
              <a:t> time</a:t>
            </a:r>
          </a:p>
          <a:p>
            <a:pPr lvl="1"/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discrete</a:t>
            </a:r>
            <a:r>
              <a:rPr lang="tr-TR" dirty="0"/>
              <a:t> time </a:t>
            </a:r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changes</a:t>
            </a:r>
            <a:r>
              <a:rPr lang="tr-TR" dirty="0"/>
              <a:t> at a </a:t>
            </a:r>
            <a:r>
              <a:rPr lang="tr-TR" dirty="0" err="1"/>
              <a:t>discrete</a:t>
            </a:r>
            <a:r>
              <a:rPr lang="tr-TR" dirty="0"/>
              <a:t> set of </a:t>
            </a:r>
            <a:r>
              <a:rPr lang="tr-TR" dirty="0" err="1"/>
              <a:t>points</a:t>
            </a:r>
            <a:r>
              <a:rPr lang="tr-TR" dirty="0"/>
              <a:t> in time,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customer</a:t>
            </a:r>
            <a:r>
              <a:rPr lang="tr-TR" dirty="0"/>
              <a:t> </a:t>
            </a:r>
            <a:r>
              <a:rPr lang="tr-TR" dirty="0" err="1"/>
              <a:t>arrival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departures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bank </a:t>
            </a:r>
            <a:r>
              <a:rPr lang="tr-TR" dirty="0" err="1"/>
              <a:t>example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continuous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 </a:t>
            </a:r>
            <a:r>
              <a:rPr lang="tr-TR" dirty="0" err="1"/>
              <a:t>continuously</a:t>
            </a:r>
            <a:r>
              <a:rPr lang="tr-TR" dirty="0"/>
              <a:t> in time,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weather</a:t>
            </a:r>
            <a:endParaRPr lang="tr-TR" dirty="0"/>
          </a:p>
          <a:p>
            <a:pPr lvl="2"/>
            <a:r>
              <a:rPr lang="tr-TR" dirty="0" err="1"/>
              <a:t>Continuous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 can be </a:t>
            </a:r>
            <a:r>
              <a:rPr lang="tr-TR" dirty="0" err="1"/>
              <a:t>simulated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discrete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precisions</a:t>
            </a:r>
            <a:r>
              <a:rPr lang="tr-T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77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EFDC-05E1-43BD-8E0F-4896B5CC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Approach</a:t>
            </a:r>
            <a:endParaRPr lang="en-US" dirty="0"/>
          </a:p>
        </p:txBody>
      </p:sp>
      <p:pic>
        <p:nvPicPr>
          <p:cNvPr id="5" name="Content Placeholder 4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DC7F76DD-5EF6-46AA-AA2E-475C20D23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853" y="104308"/>
            <a:ext cx="3891844" cy="6649383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97B7E6-E032-480E-8954-041985C02A7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Validation</a:t>
            </a:r>
            <a:r>
              <a:rPr lang="tr-TR" dirty="0"/>
              <a:t> step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allow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check</a:t>
            </a:r>
            <a:r>
              <a:rPr lang="tr-TR" dirty="0"/>
              <a:t> </a:t>
            </a:r>
            <a:r>
              <a:rPr lang="tr-TR" dirty="0" err="1"/>
              <a:t>that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simulation</a:t>
            </a:r>
            <a:r>
              <a:rPr lang="tr-TR" dirty="0"/>
              <a:t> (</a:t>
            </a:r>
            <a:r>
              <a:rPr lang="tr-TR" dirty="0" err="1"/>
              <a:t>including</a:t>
            </a:r>
            <a:r>
              <a:rPr lang="tr-TR" dirty="0"/>
              <a:t> model </a:t>
            </a:r>
            <a:r>
              <a:rPr lang="tr-TR" dirty="0" err="1"/>
              <a:t>and</a:t>
            </a:r>
            <a:r>
              <a:rPr lang="tr-TR" dirty="0"/>
              <a:t> data) </a:t>
            </a:r>
          </a:p>
          <a:p>
            <a:pPr marL="0" indent="0">
              <a:buNone/>
            </a:pPr>
            <a:r>
              <a:rPr lang="tr-TR" dirty="0"/>
              <a:t>can </a:t>
            </a:r>
            <a:r>
              <a:rPr lang="tr-TR" dirty="0" err="1"/>
              <a:t>mimic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 life </a:t>
            </a:r>
            <a:r>
              <a:rPr lang="tr-TR" dirty="0" err="1"/>
              <a:t>systems</a:t>
            </a:r>
            <a:r>
              <a:rPr lang="tr-TR" dirty="0"/>
              <a:t>.</a:t>
            </a:r>
          </a:p>
          <a:p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experiment</a:t>
            </a:r>
            <a:r>
              <a:rPr lang="tr-TR" dirty="0"/>
              <a:t> </a:t>
            </a:r>
            <a:r>
              <a:rPr lang="tr-TR" dirty="0" err="1"/>
              <a:t>phase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can </a:t>
            </a:r>
            <a:r>
              <a:rPr lang="tr-TR" dirty="0" err="1"/>
              <a:t>try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</a:p>
          <a:p>
            <a:pPr marL="0" indent="0">
              <a:buNone/>
            </a:pPr>
            <a:r>
              <a:rPr lang="tr-TR" dirty="0" err="1"/>
              <a:t>policy</a:t>
            </a:r>
            <a:r>
              <a:rPr lang="tr-TR" dirty="0"/>
              <a:t> </a:t>
            </a:r>
            <a:r>
              <a:rPr lang="tr-TR" dirty="0" err="1"/>
              <a:t>improvements</a:t>
            </a:r>
            <a:r>
              <a:rPr lang="tr-TR" dirty="0"/>
              <a:t>,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increasing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</a:p>
          <a:p>
            <a:pPr marL="0" indent="0">
              <a:buNone/>
            </a:pP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counters</a:t>
            </a:r>
            <a:r>
              <a:rPr lang="tr-TR" dirty="0"/>
              <a:t>, </a:t>
            </a:r>
            <a:r>
              <a:rPr lang="tr-TR" dirty="0" err="1"/>
              <a:t>changing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assembly</a:t>
            </a:r>
            <a:r>
              <a:rPr lang="tr-TR" dirty="0"/>
              <a:t> </a:t>
            </a:r>
          </a:p>
          <a:p>
            <a:pPr marL="0" indent="0">
              <a:buNone/>
            </a:pPr>
            <a:r>
              <a:rPr lang="tr-TR" dirty="0" err="1"/>
              <a:t>order</a:t>
            </a:r>
            <a:r>
              <a:rPr lang="tr-T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5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70224-1041-401F-9634-F9FFA8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Concepts</a:t>
            </a:r>
            <a:r>
              <a:rPr lang="tr-TR" dirty="0"/>
              <a:t> of </a:t>
            </a:r>
            <a:r>
              <a:rPr lang="tr-TR" dirty="0" err="1"/>
              <a:t>Simulation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EF81-0A19-4EEC-AFD6-1C3172764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Entities: Any object or component in the system which requires explicit representation in the model (e.g., a server, a customer, a machine). </a:t>
            </a:r>
            <a:endParaRPr lang="tr-TR" dirty="0"/>
          </a:p>
          <a:p>
            <a:pPr lvl="1"/>
            <a:r>
              <a:rPr lang="en-US" dirty="0"/>
              <a:t>Attributes: The properties of a given entity (e.g., the priority of a waiting customer, the routing of a job through a job shop).</a:t>
            </a:r>
            <a:endParaRPr lang="tr-TR" dirty="0"/>
          </a:p>
          <a:p>
            <a:r>
              <a:rPr lang="en-US" dirty="0"/>
              <a:t>System: </a:t>
            </a:r>
            <a:r>
              <a:rPr lang="tr-TR" dirty="0"/>
              <a:t>A</a:t>
            </a:r>
            <a:r>
              <a:rPr lang="en-US" dirty="0"/>
              <a:t> collection of entities (e.g., people and machines) that interact together over time to accomplish one or more goals. </a:t>
            </a:r>
            <a:endParaRPr lang="tr-TR" dirty="0"/>
          </a:p>
          <a:p>
            <a:r>
              <a:rPr lang="en-US" dirty="0"/>
              <a:t>Model: An abstract representation of a system, which describe a system in terms of state, entities and their attributes, sets, processes, events, activities, and delays. </a:t>
            </a:r>
            <a:endParaRPr lang="tr-TR" dirty="0"/>
          </a:p>
          <a:p>
            <a:r>
              <a:rPr lang="en-US" dirty="0"/>
              <a:t>System state: A collection of variables that contain all the information necessary to describe the system at any time</a:t>
            </a:r>
            <a:r>
              <a:rPr lang="tr-TR" dirty="0"/>
              <a:t> (</a:t>
            </a:r>
            <a:r>
              <a:rPr lang="tr-TR" dirty="0" err="1"/>
              <a:t>e.g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people</a:t>
            </a:r>
            <a:r>
              <a:rPr lang="tr-TR" dirty="0"/>
              <a:t> </a:t>
            </a:r>
            <a:r>
              <a:rPr lang="tr-TR" dirty="0" err="1"/>
              <a:t>waiting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of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resources</a:t>
            </a:r>
            <a:r>
              <a:rPr lang="tr-TR" dirty="0"/>
              <a:t>, </a:t>
            </a:r>
            <a:r>
              <a:rPr lang="tr-TR" dirty="0" err="1"/>
              <a:t>i.e</a:t>
            </a:r>
            <a:r>
              <a:rPr lang="tr-TR" dirty="0"/>
              <a:t>. </a:t>
            </a:r>
            <a:r>
              <a:rPr lang="tr-TR" dirty="0" err="1"/>
              <a:t>İdle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busy</a:t>
            </a:r>
            <a:r>
              <a:rPr lang="tr-TR" dirty="0"/>
              <a:t>) 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79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70224-1041-401F-9634-F9FFA8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Concepts</a:t>
            </a:r>
            <a:r>
              <a:rPr lang="tr-TR" dirty="0"/>
              <a:t> of </a:t>
            </a:r>
            <a:r>
              <a:rPr lang="tr-TR" dirty="0" err="1"/>
              <a:t>Simulation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EF81-0A19-4EEC-AFD6-1C3172764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Event: An instantaneous occurrence that changes the state of a system (such as an arrival of a new customer). </a:t>
            </a:r>
            <a:endParaRPr lang="tr-TR" dirty="0"/>
          </a:p>
          <a:p>
            <a:r>
              <a:rPr lang="en-US" dirty="0"/>
              <a:t>Activity: A duration of time of specified length (e.g., a service time or interarrival time), which is known when it begins (although it may be defined in terms of a statistical distribution).</a:t>
            </a:r>
            <a:endParaRPr lang="tr-TR" dirty="0"/>
          </a:p>
          <a:p>
            <a:r>
              <a:rPr lang="en-US" dirty="0"/>
              <a:t>Delay: A duration of time of unspecified indefinite length, which is not known until it ends (e.g., a customer’s delay in a last-in, first-out waiting line which, when it begins, depends on future arrivals).</a:t>
            </a:r>
            <a:endParaRPr lang="tr-TR" dirty="0"/>
          </a:p>
          <a:p>
            <a:r>
              <a:rPr lang="en-US" dirty="0"/>
              <a:t>Event list: A list of event notices for future events, ordered by time of occurrence; also known as the future event list (FEL). </a:t>
            </a:r>
            <a:endParaRPr lang="tr-TR" dirty="0"/>
          </a:p>
          <a:p>
            <a:r>
              <a:rPr lang="en-US" dirty="0"/>
              <a:t>List (Set, Queue): A collection of associated entities, ordered in some logical fashion (such as all customers currently in a waiting line, ordered by first come, first served, or by priority).</a:t>
            </a:r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458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D344-5BDB-40E1-A35D-12CF640C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Concepts</a:t>
            </a:r>
            <a:r>
              <a:rPr lang="tr-TR" dirty="0"/>
              <a:t> of </a:t>
            </a:r>
            <a:r>
              <a:rPr lang="tr-TR" dirty="0" err="1"/>
              <a:t>Simulation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6FB3D-89AA-4882-88F7-3859DF8CC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Bank teller </a:t>
            </a:r>
            <a:r>
              <a:rPr lang="tr-TR" dirty="0" err="1"/>
              <a:t>example</a:t>
            </a:r>
            <a:endParaRPr lang="tr-TR" dirty="0"/>
          </a:p>
          <a:p>
            <a:pPr lvl="1"/>
            <a:r>
              <a:rPr lang="tr-TR" dirty="0" err="1"/>
              <a:t>System</a:t>
            </a:r>
            <a:r>
              <a:rPr lang="tr-TR" dirty="0"/>
              <a:t>: Bank </a:t>
            </a:r>
            <a:r>
              <a:rPr lang="tr-TR" dirty="0" err="1"/>
              <a:t>branch</a:t>
            </a:r>
            <a:r>
              <a:rPr lang="tr-TR" dirty="0"/>
              <a:t> (</a:t>
            </a:r>
            <a:r>
              <a:rPr lang="tr-TR" dirty="0" err="1"/>
              <a:t>customers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counters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Entities</a:t>
            </a:r>
            <a:r>
              <a:rPr lang="tr-TR" dirty="0"/>
              <a:t>: </a:t>
            </a:r>
            <a:r>
              <a:rPr lang="tr-TR" dirty="0" err="1"/>
              <a:t>Customers</a:t>
            </a:r>
            <a:r>
              <a:rPr lang="tr-TR" dirty="0"/>
              <a:t> (</a:t>
            </a:r>
            <a:r>
              <a:rPr lang="tr-TR" dirty="0" err="1"/>
              <a:t>having</a:t>
            </a:r>
            <a:r>
              <a:rPr lang="tr-TR" dirty="0"/>
              <a:t> </a:t>
            </a:r>
            <a:r>
              <a:rPr lang="tr-TR" dirty="0" err="1"/>
              <a:t>priority</a:t>
            </a:r>
            <a:r>
              <a:rPr lang="tr-TR" dirty="0"/>
              <a:t> </a:t>
            </a:r>
            <a:r>
              <a:rPr lang="tr-TR" dirty="0" err="1"/>
              <a:t>attribute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: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people</a:t>
            </a:r>
            <a:r>
              <a:rPr lang="tr-TR" dirty="0"/>
              <a:t> </a:t>
            </a:r>
            <a:r>
              <a:rPr lang="tr-TR" dirty="0" err="1"/>
              <a:t>waiting</a:t>
            </a:r>
            <a:r>
              <a:rPr lang="tr-TR" dirty="0"/>
              <a:t> in </a:t>
            </a:r>
            <a:r>
              <a:rPr lang="tr-TR" dirty="0" err="1"/>
              <a:t>line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counters</a:t>
            </a:r>
            <a:r>
              <a:rPr lang="tr-TR" dirty="0"/>
              <a:t> (</a:t>
            </a:r>
            <a:r>
              <a:rPr lang="tr-TR" dirty="0" err="1"/>
              <a:t>busy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idle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Event</a:t>
            </a:r>
            <a:r>
              <a:rPr lang="tr-TR" dirty="0"/>
              <a:t>: </a:t>
            </a:r>
            <a:r>
              <a:rPr lang="tr-TR" dirty="0" err="1"/>
              <a:t>Arrival</a:t>
            </a:r>
            <a:r>
              <a:rPr lang="tr-TR" dirty="0"/>
              <a:t>, </a:t>
            </a:r>
            <a:r>
              <a:rPr lang="tr-TR" dirty="0" err="1"/>
              <a:t>departure</a:t>
            </a:r>
            <a:r>
              <a:rPr lang="tr-TR" dirty="0"/>
              <a:t> of </a:t>
            </a:r>
            <a:r>
              <a:rPr lang="tr-TR" dirty="0" err="1"/>
              <a:t>customers</a:t>
            </a:r>
            <a:endParaRPr lang="tr-TR" dirty="0"/>
          </a:p>
          <a:p>
            <a:pPr lvl="1"/>
            <a:r>
              <a:rPr lang="tr-TR" dirty="0" err="1"/>
              <a:t>Delay</a:t>
            </a:r>
            <a:r>
              <a:rPr lang="tr-TR" dirty="0"/>
              <a:t>: </a:t>
            </a:r>
            <a:r>
              <a:rPr lang="tr-TR" dirty="0" err="1"/>
              <a:t>Waiting</a:t>
            </a:r>
            <a:r>
              <a:rPr lang="tr-TR" dirty="0"/>
              <a:t> time in </a:t>
            </a:r>
            <a:r>
              <a:rPr lang="tr-TR" dirty="0" err="1"/>
              <a:t>queue</a:t>
            </a:r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594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C777-092A-48CD-9AB5-3CE39BB4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89794-0473-48F0-A1CA-A6B481036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EF3939-AFAF-4C08-8316-34EB16F88A8A}"/>
              </a:ext>
            </a:extLst>
          </p:cNvPr>
          <p:cNvCxnSpPr/>
          <p:nvPr/>
        </p:nvCxnSpPr>
        <p:spPr>
          <a:xfrm>
            <a:off x="1873956" y="2833511"/>
            <a:ext cx="724746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46D2EB-BCB7-4A06-A8AE-50833CA13E48}"/>
              </a:ext>
            </a:extLst>
          </p:cNvPr>
          <p:cNvCxnSpPr/>
          <p:nvPr/>
        </p:nvCxnSpPr>
        <p:spPr>
          <a:xfrm>
            <a:off x="1873956" y="4566356"/>
            <a:ext cx="724746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A46864-DD31-4C0A-8A4D-ED5A83FB2A0D}"/>
              </a:ext>
            </a:extLst>
          </p:cNvPr>
          <p:cNvSpPr txBox="1"/>
          <p:nvPr/>
        </p:nvSpPr>
        <p:spPr>
          <a:xfrm>
            <a:off x="9121422" y="2686756"/>
            <a:ext cx="180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Customer</a:t>
            </a:r>
            <a:r>
              <a:rPr lang="tr-TR" dirty="0"/>
              <a:t> 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1D23D-E9DD-4BDC-9E3B-5079C670E2B5}"/>
              </a:ext>
            </a:extLst>
          </p:cNvPr>
          <p:cNvSpPr txBox="1"/>
          <p:nvPr/>
        </p:nvSpPr>
        <p:spPr>
          <a:xfrm>
            <a:off x="9121422" y="4411725"/>
            <a:ext cx="180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Customer</a:t>
            </a:r>
            <a:r>
              <a:rPr lang="tr-TR" dirty="0"/>
              <a:t> n + 1</a:t>
            </a:r>
            <a:endParaRPr lang="en-US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24D2ECA-00A5-4BCA-8AEE-0CBC06493C68}"/>
              </a:ext>
            </a:extLst>
          </p:cNvPr>
          <p:cNvSpPr/>
          <p:nvPr/>
        </p:nvSpPr>
        <p:spPr>
          <a:xfrm>
            <a:off x="2641601" y="2370673"/>
            <a:ext cx="428978" cy="462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4404268-3510-45C0-B299-7365B15585B3}"/>
              </a:ext>
            </a:extLst>
          </p:cNvPr>
          <p:cNvSpPr/>
          <p:nvPr/>
        </p:nvSpPr>
        <p:spPr>
          <a:xfrm>
            <a:off x="3448756" y="4111084"/>
            <a:ext cx="428978" cy="462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488C974-E0E9-4F74-AC2F-4ED998B5651D}"/>
              </a:ext>
            </a:extLst>
          </p:cNvPr>
          <p:cNvSpPr/>
          <p:nvPr/>
        </p:nvSpPr>
        <p:spPr>
          <a:xfrm flipV="1">
            <a:off x="5881511" y="2307846"/>
            <a:ext cx="428978" cy="525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D63B9F2-5464-45D2-9105-E54E3FEA2C26}"/>
              </a:ext>
            </a:extLst>
          </p:cNvPr>
          <p:cNvSpPr/>
          <p:nvPr/>
        </p:nvSpPr>
        <p:spPr>
          <a:xfrm flipV="1">
            <a:off x="8266288" y="4024489"/>
            <a:ext cx="428978" cy="525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CCB50B32-2557-46DE-BE0E-19F424ECC1D6}"/>
              </a:ext>
            </a:extLst>
          </p:cNvPr>
          <p:cNvSpPr/>
          <p:nvPr/>
        </p:nvSpPr>
        <p:spPr>
          <a:xfrm>
            <a:off x="4255911" y="2602094"/>
            <a:ext cx="428978" cy="46283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ADEF4FD5-771E-4CB3-905C-A0ECC5D4421C}"/>
              </a:ext>
            </a:extLst>
          </p:cNvPr>
          <p:cNvSpPr/>
          <p:nvPr/>
        </p:nvSpPr>
        <p:spPr>
          <a:xfrm>
            <a:off x="5881511" y="4334939"/>
            <a:ext cx="428978" cy="46283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74F83-C560-4C10-96E4-9E3E94AF72F3}"/>
              </a:ext>
            </a:extLst>
          </p:cNvPr>
          <p:cNvSpPr txBox="1"/>
          <p:nvPr/>
        </p:nvSpPr>
        <p:spPr>
          <a:xfrm>
            <a:off x="2452836" y="2918299"/>
            <a:ext cx="79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Arrival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7FC68-C67D-40B9-A9B1-ABA3416A70B4}"/>
              </a:ext>
            </a:extLst>
          </p:cNvPr>
          <p:cNvSpPr txBox="1"/>
          <p:nvPr/>
        </p:nvSpPr>
        <p:spPr>
          <a:xfrm>
            <a:off x="3265636" y="4659862"/>
            <a:ext cx="79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Arrival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97822-D26B-43CC-B692-837E03652033}"/>
              </a:ext>
            </a:extLst>
          </p:cNvPr>
          <p:cNvSpPr txBox="1"/>
          <p:nvPr/>
        </p:nvSpPr>
        <p:spPr>
          <a:xfrm>
            <a:off x="5609329" y="4718018"/>
            <a:ext cx="96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Service </a:t>
            </a:r>
            <a:r>
              <a:rPr lang="tr-TR" dirty="0" err="1"/>
              <a:t>begins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634AD-0313-4900-BC06-902E217605B0}"/>
              </a:ext>
            </a:extLst>
          </p:cNvPr>
          <p:cNvSpPr txBox="1"/>
          <p:nvPr/>
        </p:nvSpPr>
        <p:spPr>
          <a:xfrm>
            <a:off x="7908028" y="4652297"/>
            <a:ext cx="114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Departure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338A33-2F56-4955-9517-793F9F4DF072}"/>
              </a:ext>
            </a:extLst>
          </p:cNvPr>
          <p:cNvSpPr txBox="1"/>
          <p:nvPr/>
        </p:nvSpPr>
        <p:spPr>
          <a:xfrm>
            <a:off x="5520268" y="2847257"/>
            <a:ext cx="114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Departure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4B910D-1317-4741-8457-F098A7901492}"/>
              </a:ext>
            </a:extLst>
          </p:cNvPr>
          <p:cNvSpPr txBox="1"/>
          <p:nvPr/>
        </p:nvSpPr>
        <p:spPr>
          <a:xfrm>
            <a:off x="3969617" y="2992480"/>
            <a:ext cx="96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Service </a:t>
            </a:r>
            <a:r>
              <a:rPr lang="tr-TR" dirty="0" err="1"/>
              <a:t>begins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887F01-E064-4B8E-B7B7-67ABF90F8D22}"/>
              </a:ext>
            </a:extLst>
          </p:cNvPr>
          <p:cNvSpPr/>
          <p:nvPr/>
        </p:nvSpPr>
        <p:spPr>
          <a:xfrm>
            <a:off x="2857500" y="5497830"/>
            <a:ext cx="3238500" cy="36931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6B128C-C26E-4682-A3C0-7F4B554E8CE0}"/>
              </a:ext>
            </a:extLst>
          </p:cNvPr>
          <p:cNvSpPr/>
          <p:nvPr/>
        </p:nvSpPr>
        <p:spPr>
          <a:xfrm>
            <a:off x="6096000" y="5497830"/>
            <a:ext cx="2385060" cy="36931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94A7EF-738F-47D9-9D72-B833D366736B}"/>
              </a:ext>
            </a:extLst>
          </p:cNvPr>
          <p:cNvCxnSpPr/>
          <p:nvPr/>
        </p:nvCxnSpPr>
        <p:spPr>
          <a:xfrm>
            <a:off x="8481060" y="5867146"/>
            <a:ext cx="2091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Brace 24">
            <a:extLst>
              <a:ext uri="{FF2B5EF4-FFF2-40B4-BE49-F238E27FC236}">
                <a16:creationId xmlns:a16="http://schemas.microsoft.com/office/drawing/2014/main" id="{DAB2633E-C882-45B5-8D44-82B14C2A018E}"/>
              </a:ext>
            </a:extLst>
          </p:cNvPr>
          <p:cNvSpPr/>
          <p:nvPr/>
        </p:nvSpPr>
        <p:spPr>
          <a:xfrm rot="5400000" flipV="1">
            <a:off x="5286736" y="3437913"/>
            <a:ext cx="765088" cy="56235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tr-TR" dirty="0" err="1"/>
              <a:t>Busy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F0B869-3E35-44BE-AE74-F68946FAF3AF}"/>
              </a:ext>
            </a:extLst>
          </p:cNvPr>
          <p:cNvSpPr txBox="1"/>
          <p:nvPr/>
        </p:nvSpPr>
        <p:spPr>
          <a:xfrm>
            <a:off x="1097280" y="5497830"/>
            <a:ext cx="154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Server </a:t>
            </a:r>
            <a:r>
              <a:rPr lang="tr-TR" dirty="0" err="1"/>
              <a:t>status</a:t>
            </a:r>
            <a:endParaRPr lang="en-US" dirty="0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0FF77D4C-15D4-4F52-A99A-2018E0564CDB}"/>
              </a:ext>
            </a:extLst>
          </p:cNvPr>
          <p:cNvSpPr/>
          <p:nvPr/>
        </p:nvSpPr>
        <p:spPr>
          <a:xfrm rot="5400000" flipV="1">
            <a:off x="9144077" y="5214683"/>
            <a:ext cx="765088" cy="20916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tr-TR" dirty="0" err="1"/>
              <a:t>Idle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C777-092A-48CD-9AB5-3CE39BB4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Advanced </a:t>
            </a:r>
            <a:r>
              <a:rPr lang="tr-TR" dirty="0" err="1"/>
              <a:t>Concepts</a:t>
            </a:r>
            <a:r>
              <a:rPr lang="tr-TR" dirty="0"/>
              <a:t> (</a:t>
            </a:r>
            <a:r>
              <a:rPr lang="tr-TR" dirty="0" err="1"/>
              <a:t>Preemption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89794-0473-48F0-A1CA-A6B481036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EF3939-AFAF-4C08-8316-34EB16F88A8A}"/>
              </a:ext>
            </a:extLst>
          </p:cNvPr>
          <p:cNvCxnSpPr/>
          <p:nvPr/>
        </p:nvCxnSpPr>
        <p:spPr>
          <a:xfrm>
            <a:off x="1873956" y="2833511"/>
            <a:ext cx="724746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46D2EB-BCB7-4A06-A8AE-50833CA13E48}"/>
              </a:ext>
            </a:extLst>
          </p:cNvPr>
          <p:cNvCxnSpPr/>
          <p:nvPr/>
        </p:nvCxnSpPr>
        <p:spPr>
          <a:xfrm>
            <a:off x="1873956" y="4566356"/>
            <a:ext cx="724746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A46864-DD31-4C0A-8A4D-ED5A83FB2A0D}"/>
              </a:ext>
            </a:extLst>
          </p:cNvPr>
          <p:cNvSpPr txBox="1"/>
          <p:nvPr/>
        </p:nvSpPr>
        <p:spPr>
          <a:xfrm>
            <a:off x="9603432" y="2651006"/>
            <a:ext cx="180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Customer</a:t>
            </a:r>
            <a:r>
              <a:rPr lang="tr-TR" dirty="0"/>
              <a:t> 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1D23D-E9DD-4BDC-9E3B-5079C670E2B5}"/>
              </a:ext>
            </a:extLst>
          </p:cNvPr>
          <p:cNvSpPr txBox="1"/>
          <p:nvPr/>
        </p:nvSpPr>
        <p:spPr>
          <a:xfrm>
            <a:off x="9526621" y="4365488"/>
            <a:ext cx="180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Customer</a:t>
            </a:r>
            <a:r>
              <a:rPr lang="tr-TR" dirty="0"/>
              <a:t> n + 1</a:t>
            </a:r>
            <a:endParaRPr lang="en-US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24D2ECA-00A5-4BCA-8AEE-0CBC06493C68}"/>
              </a:ext>
            </a:extLst>
          </p:cNvPr>
          <p:cNvSpPr/>
          <p:nvPr/>
        </p:nvSpPr>
        <p:spPr>
          <a:xfrm>
            <a:off x="2641601" y="2370673"/>
            <a:ext cx="428978" cy="462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4404268-3510-45C0-B299-7365B15585B3}"/>
              </a:ext>
            </a:extLst>
          </p:cNvPr>
          <p:cNvSpPr/>
          <p:nvPr/>
        </p:nvSpPr>
        <p:spPr>
          <a:xfrm>
            <a:off x="4936991" y="4087316"/>
            <a:ext cx="428978" cy="462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D63B9F2-5464-45D2-9105-E54E3FEA2C26}"/>
              </a:ext>
            </a:extLst>
          </p:cNvPr>
          <p:cNvSpPr/>
          <p:nvPr/>
        </p:nvSpPr>
        <p:spPr>
          <a:xfrm flipV="1">
            <a:off x="7047359" y="4022262"/>
            <a:ext cx="428978" cy="525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CCB50B32-2557-46DE-BE0E-19F424ECC1D6}"/>
              </a:ext>
            </a:extLst>
          </p:cNvPr>
          <p:cNvSpPr/>
          <p:nvPr/>
        </p:nvSpPr>
        <p:spPr>
          <a:xfrm>
            <a:off x="4255911" y="2602094"/>
            <a:ext cx="428978" cy="46283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ADEF4FD5-771E-4CB3-905C-A0ECC5D4421C}"/>
              </a:ext>
            </a:extLst>
          </p:cNvPr>
          <p:cNvSpPr/>
          <p:nvPr/>
        </p:nvSpPr>
        <p:spPr>
          <a:xfrm>
            <a:off x="4931914" y="4334939"/>
            <a:ext cx="428978" cy="46283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74F83-C560-4C10-96E4-9E3E94AF72F3}"/>
              </a:ext>
            </a:extLst>
          </p:cNvPr>
          <p:cNvSpPr txBox="1"/>
          <p:nvPr/>
        </p:nvSpPr>
        <p:spPr>
          <a:xfrm>
            <a:off x="2452836" y="2918299"/>
            <a:ext cx="79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Arrival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7FC68-C67D-40B9-A9B1-ABA3416A70B4}"/>
              </a:ext>
            </a:extLst>
          </p:cNvPr>
          <p:cNvSpPr txBox="1"/>
          <p:nvPr/>
        </p:nvSpPr>
        <p:spPr>
          <a:xfrm>
            <a:off x="4617348" y="4787368"/>
            <a:ext cx="1058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err="1"/>
              <a:t>Arrival</a:t>
            </a:r>
            <a:r>
              <a:rPr lang="tr-TR" dirty="0"/>
              <a:t> &amp; </a:t>
            </a:r>
          </a:p>
          <a:p>
            <a:pPr algn="ctr"/>
            <a:r>
              <a:rPr lang="tr-TR" dirty="0"/>
              <a:t>Service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634AD-0313-4900-BC06-902E217605B0}"/>
              </a:ext>
            </a:extLst>
          </p:cNvPr>
          <p:cNvSpPr txBox="1"/>
          <p:nvPr/>
        </p:nvSpPr>
        <p:spPr>
          <a:xfrm>
            <a:off x="6689099" y="4650070"/>
            <a:ext cx="114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Departure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4B910D-1317-4741-8457-F098A7901492}"/>
              </a:ext>
            </a:extLst>
          </p:cNvPr>
          <p:cNvSpPr txBox="1"/>
          <p:nvPr/>
        </p:nvSpPr>
        <p:spPr>
          <a:xfrm>
            <a:off x="3969617" y="2992480"/>
            <a:ext cx="96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Service </a:t>
            </a:r>
            <a:r>
              <a:rPr lang="tr-TR" dirty="0" err="1"/>
              <a:t>begins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887F01-E064-4B8E-B7B7-67ABF90F8D22}"/>
              </a:ext>
            </a:extLst>
          </p:cNvPr>
          <p:cNvSpPr/>
          <p:nvPr/>
        </p:nvSpPr>
        <p:spPr>
          <a:xfrm>
            <a:off x="2857500" y="5497830"/>
            <a:ext cx="2284951" cy="36931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6B128C-C26E-4682-A3C0-7F4B554E8CE0}"/>
              </a:ext>
            </a:extLst>
          </p:cNvPr>
          <p:cNvSpPr/>
          <p:nvPr/>
        </p:nvSpPr>
        <p:spPr>
          <a:xfrm>
            <a:off x="5142451" y="5500278"/>
            <a:ext cx="2155971" cy="36931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94A7EF-738F-47D9-9D72-B833D366736B}"/>
              </a:ext>
            </a:extLst>
          </p:cNvPr>
          <p:cNvCxnSpPr/>
          <p:nvPr/>
        </p:nvCxnSpPr>
        <p:spPr>
          <a:xfrm>
            <a:off x="8481060" y="5867146"/>
            <a:ext cx="2091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Brace 24">
            <a:extLst>
              <a:ext uri="{FF2B5EF4-FFF2-40B4-BE49-F238E27FC236}">
                <a16:creationId xmlns:a16="http://schemas.microsoft.com/office/drawing/2014/main" id="{DAB2633E-C882-45B5-8D44-82B14C2A018E}"/>
              </a:ext>
            </a:extLst>
          </p:cNvPr>
          <p:cNvSpPr/>
          <p:nvPr/>
        </p:nvSpPr>
        <p:spPr>
          <a:xfrm rot="5400000" flipV="1">
            <a:off x="5521732" y="3202917"/>
            <a:ext cx="765088" cy="60935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tr-TR" dirty="0" err="1"/>
              <a:t>Busy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F0B869-3E35-44BE-AE74-F68946FAF3AF}"/>
              </a:ext>
            </a:extLst>
          </p:cNvPr>
          <p:cNvSpPr txBox="1"/>
          <p:nvPr/>
        </p:nvSpPr>
        <p:spPr>
          <a:xfrm>
            <a:off x="1097280" y="5497830"/>
            <a:ext cx="154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Server </a:t>
            </a:r>
            <a:r>
              <a:rPr lang="tr-TR" dirty="0" err="1"/>
              <a:t>status</a:t>
            </a:r>
            <a:endParaRPr lang="en-US" dirty="0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0FF77D4C-15D4-4F52-A99A-2018E0564CDB}"/>
              </a:ext>
            </a:extLst>
          </p:cNvPr>
          <p:cNvSpPr/>
          <p:nvPr/>
        </p:nvSpPr>
        <p:spPr>
          <a:xfrm rot="5400000" flipV="1">
            <a:off x="9379215" y="5449821"/>
            <a:ext cx="765088" cy="16214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tr-TR" dirty="0" err="1"/>
              <a:t>Idle</a:t>
            </a:r>
            <a:endParaRPr lang="en-US" dirty="0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8A55242F-6C9A-4218-B0B3-ED63AD3DF0F5}"/>
              </a:ext>
            </a:extLst>
          </p:cNvPr>
          <p:cNvSpPr/>
          <p:nvPr/>
        </p:nvSpPr>
        <p:spPr>
          <a:xfrm>
            <a:off x="4951855" y="2602094"/>
            <a:ext cx="428978" cy="462833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6E7FCF-95DD-4C74-9BD8-F2179B3E560E}"/>
              </a:ext>
            </a:extLst>
          </p:cNvPr>
          <p:cNvSpPr txBox="1"/>
          <p:nvPr/>
        </p:nvSpPr>
        <p:spPr>
          <a:xfrm>
            <a:off x="4573654" y="2043285"/>
            <a:ext cx="129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Preemption</a:t>
            </a:r>
            <a:endParaRPr lang="en-US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EB3653DD-63A4-4695-8ADF-9361FB2D88A8}"/>
              </a:ext>
            </a:extLst>
          </p:cNvPr>
          <p:cNvSpPr/>
          <p:nvPr/>
        </p:nvSpPr>
        <p:spPr>
          <a:xfrm flipV="1">
            <a:off x="8703733" y="2307846"/>
            <a:ext cx="428978" cy="525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74B9FCA2-3B8D-49E6-B9A4-85F9F0AF52E8}"/>
              </a:ext>
            </a:extLst>
          </p:cNvPr>
          <p:cNvSpPr/>
          <p:nvPr/>
        </p:nvSpPr>
        <p:spPr>
          <a:xfrm>
            <a:off x="7078133" y="2602094"/>
            <a:ext cx="428978" cy="46283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08B5EA-082C-4934-946C-9F9B0D6B7DDC}"/>
              </a:ext>
            </a:extLst>
          </p:cNvPr>
          <p:cNvSpPr txBox="1"/>
          <p:nvPr/>
        </p:nvSpPr>
        <p:spPr>
          <a:xfrm>
            <a:off x="8385910" y="2848881"/>
            <a:ext cx="114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Departure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70C4B8-C2BF-472E-AC5C-9A5E2099D9B5}"/>
              </a:ext>
            </a:extLst>
          </p:cNvPr>
          <p:cNvSpPr txBox="1"/>
          <p:nvPr/>
        </p:nvSpPr>
        <p:spPr>
          <a:xfrm>
            <a:off x="6835259" y="2994104"/>
            <a:ext cx="96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Service </a:t>
            </a:r>
            <a:r>
              <a:rPr lang="tr-TR" dirty="0" err="1"/>
              <a:t>begins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5BA098-CF98-4045-BE2E-8D402FF102F9}"/>
              </a:ext>
            </a:extLst>
          </p:cNvPr>
          <p:cNvSpPr/>
          <p:nvPr/>
        </p:nvSpPr>
        <p:spPr>
          <a:xfrm>
            <a:off x="7298423" y="5499055"/>
            <a:ext cx="1652630" cy="36931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7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6" grpId="0"/>
      <p:bldP spid="18" grpId="0"/>
      <p:bldP spid="20" grpId="0"/>
      <p:bldP spid="28" grpId="0" animBg="1"/>
      <p:bldP spid="29" grpId="0"/>
      <p:bldP spid="30" grpId="0" animBg="1"/>
      <p:bldP spid="31" grpId="0" animBg="1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EEA5-D89B-4A11-B0CA-6BBEBE21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Advanced </a:t>
            </a:r>
            <a:r>
              <a:rPr lang="tr-TR" dirty="0" err="1"/>
              <a:t>Concepts</a:t>
            </a:r>
            <a:r>
              <a:rPr lang="tr-TR" dirty="0"/>
              <a:t> (</a:t>
            </a:r>
            <a:r>
              <a:rPr lang="tr-TR" dirty="0" err="1"/>
              <a:t>Priority</a:t>
            </a:r>
            <a:r>
              <a:rPr lang="tr-TR" dirty="0"/>
              <a:t>)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7B329E-8ADD-4C58-8323-E787BBCBD9F0}"/>
              </a:ext>
            </a:extLst>
          </p:cNvPr>
          <p:cNvCxnSpPr>
            <a:cxnSpLocks/>
          </p:cNvCxnSpPr>
          <p:nvPr/>
        </p:nvCxnSpPr>
        <p:spPr>
          <a:xfrm>
            <a:off x="1459685" y="3462556"/>
            <a:ext cx="593101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miley Face 5">
            <a:extLst>
              <a:ext uri="{FF2B5EF4-FFF2-40B4-BE49-F238E27FC236}">
                <a16:creationId xmlns:a16="http://schemas.microsoft.com/office/drawing/2014/main" id="{22FBDB4F-6032-46CB-A4F9-06A157689BFC}"/>
              </a:ext>
            </a:extLst>
          </p:cNvPr>
          <p:cNvSpPr/>
          <p:nvPr/>
        </p:nvSpPr>
        <p:spPr>
          <a:xfrm>
            <a:off x="1887523" y="281031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462FC59E-A4AC-4835-968E-160558C6D2DA}"/>
              </a:ext>
            </a:extLst>
          </p:cNvPr>
          <p:cNvSpPr/>
          <p:nvPr/>
        </p:nvSpPr>
        <p:spPr>
          <a:xfrm>
            <a:off x="2620161" y="281031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5A3FE66E-ADA2-4310-AFD0-16E464F5376D}"/>
              </a:ext>
            </a:extLst>
          </p:cNvPr>
          <p:cNvSpPr/>
          <p:nvPr/>
        </p:nvSpPr>
        <p:spPr>
          <a:xfrm>
            <a:off x="3352799" y="2808907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miley Face 8">
            <a:extLst>
              <a:ext uri="{FF2B5EF4-FFF2-40B4-BE49-F238E27FC236}">
                <a16:creationId xmlns:a16="http://schemas.microsoft.com/office/drawing/2014/main" id="{6249EE3F-AFAF-4C13-91A4-4C41AD97E8CB}"/>
              </a:ext>
            </a:extLst>
          </p:cNvPr>
          <p:cNvSpPr/>
          <p:nvPr/>
        </p:nvSpPr>
        <p:spPr>
          <a:xfrm>
            <a:off x="4085437" y="2808907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D1F25BC4-5004-4E40-9AE1-D208D79EE8BB}"/>
              </a:ext>
            </a:extLst>
          </p:cNvPr>
          <p:cNvSpPr/>
          <p:nvPr/>
        </p:nvSpPr>
        <p:spPr>
          <a:xfrm>
            <a:off x="4818075" y="2808907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miley Face 10">
            <a:extLst>
              <a:ext uri="{FF2B5EF4-FFF2-40B4-BE49-F238E27FC236}">
                <a16:creationId xmlns:a16="http://schemas.microsoft.com/office/drawing/2014/main" id="{4FC7FA83-E226-44C7-B27E-9A439B91D9D1}"/>
              </a:ext>
            </a:extLst>
          </p:cNvPr>
          <p:cNvSpPr/>
          <p:nvPr/>
        </p:nvSpPr>
        <p:spPr>
          <a:xfrm>
            <a:off x="5550713" y="280750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8C429A-0CA5-489D-B2C0-71D2448D172F}"/>
              </a:ext>
            </a:extLst>
          </p:cNvPr>
          <p:cNvCxnSpPr>
            <a:cxnSpLocks/>
          </p:cNvCxnSpPr>
          <p:nvPr/>
        </p:nvCxnSpPr>
        <p:spPr>
          <a:xfrm>
            <a:off x="1459685" y="5733193"/>
            <a:ext cx="593101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miley Face 13">
            <a:extLst>
              <a:ext uri="{FF2B5EF4-FFF2-40B4-BE49-F238E27FC236}">
                <a16:creationId xmlns:a16="http://schemas.microsoft.com/office/drawing/2014/main" id="{686389DB-A564-4849-A8FA-4BBDA951D682}"/>
              </a:ext>
            </a:extLst>
          </p:cNvPr>
          <p:cNvSpPr/>
          <p:nvPr/>
        </p:nvSpPr>
        <p:spPr>
          <a:xfrm>
            <a:off x="3028425" y="5078138"/>
            <a:ext cx="629174" cy="618688"/>
          </a:xfrm>
          <a:prstGeom prst="smileyFac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miley Face 14">
            <a:extLst>
              <a:ext uri="{FF2B5EF4-FFF2-40B4-BE49-F238E27FC236}">
                <a16:creationId xmlns:a16="http://schemas.microsoft.com/office/drawing/2014/main" id="{26005443-CC9D-4B58-A589-9DF6D281E122}"/>
              </a:ext>
            </a:extLst>
          </p:cNvPr>
          <p:cNvSpPr/>
          <p:nvPr/>
        </p:nvSpPr>
        <p:spPr>
          <a:xfrm>
            <a:off x="3761063" y="5078138"/>
            <a:ext cx="629174" cy="618688"/>
          </a:xfrm>
          <a:prstGeom prst="smileyFac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miley Face 15">
            <a:extLst>
              <a:ext uri="{FF2B5EF4-FFF2-40B4-BE49-F238E27FC236}">
                <a16:creationId xmlns:a16="http://schemas.microsoft.com/office/drawing/2014/main" id="{898ABDF5-32E2-4F87-A543-8663B5D07D42}"/>
              </a:ext>
            </a:extLst>
          </p:cNvPr>
          <p:cNvSpPr/>
          <p:nvPr/>
        </p:nvSpPr>
        <p:spPr>
          <a:xfrm>
            <a:off x="4493701" y="5076733"/>
            <a:ext cx="629174" cy="618688"/>
          </a:xfrm>
          <a:prstGeom prst="smileyFac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9A0E36FA-12EA-42B1-802D-A4FAAC2FA84B}"/>
              </a:ext>
            </a:extLst>
          </p:cNvPr>
          <p:cNvSpPr/>
          <p:nvPr/>
        </p:nvSpPr>
        <p:spPr>
          <a:xfrm>
            <a:off x="5226339" y="5076733"/>
            <a:ext cx="629174" cy="618688"/>
          </a:xfrm>
          <a:prstGeom prst="smileyFac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miley Face 17">
            <a:extLst>
              <a:ext uri="{FF2B5EF4-FFF2-40B4-BE49-F238E27FC236}">
                <a16:creationId xmlns:a16="http://schemas.microsoft.com/office/drawing/2014/main" id="{23604336-2B66-4F34-8EAB-7813C85356C3}"/>
              </a:ext>
            </a:extLst>
          </p:cNvPr>
          <p:cNvSpPr/>
          <p:nvPr/>
        </p:nvSpPr>
        <p:spPr>
          <a:xfrm>
            <a:off x="5958977" y="5076733"/>
            <a:ext cx="629174" cy="618688"/>
          </a:xfrm>
          <a:prstGeom prst="smileyFac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0885B2A0-AE80-4740-9D1D-68E7AD15E0AD}"/>
              </a:ext>
            </a:extLst>
          </p:cNvPr>
          <p:cNvSpPr/>
          <p:nvPr/>
        </p:nvSpPr>
        <p:spPr>
          <a:xfrm>
            <a:off x="6691615" y="5075328"/>
            <a:ext cx="629174" cy="618688"/>
          </a:xfrm>
          <a:prstGeom prst="smileyFac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8769F5D-F9B6-4F16-98E6-282D73F33975}"/>
              </a:ext>
            </a:extLst>
          </p:cNvPr>
          <p:cNvSpPr/>
          <p:nvPr/>
        </p:nvSpPr>
        <p:spPr>
          <a:xfrm>
            <a:off x="1708557" y="4498441"/>
            <a:ext cx="1226191" cy="1205755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miley Face 22">
            <a:extLst>
              <a:ext uri="{FF2B5EF4-FFF2-40B4-BE49-F238E27FC236}">
                <a16:creationId xmlns:a16="http://schemas.microsoft.com/office/drawing/2014/main" id="{02CCF5FC-0616-4038-96FC-EA5B353A7195}"/>
              </a:ext>
            </a:extLst>
          </p:cNvPr>
          <p:cNvSpPr/>
          <p:nvPr/>
        </p:nvSpPr>
        <p:spPr>
          <a:xfrm>
            <a:off x="8664429" y="2134143"/>
            <a:ext cx="1226191" cy="1205755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New </a:t>
            </a:r>
            <a:r>
              <a:rPr lang="tr-T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arrival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89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EEA5-D89B-4A11-B0CA-6BBEBE21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Advanced </a:t>
            </a:r>
            <a:r>
              <a:rPr lang="tr-TR" dirty="0" err="1"/>
              <a:t>Concepts</a:t>
            </a:r>
            <a:r>
              <a:rPr lang="tr-TR" dirty="0"/>
              <a:t> (</a:t>
            </a:r>
            <a:r>
              <a:rPr lang="tr-TR" dirty="0" err="1"/>
              <a:t>Reneging</a:t>
            </a:r>
            <a:r>
              <a:rPr lang="tr-TR" dirty="0"/>
              <a:t> / </a:t>
            </a:r>
            <a:r>
              <a:rPr lang="tr-TR" dirty="0" err="1"/>
              <a:t>Baulking</a:t>
            </a:r>
            <a:r>
              <a:rPr lang="tr-TR" dirty="0"/>
              <a:t>)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7B329E-8ADD-4C58-8323-E787BBCBD9F0}"/>
              </a:ext>
            </a:extLst>
          </p:cNvPr>
          <p:cNvCxnSpPr>
            <a:cxnSpLocks/>
          </p:cNvCxnSpPr>
          <p:nvPr/>
        </p:nvCxnSpPr>
        <p:spPr>
          <a:xfrm>
            <a:off x="1459685" y="3462556"/>
            <a:ext cx="593101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miley Face 5">
            <a:extLst>
              <a:ext uri="{FF2B5EF4-FFF2-40B4-BE49-F238E27FC236}">
                <a16:creationId xmlns:a16="http://schemas.microsoft.com/office/drawing/2014/main" id="{22FBDB4F-6032-46CB-A4F9-06A157689BFC}"/>
              </a:ext>
            </a:extLst>
          </p:cNvPr>
          <p:cNvSpPr/>
          <p:nvPr/>
        </p:nvSpPr>
        <p:spPr>
          <a:xfrm>
            <a:off x="1887523" y="281031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462FC59E-A4AC-4835-968E-160558C6D2DA}"/>
              </a:ext>
            </a:extLst>
          </p:cNvPr>
          <p:cNvSpPr/>
          <p:nvPr/>
        </p:nvSpPr>
        <p:spPr>
          <a:xfrm>
            <a:off x="2620161" y="281031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5A3FE66E-ADA2-4310-AFD0-16E464F5376D}"/>
              </a:ext>
            </a:extLst>
          </p:cNvPr>
          <p:cNvSpPr/>
          <p:nvPr/>
        </p:nvSpPr>
        <p:spPr>
          <a:xfrm>
            <a:off x="3352799" y="2808907"/>
            <a:ext cx="629174" cy="618688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miley Face 8">
            <a:extLst>
              <a:ext uri="{FF2B5EF4-FFF2-40B4-BE49-F238E27FC236}">
                <a16:creationId xmlns:a16="http://schemas.microsoft.com/office/drawing/2014/main" id="{6249EE3F-AFAF-4C13-91A4-4C41AD97E8CB}"/>
              </a:ext>
            </a:extLst>
          </p:cNvPr>
          <p:cNvSpPr/>
          <p:nvPr/>
        </p:nvSpPr>
        <p:spPr>
          <a:xfrm>
            <a:off x="4085437" y="2808907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D1F25BC4-5004-4E40-9AE1-D208D79EE8BB}"/>
              </a:ext>
            </a:extLst>
          </p:cNvPr>
          <p:cNvSpPr/>
          <p:nvPr/>
        </p:nvSpPr>
        <p:spPr>
          <a:xfrm>
            <a:off x="4818075" y="2808907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miley Face 10">
            <a:extLst>
              <a:ext uri="{FF2B5EF4-FFF2-40B4-BE49-F238E27FC236}">
                <a16:creationId xmlns:a16="http://schemas.microsoft.com/office/drawing/2014/main" id="{4FC7FA83-E226-44C7-B27E-9A439B91D9D1}"/>
              </a:ext>
            </a:extLst>
          </p:cNvPr>
          <p:cNvSpPr/>
          <p:nvPr/>
        </p:nvSpPr>
        <p:spPr>
          <a:xfrm>
            <a:off x="5550713" y="280750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58FC0D-A4A6-4045-A641-22A02C8B0AD5}"/>
              </a:ext>
            </a:extLst>
          </p:cNvPr>
          <p:cNvCxnSpPr>
            <a:cxnSpLocks/>
          </p:cNvCxnSpPr>
          <p:nvPr/>
        </p:nvCxnSpPr>
        <p:spPr>
          <a:xfrm>
            <a:off x="1423333" y="4579370"/>
            <a:ext cx="593101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miley Face 20">
            <a:extLst>
              <a:ext uri="{FF2B5EF4-FFF2-40B4-BE49-F238E27FC236}">
                <a16:creationId xmlns:a16="http://schemas.microsoft.com/office/drawing/2014/main" id="{649B020B-3FEA-43C5-9739-5FC59FB44C09}"/>
              </a:ext>
            </a:extLst>
          </p:cNvPr>
          <p:cNvSpPr/>
          <p:nvPr/>
        </p:nvSpPr>
        <p:spPr>
          <a:xfrm>
            <a:off x="1851171" y="3927126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miley Face 23">
            <a:extLst>
              <a:ext uri="{FF2B5EF4-FFF2-40B4-BE49-F238E27FC236}">
                <a16:creationId xmlns:a16="http://schemas.microsoft.com/office/drawing/2014/main" id="{E991B967-76CF-46BF-B88D-E315EA246E04}"/>
              </a:ext>
            </a:extLst>
          </p:cNvPr>
          <p:cNvSpPr/>
          <p:nvPr/>
        </p:nvSpPr>
        <p:spPr>
          <a:xfrm>
            <a:off x="2583809" y="3927126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miley Face 24">
            <a:extLst>
              <a:ext uri="{FF2B5EF4-FFF2-40B4-BE49-F238E27FC236}">
                <a16:creationId xmlns:a16="http://schemas.microsoft.com/office/drawing/2014/main" id="{03C6D323-3A64-4756-A798-F780137582B7}"/>
              </a:ext>
            </a:extLst>
          </p:cNvPr>
          <p:cNvSpPr/>
          <p:nvPr/>
        </p:nvSpPr>
        <p:spPr>
          <a:xfrm>
            <a:off x="3316447" y="3925721"/>
            <a:ext cx="629174" cy="618688"/>
          </a:xfrm>
          <a:prstGeom prst="smileyFac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miley Face 25">
            <a:extLst>
              <a:ext uri="{FF2B5EF4-FFF2-40B4-BE49-F238E27FC236}">
                <a16:creationId xmlns:a16="http://schemas.microsoft.com/office/drawing/2014/main" id="{5DA6D3D2-94CE-447A-88FF-73F1408CE83C}"/>
              </a:ext>
            </a:extLst>
          </p:cNvPr>
          <p:cNvSpPr/>
          <p:nvPr/>
        </p:nvSpPr>
        <p:spPr>
          <a:xfrm>
            <a:off x="4049085" y="3925721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miley Face 26">
            <a:extLst>
              <a:ext uri="{FF2B5EF4-FFF2-40B4-BE49-F238E27FC236}">
                <a16:creationId xmlns:a16="http://schemas.microsoft.com/office/drawing/2014/main" id="{C0991128-7949-4C90-948F-F3BB56B39212}"/>
              </a:ext>
            </a:extLst>
          </p:cNvPr>
          <p:cNvSpPr/>
          <p:nvPr/>
        </p:nvSpPr>
        <p:spPr>
          <a:xfrm>
            <a:off x="4781723" y="3925721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miley Face 27">
            <a:extLst>
              <a:ext uri="{FF2B5EF4-FFF2-40B4-BE49-F238E27FC236}">
                <a16:creationId xmlns:a16="http://schemas.microsoft.com/office/drawing/2014/main" id="{8FD6AD0B-F6B5-43E0-B571-909C7AE3E5A6}"/>
              </a:ext>
            </a:extLst>
          </p:cNvPr>
          <p:cNvSpPr/>
          <p:nvPr/>
        </p:nvSpPr>
        <p:spPr>
          <a:xfrm>
            <a:off x="5514361" y="3924316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miley Face 28">
            <a:extLst>
              <a:ext uri="{FF2B5EF4-FFF2-40B4-BE49-F238E27FC236}">
                <a16:creationId xmlns:a16="http://schemas.microsoft.com/office/drawing/2014/main" id="{2F2D1678-03BD-41C8-9CC3-1115838761EE}"/>
              </a:ext>
            </a:extLst>
          </p:cNvPr>
          <p:cNvSpPr/>
          <p:nvPr/>
        </p:nvSpPr>
        <p:spPr>
          <a:xfrm>
            <a:off x="6246999" y="3924316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miley Face 29">
            <a:extLst>
              <a:ext uri="{FF2B5EF4-FFF2-40B4-BE49-F238E27FC236}">
                <a16:creationId xmlns:a16="http://schemas.microsoft.com/office/drawing/2014/main" id="{4D4A41D1-16BE-49D7-9B6E-966E3DF7C1FC}"/>
              </a:ext>
            </a:extLst>
          </p:cNvPr>
          <p:cNvSpPr/>
          <p:nvPr/>
        </p:nvSpPr>
        <p:spPr>
          <a:xfrm>
            <a:off x="6979637" y="3922911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0B3184-8D64-47DC-A49D-CAB05F86B751}"/>
              </a:ext>
            </a:extLst>
          </p:cNvPr>
          <p:cNvCxnSpPr>
            <a:cxnSpLocks/>
          </p:cNvCxnSpPr>
          <p:nvPr/>
        </p:nvCxnSpPr>
        <p:spPr>
          <a:xfrm>
            <a:off x="1423333" y="5745457"/>
            <a:ext cx="593101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miley Face 31">
            <a:extLst>
              <a:ext uri="{FF2B5EF4-FFF2-40B4-BE49-F238E27FC236}">
                <a16:creationId xmlns:a16="http://schemas.microsoft.com/office/drawing/2014/main" id="{205C78BD-1043-4D52-81E9-2574B405DAA1}"/>
              </a:ext>
            </a:extLst>
          </p:cNvPr>
          <p:cNvSpPr/>
          <p:nvPr/>
        </p:nvSpPr>
        <p:spPr>
          <a:xfrm>
            <a:off x="1851171" y="5093213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miley Face 32">
            <a:extLst>
              <a:ext uri="{FF2B5EF4-FFF2-40B4-BE49-F238E27FC236}">
                <a16:creationId xmlns:a16="http://schemas.microsoft.com/office/drawing/2014/main" id="{B072541C-3DD3-46BA-816D-1C7DA5125B17}"/>
              </a:ext>
            </a:extLst>
          </p:cNvPr>
          <p:cNvSpPr/>
          <p:nvPr/>
        </p:nvSpPr>
        <p:spPr>
          <a:xfrm>
            <a:off x="2583809" y="5093213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miley Face 33">
            <a:extLst>
              <a:ext uri="{FF2B5EF4-FFF2-40B4-BE49-F238E27FC236}">
                <a16:creationId xmlns:a16="http://schemas.microsoft.com/office/drawing/2014/main" id="{B9041D2E-A593-4524-9088-DB45DDD078B5}"/>
              </a:ext>
            </a:extLst>
          </p:cNvPr>
          <p:cNvSpPr/>
          <p:nvPr/>
        </p:nvSpPr>
        <p:spPr>
          <a:xfrm>
            <a:off x="8444913" y="5126769"/>
            <a:ext cx="629174" cy="618688"/>
          </a:xfrm>
          <a:prstGeom prst="smileyFac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Smiley Face 34">
            <a:extLst>
              <a:ext uri="{FF2B5EF4-FFF2-40B4-BE49-F238E27FC236}">
                <a16:creationId xmlns:a16="http://schemas.microsoft.com/office/drawing/2014/main" id="{35723071-3A88-4ACE-B81E-64C3B61E110A}"/>
              </a:ext>
            </a:extLst>
          </p:cNvPr>
          <p:cNvSpPr/>
          <p:nvPr/>
        </p:nvSpPr>
        <p:spPr>
          <a:xfrm>
            <a:off x="3316447" y="509321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miley Face 35">
            <a:extLst>
              <a:ext uri="{FF2B5EF4-FFF2-40B4-BE49-F238E27FC236}">
                <a16:creationId xmlns:a16="http://schemas.microsoft.com/office/drawing/2014/main" id="{0CEF6EB8-87F9-4CBD-9EED-098C2B6723F7}"/>
              </a:ext>
            </a:extLst>
          </p:cNvPr>
          <p:cNvSpPr/>
          <p:nvPr/>
        </p:nvSpPr>
        <p:spPr>
          <a:xfrm>
            <a:off x="4049085" y="509321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miley Face 36">
            <a:extLst>
              <a:ext uri="{FF2B5EF4-FFF2-40B4-BE49-F238E27FC236}">
                <a16:creationId xmlns:a16="http://schemas.microsoft.com/office/drawing/2014/main" id="{1F2CBAA7-F91F-4072-A9C8-A8CDC19F8876}"/>
              </a:ext>
            </a:extLst>
          </p:cNvPr>
          <p:cNvSpPr/>
          <p:nvPr/>
        </p:nvSpPr>
        <p:spPr>
          <a:xfrm>
            <a:off x="4781723" y="5091807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miley Face 37">
            <a:extLst>
              <a:ext uri="{FF2B5EF4-FFF2-40B4-BE49-F238E27FC236}">
                <a16:creationId xmlns:a16="http://schemas.microsoft.com/office/drawing/2014/main" id="{A34963B7-D42E-40EF-AE51-E446EAF7739B}"/>
              </a:ext>
            </a:extLst>
          </p:cNvPr>
          <p:cNvSpPr/>
          <p:nvPr/>
        </p:nvSpPr>
        <p:spPr>
          <a:xfrm>
            <a:off x="5514361" y="5091807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miley Face 38">
            <a:extLst>
              <a:ext uri="{FF2B5EF4-FFF2-40B4-BE49-F238E27FC236}">
                <a16:creationId xmlns:a16="http://schemas.microsoft.com/office/drawing/2014/main" id="{1ECE2078-0087-47A1-A4BE-A8C8D4963FB4}"/>
              </a:ext>
            </a:extLst>
          </p:cNvPr>
          <p:cNvSpPr/>
          <p:nvPr/>
        </p:nvSpPr>
        <p:spPr>
          <a:xfrm>
            <a:off x="6246999" y="5090402"/>
            <a:ext cx="629174" cy="61868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099311B-4992-46F0-A89A-7D567DD3D11F}"/>
              </a:ext>
            </a:extLst>
          </p:cNvPr>
          <p:cNvCxnSpPr/>
          <p:nvPr/>
        </p:nvCxnSpPr>
        <p:spPr>
          <a:xfrm>
            <a:off x="9110444" y="5410899"/>
            <a:ext cx="102345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21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416e2cc4-927b-4a48-abf1-08c8b7746fe4" origin="defaultValue">
  <element uid="id_classification_generalbusiness" value=""/>
</sisl>
</file>

<file path=customXml/itemProps1.xml><?xml version="1.0" encoding="utf-8"?>
<ds:datastoreItem xmlns:ds="http://schemas.openxmlformats.org/officeDocument/2006/customXml" ds:itemID="{E74C3FDB-0AF4-4965-BD3E-AB61E179587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2293</TotalTime>
  <Words>855</Words>
  <Application>Microsoft Office PowerPoint</Application>
  <PresentationFormat>Widescreen</PresentationFormat>
  <Paragraphs>115</Paragraphs>
  <Slides>15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</vt:lpstr>
      <vt:lpstr>Simulation Motivation</vt:lpstr>
      <vt:lpstr>PowerPoint Presentation</vt:lpstr>
      <vt:lpstr>Where are we?</vt:lpstr>
      <vt:lpstr>Simulation</vt:lpstr>
      <vt:lpstr>Why and when to use simulation?</vt:lpstr>
      <vt:lpstr>Simulation types</vt:lpstr>
      <vt:lpstr>Simulation types</vt:lpstr>
      <vt:lpstr>Simulation Approach</vt:lpstr>
      <vt:lpstr>Concepts of Simulation</vt:lpstr>
      <vt:lpstr>Concepts of Simulation</vt:lpstr>
      <vt:lpstr>Concepts of Simulation</vt:lpstr>
      <vt:lpstr>Example</vt:lpstr>
      <vt:lpstr>Advanced Concepts (Preemption)</vt:lpstr>
      <vt:lpstr>Advanced Concepts (Priority)</vt:lpstr>
      <vt:lpstr>Advanced Concepts (Reneging / Baulking)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Birol Yüceoğlu (Migros)</dc:creator>
  <cp:lastModifiedBy>Volkan Yurtseven</cp:lastModifiedBy>
  <cp:revision>35</cp:revision>
  <dcterms:created xsi:type="dcterms:W3CDTF">2019-12-02T05:15:39Z</dcterms:created>
  <dcterms:modified xsi:type="dcterms:W3CDTF">2022-01-02T16:31:28Z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fbc42669-13e1-4a5c-a7e1-8083fdf6bff8</vt:lpwstr>
  </property>
  <property fmtid="{D5CDD505-2E9C-101B-9397-08002B2CF9AE}" pid="3" name="bjDocumentLabelXML">
    <vt:lpwstr>&lt;?xml version="1.0" encoding="us-ascii"?&gt;&lt;sisl xmlns:xsd="http://www.w3.org/2001/XMLSchema" xmlns:xsi="http://www.w3.org/2001/XMLSchema-instance" sislVersion="0" policy="416e2cc4-927b-4a48-abf1-08c8b7746fe4" origin="defaultValue" xmlns="http://www.boldonj</vt:lpwstr>
  </property>
  <property fmtid="{D5CDD505-2E9C-101B-9397-08002B2CF9AE}" pid="4" name="bjDocumentLabelXML-0">
    <vt:lpwstr>ames.com/2008/01/sie/internal/label"&gt;&lt;element uid="id_classification_generalbusiness" value="" /&gt;&lt;/sisl&gt;</vt:lpwstr>
  </property>
  <property fmtid="{D5CDD505-2E9C-101B-9397-08002B2CF9AE}" pid="5" name="bjDocumentSecurityLabel">
    <vt:lpwstr>Genel</vt:lpwstr>
  </property>
  <property fmtid="{D5CDD505-2E9C-101B-9397-08002B2CF9AE}" pid="6" name="bjSaver">
    <vt:lpwstr>GCQzHYWfdzjTrjdlW3avldOuoiAZmI8T</vt:lpwstr>
  </property>
</Properties>
</file>