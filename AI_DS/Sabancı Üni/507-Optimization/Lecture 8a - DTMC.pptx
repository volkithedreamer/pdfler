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4.xml" ContentType="application/vnd.openxmlformats-officedocument.presentationml.notesSlide+xml"/>
  <Override PartName="/ppt/tags/tag6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9.xml" ContentType="application/vnd.openxmlformats-officedocument.presentationml.notesSlide+xml"/>
  <Override PartName="/ppt/tags/tag18.xml" ContentType="application/vnd.openxmlformats-officedocument.presentationml.tags+xml"/>
  <Override PartName="/ppt/notesSlides/notesSlide3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2.xml" ContentType="application/vnd.openxmlformats-officedocument.presentationml.notesSlide+xml"/>
  <Override PartName="/ppt/tags/tag28.xml" ContentType="application/vnd.openxmlformats-officedocument.presentationml.tags+xml"/>
  <Override PartName="/ppt/notesSlides/notesSlide33.xml" ContentType="application/vnd.openxmlformats-officedocument.presentationml.notesSlide+xml"/>
  <Override PartName="/ppt/tags/tag29.xml" ContentType="application/vnd.openxmlformats-officedocument.presentationml.tags+xml"/>
  <Override PartName="/ppt/notesSlides/notesSlide34.xml" ContentType="application/vnd.openxmlformats-officedocument.presentationml.notesSlide+xml"/>
  <Override PartName="/ppt/tags/tag30.xml" ContentType="application/vnd.openxmlformats-officedocument.presentationml.tags+xml"/>
  <Override PartName="/ppt/notesSlides/notesSlide35.xml" ContentType="application/vnd.openxmlformats-officedocument.presentationml.notesSlide+xml"/>
  <Override PartName="/ppt/tags/tag31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32.xml" ContentType="application/vnd.openxmlformats-officedocument.presentationml.tag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63.xml" ContentType="application/vnd.openxmlformats-officedocument.presentationml.notesSlide+xml"/>
  <Override PartName="/ppt/tags/tag42.xml" ContentType="application/vnd.openxmlformats-officedocument.presentationml.tags+xml"/>
  <Override PartName="/ppt/notesSlides/notesSlide64.xml" ContentType="application/vnd.openxmlformats-officedocument.presentationml.notesSlide+xml"/>
  <Override PartName="/ppt/tags/tag43.xml" ContentType="application/vnd.openxmlformats-officedocument.presentationml.tags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tags/tag44.xml" ContentType="application/vnd.openxmlformats-officedocument.presentationml.tags+xml"/>
  <Override PartName="/ppt/notesSlides/notesSlide67.xml" ContentType="application/vnd.openxmlformats-officedocument.presentationml.notesSlide+xml"/>
  <Override PartName="/ppt/tags/tag45.xml" ContentType="application/vnd.openxmlformats-officedocument.presentationml.tags+xml"/>
  <Override PartName="/ppt/notesSlides/notesSlide68.xml" ContentType="application/vnd.openxmlformats-officedocument.presentationml.notesSlide+xml"/>
  <Override PartName="/ppt/tags/tag46.xml" ContentType="application/vnd.openxmlformats-officedocument.presentationml.tags+xml"/>
  <Override PartName="/ppt/notesSlides/notesSlide69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0.xml" ContentType="application/vnd.openxmlformats-officedocument.presentationml.notesSlide+xml"/>
  <Override PartName="/ppt/tags/tag50.xml" ContentType="application/vnd.openxmlformats-officedocument.presentationml.tags+xml"/>
  <Override PartName="/ppt/notesSlides/notesSlide71.xml" ContentType="application/vnd.openxmlformats-officedocument.presentationml.notesSlide+xml"/>
  <Override PartName="/ppt/tags/tag51.xml" ContentType="application/vnd.openxmlformats-officedocument.presentationml.tags+xml"/>
  <Override PartName="/ppt/notesSlides/notesSlide72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80"/>
  </p:notesMasterIdLst>
  <p:handoutMasterIdLst>
    <p:handoutMasterId r:id="rId81"/>
  </p:handoutMasterIdLst>
  <p:sldIdLst>
    <p:sldId id="273" r:id="rId3"/>
    <p:sldId id="258" r:id="rId4"/>
    <p:sldId id="259" r:id="rId5"/>
    <p:sldId id="260" r:id="rId6"/>
    <p:sldId id="263" r:id="rId7"/>
    <p:sldId id="262" r:id="rId8"/>
    <p:sldId id="261" r:id="rId9"/>
    <p:sldId id="264" r:id="rId10"/>
    <p:sldId id="266" r:id="rId11"/>
    <p:sldId id="265" r:id="rId12"/>
    <p:sldId id="346" r:id="rId13"/>
    <p:sldId id="267" r:id="rId14"/>
    <p:sldId id="268" r:id="rId15"/>
    <p:sldId id="269" r:id="rId16"/>
    <p:sldId id="347" r:id="rId17"/>
    <p:sldId id="270" r:id="rId18"/>
    <p:sldId id="271" r:id="rId19"/>
    <p:sldId id="272" r:id="rId20"/>
    <p:sldId id="348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341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343" r:id="rId39"/>
    <p:sldId id="344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30" r:id="rId74"/>
    <p:sldId id="331" r:id="rId75"/>
    <p:sldId id="332" r:id="rId76"/>
    <p:sldId id="333" r:id="rId77"/>
    <p:sldId id="334" r:id="rId78"/>
    <p:sldId id="345" r:id="rId79"/>
  </p:sldIdLst>
  <p:sldSz cx="9144000" cy="6858000" type="screen4x3"/>
  <p:notesSz cx="7099300" cy="10234613"/>
  <p:custDataLst>
    <p:tags r:id="rId8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DA30D3-0BAF-4A0E-8DA4-B607A7CDBA60}" v="5" dt="2022-01-03T20:56:49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5507" autoAdjust="0"/>
  </p:normalViewPr>
  <p:slideViewPr>
    <p:cSldViewPr>
      <p:cViewPr varScale="1">
        <p:scale>
          <a:sx n="95" d="100"/>
          <a:sy n="95" d="100"/>
        </p:scale>
        <p:origin x="118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056" y="-78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microsoft.com/office/2016/11/relationships/changesInfo" Target="changesInfos/changesInfo1.xml"/><Relationship Id="rId61" Type="http://schemas.openxmlformats.org/officeDocument/2006/relationships/slide" Target="slides/slide59.xml"/><Relationship Id="rId82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lkan Yurtseven" userId="dba8ffe1f143b8c1" providerId="LiveId" clId="{24DA30D3-0BAF-4A0E-8DA4-B607A7CDBA60}"/>
    <pc:docChg chg="undo custSel modSld">
      <pc:chgData name="Volkan Yurtseven" userId="dba8ffe1f143b8c1" providerId="LiveId" clId="{24DA30D3-0BAF-4A0E-8DA4-B607A7CDBA60}" dt="2022-01-03T21:07:17.752" v="264" actId="1035"/>
      <pc:docMkLst>
        <pc:docMk/>
      </pc:docMkLst>
      <pc:sldChg chg="modSp mod">
        <pc:chgData name="Volkan Yurtseven" userId="dba8ffe1f143b8c1" providerId="LiveId" clId="{24DA30D3-0BAF-4A0E-8DA4-B607A7CDBA60}" dt="2022-01-02T20:30:09.564" v="9" actId="1035"/>
        <pc:sldMkLst>
          <pc:docMk/>
          <pc:sldMk cId="0" sldId="270"/>
        </pc:sldMkLst>
        <pc:spChg chg="mod">
          <ac:chgData name="Volkan Yurtseven" userId="dba8ffe1f143b8c1" providerId="LiveId" clId="{24DA30D3-0BAF-4A0E-8DA4-B607A7CDBA60}" dt="2022-01-02T20:30:09.564" v="9" actId="1035"/>
          <ac:spMkLst>
            <pc:docMk/>
            <pc:sldMk cId="0" sldId="270"/>
            <ac:spMk id="15364" creationId="{00000000-0000-0000-0000-000000000000}"/>
          </ac:spMkLst>
        </pc:spChg>
      </pc:sldChg>
      <pc:sldChg chg="modSp">
        <pc:chgData name="Volkan Yurtseven" userId="dba8ffe1f143b8c1" providerId="LiveId" clId="{24DA30D3-0BAF-4A0E-8DA4-B607A7CDBA60}" dt="2022-01-03T20:47:52.539" v="22" actId="207"/>
        <pc:sldMkLst>
          <pc:docMk/>
          <pc:sldMk cId="0" sldId="272"/>
        </pc:sldMkLst>
        <pc:spChg chg="mod">
          <ac:chgData name="Volkan Yurtseven" userId="dba8ffe1f143b8c1" providerId="LiveId" clId="{24DA30D3-0BAF-4A0E-8DA4-B607A7CDBA60}" dt="2022-01-03T20:47:52.539" v="22" actId="207"/>
          <ac:spMkLst>
            <pc:docMk/>
            <pc:sldMk cId="0" sldId="272"/>
            <ac:spMk id="132105" creationId="{00000000-0000-0000-0000-000000000000}"/>
          </ac:spMkLst>
        </pc:spChg>
      </pc:sldChg>
      <pc:sldChg chg="addSp delSp modSp mod setBg">
        <pc:chgData name="Volkan Yurtseven" userId="dba8ffe1f143b8c1" providerId="LiveId" clId="{24DA30D3-0BAF-4A0E-8DA4-B607A7CDBA60}" dt="2022-01-03T20:50:03.680" v="27" actId="26606"/>
        <pc:sldMkLst>
          <pc:docMk/>
          <pc:sldMk cId="0" sldId="274"/>
        </pc:sldMkLst>
        <pc:spChg chg="add del">
          <ac:chgData name="Volkan Yurtseven" userId="dba8ffe1f143b8c1" providerId="LiveId" clId="{24DA30D3-0BAF-4A0E-8DA4-B607A7CDBA60}" dt="2022-01-03T20:50:03.680" v="27" actId="26606"/>
          <ac:spMkLst>
            <pc:docMk/>
            <pc:sldMk cId="0" sldId="274"/>
            <ac:spMk id="137" creationId="{04812C46-200A-4DEB-A05E-3ED6C68C2387}"/>
          </ac:spMkLst>
        </pc:spChg>
        <pc:spChg chg="add del">
          <ac:chgData name="Volkan Yurtseven" userId="dba8ffe1f143b8c1" providerId="LiveId" clId="{24DA30D3-0BAF-4A0E-8DA4-B607A7CDBA60}" dt="2022-01-03T20:50:03.680" v="27" actId="26606"/>
          <ac:spMkLst>
            <pc:docMk/>
            <pc:sldMk cId="0" sldId="274"/>
            <ac:spMk id="139" creationId="{D1EA859B-E555-4109-94F3-6700E046E008}"/>
          </ac:spMkLst>
        </pc:spChg>
        <pc:spChg chg="mod ord">
          <ac:chgData name="Volkan Yurtseven" userId="dba8ffe1f143b8c1" providerId="LiveId" clId="{24DA30D3-0BAF-4A0E-8DA4-B607A7CDBA60}" dt="2022-01-03T20:50:03.680" v="27" actId="26606"/>
          <ac:spMkLst>
            <pc:docMk/>
            <pc:sldMk cId="0" sldId="274"/>
            <ac:spMk id="18434" creationId="{00000000-0000-0000-0000-000000000000}"/>
          </ac:spMkLst>
        </pc:spChg>
        <pc:spChg chg="mod">
          <ac:chgData name="Volkan Yurtseven" userId="dba8ffe1f143b8c1" providerId="LiveId" clId="{24DA30D3-0BAF-4A0E-8DA4-B607A7CDBA60}" dt="2022-01-03T20:50:03.680" v="27" actId="26606"/>
          <ac:spMkLst>
            <pc:docMk/>
            <pc:sldMk cId="0" sldId="274"/>
            <ac:spMk id="18435" creationId="{00000000-0000-0000-0000-000000000000}"/>
          </ac:spMkLst>
        </pc:spChg>
        <pc:spChg chg="mod">
          <ac:chgData name="Volkan Yurtseven" userId="dba8ffe1f143b8c1" providerId="LiveId" clId="{24DA30D3-0BAF-4A0E-8DA4-B607A7CDBA60}" dt="2022-01-03T20:50:03.680" v="27" actId="26606"/>
          <ac:spMkLst>
            <pc:docMk/>
            <pc:sldMk cId="0" sldId="274"/>
            <ac:spMk id="133123" creationId="{00000000-0000-0000-0000-000000000000}"/>
          </ac:spMkLst>
        </pc:spChg>
        <pc:picChg chg="add del">
          <ac:chgData name="Volkan Yurtseven" userId="dba8ffe1f143b8c1" providerId="LiveId" clId="{24DA30D3-0BAF-4A0E-8DA4-B607A7CDBA60}" dt="2022-01-03T20:50:03.680" v="27" actId="26606"/>
          <ac:picMkLst>
            <pc:docMk/>
            <pc:sldMk cId="0" sldId="274"/>
            <ac:picMk id="133125" creationId="{D141718F-683A-4ED9-BD7D-7E6B21043ADE}"/>
          </ac:picMkLst>
        </pc:picChg>
      </pc:sldChg>
      <pc:sldChg chg="modSp">
        <pc:chgData name="Volkan Yurtseven" userId="dba8ffe1f143b8c1" providerId="LiveId" clId="{24DA30D3-0BAF-4A0E-8DA4-B607A7CDBA60}" dt="2022-01-02T20:25:01.788" v="0" actId="207"/>
        <pc:sldMkLst>
          <pc:docMk/>
          <pc:sldMk cId="0" sldId="286"/>
        </pc:sldMkLst>
        <pc:spChg chg="mod">
          <ac:chgData name="Volkan Yurtseven" userId="dba8ffe1f143b8c1" providerId="LiveId" clId="{24DA30D3-0BAF-4A0E-8DA4-B607A7CDBA60}" dt="2022-01-02T20:25:01.788" v="0" actId="207"/>
          <ac:spMkLst>
            <pc:docMk/>
            <pc:sldMk cId="0" sldId="286"/>
            <ac:spMk id="145429" creationId="{00000000-0000-0000-0000-000000000000}"/>
          </ac:spMkLst>
        </pc:spChg>
      </pc:sldChg>
      <pc:sldChg chg="modSp mod">
        <pc:chgData name="Volkan Yurtseven" userId="dba8ffe1f143b8c1" providerId="LiveId" clId="{24DA30D3-0BAF-4A0E-8DA4-B607A7CDBA60}" dt="2022-01-03T21:07:17.752" v="264" actId="1035"/>
        <pc:sldMkLst>
          <pc:docMk/>
          <pc:sldMk cId="0" sldId="308"/>
        </pc:sldMkLst>
        <pc:spChg chg="mod">
          <ac:chgData name="Volkan Yurtseven" userId="dba8ffe1f143b8c1" providerId="LiveId" clId="{24DA30D3-0BAF-4A0E-8DA4-B607A7CDBA60}" dt="2022-01-03T21:07:17.752" v="264" actId="1035"/>
          <ac:spMkLst>
            <pc:docMk/>
            <pc:sldMk cId="0" sldId="308"/>
            <ac:spMk id="169987" creationId="{00000000-0000-0000-0000-000000000000}"/>
          </ac:spMkLst>
        </pc:spChg>
      </pc:sldChg>
      <pc:sldChg chg="addSp delSp modSp mod">
        <pc:chgData name="Volkan Yurtseven" userId="dba8ffe1f143b8c1" providerId="LiveId" clId="{24DA30D3-0BAF-4A0E-8DA4-B607A7CDBA60}" dt="2022-01-03T20:33:45.508" v="16" actId="14100"/>
        <pc:sldMkLst>
          <pc:docMk/>
          <pc:sldMk cId="99471074" sldId="346"/>
        </pc:sldMkLst>
        <pc:spChg chg="del">
          <ac:chgData name="Volkan Yurtseven" userId="dba8ffe1f143b8c1" providerId="LiveId" clId="{24DA30D3-0BAF-4A0E-8DA4-B607A7CDBA60}" dt="2022-01-03T20:33:40.324" v="14" actId="478"/>
          <ac:spMkLst>
            <pc:docMk/>
            <pc:sldMk cId="99471074" sldId="346"/>
            <ac:spMk id="2" creationId="{9DFB9021-3C33-4977-A409-C58EF3A67CF3}"/>
          </ac:spMkLst>
        </pc:spChg>
        <pc:spChg chg="del">
          <ac:chgData name="Volkan Yurtseven" userId="dba8ffe1f143b8c1" providerId="LiveId" clId="{24DA30D3-0BAF-4A0E-8DA4-B607A7CDBA60}" dt="2022-01-03T20:33:37.132" v="12" actId="478"/>
          <ac:spMkLst>
            <pc:docMk/>
            <pc:sldMk cId="99471074" sldId="346"/>
            <ac:spMk id="3" creationId="{CECEC91E-8B36-42E1-AF91-7A5B313B6C14}"/>
          </ac:spMkLst>
        </pc:spChg>
        <pc:picChg chg="add mod">
          <ac:chgData name="Volkan Yurtseven" userId="dba8ffe1f143b8c1" providerId="LiveId" clId="{24DA30D3-0BAF-4A0E-8DA4-B607A7CDBA60}" dt="2022-01-03T20:33:45.508" v="16" actId="14100"/>
          <ac:picMkLst>
            <pc:docMk/>
            <pc:sldMk cId="99471074" sldId="346"/>
            <ac:picMk id="6" creationId="{C7BDD3D4-BEF6-4F95-A0C6-915B50409842}"/>
          </ac:picMkLst>
        </pc:picChg>
      </pc:sldChg>
      <pc:sldChg chg="addSp delSp mod">
        <pc:chgData name="Volkan Yurtseven" userId="dba8ffe1f143b8c1" providerId="LiveId" clId="{24DA30D3-0BAF-4A0E-8DA4-B607A7CDBA60}" dt="2022-01-03T20:34:28.419" v="21" actId="478"/>
        <pc:sldMkLst>
          <pc:docMk/>
          <pc:sldMk cId="807932351" sldId="347"/>
        </pc:sldMkLst>
        <pc:spChg chg="del">
          <ac:chgData name="Volkan Yurtseven" userId="dba8ffe1f143b8c1" providerId="LiveId" clId="{24DA30D3-0BAF-4A0E-8DA4-B607A7CDBA60}" dt="2022-01-03T20:34:26.659" v="20" actId="478"/>
          <ac:spMkLst>
            <pc:docMk/>
            <pc:sldMk cId="807932351" sldId="347"/>
            <ac:spMk id="2" creationId="{E48DB59F-2304-4984-9555-3F6B4E1F8701}"/>
          </ac:spMkLst>
        </pc:spChg>
        <pc:spChg chg="del">
          <ac:chgData name="Volkan Yurtseven" userId="dba8ffe1f143b8c1" providerId="LiveId" clId="{24DA30D3-0BAF-4A0E-8DA4-B607A7CDBA60}" dt="2022-01-03T20:34:28.419" v="21" actId="478"/>
          <ac:spMkLst>
            <pc:docMk/>
            <pc:sldMk cId="807932351" sldId="347"/>
            <ac:spMk id="3" creationId="{54C1D4A8-1ECA-43F2-8FCC-80A8681328D9}"/>
          </ac:spMkLst>
        </pc:spChg>
        <pc:picChg chg="add del">
          <ac:chgData name="Volkan Yurtseven" userId="dba8ffe1f143b8c1" providerId="LiveId" clId="{24DA30D3-0BAF-4A0E-8DA4-B607A7CDBA60}" dt="2022-01-03T20:34:10.218" v="18" actId="478"/>
          <ac:picMkLst>
            <pc:docMk/>
            <pc:sldMk cId="807932351" sldId="347"/>
            <ac:picMk id="6" creationId="{5B5F63E7-3638-44C6-BCDE-8375C3453698}"/>
          </ac:picMkLst>
        </pc:picChg>
        <pc:picChg chg="add">
          <ac:chgData name="Volkan Yurtseven" userId="dba8ffe1f143b8c1" providerId="LiveId" clId="{24DA30D3-0BAF-4A0E-8DA4-B607A7CDBA60}" dt="2022-01-03T20:34:22.811" v="19" actId="22"/>
          <ac:picMkLst>
            <pc:docMk/>
            <pc:sldMk cId="807932351" sldId="347"/>
            <ac:picMk id="8" creationId="{273BDC77-C02F-4A4D-A262-F7FA482C0389}"/>
          </ac:picMkLst>
        </pc:picChg>
      </pc:sldChg>
      <pc:sldChg chg="addSp delSp modSp mod">
        <pc:chgData name="Volkan Yurtseven" userId="dba8ffe1f143b8c1" providerId="LiveId" clId="{24DA30D3-0BAF-4A0E-8DA4-B607A7CDBA60}" dt="2022-01-03T20:57:41.642" v="262" actId="14100"/>
        <pc:sldMkLst>
          <pc:docMk/>
          <pc:sldMk cId="1098887288" sldId="348"/>
        </pc:sldMkLst>
        <pc:spChg chg="del">
          <ac:chgData name="Volkan Yurtseven" userId="dba8ffe1f143b8c1" providerId="LiveId" clId="{24DA30D3-0BAF-4A0E-8DA4-B607A7CDBA60}" dt="2022-01-03T20:48:26.338" v="24" actId="478"/>
          <ac:spMkLst>
            <pc:docMk/>
            <pc:sldMk cId="1098887288" sldId="348"/>
            <ac:spMk id="2" creationId="{BE129234-2EAA-4BD4-9D14-82312FDAD50C}"/>
          </ac:spMkLst>
        </pc:spChg>
        <pc:spChg chg="add del">
          <ac:chgData name="Volkan Yurtseven" userId="dba8ffe1f143b8c1" providerId="LiveId" clId="{24DA30D3-0BAF-4A0E-8DA4-B607A7CDBA60}" dt="2022-01-03T20:48:30.035" v="25" actId="478"/>
          <ac:spMkLst>
            <pc:docMk/>
            <pc:sldMk cId="1098887288" sldId="348"/>
            <ac:spMk id="3" creationId="{18F1D056-F239-4B99-958D-961800108372}"/>
          </ac:spMkLst>
        </pc:spChg>
        <pc:spChg chg="add mod">
          <ac:chgData name="Volkan Yurtseven" userId="dba8ffe1f143b8c1" providerId="LiveId" clId="{24DA30D3-0BAF-4A0E-8DA4-B607A7CDBA60}" dt="2022-01-03T20:57:41.642" v="262" actId="14100"/>
          <ac:spMkLst>
            <pc:docMk/>
            <pc:sldMk cId="1098887288" sldId="348"/>
            <ac:spMk id="7" creationId="{251E6319-B490-4330-976A-107F8F7182D4}"/>
          </ac:spMkLst>
        </pc:spChg>
        <pc:picChg chg="add mod">
          <ac:chgData name="Volkan Yurtseven" userId="dba8ffe1f143b8c1" providerId="LiveId" clId="{24DA30D3-0BAF-4A0E-8DA4-B607A7CDBA60}" dt="2022-01-03T20:57:38.783" v="261" actId="14100"/>
          <ac:picMkLst>
            <pc:docMk/>
            <pc:sldMk cId="1098887288" sldId="348"/>
            <ac:picMk id="6" creationId="{55B15111-9EDA-444C-9C96-1C442826B26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D2ABB3EA-33E4-462F-B4AE-E583C91805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6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39" y="4861781"/>
            <a:ext cx="5678824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baseline="0"/>
            </a:lvl1pPr>
          </a:lstStyle>
          <a:p>
            <a:pPr>
              <a:defRPr/>
            </a:pPr>
            <a:fld id="{A1AA0421-1CE9-4789-AC5B-7F6669F847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23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13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91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83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16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1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5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04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99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09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31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01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44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62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5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61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61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8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42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310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820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71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918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27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632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080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85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811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53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933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843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90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457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735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69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859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775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269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258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213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383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905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170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038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574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532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91DE2D-3A3C-4D4A-A533-1545282CF66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Char char="•"/>
            </a:pPr>
            <a:r>
              <a:rPr lang="en-US"/>
              <a:t>Note that an absorbing state is also a recurrent state.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380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CAC8A3-BCF7-4B75-A50D-90F98C35BBFC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Char char="•"/>
            </a:pPr>
            <a:r>
              <a:rPr lang="en-US"/>
              <a:t>So, emphasize that an absorbing state is a special type of recurrent state.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E91DE5-35F0-42D6-9D09-F4C0726D3270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Char char="•"/>
            </a:pPr>
            <a:r>
              <a:rPr lang="en-US"/>
              <a:t>If all states are transient, after a finite time T = max{T_0, T_1, …, T_M} no state will be visited. However, the process must be in some state after time T, and we arrive at a contradiction.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5538EA-94A4-4CF4-815F-CCE928614690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Char char="•"/>
            </a:pPr>
            <a:r>
              <a:rPr lang="en-US"/>
              <a:t>Note that the statement does not require P^{(n)}_{ii} to be positive when n is divisible by t. Therefore, we need the </a:t>
            </a:r>
            <a:r>
              <a:rPr lang="en-US" i="1"/>
              <a:t>largest</a:t>
            </a:r>
            <a:r>
              <a:rPr lang="en-US"/>
              <a:t> integer with such property.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9483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4341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230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403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9366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1756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742FEF-E654-4B04-A53C-C0DE839948F1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Char char="•"/>
            </a:pPr>
            <a:r>
              <a:rPr lang="en-US"/>
              <a:t>The theorem can be extended to </a:t>
            </a:r>
            <a:r>
              <a:rPr lang="en-US" i="1"/>
              <a:t>any</a:t>
            </a:r>
            <a:r>
              <a:rPr lang="en-US"/>
              <a:t> irreducible ergodic Markov chain if we allow the limiting probabilities to be zero.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613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471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930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9836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541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9452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3809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6605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30A4EB-CAFF-431A-92A4-4FC96070DD18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Char char="•"/>
            </a:pPr>
            <a:r>
              <a:rPr lang="en-US"/>
              <a:t>Here, the limiting probabilities are not independent of the initial state.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DE394D-5996-4495-8F07-EA1C72520A53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Char char="•"/>
            </a:pPr>
            <a:r>
              <a:rPr lang="en-US"/>
              <a:t>There is one aperiodic, transient and one aperiodic, recurrent class.</a:t>
            </a:r>
          </a:p>
          <a:p>
            <a:pPr>
              <a:buFontTx/>
              <a:buChar char="•"/>
            </a:pPr>
            <a:r>
              <a:rPr lang="en-US"/>
              <a:t>0 for the transient class. Find the limiting probabilities for the recurrent class as if it were the only class.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3564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1702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8381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3879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2101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2578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3546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9933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AA0421-1CE9-4789-AC5B-7F6669F84777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53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6C11E-890A-414A-A9C5-DBD4994CF3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AAEF4-2D69-49BC-99EA-7F41508374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21A966-C867-43B4-B086-595742664E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560D0-1612-4985-AC65-6F1BE1BC9B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D5288E-6D51-4C5D-AB0D-276A863AB4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91190A-3BFE-4E89-AB18-9C9B516E3B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FE7B2-2C19-4394-A05D-04DAFC8CEE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964D6-CFB2-4333-8B93-6D764EF25A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E0E48B-6AB2-4E76-A0DB-577CF449C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F22A82-099D-4A90-9F43-24B0ADC3C9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C3AE1-12B7-4DB1-B1B6-2307D32649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9278F-F721-4771-86F2-646247548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/>
            </a:lvl1pPr>
          </a:lstStyle>
          <a:p>
            <a:pPr>
              <a:defRPr/>
            </a:pPr>
            <a:fld id="{F5E771D7-D84D-4EA3-9618-371DEEBA6A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tags" Target="../tags/tag8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notesSlide" Target="../notesSlides/notesSlide28.xml"/><Relationship Id="rId5" Type="http://schemas.openxmlformats.org/officeDocument/2006/relationships/tags" Target="../tags/tag11.xml"/><Relationship Id="rId15" Type="http://schemas.openxmlformats.org/officeDocument/2006/relationships/image" Target="../media/image12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6.png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21.xml"/><Relationship Id="rId7" Type="http://schemas.openxmlformats.org/officeDocument/2006/relationships/image" Target="../media/image20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3.png"/><Relationship Id="rId4" Type="http://schemas.openxmlformats.org/officeDocument/2006/relationships/tags" Target="../tags/tag22.xml"/><Relationship Id="rId9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25.xml"/><Relationship Id="rId7" Type="http://schemas.openxmlformats.org/officeDocument/2006/relationships/notesSlide" Target="../notesSlides/notesSlide32.xml"/><Relationship Id="rId12" Type="http://schemas.openxmlformats.org/officeDocument/2006/relationships/image" Target="../media/image28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7.png"/><Relationship Id="rId5" Type="http://schemas.openxmlformats.org/officeDocument/2006/relationships/tags" Target="../tags/tag27.xml"/><Relationship Id="rId10" Type="http://schemas.openxmlformats.org/officeDocument/2006/relationships/image" Target="../media/image26.png"/><Relationship Id="rId4" Type="http://schemas.openxmlformats.org/officeDocument/2006/relationships/tags" Target="../tags/tag26.xml"/><Relationship Id="rId9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9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37.xml"/><Relationship Id="rId7" Type="http://schemas.openxmlformats.org/officeDocument/2006/relationships/image" Target="../media/image35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34.png"/><Relationship Id="rId5" Type="http://schemas.openxmlformats.org/officeDocument/2006/relationships/notesSlide" Target="../notesSlides/notesSlide58.xml"/><Relationship Id="rId4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40.xml"/><Relationship Id="rId7" Type="http://schemas.openxmlformats.org/officeDocument/2006/relationships/image" Target="../media/image37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notesSlide" Target="../notesSlides/notesSlide63.xml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40.png"/><Relationship Id="rId4" Type="http://schemas.openxmlformats.org/officeDocument/2006/relationships/tags" Target="../tags/tag41.xml"/><Relationship Id="rId9" Type="http://schemas.openxmlformats.org/officeDocument/2006/relationships/image" Target="../media/image3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2.xml"/><Relationship Id="rId4" Type="http://schemas.openxmlformats.org/officeDocument/2006/relationships/image" Target="../media/image4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4" Type="http://schemas.openxmlformats.org/officeDocument/2006/relationships/image" Target="../media/image4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4" Type="http://schemas.openxmlformats.org/officeDocument/2006/relationships/image" Target="../media/image4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4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4" Type="http://schemas.openxmlformats.org/officeDocument/2006/relationships/image" Target="../media/image35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49.xml"/><Relationship Id="rId7" Type="http://schemas.openxmlformats.org/officeDocument/2006/relationships/image" Target="../media/image45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70.xml"/><Relationship Id="rId4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0.xml"/><Relationship Id="rId4" Type="http://schemas.openxmlformats.org/officeDocument/2006/relationships/image" Target="../media/image4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4" Type="http://schemas.openxmlformats.org/officeDocument/2006/relationships/image" Target="../media/image4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54.xml"/><Relationship Id="rId7" Type="http://schemas.openxmlformats.org/officeDocument/2006/relationships/image" Target="../media/image47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48.png"/><Relationship Id="rId5" Type="http://schemas.openxmlformats.org/officeDocument/2006/relationships/notesSlide" Target="../notesSlides/notesSlide73.xml"/><Relationship Id="rId4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57.xml"/><Relationship Id="rId7" Type="http://schemas.openxmlformats.org/officeDocument/2006/relationships/image" Target="../media/image50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notesSlide" Target="../notesSlides/notesSlide75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3.png"/><Relationship Id="rId4" Type="http://schemas.openxmlformats.org/officeDocument/2006/relationships/tags" Target="../tags/tag58.xml"/><Relationship Id="rId9" Type="http://schemas.openxmlformats.org/officeDocument/2006/relationships/image" Target="../media/image5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DA 507</a:t>
            </a:r>
            <a:br>
              <a:rPr lang="en-US" dirty="0"/>
            </a:br>
            <a:r>
              <a:rPr lang="en-US" dirty="0"/>
              <a:t>modeling and optimization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362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Week 5</a:t>
            </a:r>
          </a:p>
          <a:p>
            <a:pPr eaLnBrk="1" hangingPunct="1">
              <a:defRPr/>
            </a:pPr>
            <a:r>
              <a:rPr lang="en-US" sz="2400" dirty="0"/>
              <a:t>Stochastic Processes</a:t>
            </a:r>
          </a:p>
          <a:p>
            <a:pPr eaLnBrk="1" hangingPunct="1">
              <a:defRPr/>
            </a:pPr>
            <a:r>
              <a:rPr lang="en-US" sz="2400" dirty="0"/>
              <a:t>Discrete Time Markov Chains</a:t>
            </a:r>
          </a:p>
          <a:p>
            <a:pPr eaLnBrk="1" hangingPunct="1">
              <a:defRPr/>
            </a:pPr>
            <a:r>
              <a:rPr lang="en-US" sz="2400" dirty="0" err="1"/>
              <a:t>Kerem</a:t>
            </a:r>
            <a:r>
              <a:rPr lang="en-US" sz="2400" dirty="0"/>
              <a:t> </a:t>
            </a:r>
            <a:r>
              <a:rPr lang="en-US" sz="2400" dirty="0" err="1"/>
              <a:t>Bülbül</a:t>
            </a:r>
            <a:r>
              <a:rPr lang="en-US" sz="2400" dirty="0"/>
              <a:t> &amp; </a:t>
            </a:r>
            <a:r>
              <a:rPr lang="en-US" sz="2400" dirty="0" err="1"/>
              <a:t>Güvenç</a:t>
            </a:r>
            <a:r>
              <a:rPr lang="en-US" sz="2400" dirty="0"/>
              <a:t> </a:t>
            </a:r>
            <a:r>
              <a:rPr lang="en-US" sz="2400" dirty="0" err="1"/>
              <a:t>Şahin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0D720E5-D725-4C84-AACF-5166BC13C0A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Stochastic Processes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953000"/>
          </a:xfrm>
        </p:spPr>
        <p:txBody>
          <a:bodyPr/>
          <a:lstStyle/>
          <a:p>
            <a:pPr eaLnBrk="1" hangingPunct="1"/>
            <a:r>
              <a:rPr lang="en-US"/>
              <a:t>Many processes evolve over time in a </a:t>
            </a:r>
            <a:r>
              <a:rPr lang="en-US" i="1"/>
              <a:t>probabilistic</a:t>
            </a:r>
            <a:r>
              <a:rPr lang="en-US"/>
              <a:t> manner.</a:t>
            </a:r>
          </a:p>
          <a:p>
            <a:pPr lvl="1" eaLnBrk="1" hangingPunct="1"/>
            <a:r>
              <a:rPr lang="en-US"/>
              <a:t>Stock price of a firm over time</a:t>
            </a:r>
          </a:p>
          <a:p>
            <a:pPr lvl="1" eaLnBrk="1" hangingPunct="1"/>
            <a:r>
              <a:rPr lang="en-US"/>
              <a:t>Market share of a firm over time</a:t>
            </a:r>
          </a:p>
          <a:p>
            <a:pPr lvl="1" eaLnBrk="1" hangingPunct="1"/>
            <a:r>
              <a:rPr lang="en-US"/>
              <a:t>Inventory level of a product over time</a:t>
            </a:r>
          </a:p>
          <a:p>
            <a:pPr lvl="1" eaLnBrk="1" hangingPunct="1"/>
            <a:r>
              <a:rPr lang="en-US"/>
              <a:t>Weather over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367E37-E8FA-449A-AFDF-10D5F618628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Stochastic Processes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382000" cy="5486400"/>
          </a:xfrm>
        </p:spPr>
        <p:txBody>
          <a:bodyPr/>
          <a:lstStyle/>
          <a:p>
            <a:pPr eaLnBrk="1" hangingPunct="1"/>
            <a:r>
              <a:rPr lang="en-US"/>
              <a:t>Two important types of such processes are</a:t>
            </a:r>
          </a:p>
          <a:p>
            <a:pPr lvl="1" eaLnBrk="1" hangingPunct="1"/>
            <a:r>
              <a:rPr lang="en-US"/>
              <a:t>Markov chains</a:t>
            </a:r>
          </a:p>
          <a:p>
            <a:pPr lvl="1" eaLnBrk="1" hangingPunct="1"/>
            <a:r>
              <a:rPr lang="en-US"/>
              <a:t>Queueing models</a:t>
            </a:r>
          </a:p>
          <a:p>
            <a:pPr eaLnBrk="1" hangingPunct="1"/>
            <a:r>
              <a:rPr lang="en-US"/>
              <a:t>Let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 be the value of a system characteristic at time </a:t>
            </a:r>
            <a:r>
              <a:rPr lang="en-US" i="1"/>
              <a:t>t</a:t>
            </a:r>
            <a:r>
              <a:rPr lang="en-US"/>
              <a:t>. If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 is not known with certainty before time </a:t>
            </a:r>
            <a:r>
              <a:rPr lang="en-US" i="1"/>
              <a:t>t</a:t>
            </a:r>
            <a:r>
              <a:rPr lang="tr-TR"/>
              <a:t>,</a:t>
            </a:r>
            <a:r>
              <a:rPr lang="en-US"/>
              <a:t> then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 can be represented as a random variable – r.v.</a:t>
            </a:r>
          </a:p>
          <a:p>
            <a:pPr eaLnBrk="1" hangingPunct="1"/>
            <a:r>
              <a:rPr lang="en-US"/>
              <a:t>The random variable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 is referred to as the </a:t>
            </a:r>
            <a:r>
              <a:rPr lang="en-US" i="1"/>
              <a:t>state of the system</a:t>
            </a:r>
            <a:r>
              <a:rPr lang="en-US"/>
              <a:t> at time </a:t>
            </a:r>
            <a:r>
              <a:rPr lang="en-US" i="1"/>
              <a:t>t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FEE6D3-3FEE-45C6-9833-2AA9474C5AE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sz="4000"/>
              <a:t>Discrete Time </a:t>
            </a:r>
            <a:br>
              <a:rPr lang="en-US" sz="4000"/>
            </a:br>
            <a:r>
              <a:rPr lang="en-US" sz="4000"/>
              <a:t>Stochastic Processes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763000" cy="5105400"/>
          </a:xfrm>
        </p:spPr>
        <p:txBody>
          <a:bodyPr/>
          <a:lstStyle/>
          <a:p>
            <a:pPr eaLnBrk="1" hangingPunct="1"/>
            <a:r>
              <a:rPr lang="en-US"/>
              <a:t>If we observe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 at discrete points in time, then the collection of random variables {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/>
              <a:t>, </a:t>
            </a:r>
            <a:r>
              <a:rPr lang="en-US" i="1"/>
              <a:t>X</a:t>
            </a:r>
            <a:r>
              <a:rPr lang="en-US" baseline="-25000"/>
              <a:t>1</a:t>
            </a:r>
            <a:r>
              <a:rPr lang="en-US"/>
              <a:t>, </a:t>
            </a:r>
            <a:r>
              <a:rPr lang="en-US" i="1"/>
              <a:t>X</a:t>
            </a:r>
            <a:r>
              <a:rPr lang="en-US" baseline="-25000"/>
              <a:t>2</a:t>
            </a:r>
            <a:r>
              <a:rPr lang="en-US"/>
              <a:t>,..} is called a </a:t>
            </a:r>
            <a:r>
              <a:rPr lang="en-US" i="1"/>
              <a:t>discrete time</a:t>
            </a:r>
            <a:r>
              <a:rPr lang="en-US"/>
              <a:t> stochastic process.</a:t>
            </a:r>
          </a:p>
          <a:p>
            <a:pPr lvl="1" eaLnBrk="1" hangingPunct="1"/>
            <a:r>
              <a:rPr lang="en-US"/>
              <a:t>Stock price of a firm over time</a:t>
            </a:r>
          </a:p>
          <a:p>
            <a:pPr lvl="2" eaLnBrk="1" hangingPunct="1"/>
            <a:r>
              <a:rPr lang="en-US"/>
              <a:t>If the stock price is observed at the start of each trading session, then we have a discrete time stochastic process.</a:t>
            </a:r>
          </a:p>
          <a:p>
            <a:pPr lvl="1" eaLnBrk="1" hangingPunct="1"/>
            <a:r>
              <a:rPr lang="en-US"/>
              <a:t>Weather</a:t>
            </a:r>
          </a:p>
          <a:p>
            <a:pPr lvl="2" eaLnBrk="1" hangingPunct="1"/>
            <a:r>
              <a:rPr lang="en-US"/>
              <a:t>If the weather temperature is measured each morning, then we have a discrete time stochastic process.</a:t>
            </a:r>
          </a:p>
          <a:p>
            <a:pPr lvl="2" eaLnBrk="1" hangingPunct="1">
              <a:buFontTx/>
              <a:buNone/>
            </a:pPr>
            <a:endParaRPr lang="en-US"/>
          </a:p>
          <a:p>
            <a:pPr lvl="2"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D685286-8C85-4582-84C7-7062A3DBAD4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Continuous Time </a:t>
            </a:r>
            <a:br>
              <a:rPr lang="en-US" sz="4000"/>
            </a:br>
            <a:r>
              <a:rPr lang="en-US" sz="4000"/>
              <a:t>Stochastic Processes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If we may observe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 at any point in time, then {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, </a:t>
            </a:r>
            <a:r>
              <a:rPr lang="en-US" i="1"/>
              <a:t>t </a:t>
            </a:r>
            <a:r>
              <a:rPr lang="en-US">
                <a:latin typeface="cmsy10" pitchFamily="34" charset="0"/>
              </a:rPr>
              <a:t>¸</a:t>
            </a:r>
            <a:r>
              <a:rPr lang="en-US"/>
              <a:t> 0} is called a </a:t>
            </a:r>
            <a:r>
              <a:rPr lang="en-US" i="1"/>
              <a:t>continuous time </a:t>
            </a:r>
            <a:r>
              <a:rPr lang="en-US"/>
              <a:t>stochastic process.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/>
              <a:t>Stock price of a firm over time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800"/>
              <a:t>If the stock price is observed continuously throughout trading, then we have a continuous time stochastic process.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/>
              <a:t>Weather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800"/>
              <a:t>If the weather temperature is measured continuously, then we have a continuous time stochastic process.</a:t>
            </a: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6444E33-75ED-4D7F-8C40-F41EC072B96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 Space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Finite state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If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 may only assume a finite number of values, then the stochastic process is said to have a </a:t>
            </a:r>
            <a:r>
              <a:rPr lang="en-US" i="1"/>
              <a:t>finite state space.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Inventory level of a product assuming that there is a storage capacity.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Infinite state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If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 may take an infinite number of different values, then the stochastic process is said to have an </a:t>
            </a:r>
            <a:r>
              <a:rPr lang="en-US" i="1"/>
              <a:t>infinite state space.</a:t>
            </a:r>
            <a:endParaRPr lang="en-US"/>
          </a:p>
          <a:p>
            <a:pPr lvl="2" eaLnBrk="1" hangingPunct="1">
              <a:lnSpc>
                <a:spcPct val="90000"/>
              </a:lnSpc>
            </a:pPr>
            <a:r>
              <a:rPr lang="en-US"/>
              <a:t>Stock prices.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Weather temperature.</a:t>
            </a:r>
          </a:p>
          <a:p>
            <a:pPr eaLnBrk="1" hangingPunct="1">
              <a:lnSpc>
                <a:spcPct val="90000"/>
              </a:lnSpc>
            </a:pPr>
            <a:endParaRPr 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BDA77F-567B-44AC-84AC-79621CED3C0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Scope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876800"/>
          </a:xfrm>
        </p:spPr>
        <p:txBody>
          <a:bodyPr/>
          <a:lstStyle/>
          <a:p>
            <a:pPr eaLnBrk="1" hangingPunct="1"/>
            <a:r>
              <a:rPr lang="en-US"/>
              <a:t>We will discuss </a:t>
            </a:r>
            <a:r>
              <a:rPr lang="en-US" i="1"/>
              <a:t>discrete time, finite state space </a:t>
            </a:r>
            <a:r>
              <a:rPr lang="en-US"/>
              <a:t>Markov chains.</a:t>
            </a:r>
          </a:p>
          <a:p>
            <a:pPr eaLnBrk="1" hangingPunct="1"/>
            <a:r>
              <a:rPr lang="en-US" i="1"/>
              <a:t>Continuous time, infinite state space </a:t>
            </a:r>
            <a:r>
              <a:rPr lang="en-US"/>
              <a:t>stochastic processes are common in queueing theory.</a:t>
            </a:r>
          </a:p>
          <a:p>
            <a:pPr eaLnBrk="1" hangingPunct="1"/>
            <a:r>
              <a:rPr lang="en-US"/>
              <a:t>We are interested in the mathematical modeling of stochastic processes which requires us to describe the relationships between the r.v.’s 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/>
              <a:t>, </a:t>
            </a:r>
            <a:r>
              <a:rPr lang="en-US" i="1"/>
              <a:t>X</a:t>
            </a:r>
            <a:r>
              <a:rPr lang="en-US" baseline="-25000"/>
              <a:t>1</a:t>
            </a:r>
            <a:r>
              <a:rPr lang="en-US"/>
              <a:t>, </a:t>
            </a:r>
            <a:r>
              <a:rPr lang="en-US" i="1"/>
              <a:t>X</a:t>
            </a:r>
            <a:r>
              <a:rPr lang="en-US" baseline="-25000"/>
              <a:t>2</a:t>
            </a:r>
            <a:r>
              <a:rPr lang="en-US"/>
              <a:t>,… or {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, </a:t>
            </a:r>
            <a:r>
              <a:rPr lang="en-US" i="1"/>
              <a:t>t</a:t>
            </a:r>
            <a:r>
              <a:rPr lang="en-US">
                <a:latin typeface="cmsy10" pitchFamily="34" charset="0"/>
              </a:rPr>
              <a:t>¸</a:t>
            </a:r>
            <a:r>
              <a:rPr lang="en-US"/>
              <a:t>0}.</a:t>
            </a:r>
            <a:endParaRPr lang="en-US" i="1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EC3D6D2-F9B0-4FB9-9D14-934B577FBD4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 Weather Example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eaLnBrk="1" hangingPunct="1"/>
            <a:r>
              <a:rPr lang="en-US"/>
              <a:t>Weather in Istanbul changes quickly from day to day. </a:t>
            </a:r>
          </a:p>
          <a:p>
            <a:pPr eaLnBrk="1" hangingPunct="1"/>
            <a:r>
              <a:rPr lang="en-US"/>
              <a:t>If the weather is dry today, then it will be dry tomorrow with probability 0.8.</a:t>
            </a:r>
          </a:p>
          <a:p>
            <a:pPr eaLnBrk="1" hangingPunct="1"/>
            <a:r>
              <a:rPr lang="en-US"/>
              <a:t>If it is raining today, then the weather will be dry tomorrow with probability 0.6.</a:t>
            </a:r>
          </a:p>
          <a:p>
            <a:pPr eaLnBrk="1" hangingPunct="1"/>
            <a:r>
              <a:rPr lang="en-US"/>
              <a:t>Starting on some initial day (labeled as zero), the weather is observed on each day </a:t>
            </a:r>
            <a:r>
              <a:rPr lang="en-US" i="1"/>
              <a:t>t</a:t>
            </a:r>
            <a:r>
              <a:rPr lang="en-US"/>
              <a:t>=0,1,…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7AA9FC-4A3A-461B-863D-3756B60B9EC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 Weather Example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Discrete or continuous time?</a:t>
            </a:r>
          </a:p>
          <a:p>
            <a:pPr lvl="1" eaLnBrk="1" hangingPunct="1"/>
            <a:r>
              <a:rPr lang="en-US"/>
              <a:t>Discrete</a:t>
            </a:r>
          </a:p>
          <a:p>
            <a:pPr eaLnBrk="1" hangingPunct="1"/>
            <a:r>
              <a:rPr lang="en-US"/>
              <a:t>The state of the system</a:t>
            </a:r>
          </a:p>
          <a:p>
            <a:pPr lvl="1" eaLnBrk="1" hangingPunct="1"/>
            <a:r>
              <a:rPr lang="en-US"/>
              <a:t>State 0 = day is dry</a:t>
            </a:r>
          </a:p>
          <a:p>
            <a:pPr lvl="1" eaLnBrk="1" hangingPunct="1"/>
            <a:r>
              <a:rPr lang="en-US"/>
              <a:t>State 1 = it is raining</a:t>
            </a:r>
          </a:p>
          <a:p>
            <a:pPr eaLnBrk="1" hangingPunct="1"/>
            <a:r>
              <a:rPr lang="en-US"/>
              <a:t>State space</a:t>
            </a:r>
          </a:p>
          <a:p>
            <a:pPr lvl="1" eaLnBrk="1" hangingPunct="1"/>
            <a:r>
              <a:rPr lang="en-US"/>
              <a:t>Finite</a:t>
            </a:r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9BD5DC2-4B13-4E26-ADCD-8AA525E00C0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 Weather Example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Thus, for </a:t>
            </a:r>
            <a:r>
              <a:rPr lang="en-US" i="1"/>
              <a:t>t</a:t>
            </a:r>
            <a:r>
              <a:rPr lang="en-US"/>
              <a:t>=0,1,2,…, we have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The stochastic process {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/>
              <a:t>, </a:t>
            </a:r>
            <a:r>
              <a:rPr lang="en-US" i="1"/>
              <a:t>X</a:t>
            </a:r>
            <a:r>
              <a:rPr lang="en-US" baseline="-25000"/>
              <a:t>1</a:t>
            </a:r>
            <a:r>
              <a:rPr lang="en-US"/>
              <a:t>, </a:t>
            </a:r>
            <a:r>
              <a:rPr lang="en-US" i="1"/>
              <a:t>X</a:t>
            </a:r>
            <a:r>
              <a:rPr lang="en-US" baseline="-25000"/>
              <a:t>2</a:t>
            </a:r>
            <a:r>
              <a:rPr lang="en-US"/>
              <a:t>, …} describes how the weather in Istanbul changes over time.</a:t>
            </a:r>
          </a:p>
        </p:txBody>
      </p:sp>
      <p:pic>
        <p:nvPicPr>
          <p:cNvPr id="11269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9325" y="2362200"/>
            <a:ext cx="3927475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00092-CCAA-42B2-A75F-A4E3D579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AAEF4-2D69-49BC-99EA-7F41508374F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BDD3D4-BEF6-4F95-A0C6-915B50409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79" y="533400"/>
            <a:ext cx="7973421" cy="516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1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F9CD8FB-99AF-46F4-AD55-09C18C6AFA6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Gambler’s Ruin Problem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At </a:t>
            </a:r>
            <a:r>
              <a:rPr lang="en-US" i="1"/>
              <a:t>t</a:t>
            </a:r>
            <a:r>
              <a:rPr lang="en-US"/>
              <a:t> = 0, we have $2.</a:t>
            </a:r>
          </a:p>
          <a:p>
            <a:pPr eaLnBrk="1" hangingPunct="1"/>
            <a:r>
              <a:rPr lang="en-US"/>
              <a:t>At times </a:t>
            </a:r>
            <a:r>
              <a:rPr lang="en-US" i="1"/>
              <a:t>t</a:t>
            </a:r>
            <a:r>
              <a:rPr lang="en-US"/>
              <a:t> = 1, 2, … we play a game in which we bet $1.</a:t>
            </a:r>
          </a:p>
          <a:p>
            <a:pPr eaLnBrk="1" hangingPunct="1"/>
            <a:r>
              <a:rPr lang="en-US"/>
              <a:t>With probability </a:t>
            </a:r>
            <a:r>
              <a:rPr lang="en-US" i="1"/>
              <a:t>p</a:t>
            </a:r>
            <a:r>
              <a:rPr lang="en-US"/>
              <a:t> we win the game, and with probability 1-</a:t>
            </a:r>
            <a:r>
              <a:rPr lang="en-US" i="1"/>
              <a:t>p</a:t>
            </a:r>
            <a:r>
              <a:rPr lang="en-US"/>
              <a:t> we lose the game.</a:t>
            </a:r>
          </a:p>
          <a:p>
            <a:pPr eaLnBrk="1" hangingPunct="1"/>
            <a:r>
              <a:rPr lang="en-US"/>
              <a:t>We quit the game if our capital is increased to $4 or reduced to $0.</a:t>
            </a:r>
            <a:endParaRPr lang="en-US"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0A19D0-B40B-4E34-9311-EDF90815601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Gambler’s Ruin Problem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What kind of a stochastic process?</a:t>
            </a:r>
          </a:p>
          <a:p>
            <a:pPr lvl="1" eaLnBrk="1" hangingPunct="1"/>
            <a:r>
              <a:rPr lang="en-US"/>
              <a:t>Discrete time, finite state space.</a:t>
            </a:r>
          </a:p>
          <a:p>
            <a:pPr eaLnBrk="1" hangingPunct="1"/>
            <a:r>
              <a:rPr lang="en-US"/>
              <a:t>What if we keep playing unless we lose all of our capital?</a:t>
            </a:r>
          </a:p>
          <a:p>
            <a:pPr lvl="1" eaLnBrk="1" hangingPunct="1"/>
            <a:r>
              <a:rPr lang="en-US"/>
              <a:t>Discrete time, infinite state space.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D0D4BA3-B30E-4C6B-96EB-5EADA5EFC4A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44563"/>
          </a:xfrm>
        </p:spPr>
        <p:txBody>
          <a:bodyPr/>
          <a:lstStyle/>
          <a:p>
            <a:pPr eaLnBrk="1" hangingPunct="1"/>
            <a:r>
              <a:rPr lang="en-US"/>
              <a:t>Gambler’s Ruin Problem</a:t>
            </a:r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562600"/>
          </a:xfrm>
        </p:spPr>
        <p:txBody>
          <a:bodyPr/>
          <a:lstStyle/>
          <a:p>
            <a:pPr eaLnBrk="1" hangingPunct="1"/>
            <a:r>
              <a:rPr lang="en-US" sz="2800" dirty="0"/>
              <a:t>State of the system</a:t>
            </a:r>
          </a:p>
          <a:p>
            <a:pPr lvl="1" eaLnBrk="1" hangingPunct="1"/>
            <a:r>
              <a:rPr lang="en-US" sz="2400" i="1" dirty="0" err="1"/>
              <a:t>X</a:t>
            </a:r>
            <a:r>
              <a:rPr lang="en-US" sz="2400" i="1" baseline="-25000" dirty="0" err="1"/>
              <a:t>t</a:t>
            </a:r>
            <a:r>
              <a:rPr lang="en-US" sz="2400" dirty="0"/>
              <a:t> = capital on-hand at time </a:t>
            </a:r>
            <a:r>
              <a:rPr lang="en-US" sz="2400" i="1" dirty="0"/>
              <a:t>t.</a:t>
            </a:r>
          </a:p>
          <a:p>
            <a:pPr eaLnBrk="1" hangingPunct="1"/>
            <a:r>
              <a:rPr lang="en-US" sz="2800" dirty="0"/>
              <a:t>What is known about the state of the system?</a:t>
            </a:r>
          </a:p>
          <a:p>
            <a:pPr lvl="1" eaLnBrk="1" hangingPunct="1"/>
            <a:r>
              <a:rPr lang="en-US" sz="2400" dirty="0"/>
              <a:t>X</a:t>
            </a:r>
            <a:r>
              <a:rPr lang="en-US" sz="2400" baseline="-25000" dirty="0"/>
              <a:t>0</a:t>
            </a:r>
            <a:r>
              <a:rPr lang="en-US" sz="2400" dirty="0"/>
              <a:t> = 2 is a known constant</a:t>
            </a:r>
          </a:p>
          <a:p>
            <a:pPr lvl="1" eaLnBrk="1" hangingPunct="1"/>
            <a:r>
              <a:rPr lang="en-US" sz="2400" i="1" dirty="0" err="1"/>
              <a:t>X</a:t>
            </a:r>
            <a:r>
              <a:rPr lang="en-US" sz="2400" i="1" baseline="-25000" dirty="0" err="1"/>
              <a:t>t</a:t>
            </a:r>
            <a:r>
              <a:rPr lang="en-US" sz="2400" dirty="0"/>
              <a:t> is a </a:t>
            </a:r>
            <a:r>
              <a:rPr lang="en-US" sz="2400" dirty="0" err="1"/>
              <a:t>r.v.</a:t>
            </a:r>
            <a:r>
              <a:rPr lang="en-US" sz="2400" dirty="0"/>
              <a:t> for all </a:t>
            </a:r>
            <a:r>
              <a:rPr lang="en-US" sz="2400" i="1" dirty="0"/>
              <a:t>t</a:t>
            </a:r>
            <a:r>
              <a:rPr lang="en-US" sz="2400" dirty="0"/>
              <a:t> </a:t>
            </a:r>
            <a:r>
              <a:rPr lang="en-US" sz="2400" dirty="0">
                <a:latin typeface="cmsy10" pitchFamily="34" charset="0"/>
              </a:rPr>
              <a:t>¸</a:t>
            </a:r>
            <a:r>
              <a:rPr lang="en-US" sz="2400" dirty="0"/>
              <a:t> 1.</a:t>
            </a:r>
          </a:p>
          <a:p>
            <a:pPr lvl="1" eaLnBrk="1" hangingPunct="1"/>
            <a:r>
              <a:rPr lang="en-US" sz="2400" dirty="0"/>
              <a:t>There is a probabilistic relationship between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t</a:t>
            </a:r>
            <a:r>
              <a:rPr lang="en-US" sz="2400" dirty="0"/>
              <a:t> and </a:t>
            </a:r>
            <a:r>
              <a:rPr lang="en-US" sz="2400" i="1" dirty="0"/>
              <a:t>X</a:t>
            </a:r>
            <a:r>
              <a:rPr lang="en-US" sz="2400" i="1" baseline="-25000" dirty="0"/>
              <a:t>t+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dirty="0">
                <a:latin typeface="cmsy10" pitchFamily="34" charset="0"/>
              </a:rPr>
              <a:t>8</a:t>
            </a:r>
            <a:r>
              <a:rPr lang="en-US" sz="2400" dirty="0"/>
              <a:t> </a:t>
            </a:r>
            <a:r>
              <a:rPr lang="en-US" sz="2400" i="1" dirty="0"/>
              <a:t>t</a:t>
            </a:r>
            <a:r>
              <a:rPr lang="en-US" sz="2400" dirty="0">
                <a:latin typeface="cmsy10" pitchFamily="34" charset="0"/>
              </a:rPr>
              <a:t>¸</a:t>
            </a:r>
            <a:r>
              <a:rPr lang="en-US" sz="2400" dirty="0"/>
              <a:t> 0. For instance, </a:t>
            </a:r>
          </a:p>
          <a:p>
            <a:pPr lvl="2" eaLnBrk="1" hangingPunct="1"/>
            <a:r>
              <a:rPr lang="en-US" sz="2000" dirty="0"/>
              <a:t>P(</a:t>
            </a:r>
            <a:r>
              <a:rPr lang="en-US" sz="2000" i="1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=1 / </a:t>
            </a:r>
            <a:r>
              <a:rPr lang="en-US" sz="2000" i="1" dirty="0"/>
              <a:t>X</a:t>
            </a:r>
            <a:r>
              <a:rPr lang="en-US" sz="2000" baseline="-25000" dirty="0"/>
              <a:t>0</a:t>
            </a:r>
            <a:r>
              <a:rPr lang="en-US" sz="2000" dirty="0"/>
              <a:t>=2) = 1- </a:t>
            </a:r>
            <a:r>
              <a:rPr lang="en-US" sz="2000" i="1" dirty="0"/>
              <a:t>p</a:t>
            </a:r>
            <a:endParaRPr lang="en-US" sz="2000" dirty="0"/>
          </a:p>
          <a:p>
            <a:pPr lvl="2" eaLnBrk="1" hangingPunct="1"/>
            <a:r>
              <a:rPr lang="en-US" sz="2000" dirty="0"/>
              <a:t>P(</a:t>
            </a:r>
            <a:r>
              <a:rPr lang="en-US" sz="2000" i="1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=3 / </a:t>
            </a:r>
            <a:r>
              <a:rPr lang="en-US" sz="2000" i="1" dirty="0"/>
              <a:t>X</a:t>
            </a:r>
            <a:r>
              <a:rPr lang="en-US" sz="2000" baseline="-25000" dirty="0"/>
              <a:t>0</a:t>
            </a:r>
            <a:r>
              <a:rPr lang="en-US" sz="2000" dirty="0"/>
              <a:t>=2) = </a:t>
            </a:r>
            <a:r>
              <a:rPr lang="en-US" sz="2000" i="1" dirty="0"/>
              <a:t>p</a:t>
            </a:r>
          </a:p>
          <a:p>
            <a:pPr lvl="2" eaLnBrk="1" hangingPunct="1"/>
            <a:r>
              <a:rPr lang="en-US" sz="2000" dirty="0"/>
              <a:t>P(</a:t>
            </a:r>
            <a:r>
              <a:rPr lang="en-US" sz="2000" i="1" dirty="0"/>
              <a:t>X</a:t>
            </a:r>
            <a:r>
              <a:rPr lang="en-US" sz="2000" i="1" baseline="-25000" dirty="0"/>
              <a:t>t+</a:t>
            </a:r>
            <a:r>
              <a:rPr lang="en-US" sz="2000" baseline="-25000" dirty="0"/>
              <a:t>1</a:t>
            </a:r>
            <a:r>
              <a:rPr lang="en-US" sz="2000" dirty="0"/>
              <a:t>=1 / </a:t>
            </a:r>
            <a:r>
              <a:rPr lang="en-US" sz="2000" i="1" dirty="0" err="1"/>
              <a:t>X</a:t>
            </a:r>
            <a:r>
              <a:rPr lang="en-US" sz="2000" i="1" baseline="-25000" dirty="0" err="1"/>
              <a:t>t</a:t>
            </a:r>
            <a:r>
              <a:rPr lang="en-US" sz="2000" dirty="0"/>
              <a:t> = 4) = 0</a:t>
            </a:r>
          </a:p>
          <a:p>
            <a:pPr eaLnBrk="1" hangingPunct="1"/>
            <a:r>
              <a:rPr lang="en-US" sz="2800" dirty="0"/>
              <a:t>The stochastic process {</a:t>
            </a:r>
            <a:r>
              <a:rPr lang="en-US" sz="2800" i="1" dirty="0"/>
              <a:t>X</a:t>
            </a:r>
            <a:r>
              <a:rPr lang="en-US" sz="2800" baseline="-25000" dirty="0"/>
              <a:t>0</a:t>
            </a:r>
            <a:r>
              <a:rPr lang="en-US" sz="2800" dirty="0"/>
              <a:t>, </a:t>
            </a:r>
            <a:r>
              <a:rPr lang="en-US" sz="2800" i="1" dirty="0"/>
              <a:t>X</a:t>
            </a:r>
            <a:r>
              <a:rPr lang="en-US" sz="2800" baseline="-25000" dirty="0"/>
              <a:t>1</a:t>
            </a:r>
            <a:r>
              <a:rPr lang="en-US" sz="2800" dirty="0"/>
              <a:t>, </a:t>
            </a:r>
            <a:r>
              <a:rPr lang="en-US" sz="2800" i="1" dirty="0"/>
              <a:t>X</a:t>
            </a:r>
            <a:r>
              <a:rPr lang="en-US" sz="2800" baseline="-25000" dirty="0"/>
              <a:t>2</a:t>
            </a:r>
            <a:r>
              <a:rPr lang="en-US" sz="2800" dirty="0"/>
              <a:t>, …} describes how our capital changes over time.</a:t>
            </a:r>
          </a:p>
          <a:p>
            <a:pPr lvl="1" eaLnBrk="1" hangingPunct="1"/>
            <a:endParaRPr lang="en-US" sz="2400" dirty="0"/>
          </a:p>
        </p:txBody>
      </p:sp>
      <p:sp>
        <p:nvSpPr>
          <p:cNvPr id="129032" name="Rectangle 8"/>
          <p:cNvSpPr>
            <a:spLocks noChangeArrowheads="1"/>
          </p:cNvSpPr>
          <p:nvPr/>
        </p:nvSpPr>
        <p:spPr bwMode="auto">
          <a:xfrm>
            <a:off x="3581400" y="4343400"/>
            <a:ext cx="609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033" name="Rectangle 9"/>
          <p:cNvSpPr>
            <a:spLocks noChangeArrowheads="1"/>
          </p:cNvSpPr>
          <p:nvPr/>
        </p:nvSpPr>
        <p:spPr bwMode="auto">
          <a:xfrm>
            <a:off x="3581400" y="4724400"/>
            <a:ext cx="609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034" name="Rectangle 10"/>
          <p:cNvSpPr>
            <a:spLocks noChangeArrowheads="1"/>
          </p:cNvSpPr>
          <p:nvPr/>
        </p:nvSpPr>
        <p:spPr bwMode="auto">
          <a:xfrm>
            <a:off x="3810000" y="5105400"/>
            <a:ext cx="609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1" grpId="0" build="p"/>
      <p:bldP spid="129032" grpId="0" animBg="1"/>
      <p:bldP spid="129033" grpId="0" animBg="1"/>
      <p:bldP spid="1290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B8DB9-D83B-437E-87EF-81793677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AAEF4-2D69-49BC-99EA-7F41508374F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3BDC77-C02F-4A4D-A262-F7FA482C0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79" y="704470"/>
            <a:ext cx="7106642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32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063745-2BBD-44EE-8F24-CB9A97C0984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 Inventory Example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/>
            <a:r>
              <a:rPr lang="en-US" sz="2800" dirty="0"/>
              <a:t>A camera store stocks a particular model to be ordered weekly. </a:t>
            </a:r>
          </a:p>
          <a:p>
            <a:pPr eaLnBrk="1" hangingPunct="1"/>
            <a:r>
              <a:rPr lang="en-US" sz="2800" dirty="0"/>
              <a:t>Let </a:t>
            </a:r>
            <a:r>
              <a:rPr lang="en-US" sz="2800" i="1" dirty="0"/>
              <a:t>D</a:t>
            </a:r>
            <a:r>
              <a:rPr lang="en-US" sz="2800" i="1" baseline="-25000" dirty="0"/>
              <a:t>t</a:t>
            </a:r>
            <a:r>
              <a:rPr lang="en-US" sz="2800" dirty="0"/>
              <a:t> be the demand in week </a:t>
            </a:r>
            <a:r>
              <a:rPr lang="en-US" sz="2800" i="1" dirty="0"/>
              <a:t>t</a:t>
            </a:r>
            <a:r>
              <a:rPr lang="en-US" sz="2800" dirty="0"/>
              <a:t>. Note that </a:t>
            </a:r>
            <a:r>
              <a:rPr lang="en-US" sz="2800" i="1" dirty="0"/>
              <a:t>D</a:t>
            </a:r>
            <a:r>
              <a:rPr lang="en-US" sz="2800" i="1" baseline="-25000" dirty="0"/>
              <a:t>t</a:t>
            </a:r>
            <a:r>
              <a:rPr lang="en-US" sz="2800" dirty="0"/>
              <a:t> includes lost sales if there is no camera in stock.</a:t>
            </a:r>
          </a:p>
          <a:p>
            <a:pPr eaLnBrk="1" hangingPunct="1"/>
            <a:r>
              <a:rPr lang="en-US" sz="2800" dirty="0"/>
              <a:t>Inventory management policy</a:t>
            </a:r>
          </a:p>
          <a:p>
            <a:pPr lvl="1" eaLnBrk="1" hangingPunct="1"/>
            <a:r>
              <a:rPr lang="en-US" sz="2400" dirty="0"/>
              <a:t>Each Saturday the owner places an order of 3 units if no camera is left in stock. Otherwise, no order is placed. Orders arrive on Monday morning before the store is opened. </a:t>
            </a:r>
          </a:p>
          <a:p>
            <a:pPr eaLnBrk="1" hangingPunct="1"/>
            <a:r>
              <a:rPr lang="en-US" sz="2800" dirty="0"/>
              <a:t>We are interested in modeling the stock level of the store over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CDE3FC0-310C-45B3-87A4-0241FD58078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 Inventory Example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eaLnBrk="1" hangingPunct="1"/>
            <a:r>
              <a:rPr lang="en-US" dirty="0"/>
              <a:t>What kind of a stochastic process?</a:t>
            </a:r>
          </a:p>
          <a:p>
            <a:pPr lvl="1" eaLnBrk="1" hangingPunct="1"/>
            <a:r>
              <a:rPr lang="en-US" dirty="0"/>
              <a:t>Discrete time, finite state space.</a:t>
            </a:r>
          </a:p>
          <a:p>
            <a:pPr eaLnBrk="1" hangingPunct="1"/>
            <a:r>
              <a:rPr lang="en-US" dirty="0"/>
              <a:t>State of the system</a:t>
            </a:r>
          </a:p>
          <a:p>
            <a:pPr lvl="1" eaLnBrk="1" hangingPunct="1"/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dirty="0"/>
              <a:t> = inventory on-hand at the end of week </a:t>
            </a:r>
            <a:r>
              <a:rPr lang="en-US" i="1" dirty="0"/>
              <a:t>t</a:t>
            </a:r>
            <a:r>
              <a:rPr lang="en-US" dirty="0"/>
              <a:t>=0,1,…</a:t>
            </a:r>
          </a:p>
          <a:p>
            <a:pPr lvl="1" eaLnBrk="1" hangingPunct="1"/>
            <a:r>
              <a:rPr lang="en-US" dirty="0"/>
              <a:t>What are the possible states?</a:t>
            </a:r>
          </a:p>
          <a:p>
            <a:pPr lvl="2" eaLnBrk="1" hangingPunct="1"/>
            <a:r>
              <a:rPr lang="en-US" dirty="0"/>
              <a:t>0, 1, 2, 3 cameras on hand.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E0F05C6-1591-44F0-829F-BEAEC986A39C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32101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6775" y="2871788"/>
            <a:ext cx="568642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 Inventory Example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What is the relationship between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, </a:t>
            </a:r>
            <a:r>
              <a:rPr lang="en-US" i="1"/>
              <a:t>X</a:t>
            </a:r>
            <a:r>
              <a:rPr lang="en-US" i="1" baseline="-25000"/>
              <a:t>t+</a:t>
            </a:r>
            <a:r>
              <a:rPr lang="en-US" baseline="-25000"/>
              <a:t>1</a:t>
            </a:r>
            <a:r>
              <a:rPr lang="en-US"/>
              <a:t> and </a:t>
            </a:r>
            <a:r>
              <a:rPr lang="en-US" i="1"/>
              <a:t>D</a:t>
            </a:r>
            <a:r>
              <a:rPr lang="en-US" i="1" baseline="-25000"/>
              <a:t>t+</a:t>
            </a:r>
            <a:r>
              <a:rPr lang="en-US" baseline="-25000"/>
              <a:t>1</a:t>
            </a:r>
            <a:r>
              <a:rPr lang="en-US"/>
              <a:t>?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The stochastic process {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/>
              <a:t>, </a:t>
            </a:r>
            <a:r>
              <a:rPr lang="en-US" i="1"/>
              <a:t>X</a:t>
            </a:r>
            <a:r>
              <a:rPr lang="en-US" baseline="-25000"/>
              <a:t>1</a:t>
            </a:r>
            <a:r>
              <a:rPr lang="en-US"/>
              <a:t>, </a:t>
            </a:r>
            <a:r>
              <a:rPr lang="en-US" i="1"/>
              <a:t>X</a:t>
            </a:r>
            <a:r>
              <a:rPr lang="en-US" baseline="-25000"/>
              <a:t>2</a:t>
            </a:r>
            <a:r>
              <a:rPr lang="en-US"/>
              <a:t>, …} describes how the inventory level of the store changes over time.</a:t>
            </a:r>
          </a:p>
        </p:txBody>
      </p:sp>
      <p:sp>
        <p:nvSpPr>
          <p:cNvPr id="132102" name="Rectangle 6"/>
          <p:cNvSpPr>
            <a:spLocks noChangeArrowheads="1"/>
          </p:cNvSpPr>
          <p:nvPr/>
        </p:nvSpPr>
        <p:spPr bwMode="auto">
          <a:xfrm>
            <a:off x="5181600" y="2819400"/>
            <a:ext cx="1905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2103" name="Rectangle 7"/>
          <p:cNvSpPr>
            <a:spLocks noChangeArrowheads="1"/>
          </p:cNvSpPr>
          <p:nvPr/>
        </p:nvSpPr>
        <p:spPr bwMode="auto">
          <a:xfrm>
            <a:off x="2286000" y="2819400"/>
            <a:ext cx="27432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2104" name="Rectangle 8"/>
          <p:cNvSpPr>
            <a:spLocks noChangeArrowheads="1"/>
          </p:cNvSpPr>
          <p:nvPr/>
        </p:nvSpPr>
        <p:spPr bwMode="auto">
          <a:xfrm>
            <a:off x="5181600" y="3276600"/>
            <a:ext cx="19050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2105" name="Rectangle 9"/>
          <p:cNvSpPr>
            <a:spLocks noChangeArrowheads="1"/>
          </p:cNvSpPr>
          <p:nvPr/>
        </p:nvSpPr>
        <p:spPr bwMode="auto">
          <a:xfrm>
            <a:off x="2286000" y="3276600"/>
            <a:ext cx="27432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/>
      <p:bldP spid="132102" grpId="0" animBg="1"/>
      <p:bldP spid="132103" grpId="0" animBg="1"/>
      <p:bldP spid="132104" grpId="0" animBg="1"/>
      <p:bldP spid="13210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28D07-2551-4F65-9870-68BB53CA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AAEF4-2D69-49BC-99EA-7F41508374F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B15111-9EDA-444C-9C96-1C442826B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88" y="0"/>
            <a:ext cx="746641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1E6319-B490-4330-976A-107F8F7182D4}"/>
              </a:ext>
            </a:extLst>
          </p:cNvPr>
          <p:cNvSpPr txBox="1"/>
          <p:nvPr/>
        </p:nvSpPr>
        <p:spPr>
          <a:xfrm>
            <a:off x="6553200" y="1905000"/>
            <a:ext cx="236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tr-TR" dirty="0"/>
              <a:t>Burda önemli olan </a:t>
            </a:r>
            <a:r>
              <a:rPr lang="tr-TR" dirty="0" err="1"/>
              <a:t>haftaosunudaki</a:t>
            </a:r>
            <a:r>
              <a:rPr lang="tr-TR" dirty="0"/>
              <a:t> durumun modelini çıkarmak, </a:t>
            </a:r>
            <a:r>
              <a:rPr lang="tr-TR" dirty="0" err="1"/>
              <a:t>haftabaşı</a:t>
            </a:r>
            <a:r>
              <a:rPr lang="tr-TR" dirty="0"/>
              <a:t> dğeil, </a:t>
            </a:r>
            <a:r>
              <a:rPr lang="tr-TR" dirty="0" err="1"/>
              <a:t>bideoda</a:t>
            </a:r>
            <a:r>
              <a:rPr lang="tr-TR" dirty="0"/>
              <a:t> anlatmış detaylıca.</a:t>
            </a:r>
          </a:p>
          <a:p>
            <a:pPr marL="285750" indent="-285750">
              <a:buFontTx/>
              <a:buChar char="-"/>
            </a:pPr>
            <a:r>
              <a:rPr lang="tr-TR" dirty="0"/>
              <a:t>Talebin iki farklı dağılıma göre hesap yapmış hoca. </a:t>
            </a:r>
            <a:r>
              <a:rPr lang="tr-TR" dirty="0" err="1"/>
              <a:t>Bi</a:t>
            </a:r>
            <a:r>
              <a:rPr lang="tr-TR" dirty="0"/>
              <a:t> </a:t>
            </a:r>
            <a:r>
              <a:rPr lang="tr-TR" dirty="0" err="1"/>
              <a:t>uniform</a:t>
            </a:r>
            <a:r>
              <a:rPr lang="tr-TR" dirty="0"/>
              <a:t> olma durum </a:t>
            </a:r>
            <a:r>
              <a:rPr lang="tr-TR" dirty="0" err="1"/>
              <a:t>ubir</a:t>
            </a:r>
            <a:r>
              <a:rPr lang="tr-TR" dirty="0"/>
              <a:t> de </a:t>
            </a:r>
            <a:r>
              <a:rPr lang="tr-TR" dirty="0" err="1"/>
              <a:t>poisson</a:t>
            </a:r>
            <a:r>
              <a:rPr lang="tr-TR" dirty="0"/>
              <a:t> olma durumu</a:t>
            </a:r>
          </a:p>
        </p:txBody>
      </p:sp>
    </p:spTree>
    <p:extLst>
      <p:ext uri="{BB962C8B-B14F-4D97-AF65-F5344CB8AC3E}">
        <p14:creationId xmlns:p14="http://schemas.microsoft.com/office/powerpoint/2010/main" val="109888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D8473A-DC81-49B3-8F84-C5ED49A8CC2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Markovian Property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sz="2800"/>
              <a:t>In order to establish mathematical tractability of {</a:t>
            </a:r>
            <a:r>
              <a:rPr lang="en-US" sz="2800" i="1"/>
              <a:t>X</a:t>
            </a:r>
            <a:r>
              <a:rPr lang="en-US" sz="2800" i="1" baseline="-25000"/>
              <a:t>t</a:t>
            </a:r>
            <a:r>
              <a:rPr lang="en-US" sz="2800"/>
              <a:t>}, assumptions on the joint probability distribution of </a:t>
            </a:r>
            <a:r>
              <a:rPr lang="en-US" sz="2800" i="1"/>
              <a:t>X</a:t>
            </a:r>
            <a:r>
              <a:rPr lang="en-US" sz="2800" baseline="-25000"/>
              <a:t>0</a:t>
            </a:r>
            <a:r>
              <a:rPr lang="en-US" sz="2800" i="1"/>
              <a:t>, X</a:t>
            </a:r>
            <a:r>
              <a:rPr lang="en-US" sz="2800" baseline="-25000"/>
              <a:t>1</a:t>
            </a:r>
            <a:r>
              <a:rPr lang="en-US" sz="2800" i="1"/>
              <a:t>, X</a:t>
            </a:r>
            <a:r>
              <a:rPr lang="en-US" sz="2800" baseline="-25000"/>
              <a:t>2</a:t>
            </a:r>
            <a:r>
              <a:rPr lang="en-US" sz="2800"/>
              <a:t>,…, are necessary.</a:t>
            </a:r>
          </a:p>
          <a:p>
            <a:r>
              <a:rPr lang="en-US" sz="2800"/>
              <a:t>A discrete time stochastic process {</a:t>
            </a:r>
            <a:r>
              <a:rPr lang="en-US" sz="2800" i="1"/>
              <a:t>X</a:t>
            </a:r>
            <a:r>
              <a:rPr lang="en-US" sz="2800" i="1" baseline="-25000"/>
              <a:t>t</a:t>
            </a:r>
            <a:r>
              <a:rPr lang="en-US" sz="2800"/>
              <a:t>} is said to have the Markovian property if </a:t>
            </a:r>
          </a:p>
          <a:p>
            <a:pPr>
              <a:buFontTx/>
              <a:buNone/>
            </a:pPr>
            <a:r>
              <a:rPr lang="en-US" sz="2800"/>
              <a:t>	P(</a:t>
            </a:r>
            <a:r>
              <a:rPr lang="en-US" sz="2800" i="1"/>
              <a:t>X</a:t>
            </a:r>
            <a:r>
              <a:rPr lang="en-US" sz="2800" i="1" baseline="-25000"/>
              <a:t>t+</a:t>
            </a:r>
            <a:r>
              <a:rPr lang="en-US" sz="2800" baseline="-25000"/>
              <a:t>1</a:t>
            </a:r>
            <a:r>
              <a:rPr lang="en-US" sz="2800"/>
              <a:t>=</a:t>
            </a:r>
            <a:r>
              <a:rPr lang="en-US" sz="2800" i="1"/>
              <a:t>j</a:t>
            </a:r>
            <a:r>
              <a:rPr lang="en-US" sz="2800"/>
              <a:t> / </a:t>
            </a:r>
            <a:r>
              <a:rPr lang="en-US" sz="2800" i="1"/>
              <a:t>X</a:t>
            </a:r>
            <a:r>
              <a:rPr lang="en-US" sz="2800" i="1" baseline="-25000"/>
              <a:t>t</a:t>
            </a:r>
            <a:r>
              <a:rPr lang="en-US" sz="2800" i="1"/>
              <a:t> = i</a:t>
            </a:r>
            <a:r>
              <a:rPr lang="en-US" sz="2800"/>
              <a:t>, </a:t>
            </a:r>
            <a:r>
              <a:rPr lang="en-US" sz="2800" i="1"/>
              <a:t>X</a:t>
            </a:r>
            <a:r>
              <a:rPr lang="en-US" sz="2800" i="1" baseline="-25000"/>
              <a:t>t-</a:t>
            </a:r>
            <a:r>
              <a:rPr lang="en-US" sz="2800" baseline="-25000"/>
              <a:t>1</a:t>
            </a:r>
            <a:r>
              <a:rPr lang="en-US" sz="2800" i="1"/>
              <a:t>=k</a:t>
            </a:r>
            <a:r>
              <a:rPr lang="en-US" sz="2800" i="1" baseline="-25000"/>
              <a:t>t-</a:t>
            </a:r>
            <a:r>
              <a:rPr lang="en-US" sz="2800" baseline="-25000"/>
              <a:t>1</a:t>
            </a:r>
            <a:r>
              <a:rPr lang="en-US" sz="2800" i="1"/>
              <a:t>, X</a:t>
            </a:r>
            <a:r>
              <a:rPr lang="en-US" sz="2800" i="1" baseline="-25000"/>
              <a:t>t-</a:t>
            </a:r>
            <a:r>
              <a:rPr lang="en-US" sz="2800" baseline="-25000"/>
              <a:t>2</a:t>
            </a:r>
            <a:r>
              <a:rPr lang="en-US" sz="2800" i="1"/>
              <a:t>=k</a:t>
            </a:r>
            <a:r>
              <a:rPr lang="en-US" sz="2800" i="1" baseline="-25000"/>
              <a:t>t-</a:t>
            </a:r>
            <a:r>
              <a:rPr lang="en-US" sz="2800" baseline="-25000"/>
              <a:t>2</a:t>
            </a:r>
            <a:r>
              <a:rPr lang="en-US" sz="2800" i="1"/>
              <a:t>, …, X</a:t>
            </a:r>
            <a:r>
              <a:rPr lang="en-US" sz="2800" baseline="-25000"/>
              <a:t>0</a:t>
            </a:r>
            <a:r>
              <a:rPr lang="en-US" sz="2800" i="1"/>
              <a:t>=k</a:t>
            </a:r>
            <a:r>
              <a:rPr lang="en-US" sz="2800" baseline="-25000"/>
              <a:t>0</a:t>
            </a:r>
            <a:r>
              <a:rPr lang="en-US" sz="2800"/>
              <a:t>)	</a:t>
            </a:r>
          </a:p>
          <a:p>
            <a:pPr>
              <a:buFontTx/>
              <a:buNone/>
            </a:pPr>
            <a:r>
              <a:rPr lang="en-US" sz="2800"/>
              <a:t>	= P(</a:t>
            </a:r>
            <a:r>
              <a:rPr lang="en-US" sz="2800" i="1"/>
              <a:t>X</a:t>
            </a:r>
            <a:r>
              <a:rPr lang="en-US" sz="2800" i="1" baseline="-25000"/>
              <a:t>t+</a:t>
            </a:r>
            <a:r>
              <a:rPr lang="en-US" sz="2800" baseline="-25000"/>
              <a:t>1</a:t>
            </a:r>
            <a:r>
              <a:rPr lang="en-US" sz="2800"/>
              <a:t>=</a:t>
            </a:r>
            <a:r>
              <a:rPr lang="en-US" sz="2800" i="1"/>
              <a:t>j</a:t>
            </a:r>
            <a:r>
              <a:rPr lang="en-US" sz="2800"/>
              <a:t> / </a:t>
            </a:r>
            <a:r>
              <a:rPr lang="en-US" sz="2800" i="1"/>
              <a:t>X</a:t>
            </a:r>
            <a:r>
              <a:rPr lang="en-US" sz="2800" i="1" baseline="-25000"/>
              <a:t>t</a:t>
            </a:r>
            <a:r>
              <a:rPr lang="en-US" sz="2800" i="1"/>
              <a:t> = i</a:t>
            </a:r>
            <a:r>
              <a:rPr lang="en-US" sz="2800"/>
              <a:t>) </a:t>
            </a:r>
            <a:r>
              <a:rPr lang="en-US" sz="2800">
                <a:latin typeface="cmsy10" pitchFamily="34" charset="0"/>
              </a:rPr>
              <a:t>8</a:t>
            </a:r>
            <a:r>
              <a:rPr lang="en-US" sz="2800"/>
              <a:t> </a:t>
            </a:r>
            <a:r>
              <a:rPr lang="en-US" sz="2800" i="1"/>
              <a:t>t</a:t>
            </a:r>
            <a:r>
              <a:rPr lang="en-US" sz="2800"/>
              <a:t>=0,1,… and every sequence </a:t>
            </a:r>
            <a:r>
              <a:rPr lang="en-US" sz="2800" i="1"/>
              <a:t>j,i,k</a:t>
            </a:r>
            <a:r>
              <a:rPr lang="en-US" sz="2800" i="1" baseline="-25000"/>
              <a:t>t-</a:t>
            </a:r>
            <a:r>
              <a:rPr lang="en-US" sz="2800" baseline="-25000"/>
              <a:t>1</a:t>
            </a:r>
            <a:r>
              <a:rPr lang="en-US" sz="2800"/>
              <a:t>,</a:t>
            </a:r>
            <a:r>
              <a:rPr lang="en-US" sz="2800" i="1"/>
              <a:t>k</a:t>
            </a:r>
            <a:r>
              <a:rPr lang="en-US" sz="2800" i="1" baseline="-25000"/>
              <a:t>t-</a:t>
            </a:r>
            <a:r>
              <a:rPr lang="en-US" sz="2800" baseline="-25000"/>
              <a:t>2</a:t>
            </a:r>
            <a:r>
              <a:rPr lang="en-US" sz="2800"/>
              <a:t>,…,</a:t>
            </a:r>
            <a:r>
              <a:rPr lang="en-US" sz="2800" i="1"/>
              <a:t>k</a:t>
            </a:r>
            <a:r>
              <a:rPr lang="en-US" sz="2800" baseline="-25000"/>
              <a:t>0</a:t>
            </a:r>
            <a:r>
              <a:rPr lang="en-US" sz="2800"/>
              <a:t>.</a:t>
            </a:r>
          </a:p>
          <a:p>
            <a:r>
              <a:rPr lang="en-US" sz="2800"/>
              <a:t>In other words, the </a:t>
            </a:r>
            <a:r>
              <a:rPr lang="en-US" sz="2800" b="1" i="1"/>
              <a:t>next</a:t>
            </a:r>
            <a:r>
              <a:rPr lang="en-US" sz="2800"/>
              <a:t> state does only depend on the </a:t>
            </a:r>
            <a:r>
              <a:rPr lang="en-US" sz="2800" b="1" i="1"/>
              <a:t>current</a:t>
            </a:r>
            <a:r>
              <a:rPr lang="en-US" sz="2800"/>
              <a:t> state, and is independent from all </a:t>
            </a:r>
            <a:r>
              <a:rPr lang="en-US" sz="2800" b="1" i="1"/>
              <a:t>past</a:t>
            </a:r>
            <a:r>
              <a:rPr lang="en-US" sz="2800"/>
              <a:t> states. This holds for all points in time.</a:t>
            </a:r>
          </a:p>
          <a:p>
            <a:pPr>
              <a:buFontTx/>
              <a:buNone/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09D744-32DD-4A1A-8D00-D2657E0FB2F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en-US"/>
              <a:t>A discrete time stochastic process with the Markovian property is called a discrete time Markov chain.</a:t>
            </a:r>
          </a:p>
          <a:p>
            <a:r>
              <a:rPr lang="en-US"/>
              <a:t>The conditional probabilities P(</a:t>
            </a:r>
            <a:r>
              <a:rPr lang="en-US" i="1"/>
              <a:t>X</a:t>
            </a:r>
            <a:r>
              <a:rPr lang="en-US" i="1" baseline="-25000"/>
              <a:t>t+</a:t>
            </a:r>
            <a:r>
              <a:rPr lang="en-US" baseline="-25000"/>
              <a:t>1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 i="1"/>
              <a:t>=i</a:t>
            </a:r>
            <a:r>
              <a:rPr lang="en-US"/>
              <a:t>) are called the </a:t>
            </a:r>
            <a:r>
              <a:rPr lang="en-US" i="1"/>
              <a:t>one-step</a:t>
            </a:r>
            <a:r>
              <a:rPr lang="en-US"/>
              <a:t> transition probabilities. </a:t>
            </a:r>
          </a:p>
          <a:p>
            <a:r>
              <a:rPr lang="en-US"/>
              <a:t>The conditional probabilities </a:t>
            </a:r>
            <a:r>
              <a:rPr lang="en-US" i="1"/>
              <a:t>P(X</a:t>
            </a:r>
            <a:r>
              <a:rPr lang="en-US" i="1" baseline="-25000"/>
              <a:t>t+n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 i="1"/>
              <a:t>=i</a:t>
            </a:r>
            <a:r>
              <a:rPr lang="en-US"/>
              <a:t>) are called the </a:t>
            </a:r>
            <a:r>
              <a:rPr lang="en-US" i="1"/>
              <a:t>n-step</a:t>
            </a:r>
            <a:r>
              <a:rPr lang="en-US"/>
              <a:t> transition probabilities.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F4AC7D-C68C-44D3-8363-3A0A254FE64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Stationarity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/>
              <a:t>If, in addition, for each </a:t>
            </a:r>
            <a:r>
              <a:rPr lang="en-US" i="1"/>
              <a:t>i</a:t>
            </a:r>
            <a:r>
              <a:rPr lang="en-US"/>
              <a:t> and </a:t>
            </a:r>
            <a:r>
              <a:rPr lang="en-US" i="1"/>
              <a:t>j</a:t>
            </a:r>
            <a:r>
              <a:rPr lang="en-US"/>
              <a:t>, </a:t>
            </a:r>
          </a:p>
          <a:p>
            <a:pPr>
              <a:buFontTx/>
              <a:buNone/>
            </a:pPr>
            <a:r>
              <a:rPr lang="en-US"/>
              <a:t>	P(</a:t>
            </a:r>
            <a:r>
              <a:rPr lang="en-US" i="1"/>
              <a:t>X</a:t>
            </a:r>
            <a:r>
              <a:rPr lang="en-US" i="1" baseline="-25000"/>
              <a:t>t+</a:t>
            </a:r>
            <a:r>
              <a:rPr lang="en-US" baseline="-25000"/>
              <a:t>1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 i="1"/>
              <a:t>=i</a:t>
            </a:r>
            <a:r>
              <a:rPr lang="en-US"/>
              <a:t>) = </a:t>
            </a:r>
            <a:r>
              <a:rPr lang="en-US" i="1"/>
              <a:t>P(X</a:t>
            </a:r>
            <a:r>
              <a:rPr lang="en-US" baseline="-25000"/>
              <a:t>1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 i="1"/>
              <a:t>=i</a:t>
            </a:r>
            <a:r>
              <a:rPr lang="en-US"/>
              <a:t>) for all </a:t>
            </a:r>
            <a:r>
              <a:rPr lang="en-US" i="1"/>
              <a:t>t</a:t>
            </a:r>
            <a:r>
              <a:rPr lang="en-US"/>
              <a:t>=0,1,2,…, then we say that the (one-step) transition probabilities are </a:t>
            </a:r>
            <a:r>
              <a:rPr lang="en-US" i="1"/>
              <a:t>stationary</a:t>
            </a:r>
            <a:r>
              <a:rPr lang="en-US"/>
              <a:t>.</a:t>
            </a:r>
          </a:p>
          <a:p>
            <a:r>
              <a:rPr lang="en-US"/>
              <a:t>This also implies that for each </a:t>
            </a:r>
            <a:r>
              <a:rPr lang="en-US" i="1"/>
              <a:t>i, j</a:t>
            </a:r>
            <a:r>
              <a:rPr lang="en-US"/>
              <a:t> and </a:t>
            </a:r>
            <a:r>
              <a:rPr lang="en-US" i="1"/>
              <a:t>n</a:t>
            </a:r>
            <a:r>
              <a:rPr lang="en-US"/>
              <a:t>=0,1, 2,… </a:t>
            </a:r>
          </a:p>
          <a:p>
            <a:pPr>
              <a:buFontTx/>
              <a:buNone/>
            </a:pPr>
            <a:r>
              <a:rPr lang="en-US"/>
              <a:t>	</a:t>
            </a:r>
            <a:r>
              <a:rPr lang="en-US" i="1"/>
              <a:t>P(X</a:t>
            </a:r>
            <a:r>
              <a:rPr lang="en-US" i="1" baseline="-25000"/>
              <a:t>t+n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 i="1"/>
              <a:t>=i</a:t>
            </a:r>
            <a:r>
              <a:rPr lang="en-US"/>
              <a:t>) = </a:t>
            </a:r>
            <a:r>
              <a:rPr lang="en-US" i="1"/>
              <a:t>P(X</a:t>
            </a:r>
            <a:r>
              <a:rPr lang="en-US" i="1" baseline="-25000"/>
              <a:t>n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 i="1"/>
              <a:t>=i</a:t>
            </a:r>
            <a:r>
              <a:rPr lang="en-US"/>
              <a:t>) for all </a:t>
            </a:r>
            <a:r>
              <a:rPr lang="en-US" i="1"/>
              <a:t>t</a:t>
            </a:r>
            <a:r>
              <a:rPr lang="en-US"/>
              <a:t>=0,1,2,….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0C85F5-412D-4FFC-BBD7-7FA90D6BB8F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Stationarity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/>
              <a:t>Here, we assume that the transition probabilities are stationary. Let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/>
              <a:t>	</a:t>
            </a:r>
            <a:r>
              <a:rPr lang="en-US" i="1"/>
              <a:t>P</a:t>
            </a:r>
            <a:r>
              <a:rPr lang="en-US" i="1" baseline="-25000"/>
              <a:t>ij</a:t>
            </a:r>
            <a:r>
              <a:rPr lang="en-US"/>
              <a:t> = </a:t>
            </a:r>
            <a:r>
              <a:rPr lang="en-US" i="1"/>
              <a:t>P</a:t>
            </a:r>
            <a:r>
              <a:rPr lang="en-US"/>
              <a:t>(</a:t>
            </a:r>
            <a:r>
              <a:rPr lang="en-US" i="1"/>
              <a:t>X</a:t>
            </a:r>
            <a:r>
              <a:rPr lang="en-US" i="1" baseline="-25000"/>
              <a:t>t+</a:t>
            </a:r>
            <a:r>
              <a:rPr lang="en-US" baseline="-25000"/>
              <a:t>1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 i="1"/>
              <a:t>=i</a:t>
            </a:r>
            <a:r>
              <a:rPr lang="en-US"/>
              <a:t>) = </a:t>
            </a:r>
            <a:r>
              <a:rPr lang="en-US" i="1"/>
              <a:t>P(X</a:t>
            </a:r>
            <a:r>
              <a:rPr lang="en-US" baseline="-25000"/>
              <a:t>1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 i="1"/>
              <a:t>=i</a:t>
            </a:r>
            <a:r>
              <a:rPr lang="en-US"/>
              <a:t>) and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/>
              <a:t>	</a:t>
            </a:r>
            <a:r>
              <a:rPr lang="en-US" i="1"/>
              <a:t>P</a:t>
            </a:r>
            <a:r>
              <a:rPr lang="en-US" i="1" baseline="30000"/>
              <a:t>(n)</a:t>
            </a:r>
            <a:r>
              <a:rPr lang="en-US" i="1" baseline="-25000"/>
              <a:t>ij</a:t>
            </a:r>
            <a:r>
              <a:rPr lang="en-US"/>
              <a:t> = </a:t>
            </a:r>
            <a:r>
              <a:rPr lang="en-US" i="1"/>
              <a:t>P(X</a:t>
            </a:r>
            <a:r>
              <a:rPr lang="en-US" i="1" baseline="-25000"/>
              <a:t>t+n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 i="1"/>
              <a:t>=i</a:t>
            </a:r>
            <a:r>
              <a:rPr lang="en-US"/>
              <a:t>) = </a:t>
            </a:r>
            <a:r>
              <a:rPr lang="en-US" i="1"/>
              <a:t>P(X</a:t>
            </a:r>
            <a:r>
              <a:rPr lang="en-US" i="1" baseline="-25000"/>
              <a:t>n</a:t>
            </a:r>
            <a:r>
              <a:rPr lang="en-US" i="1"/>
              <a:t>=j </a:t>
            </a:r>
            <a:r>
              <a:rPr lang="en-US"/>
              <a:t>/ 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 i="1"/>
              <a:t>=i</a:t>
            </a:r>
            <a:r>
              <a:rPr lang="en-US"/>
              <a:t>).</a:t>
            </a:r>
            <a:endParaRPr lang="en-US" sz="3600"/>
          </a:p>
          <a:p>
            <a:pPr>
              <a:lnSpc>
                <a:spcPct val="80000"/>
              </a:lnSpc>
            </a:pPr>
            <a:r>
              <a:rPr lang="en-US"/>
              <a:t>Thus, the </a:t>
            </a:r>
            <a:r>
              <a:rPr lang="en-US" i="1"/>
              <a:t>n-</a:t>
            </a:r>
            <a:r>
              <a:rPr lang="en-US"/>
              <a:t>step transition probability </a:t>
            </a:r>
            <a:r>
              <a:rPr lang="en-US" i="1"/>
              <a:t>P</a:t>
            </a:r>
            <a:r>
              <a:rPr lang="en-US" i="1" baseline="30000"/>
              <a:t>(n)</a:t>
            </a:r>
            <a:r>
              <a:rPr lang="en-US" i="1" baseline="-25000"/>
              <a:t>ij</a:t>
            </a:r>
            <a:r>
              <a:rPr lang="en-US"/>
              <a:t> is the conditional probability that the system will be in state </a:t>
            </a:r>
            <a:r>
              <a:rPr lang="en-US" i="1"/>
              <a:t>j</a:t>
            </a:r>
            <a:r>
              <a:rPr lang="en-US"/>
              <a:t> after exactly </a:t>
            </a:r>
            <a:r>
              <a:rPr lang="en-US" i="1"/>
              <a:t>n</a:t>
            </a:r>
            <a:r>
              <a:rPr lang="en-US"/>
              <a:t> steps (time steps), given that it starts in state </a:t>
            </a:r>
            <a:r>
              <a:rPr lang="en-US" i="1"/>
              <a:t>i</a:t>
            </a:r>
            <a:r>
              <a:rPr lang="en-US"/>
              <a:t> at any time </a:t>
            </a:r>
            <a:r>
              <a:rPr lang="en-US" i="1"/>
              <a:t>t</a:t>
            </a:r>
            <a:r>
              <a:rPr lang="en-US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E85135-992D-4CBC-8676-3FB1DBAEBD5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Transition Probabilities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1219200"/>
          </a:xfrm>
        </p:spPr>
        <p:txBody>
          <a:bodyPr/>
          <a:lstStyle/>
          <a:p>
            <a:r>
              <a:rPr lang="en-US"/>
              <a:t>Assuming that we have </a:t>
            </a:r>
            <a:r>
              <a:rPr lang="en-US" i="1"/>
              <a:t>M</a:t>
            </a:r>
            <a:r>
              <a:rPr lang="en-US"/>
              <a:t>+1 states labeled as 0,1,…</a:t>
            </a:r>
            <a:r>
              <a:rPr lang="en-US" i="1"/>
              <a:t>M</a:t>
            </a:r>
            <a:r>
              <a:rPr lang="en-US"/>
              <a:t>, we must have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37226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3794125"/>
            <a:ext cx="7239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227" name="Picture 1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8675" y="2743200"/>
            <a:ext cx="6105525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EC6DCB-B668-432B-9854-DF858D1C8AC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Transition Probabilities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i="1"/>
              <a:t>n</a:t>
            </a:r>
            <a:r>
              <a:rPr lang="en-US"/>
              <a:t>-step transition probabilities are generally represented in a matrix format:</a:t>
            </a:r>
          </a:p>
        </p:txBody>
      </p:sp>
      <p:pic>
        <p:nvPicPr>
          <p:cNvPr id="23557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1600" y="2828925"/>
            <a:ext cx="889000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52400" y="5410200"/>
            <a:ext cx="2209800" cy="779463"/>
            <a:chOff x="96" y="3408"/>
            <a:chExt cx="1392" cy="491"/>
          </a:xfrm>
        </p:grpSpPr>
        <p:sp>
          <p:nvSpPr>
            <p:cNvPr id="23562" name="Text Box 7"/>
            <p:cNvSpPr txBox="1">
              <a:spLocks noChangeArrowheads="1"/>
            </p:cNvSpPr>
            <p:nvPr/>
          </p:nvSpPr>
          <p:spPr bwMode="auto">
            <a:xfrm>
              <a:off x="96" y="3408"/>
              <a:ext cx="960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Transitions</a:t>
              </a:r>
            </a:p>
            <a:p>
              <a:pPr>
                <a:spcBef>
                  <a:spcPct val="50000"/>
                </a:spcBef>
              </a:pPr>
              <a:r>
                <a:rPr lang="en-US" baseline="0"/>
                <a:t>from a state</a:t>
              </a:r>
            </a:p>
          </p:txBody>
        </p:sp>
        <p:sp>
          <p:nvSpPr>
            <p:cNvPr id="23563" name="Line 8"/>
            <p:cNvSpPr>
              <a:spLocks noChangeShapeType="1"/>
            </p:cNvSpPr>
            <p:nvPr/>
          </p:nvSpPr>
          <p:spPr bwMode="auto">
            <a:xfrm>
              <a:off x="1104" y="355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209800" y="5943600"/>
            <a:ext cx="2133600" cy="762000"/>
            <a:chOff x="1392" y="3744"/>
            <a:chExt cx="1344" cy="480"/>
          </a:xfrm>
        </p:grpSpPr>
        <p:sp>
          <p:nvSpPr>
            <p:cNvPr id="23560" name="Text Box 9"/>
            <p:cNvSpPr txBox="1">
              <a:spLocks noChangeArrowheads="1"/>
            </p:cNvSpPr>
            <p:nvPr/>
          </p:nvSpPr>
          <p:spPr bwMode="auto">
            <a:xfrm>
              <a:off x="1392" y="4051"/>
              <a:ext cx="13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Transitions to a state</a:t>
              </a:r>
            </a:p>
          </p:txBody>
        </p:sp>
        <p:sp>
          <p:nvSpPr>
            <p:cNvPr id="23561" name="Line 10"/>
            <p:cNvSpPr>
              <a:spLocks noChangeShapeType="1"/>
            </p:cNvSpPr>
            <p:nvPr/>
          </p:nvSpPr>
          <p:spPr bwMode="auto">
            <a:xfrm flipV="1">
              <a:off x="2016" y="37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56BB14-CF16-4C55-B5DB-543E09F5366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Focus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Here, we will consider Markov chains with </a:t>
            </a:r>
          </a:p>
          <a:p>
            <a:pPr lvl="1">
              <a:lnSpc>
                <a:spcPct val="90000"/>
              </a:lnSpc>
            </a:pPr>
            <a:r>
              <a:rPr lang="en-US"/>
              <a:t>A finite number of states, and</a:t>
            </a:r>
          </a:p>
          <a:p>
            <a:pPr lvl="1">
              <a:lnSpc>
                <a:spcPct val="90000"/>
              </a:lnSpc>
            </a:pPr>
            <a:r>
              <a:rPr lang="en-US"/>
              <a:t>Stationary transition probabilities.</a:t>
            </a:r>
          </a:p>
          <a:p>
            <a:pPr>
              <a:lnSpc>
                <a:spcPct val="90000"/>
              </a:lnSpc>
            </a:pPr>
            <a:r>
              <a:rPr lang="en-US"/>
              <a:t>Furthermore, we assume that the initial probabilities </a:t>
            </a:r>
            <a:r>
              <a:rPr lang="en-US" i="1"/>
              <a:t>P</a:t>
            </a:r>
            <a:r>
              <a:rPr lang="en-US"/>
              <a:t>(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/>
              <a:t>=</a:t>
            </a:r>
            <a:r>
              <a:rPr lang="en-US" i="1"/>
              <a:t>i</a:t>
            </a:r>
            <a:r>
              <a:rPr lang="en-US"/>
              <a:t>) are known for all states </a:t>
            </a:r>
            <a:r>
              <a:rPr lang="en-US" i="1"/>
              <a:t>i</a:t>
            </a:r>
            <a:r>
              <a:rPr lang="en-US"/>
              <a:t>.</a:t>
            </a:r>
          </a:p>
          <a:p>
            <a:pPr>
              <a:lnSpc>
                <a:spcPct val="90000"/>
              </a:lnSpc>
            </a:pPr>
            <a:r>
              <a:rPr lang="en-US"/>
              <a:t>We will mostly focus on discrete time Markov chains and will briefly touch upon continuous time Markov chains in the context of queueing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ABC578E-66E1-4B80-B0FF-068207A304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 Modeling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Examples</a:t>
            </a:r>
          </a:p>
          <a:p>
            <a:pPr lvl="1"/>
            <a:r>
              <a:rPr lang="en-US"/>
              <a:t>Weather example</a:t>
            </a:r>
          </a:p>
          <a:p>
            <a:pPr lvl="1"/>
            <a:r>
              <a:rPr lang="en-US"/>
              <a:t>Gambler’s ruin problem</a:t>
            </a:r>
          </a:p>
          <a:p>
            <a:pPr lvl="1"/>
            <a:r>
              <a:rPr lang="en-US"/>
              <a:t>Inventory example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1052A8-FB79-4C55-9681-95443EE8D18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Computation of </a:t>
            </a:r>
            <a:br>
              <a:rPr lang="en-US" sz="4000"/>
            </a:br>
            <a:r>
              <a:rPr lang="en-US" sz="4000"/>
              <a:t>Transition Probabilities </a:t>
            </a: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52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following graph illustrates how we may compute the </a:t>
            </a:r>
            <a:r>
              <a:rPr lang="en-US" i="1"/>
              <a:t>n</a:t>
            </a:r>
            <a:r>
              <a:rPr lang="en-US"/>
              <a:t>-step transition probabilities.</a:t>
            </a:r>
          </a:p>
        </p:txBody>
      </p:sp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2819400" y="3962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2400" i="1" baseline="0"/>
              <a:t>i</a:t>
            </a:r>
          </a:p>
        </p:txBody>
      </p:sp>
      <p:sp>
        <p:nvSpPr>
          <p:cNvPr id="26630" name="Oval 6"/>
          <p:cNvSpPr>
            <a:spLocks noChangeArrowheads="1"/>
          </p:cNvSpPr>
          <p:nvPr/>
        </p:nvSpPr>
        <p:spPr bwMode="auto">
          <a:xfrm>
            <a:off x="5181600" y="2667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2400" baseline="0"/>
              <a:t>0</a:t>
            </a:r>
          </a:p>
        </p:txBody>
      </p:sp>
      <p:sp>
        <p:nvSpPr>
          <p:cNvPr id="26631" name="Oval 7"/>
          <p:cNvSpPr>
            <a:spLocks noChangeArrowheads="1"/>
          </p:cNvSpPr>
          <p:nvPr/>
        </p:nvSpPr>
        <p:spPr bwMode="auto">
          <a:xfrm>
            <a:off x="5181600" y="3429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2400" baseline="0"/>
              <a:t>1</a:t>
            </a:r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>
            <a:off x="5486400" y="4114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3" name="Oval 9"/>
          <p:cNvSpPr>
            <a:spLocks noChangeArrowheads="1"/>
          </p:cNvSpPr>
          <p:nvPr/>
        </p:nvSpPr>
        <p:spPr bwMode="auto">
          <a:xfrm>
            <a:off x="5181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2400" i="1" baseline="0"/>
              <a:t>k</a:t>
            </a:r>
          </a:p>
        </p:txBody>
      </p:sp>
      <p:sp>
        <p:nvSpPr>
          <p:cNvPr id="26634" name="Oval 10"/>
          <p:cNvSpPr>
            <a:spLocks noChangeArrowheads="1"/>
          </p:cNvSpPr>
          <p:nvPr/>
        </p:nvSpPr>
        <p:spPr bwMode="auto">
          <a:xfrm>
            <a:off x="5181600" y="5638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2400" i="1" baseline="0"/>
              <a:t>M</a:t>
            </a:r>
          </a:p>
        </p:txBody>
      </p:sp>
      <p:sp>
        <p:nvSpPr>
          <p:cNvPr id="26635" name="Oval 11"/>
          <p:cNvSpPr>
            <a:spLocks noChangeArrowheads="1"/>
          </p:cNvSpPr>
          <p:nvPr/>
        </p:nvSpPr>
        <p:spPr bwMode="auto">
          <a:xfrm>
            <a:off x="8382000" y="3962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2400" i="1" baseline="0"/>
              <a:t>j</a:t>
            </a:r>
          </a:p>
        </p:txBody>
      </p:sp>
      <p:sp>
        <p:nvSpPr>
          <p:cNvPr id="26636" name="Line 15"/>
          <p:cNvSpPr>
            <a:spLocks noChangeShapeType="1"/>
          </p:cNvSpPr>
          <p:nvPr/>
        </p:nvSpPr>
        <p:spPr bwMode="auto">
          <a:xfrm>
            <a:off x="5715000" y="3657600"/>
            <a:ext cx="2667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37" name="Line 16"/>
          <p:cNvSpPr>
            <a:spLocks noChangeShapeType="1"/>
          </p:cNvSpPr>
          <p:nvPr/>
        </p:nvSpPr>
        <p:spPr bwMode="auto">
          <a:xfrm>
            <a:off x="3352800" y="4343400"/>
            <a:ext cx="1828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38" name="Line 17"/>
          <p:cNvSpPr>
            <a:spLocks noChangeShapeType="1"/>
          </p:cNvSpPr>
          <p:nvPr/>
        </p:nvSpPr>
        <p:spPr bwMode="auto">
          <a:xfrm flipV="1">
            <a:off x="5715000" y="4419600"/>
            <a:ext cx="2667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39" name="Line 18"/>
          <p:cNvSpPr>
            <a:spLocks noChangeShapeType="1"/>
          </p:cNvSpPr>
          <p:nvPr/>
        </p:nvSpPr>
        <p:spPr bwMode="auto">
          <a:xfrm>
            <a:off x="3200400" y="4495800"/>
            <a:ext cx="1981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40" name="Line 19"/>
          <p:cNvSpPr>
            <a:spLocks noChangeShapeType="1"/>
          </p:cNvSpPr>
          <p:nvPr/>
        </p:nvSpPr>
        <p:spPr bwMode="auto">
          <a:xfrm flipV="1">
            <a:off x="5715000" y="4495800"/>
            <a:ext cx="2819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41" name="Text Box 20"/>
          <p:cNvSpPr txBox="1">
            <a:spLocks noChangeArrowheads="1"/>
          </p:cNvSpPr>
          <p:nvPr/>
        </p:nvSpPr>
        <p:spPr bwMode="auto">
          <a:xfrm>
            <a:off x="2667000" y="6034088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baseline="0"/>
              <a:t>t</a:t>
            </a:r>
            <a:r>
              <a:rPr lang="en-US" baseline="0"/>
              <a:t> = 0</a:t>
            </a:r>
          </a:p>
        </p:txBody>
      </p:sp>
      <p:sp>
        <p:nvSpPr>
          <p:cNvPr id="26642" name="Text Box 21"/>
          <p:cNvSpPr txBox="1">
            <a:spLocks noChangeArrowheads="1"/>
          </p:cNvSpPr>
          <p:nvPr/>
        </p:nvSpPr>
        <p:spPr bwMode="auto">
          <a:xfrm>
            <a:off x="5105400" y="6034088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baseline="0"/>
              <a:t>t</a:t>
            </a:r>
            <a:r>
              <a:rPr lang="en-US" baseline="0"/>
              <a:t> = 1</a:t>
            </a:r>
          </a:p>
        </p:txBody>
      </p:sp>
      <p:sp>
        <p:nvSpPr>
          <p:cNvPr id="26643" name="Text Box 22"/>
          <p:cNvSpPr txBox="1">
            <a:spLocks noChangeArrowheads="1"/>
          </p:cNvSpPr>
          <p:nvPr/>
        </p:nvSpPr>
        <p:spPr bwMode="auto">
          <a:xfrm>
            <a:off x="8382000" y="6019800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baseline="0"/>
              <a:t>t</a:t>
            </a:r>
            <a:r>
              <a:rPr lang="en-US" baseline="0"/>
              <a:t> = 2</a:t>
            </a:r>
          </a:p>
        </p:txBody>
      </p:sp>
      <p:pic>
        <p:nvPicPr>
          <p:cNvPr id="26644" name="Picture 2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35738" y="2955925"/>
            <a:ext cx="4921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45" name="Picture 2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883025" y="3054350"/>
            <a:ext cx="455613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46" name="Picture 30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421188" y="3840163"/>
            <a:ext cx="455612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47" name="Picture 31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372225" y="3956050"/>
            <a:ext cx="4921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48" name="Picture 33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4194175" y="4346575"/>
            <a:ext cx="455613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49" name="Picture 35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6234113" y="4495800"/>
            <a:ext cx="490537" cy="38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50" name="Picture 37" descr="txp_fi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505200" y="5181600"/>
            <a:ext cx="595313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51" name="Picture 39" descr="txp_fi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54863" y="5243513"/>
            <a:ext cx="630237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2376" name="Text Box 40"/>
          <p:cNvSpPr txBox="1">
            <a:spLocks noChangeArrowheads="1"/>
          </p:cNvSpPr>
          <p:nvPr/>
        </p:nvSpPr>
        <p:spPr bwMode="auto">
          <a:xfrm>
            <a:off x="914400" y="3992563"/>
            <a:ext cx="1295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aseline="0"/>
              <a:t>So?</a:t>
            </a:r>
          </a:p>
        </p:txBody>
      </p:sp>
      <p:pic>
        <p:nvPicPr>
          <p:cNvPr id="142380" name="Picture 44" descr="txp_fi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76200" y="4686300"/>
            <a:ext cx="294322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54" name="Line 45"/>
          <p:cNvSpPr>
            <a:spLocks noChangeShapeType="1"/>
          </p:cNvSpPr>
          <p:nvPr/>
        </p:nvSpPr>
        <p:spPr bwMode="auto">
          <a:xfrm flipV="1">
            <a:off x="3200400" y="3048000"/>
            <a:ext cx="1981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55" name="Line 46"/>
          <p:cNvSpPr>
            <a:spLocks noChangeShapeType="1"/>
          </p:cNvSpPr>
          <p:nvPr/>
        </p:nvSpPr>
        <p:spPr bwMode="auto">
          <a:xfrm>
            <a:off x="5715000" y="2971800"/>
            <a:ext cx="2743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56" name="Line 47"/>
          <p:cNvSpPr>
            <a:spLocks noChangeShapeType="1"/>
          </p:cNvSpPr>
          <p:nvPr/>
        </p:nvSpPr>
        <p:spPr bwMode="auto">
          <a:xfrm flipV="1">
            <a:off x="3352800" y="3657600"/>
            <a:ext cx="1828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7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CBAA19C-E5C0-4D90-BF5E-31FE7D1FD40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Computation of </a:t>
            </a:r>
            <a:br>
              <a:rPr lang="en-US" sz="4000"/>
            </a:br>
            <a:r>
              <a:rPr lang="en-US" sz="4000"/>
              <a:t>Transition Probabilities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029200"/>
            <a:ext cx="8229600" cy="1066800"/>
          </a:xfrm>
        </p:spPr>
        <p:txBody>
          <a:bodyPr/>
          <a:lstStyle/>
          <a:p>
            <a:r>
              <a:rPr lang="en-US"/>
              <a:t>So, we conclude that </a:t>
            </a:r>
            <a:r>
              <a:rPr lang="en-US" i="1"/>
              <a:t>P</a:t>
            </a:r>
            <a:r>
              <a:rPr lang="en-US" baseline="30000"/>
              <a:t>(2)</a:t>
            </a:r>
            <a:r>
              <a:rPr lang="en-US" i="1" baseline="-25000"/>
              <a:t>ij</a:t>
            </a:r>
            <a:r>
              <a:rPr lang="en-US"/>
              <a:t> is the element (</a:t>
            </a:r>
            <a:r>
              <a:rPr lang="en-US" i="1"/>
              <a:t>i,j</a:t>
            </a:r>
            <a:r>
              <a:rPr lang="en-US"/>
              <a:t>) of </a:t>
            </a:r>
            <a:r>
              <a:rPr lang="en-US" i="1"/>
              <a:t>P</a:t>
            </a:r>
            <a:r>
              <a:rPr lang="en-US" baseline="30000"/>
              <a:t>(2)</a:t>
            </a:r>
            <a:r>
              <a:rPr lang="en-US" i="1"/>
              <a:t> = P</a:t>
            </a:r>
            <a:r>
              <a:rPr lang="en-US" baseline="30000"/>
              <a:t>(1)</a:t>
            </a:r>
            <a:r>
              <a:rPr lang="en-US" i="1">
                <a:latin typeface="cmsy10" pitchFamily="34" charset="0"/>
              </a:rPr>
              <a:t>¢</a:t>
            </a:r>
            <a:r>
              <a:rPr lang="en-US" i="1"/>
              <a:t> P</a:t>
            </a:r>
            <a:r>
              <a:rPr lang="en-US" baseline="30000"/>
              <a:t>(1)</a:t>
            </a:r>
            <a:r>
              <a:rPr lang="en-US" i="1" baseline="30000"/>
              <a:t> </a:t>
            </a:r>
            <a:r>
              <a:rPr lang="en-US" i="1"/>
              <a:t>= P</a:t>
            </a:r>
            <a:r>
              <a:rPr lang="en-US" i="1">
                <a:latin typeface="cmsy10" pitchFamily="34" charset="0"/>
              </a:rPr>
              <a:t>¢</a:t>
            </a:r>
            <a:r>
              <a:rPr lang="en-US" i="1"/>
              <a:t> P = P</a:t>
            </a:r>
            <a:r>
              <a:rPr lang="en-US" baseline="30000"/>
              <a:t>2</a:t>
            </a:r>
          </a:p>
        </p:txBody>
      </p:sp>
      <p:pic>
        <p:nvPicPr>
          <p:cNvPr id="27653" name="Picture 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4114800"/>
            <a:ext cx="294322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343400" y="3657600"/>
            <a:ext cx="1295400" cy="762000"/>
            <a:chOff x="2736" y="2304"/>
            <a:chExt cx="816" cy="480"/>
          </a:xfrm>
        </p:grpSpPr>
        <p:sp>
          <p:nvSpPr>
            <p:cNvPr id="27661" name="Text Box 17"/>
            <p:cNvSpPr txBox="1">
              <a:spLocks noChangeArrowheads="1"/>
            </p:cNvSpPr>
            <p:nvPr/>
          </p:nvSpPr>
          <p:spPr bwMode="auto">
            <a:xfrm>
              <a:off x="2736" y="2553"/>
              <a:ext cx="8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Column </a:t>
              </a:r>
              <a:r>
                <a:rPr lang="en-US" i="1" baseline="0"/>
                <a:t>j</a:t>
              </a:r>
            </a:p>
          </p:txBody>
        </p:sp>
        <p:sp>
          <p:nvSpPr>
            <p:cNvPr id="27662" name="Line 19"/>
            <p:cNvSpPr>
              <a:spLocks noChangeShapeType="1"/>
            </p:cNvSpPr>
            <p:nvPr/>
          </p:nvSpPr>
          <p:spPr bwMode="auto">
            <a:xfrm flipV="1">
              <a:off x="3072" y="23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7655" name="Picture 2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3900" y="1590675"/>
            <a:ext cx="7102475" cy="196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7467600" y="2133600"/>
            <a:ext cx="1524000" cy="366713"/>
            <a:chOff x="4704" y="1344"/>
            <a:chExt cx="960" cy="231"/>
          </a:xfrm>
        </p:grpSpPr>
        <p:sp>
          <p:nvSpPr>
            <p:cNvPr id="27659" name="Text Box 12"/>
            <p:cNvSpPr txBox="1">
              <a:spLocks noChangeArrowheads="1"/>
            </p:cNvSpPr>
            <p:nvPr/>
          </p:nvSpPr>
          <p:spPr bwMode="auto">
            <a:xfrm>
              <a:off x="5136" y="1344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Row </a:t>
              </a:r>
              <a:r>
                <a:rPr lang="en-US" i="1" baseline="0"/>
                <a:t>i</a:t>
              </a:r>
            </a:p>
          </p:txBody>
        </p:sp>
        <p:sp>
          <p:nvSpPr>
            <p:cNvPr id="27660" name="Line 14"/>
            <p:cNvSpPr>
              <a:spLocks noChangeShapeType="1"/>
            </p:cNvSpPr>
            <p:nvPr/>
          </p:nvSpPr>
          <p:spPr bwMode="auto">
            <a:xfrm flipH="1">
              <a:off x="4704" y="147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382" name="Oval 22"/>
          <p:cNvSpPr>
            <a:spLocks noChangeArrowheads="1"/>
          </p:cNvSpPr>
          <p:nvPr/>
        </p:nvSpPr>
        <p:spPr bwMode="auto">
          <a:xfrm>
            <a:off x="1905000" y="2057400"/>
            <a:ext cx="5943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383" name="Oval 23"/>
          <p:cNvSpPr>
            <a:spLocks noChangeArrowheads="1"/>
          </p:cNvSpPr>
          <p:nvPr/>
        </p:nvSpPr>
        <p:spPr bwMode="auto">
          <a:xfrm>
            <a:off x="4343400" y="1447800"/>
            <a:ext cx="1066800" cy="2209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/>
      <p:bldP spid="143382" grpId="0" animBg="1"/>
      <p:bldP spid="14338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95C1B3-C855-439F-9A50-FDB0363A4745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4000"/>
              <a:t>Computation of </a:t>
            </a:r>
            <a:br>
              <a:rPr lang="en-US" sz="4000"/>
            </a:br>
            <a:r>
              <a:rPr lang="en-US" sz="4000"/>
              <a:t>Transition Probabilities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167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The generalization of this approach to the computation of the </a:t>
            </a:r>
            <a:r>
              <a:rPr lang="en-US" sz="2800" i="1"/>
              <a:t>n</a:t>
            </a:r>
            <a:r>
              <a:rPr lang="en-US" sz="2800"/>
              <a:t>-step transition probabilities results in the so-called Chapman-Kolmogorov equations.</a:t>
            </a:r>
          </a:p>
        </p:txBody>
      </p:sp>
      <p:sp>
        <p:nvSpPr>
          <p:cNvPr id="144391" name="Rectangle 7"/>
          <p:cNvSpPr>
            <a:spLocks noChangeArrowheads="1"/>
          </p:cNvSpPr>
          <p:nvPr/>
        </p:nvSpPr>
        <p:spPr bwMode="auto">
          <a:xfrm>
            <a:off x="533400" y="5029200"/>
            <a:ext cx="8229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aseline="0"/>
              <a:t>Note that </a:t>
            </a:r>
            <a:r>
              <a:rPr lang="en-US" sz="2800" i="1" baseline="0"/>
              <a:t>P</a:t>
            </a:r>
            <a:r>
              <a:rPr lang="en-US" sz="2800" i="1"/>
              <a:t>ik</a:t>
            </a:r>
            <a:r>
              <a:rPr lang="en-US" sz="2800" i="1" baseline="30000"/>
              <a:t>(m)</a:t>
            </a:r>
            <a:r>
              <a:rPr lang="en-US" sz="2800" baseline="0">
                <a:latin typeface="cmsy10" pitchFamily="34" charset="0"/>
              </a:rPr>
              <a:t>¢</a:t>
            </a:r>
            <a:r>
              <a:rPr lang="en-US" sz="2800" baseline="0"/>
              <a:t> </a:t>
            </a:r>
            <a:r>
              <a:rPr lang="en-US" sz="2800" i="1" baseline="0"/>
              <a:t>P</a:t>
            </a:r>
            <a:r>
              <a:rPr lang="en-US" sz="2800" i="1"/>
              <a:t>kj</a:t>
            </a:r>
            <a:r>
              <a:rPr lang="en-US" sz="2800" i="1" baseline="30000"/>
              <a:t>(n-m)</a:t>
            </a:r>
            <a:r>
              <a:rPr lang="en-US" sz="2800" baseline="0"/>
              <a:t> is the conditional probability that, starting in state </a:t>
            </a:r>
            <a:r>
              <a:rPr lang="en-US" sz="2800" i="1" baseline="0"/>
              <a:t>i</a:t>
            </a:r>
            <a:r>
              <a:rPr lang="en-US" sz="2800" baseline="0"/>
              <a:t>, the process goes to state </a:t>
            </a:r>
            <a:r>
              <a:rPr lang="en-US" sz="2800" i="1" baseline="0"/>
              <a:t>k</a:t>
            </a:r>
            <a:r>
              <a:rPr lang="en-US" sz="2800" baseline="0"/>
              <a:t> after </a:t>
            </a:r>
            <a:r>
              <a:rPr lang="en-US" sz="2800" i="1" baseline="0"/>
              <a:t>m</a:t>
            </a:r>
            <a:r>
              <a:rPr lang="en-US" sz="2800" baseline="0"/>
              <a:t> steps and then to state </a:t>
            </a:r>
            <a:r>
              <a:rPr lang="en-US" sz="2800" i="1" baseline="0"/>
              <a:t>j</a:t>
            </a:r>
            <a:r>
              <a:rPr lang="en-US" sz="2800" baseline="0"/>
              <a:t> in (</a:t>
            </a:r>
            <a:r>
              <a:rPr lang="en-US" sz="2800" i="1" baseline="0"/>
              <a:t>n-m</a:t>
            </a:r>
            <a:r>
              <a:rPr lang="en-US" sz="2800" baseline="0"/>
              <a:t>) steps.</a:t>
            </a:r>
          </a:p>
        </p:txBody>
      </p:sp>
      <p:pic>
        <p:nvPicPr>
          <p:cNvPr id="28678" name="Picture 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" y="3040063"/>
            <a:ext cx="8382000" cy="189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C396E6-274F-472A-AC0A-4E7DD84EE4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Computation of </a:t>
            </a:r>
            <a:br>
              <a:rPr lang="en-US" sz="4000"/>
            </a:br>
            <a:r>
              <a:rPr lang="en-US" sz="4000"/>
              <a:t>Transition Probabilities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For the special cases of </a:t>
            </a:r>
            <a:r>
              <a:rPr lang="en-US" sz="2800" i="1"/>
              <a:t>m</a:t>
            </a:r>
            <a:r>
              <a:rPr lang="en-US" sz="2800"/>
              <a:t>=1 and </a:t>
            </a:r>
            <a:r>
              <a:rPr lang="en-US" sz="2800" i="1"/>
              <a:t>m</a:t>
            </a:r>
            <a:r>
              <a:rPr lang="en-US" sz="2800"/>
              <a:t>=</a:t>
            </a:r>
            <a:r>
              <a:rPr lang="en-US" sz="2800" i="1"/>
              <a:t>n</a:t>
            </a:r>
            <a:r>
              <a:rPr lang="en-US" sz="2800"/>
              <a:t>-1, we obtain</a:t>
            </a:r>
          </a:p>
        </p:txBody>
      </p:sp>
      <p:pic>
        <p:nvPicPr>
          <p:cNvPr id="29701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27088" y="2819400"/>
            <a:ext cx="3363912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2" name="Picture 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57238" y="3765550"/>
            <a:ext cx="3363912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3" name="Rectangle 9"/>
          <p:cNvSpPr>
            <a:spLocks noChangeArrowheads="1"/>
          </p:cNvSpPr>
          <p:nvPr/>
        </p:nvSpPr>
        <p:spPr bwMode="auto">
          <a:xfrm>
            <a:off x="457200" y="45720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aseline="0"/>
              <a:t>Using the equations above recursively:</a:t>
            </a:r>
          </a:p>
        </p:txBody>
      </p:sp>
      <p:pic>
        <p:nvPicPr>
          <p:cNvPr id="29704" name="Picture 1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90575" y="5284788"/>
            <a:ext cx="804862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5421" name="Rectangle 13"/>
          <p:cNvSpPr>
            <a:spLocks noChangeArrowheads="1"/>
          </p:cNvSpPr>
          <p:nvPr/>
        </p:nvSpPr>
        <p:spPr bwMode="auto">
          <a:xfrm>
            <a:off x="1981200" y="5257800"/>
            <a:ext cx="22860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5422" name="Rectangle 14"/>
          <p:cNvSpPr>
            <a:spLocks noChangeArrowheads="1"/>
          </p:cNvSpPr>
          <p:nvPr/>
        </p:nvSpPr>
        <p:spPr bwMode="auto">
          <a:xfrm>
            <a:off x="4343400" y="5257800"/>
            <a:ext cx="29718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5423" name="Rectangle 15"/>
          <p:cNvSpPr>
            <a:spLocks noChangeArrowheads="1"/>
          </p:cNvSpPr>
          <p:nvPr/>
        </p:nvSpPr>
        <p:spPr bwMode="auto">
          <a:xfrm>
            <a:off x="7391400" y="5257800"/>
            <a:ext cx="15240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9708" name="Picture 20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62000" y="5867400"/>
            <a:ext cx="80010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5429" name="Rectangle 21"/>
          <p:cNvSpPr>
            <a:spLocks noChangeArrowheads="1"/>
          </p:cNvSpPr>
          <p:nvPr/>
        </p:nvSpPr>
        <p:spPr bwMode="auto">
          <a:xfrm>
            <a:off x="1981200" y="5791200"/>
            <a:ext cx="22860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5430" name="Rectangle 22"/>
          <p:cNvSpPr>
            <a:spLocks noChangeArrowheads="1"/>
          </p:cNvSpPr>
          <p:nvPr/>
        </p:nvSpPr>
        <p:spPr bwMode="auto">
          <a:xfrm>
            <a:off x="4191000" y="5791200"/>
            <a:ext cx="31242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5431" name="Rectangle 23"/>
          <p:cNvSpPr>
            <a:spLocks noChangeArrowheads="1"/>
          </p:cNvSpPr>
          <p:nvPr/>
        </p:nvSpPr>
        <p:spPr bwMode="auto">
          <a:xfrm>
            <a:off x="7315200" y="5791200"/>
            <a:ext cx="16002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21" grpId="0" animBg="1"/>
      <p:bldP spid="145422" grpId="0" animBg="1"/>
      <p:bldP spid="145423" grpId="0" animBg="1"/>
      <p:bldP spid="145429" grpId="0" animBg="1"/>
      <p:bldP spid="145430" grpId="0" animBg="1"/>
      <p:bldP spid="1454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75844A4-548D-4848-AF05-DF92BA055FA1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i="1"/>
              <a:t>n</a:t>
            </a:r>
            <a:r>
              <a:rPr lang="en-US" sz="4000"/>
              <a:t>-Step Transition Matrices for the Weather Example</a:t>
            </a:r>
            <a:endParaRPr lang="en-US" sz="4000" i="1"/>
          </a:p>
        </p:txBody>
      </p:sp>
      <p:pic>
        <p:nvPicPr>
          <p:cNvPr id="30724" name="Picture 13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7950" y="2590800"/>
            <a:ext cx="827405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1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17475" y="3490913"/>
            <a:ext cx="8569325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6" name="Picture 18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7950" y="4405313"/>
            <a:ext cx="8569325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7" name="Picture 20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1438" y="5238750"/>
            <a:ext cx="8569325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6454" name="Oval 22"/>
          <p:cNvSpPr>
            <a:spLocks noChangeArrowheads="1"/>
          </p:cNvSpPr>
          <p:nvPr/>
        </p:nvSpPr>
        <p:spPr bwMode="auto">
          <a:xfrm>
            <a:off x="7467600" y="2514600"/>
            <a:ext cx="762000" cy="457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791200" y="1416050"/>
            <a:ext cx="3124200" cy="1098550"/>
            <a:chOff x="3648" y="892"/>
            <a:chExt cx="1968" cy="692"/>
          </a:xfrm>
        </p:grpSpPr>
        <p:sp>
          <p:nvSpPr>
            <p:cNvPr id="30735" name="Text Box 23"/>
            <p:cNvSpPr txBox="1">
              <a:spLocks noChangeArrowheads="1"/>
            </p:cNvSpPr>
            <p:nvPr/>
          </p:nvSpPr>
          <p:spPr bwMode="auto">
            <a:xfrm>
              <a:off x="3648" y="892"/>
              <a:ext cx="196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Probability of rain two days from now if it is dry today.</a:t>
              </a:r>
            </a:p>
          </p:txBody>
        </p:sp>
        <p:sp>
          <p:nvSpPr>
            <p:cNvPr id="30736" name="Line 24"/>
            <p:cNvSpPr>
              <a:spLocks noChangeShapeType="1"/>
            </p:cNvSpPr>
            <p:nvPr/>
          </p:nvSpPr>
          <p:spPr bwMode="auto">
            <a:xfrm>
              <a:off x="4848" y="129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730" name="Picture 26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96850" y="1670050"/>
            <a:ext cx="247015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6459" name="Rectangle 27"/>
          <p:cNvSpPr>
            <a:spLocks noChangeArrowheads="1"/>
          </p:cNvSpPr>
          <p:nvPr/>
        </p:nvSpPr>
        <p:spPr bwMode="auto">
          <a:xfrm>
            <a:off x="76200" y="2438400"/>
            <a:ext cx="87630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6460" name="Rectangle 28"/>
          <p:cNvSpPr>
            <a:spLocks noChangeArrowheads="1"/>
          </p:cNvSpPr>
          <p:nvPr/>
        </p:nvSpPr>
        <p:spPr bwMode="auto">
          <a:xfrm>
            <a:off x="76200" y="3352800"/>
            <a:ext cx="87630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6461" name="Rectangle 29"/>
          <p:cNvSpPr>
            <a:spLocks noChangeArrowheads="1"/>
          </p:cNvSpPr>
          <p:nvPr/>
        </p:nvSpPr>
        <p:spPr bwMode="auto">
          <a:xfrm>
            <a:off x="76200" y="4267200"/>
            <a:ext cx="8763000" cy="838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6462" name="Rectangle 30"/>
          <p:cNvSpPr>
            <a:spLocks noChangeArrowheads="1"/>
          </p:cNvSpPr>
          <p:nvPr/>
        </p:nvSpPr>
        <p:spPr bwMode="auto">
          <a:xfrm>
            <a:off x="76200" y="5181600"/>
            <a:ext cx="8763000" cy="76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54" grpId="0" animBg="1"/>
      <p:bldP spid="146459" grpId="0" animBg="1"/>
      <p:bldP spid="146460" grpId="0" animBg="1"/>
      <p:bldP spid="146461" grpId="0" animBg="1"/>
      <p:bldP spid="14646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70D4CDE-4248-4FE2-B506-55E5772828C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i="1"/>
              <a:t>n</a:t>
            </a:r>
            <a:r>
              <a:rPr lang="en-US" sz="4000"/>
              <a:t>-Step Transition Matrices for the Weather Example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743200"/>
            <a:ext cx="82296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What does </a:t>
            </a:r>
            <a:r>
              <a:rPr lang="en-US" i="1" dirty="0"/>
              <a:t>P</a:t>
            </a:r>
            <a:r>
              <a:rPr lang="en-US" baseline="30000" dirty="0"/>
              <a:t>(5)</a:t>
            </a:r>
            <a:r>
              <a:rPr lang="en-US" dirty="0"/>
              <a:t> tell us?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probability of being dry five days from now is 0.75 regardless of whether it is dry today or not.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probability of rain five days from now is 0.25 regardless of whether it is raining today or not.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These probabilities are the </a:t>
            </a:r>
            <a:r>
              <a:rPr lang="en-US" i="1" dirty="0"/>
              <a:t>steady-state probabilities</a:t>
            </a:r>
            <a:r>
              <a:rPr lang="en-US" dirty="0"/>
              <a:t> of this Markov Chain.</a:t>
            </a:r>
          </a:p>
        </p:txBody>
      </p:sp>
      <p:pic>
        <p:nvPicPr>
          <p:cNvPr id="31749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2200" y="1600200"/>
            <a:ext cx="40386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B3B6CC-7363-4794-ABA8-921F3AC29A3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Unconditional State Probabilities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924800" cy="2819400"/>
          </a:xfrm>
        </p:spPr>
        <p:txBody>
          <a:bodyPr/>
          <a:lstStyle/>
          <a:p>
            <a:r>
              <a:rPr lang="en-US" sz="2800"/>
              <a:t>The </a:t>
            </a:r>
            <a:r>
              <a:rPr lang="en-US" sz="2800" i="1"/>
              <a:t>n-</a:t>
            </a:r>
            <a:r>
              <a:rPr lang="en-US" sz="2800"/>
              <a:t>step transition probabilities </a:t>
            </a:r>
            <a:br>
              <a:rPr lang="en-US" sz="2800"/>
            </a:br>
            <a:r>
              <a:rPr lang="en-US" sz="2800" i="1"/>
              <a:t>P</a:t>
            </a:r>
            <a:r>
              <a:rPr lang="en-US" sz="2800" i="1" baseline="30000"/>
              <a:t>(n)</a:t>
            </a:r>
            <a:r>
              <a:rPr lang="en-US" sz="2800" i="1" baseline="-25000"/>
              <a:t>ij</a:t>
            </a:r>
            <a:r>
              <a:rPr lang="en-US" sz="2800"/>
              <a:t> = </a:t>
            </a:r>
            <a:r>
              <a:rPr lang="en-US" sz="2800" i="1"/>
              <a:t>P(X</a:t>
            </a:r>
            <a:r>
              <a:rPr lang="en-US" sz="2800" i="1" baseline="-25000"/>
              <a:t>n</a:t>
            </a:r>
            <a:r>
              <a:rPr lang="en-US" sz="2800" i="1"/>
              <a:t>=j </a:t>
            </a:r>
            <a:r>
              <a:rPr lang="en-US" sz="2800"/>
              <a:t>/ </a:t>
            </a:r>
            <a:r>
              <a:rPr lang="en-US" sz="2800" i="1"/>
              <a:t>X</a:t>
            </a:r>
            <a:r>
              <a:rPr lang="en-US" sz="2800" baseline="-25000"/>
              <a:t>0</a:t>
            </a:r>
            <a:r>
              <a:rPr lang="en-US" sz="2800" i="1"/>
              <a:t>=i</a:t>
            </a:r>
            <a:r>
              <a:rPr lang="en-US" sz="2800"/>
              <a:t>) are conditional probabilities. </a:t>
            </a:r>
          </a:p>
          <a:p>
            <a:r>
              <a:rPr lang="en-US" sz="2800"/>
              <a:t>If we need the unconditional probability of being in state </a:t>
            </a:r>
            <a:r>
              <a:rPr lang="en-US" sz="2800" i="1"/>
              <a:t>j</a:t>
            </a:r>
            <a:r>
              <a:rPr lang="en-US" sz="2800"/>
              <a:t> after </a:t>
            </a:r>
            <a:r>
              <a:rPr lang="en-US" sz="2800" i="1"/>
              <a:t>n</a:t>
            </a:r>
            <a:r>
              <a:rPr lang="en-US" sz="2800"/>
              <a:t> steps, i.e., </a:t>
            </a:r>
            <a:r>
              <a:rPr lang="en-US" sz="2800" i="1"/>
              <a:t>P</a:t>
            </a:r>
            <a:r>
              <a:rPr lang="en-US" sz="2800"/>
              <a:t>(</a:t>
            </a:r>
            <a:r>
              <a:rPr lang="en-US" sz="2800" i="1"/>
              <a:t>X</a:t>
            </a:r>
            <a:r>
              <a:rPr lang="en-US" sz="2800" i="1" baseline="-25000"/>
              <a:t>n</a:t>
            </a:r>
            <a:r>
              <a:rPr lang="en-US" sz="2800" i="1"/>
              <a:t> = j</a:t>
            </a:r>
            <a:r>
              <a:rPr lang="en-US" sz="2800"/>
              <a:t>)</a:t>
            </a:r>
            <a:r>
              <a:rPr lang="en-US" sz="2800" i="1"/>
              <a:t>,</a:t>
            </a:r>
            <a:r>
              <a:rPr lang="en-US" sz="2800"/>
              <a:t> then we need to compute</a:t>
            </a:r>
          </a:p>
          <a:p>
            <a:pPr lvl="1">
              <a:buFontTx/>
              <a:buNone/>
            </a:pPr>
            <a:endParaRPr lang="en-US" sz="2400" i="1"/>
          </a:p>
        </p:txBody>
      </p:sp>
      <p:pic>
        <p:nvPicPr>
          <p:cNvPr id="14848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4075" y="4416425"/>
            <a:ext cx="7680325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94E034E-CB5A-4FD8-81B3-B6046F91270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Unconditional State Probabilities for the Weather Example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600200"/>
          </a:xfrm>
        </p:spPr>
        <p:txBody>
          <a:bodyPr/>
          <a:lstStyle/>
          <a:p>
            <a:r>
              <a:rPr lang="en-US"/>
              <a:t>Assume that it rained 131 days last year. What is the probability of rain two days from now?</a:t>
            </a:r>
          </a:p>
        </p:txBody>
      </p:sp>
      <p:pic>
        <p:nvPicPr>
          <p:cNvPr id="149509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30500" y="3119438"/>
            <a:ext cx="3060700" cy="72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457200" y="4038600"/>
            <a:ext cx="86868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aseline="0"/>
              <a:t>Hence,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baseline="0"/>
              <a:t>	P(rain two days from now)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baseline="0"/>
              <a:t>	= (365-131)/365 * 0.240 + 131/365 * 0.280 = 0.254.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/>
      <p:bldP spid="1495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DCF78A-1A08-4ECA-80E4-40E2732F635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Unconditional State Probabilities for the Weather Example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819400"/>
          </a:xfrm>
        </p:spPr>
        <p:txBody>
          <a:bodyPr/>
          <a:lstStyle/>
          <a:p>
            <a:r>
              <a:rPr lang="en-US" sz="2800"/>
              <a:t>Let </a:t>
            </a:r>
            <a:r>
              <a:rPr lang="en-US" sz="2800" i="1"/>
              <a:t>q</a:t>
            </a:r>
            <a:r>
              <a:rPr lang="en-US" sz="2800" i="1" baseline="-25000"/>
              <a:t>i</a:t>
            </a:r>
            <a:r>
              <a:rPr lang="en-US" sz="2800"/>
              <a:t> be the probability of </a:t>
            </a:r>
            <a:r>
              <a:rPr lang="en-US" sz="2800" i="1"/>
              <a:t>being</a:t>
            </a:r>
            <a:r>
              <a:rPr lang="en-US" sz="2800"/>
              <a:t> in state </a:t>
            </a:r>
            <a:r>
              <a:rPr lang="en-US" sz="2800" i="1"/>
              <a:t>i</a:t>
            </a:r>
            <a:r>
              <a:rPr lang="en-US" sz="2800"/>
              <a:t> at time 0, and let </a:t>
            </a:r>
            <a:r>
              <a:rPr lang="en-US" sz="2800" i="1"/>
              <a:t>q</a:t>
            </a:r>
            <a:r>
              <a:rPr lang="en-US" sz="2800"/>
              <a:t> be a row vector of these initial probabilities. Then, </a:t>
            </a:r>
            <a:r>
              <a:rPr lang="en-US" sz="2800" i="1"/>
              <a:t>q</a:t>
            </a:r>
            <a:r>
              <a:rPr lang="en-US" sz="2800"/>
              <a:t> </a:t>
            </a:r>
            <a:r>
              <a:rPr lang="en-US" sz="2800">
                <a:latin typeface="cmsy10" pitchFamily="34" charset="0"/>
              </a:rPr>
              <a:t>¢</a:t>
            </a:r>
            <a:r>
              <a:rPr lang="en-US" sz="2800"/>
              <a:t> </a:t>
            </a:r>
            <a:r>
              <a:rPr lang="en-US" sz="2800" i="1"/>
              <a:t>P</a:t>
            </a:r>
            <a:r>
              <a:rPr lang="en-US" sz="2800" baseline="30000"/>
              <a:t>(</a:t>
            </a:r>
            <a:r>
              <a:rPr lang="en-US" sz="2800" i="1" baseline="30000"/>
              <a:t>n</a:t>
            </a:r>
            <a:r>
              <a:rPr lang="en-US" sz="2800" baseline="30000"/>
              <a:t>)</a:t>
            </a:r>
            <a:r>
              <a:rPr lang="en-US" sz="2800" i="1" baseline="-25000"/>
              <a:t>.j</a:t>
            </a:r>
            <a:r>
              <a:rPr lang="en-US" sz="2800"/>
              <a:t> yields the probability of being in state </a:t>
            </a:r>
            <a:r>
              <a:rPr lang="en-US" sz="2800" i="1"/>
              <a:t>j</a:t>
            </a:r>
            <a:r>
              <a:rPr lang="en-US" sz="2800"/>
              <a:t> after </a:t>
            </a:r>
            <a:r>
              <a:rPr lang="en-US" sz="2800" i="1"/>
              <a:t>n</a:t>
            </a:r>
            <a:r>
              <a:rPr lang="en-US" sz="2800"/>
              <a:t> steps, where </a:t>
            </a:r>
            <a:r>
              <a:rPr lang="en-US" sz="2800" i="1"/>
              <a:t>P</a:t>
            </a:r>
            <a:r>
              <a:rPr lang="en-US" sz="2800" baseline="30000"/>
              <a:t>(</a:t>
            </a:r>
            <a:r>
              <a:rPr lang="en-US" sz="2800" i="1" baseline="30000"/>
              <a:t>n</a:t>
            </a:r>
            <a:r>
              <a:rPr lang="en-US" sz="2800" baseline="30000"/>
              <a:t>)</a:t>
            </a:r>
            <a:r>
              <a:rPr lang="en-US" sz="2800" i="1" baseline="-25000"/>
              <a:t>.j</a:t>
            </a:r>
            <a:r>
              <a:rPr lang="en-US" sz="2800"/>
              <a:t> is the </a:t>
            </a:r>
            <a:r>
              <a:rPr lang="en-US" sz="2800" i="1"/>
              <a:t>j</a:t>
            </a:r>
            <a:r>
              <a:rPr lang="en-US" sz="2800" baseline="30000"/>
              <a:t>th</a:t>
            </a:r>
            <a:r>
              <a:rPr lang="en-US" sz="2800"/>
              <a:t> column of </a:t>
            </a:r>
            <a:r>
              <a:rPr lang="en-US" sz="2800" i="1"/>
              <a:t>P</a:t>
            </a:r>
            <a:r>
              <a:rPr lang="en-US" sz="2800" i="1" baseline="30000"/>
              <a:t>(n)</a:t>
            </a:r>
            <a:r>
              <a:rPr lang="en-US" sz="2800" i="1"/>
              <a:t>.</a:t>
            </a:r>
            <a:endParaRPr lang="en-US" sz="2800"/>
          </a:p>
          <a:p>
            <a:r>
              <a:rPr lang="en-US" sz="2800"/>
              <a:t>For the weather example:</a:t>
            </a:r>
          </a:p>
        </p:txBody>
      </p:sp>
      <p:pic>
        <p:nvPicPr>
          <p:cNvPr id="150533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4543425"/>
            <a:ext cx="80010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0534" name="Oval 6"/>
          <p:cNvSpPr>
            <a:spLocks noChangeArrowheads="1"/>
          </p:cNvSpPr>
          <p:nvPr/>
        </p:nvSpPr>
        <p:spPr bwMode="auto">
          <a:xfrm>
            <a:off x="6629400" y="4648200"/>
            <a:ext cx="914400" cy="5334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0535" name="Oval 7"/>
          <p:cNvSpPr>
            <a:spLocks noChangeArrowheads="1"/>
          </p:cNvSpPr>
          <p:nvPr/>
        </p:nvSpPr>
        <p:spPr bwMode="auto">
          <a:xfrm>
            <a:off x="7620000" y="4648200"/>
            <a:ext cx="914400" cy="5334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6934200" y="5181600"/>
            <a:ext cx="2209800" cy="1022350"/>
            <a:chOff x="4368" y="3264"/>
            <a:chExt cx="1392" cy="644"/>
          </a:xfrm>
        </p:grpSpPr>
        <p:sp>
          <p:nvSpPr>
            <p:cNvPr id="34828" name="Line 10"/>
            <p:cNvSpPr>
              <a:spLocks noChangeShapeType="1"/>
            </p:cNvSpPr>
            <p:nvPr/>
          </p:nvSpPr>
          <p:spPr bwMode="auto">
            <a:xfrm flipV="1">
              <a:off x="5088" y="32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29" name="Rectangle 12"/>
            <p:cNvSpPr>
              <a:spLocks noChangeArrowheads="1"/>
            </p:cNvSpPr>
            <p:nvPr/>
          </p:nvSpPr>
          <p:spPr bwMode="auto">
            <a:xfrm>
              <a:off x="4368" y="3504"/>
              <a:ext cx="139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Probability of rain two days from now 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4648200" y="5181600"/>
            <a:ext cx="2209800" cy="1220788"/>
            <a:chOff x="2928" y="3264"/>
            <a:chExt cx="1392" cy="769"/>
          </a:xfrm>
        </p:grpSpPr>
        <p:sp>
          <p:nvSpPr>
            <p:cNvPr id="34826" name="Line 9"/>
            <p:cNvSpPr>
              <a:spLocks noChangeShapeType="1"/>
            </p:cNvSpPr>
            <p:nvPr/>
          </p:nvSpPr>
          <p:spPr bwMode="auto">
            <a:xfrm flipV="1">
              <a:off x="3936" y="3264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27" name="Rectangle 13"/>
            <p:cNvSpPr>
              <a:spLocks noChangeArrowheads="1"/>
            </p:cNvSpPr>
            <p:nvPr/>
          </p:nvSpPr>
          <p:spPr bwMode="auto">
            <a:xfrm>
              <a:off x="2928" y="3456"/>
              <a:ext cx="1392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Probability of being dry two days from now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4" grpId="0" animBg="1"/>
      <p:bldP spid="1505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Investment Example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/>
              <a:t>An investor buys shares of a stock at 38 TL. </a:t>
            </a:r>
          </a:p>
          <a:p>
            <a:r>
              <a:rPr lang="en-US"/>
              <a:t>He gives orders to his broker to sell the stock as soon as its price rises to 40 TL or above or falls to 37 TL or below. </a:t>
            </a:r>
          </a:p>
          <a:p>
            <a:r>
              <a:rPr lang="en-US"/>
              <a:t>From observing this stock over the last few weeks, the investor estimates that the probability of a price rise of 1 TL is 0.5 and that the probability of a price decline of 1 TL is 0.2 for each day.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7F3E26-FECB-4F10-B6F7-4C2B8A062A52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Investment Example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Tx/>
              <a:buAutoNum type="alphaLcPeriod"/>
            </a:pPr>
            <a:r>
              <a:rPr lang="en-US" sz="2800"/>
              <a:t>What is the probability that the broker sells the stock within 4 days?</a:t>
            </a:r>
          </a:p>
          <a:p>
            <a:pPr marL="514350" indent="-514350">
              <a:buFontTx/>
              <a:buAutoNum type="alphaLcPeriod"/>
            </a:pPr>
            <a:r>
              <a:rPr lang="en-US" sz="2800"/>
              <a:t>Only for this part of the problem, assume that the investor has to sell the stock within 4 days. In other words, either the selling conditions are met and the stock is sold within 4 days, or the selling conditions are not met within 4 days, and the stock is sold at the current price at the end of the 4</a:t>
            </a:r>
            <a:r>
              <a:rPr lang="en-US" sz="2800" baseline="30000"/>
              <a:t>th</a:t>
            </a:r>
            <a:r>
              <a:rPr lang="en-US" sz="2800"/>
              <a:t> day. What is the expected net loss/gain per share at the end of the 4th day?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7B4246-4651-49BD-96C0-A530FAA9AA93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F20371-A91A-43FC-8908-AFF3F8AA00D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Classification of States in a </a:t>
            </a:r>
            <a:br>
              <a:rPr lang="en-US" sz="4000"/>
            </a:br>
            <a:r>
              <a:rPr lang="en-US" sz="4000"/>
              <a:t>Markov Chain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Given two states </a:t>
            </a:r>
            <a:r>
              <a:rPr lang="en-US" i="1"/>
              <a:t>i</a:t>
            </a:r>
            <a:r>
              <a:rPr lang="en-US"/>
              <a:t> and </a:t>
            </a:r>
            <a:r>
              <a:rPr lang="en-US" i="1"/>
              <a:t>j</a:t>
            </a:r>
            <a:r>
              <a:rPr lang="en-US"/>
              <a:t>, a </a:t>
            </a:r>
            <a:r>
              <a:rPr lang="en-US" b="1" i="1"/>
              <a:t>path</a:t>
            </a:r>
            <a:r>
              <a:rPr lang="en-US"/>
              <a:t> from </a:t>
            </a:r>
            <a:r>
              <a:rPr lang="en-US" i="1"/>
              <a:t>i</a:t>
            </a:r>
            <a:r>
              <a:rPr lang="en-US"/>
              <a:t> to </a:t>
            </a:r>
            <a:r>
              <a:rPr lang="en-US" i="1"/>
              <a:t>j</a:t>
            </a:r>
            <a:r>
              <a:rPr lang="en-US"/>
              <a:t> is a sequence of transitions that begins at </a:t>
            </a:r>
            <a:r>
              <a:rPr lang="en-US" i="1"/>
              <a:t>i</a:t>
            </a:r>
            <a:r>
              <a:rPr lang="en-US"/>
              <a:t> and ends at </a:t>
            </a:r>
            <a:r>
              <a:rPr lang="en-US" i="1"/>
              <a:t>j</a:t>
            </a:r>
            <a:r>
              <a:rPr lang="en-US"/>
              <a:t> such that each transition in the sequence has a positive probability of occurring.</a:t>
            </a:r>
          </a:p>
          <a:p>
            <a:pPr>
              <a:lnSpc>
                <a:spcPct val="90000"/>
              </a:lnSpc>
            </a:pPr>
            <a:r>
              <a:rPr lang="en-US"/>
              <a:t>State </a:t>
            </a:r>
            <a:r>
              <a:rPr lang="en-US" i="1"/>
              <a:t>j </a:t>
            </a:r>
            <a:r>
              <a:rPr lang="en-US"/>
              <a:t>is said to be </a:t>
            </a:r>
            <a:r>
              <a:rPr lang="en-US" b="1" i="1"/>
              <a:t>accessible</a:t>
            </a:r>
            <a:r>
              <a:rPr lang="en-US"/>
              <a:t> from state </a:t>
            </a:r>
            <a:r>
              <a:rPr lang="en-US" i="1"/>
              <a:t>i </a:t>
            </a:r>
            <a:r>
              <a:rPr lang="en-US"/>
              <a:t>if </a:t>
            </a:r>
            <a:r>
              <a:rPr lang="en-US" i="1"/>
              <a:t>P</a:t>
            </a:r>
            <a:r>
              <a:rPr lang="en-US" i="1" baseline="-25000"/>
              <a:t>ij</a:t>
            </a:r>
            <a:r>
              <a:rPr lang="en-US" baseline="30000"/>
              <a:t>(</a:t>
            </a:r>
            <a:r>
              <a:rPr lang="en-US" i="1" baseline="30000"/>
              <a:t>n</a:t>
            </a:r>
            <a:r>
              <a:rPr lang="en-US" baseline="30000"/>
              <a:t>)</a:t>
            </a:r>
            <a:r>
              <a:rPr lang="en-US"/>
              <a:t> &gt; 0 for some </a:t>
            </a:r>
            <a:r>
              <a:rPr lang="en-US" i="1"/>
              <a:t>n </a:t>
            </a:r>
            <a:r>
              <a:rPr lang="en-US">
                <a:latin typeface="cmsy10" pitchFamily="34" charset="0"/>
              </a:rPr>
              <a:t>¸</a:t>
            </a:r>
            <a:r>
              <a:rPr lang="en-US" i="1"/>
              <a:t> </a:t>
            </a:r>
            <a:r>
              <a:rPr lang="en-US"/>
              <a:t>0.</a:t>
            </a:r>
          </a:p>
          <a:p>
            <a:pPr lvl="1">
              <a:lnSpc>
                <a:spcPct val="90000"/>
              </a:lnSpc>
            </a:pPr>
            <a:r>
              <a:rPr lang="en-US"/>
              <a:t>A path exists from </a:t>
            </a:r>
            <a:r>
              <a:rPr lang="en-US" i="1"/>
              <a:t>i</a:t>
            </a:r>
            <a:r>
              <a:rPr lang="en-US"/>
              <a:t> to </a:t>
            </a:r>
            <a:r>
              <a:rPr lang="en-US" i="1"/>
              <a:t>j</a:t>
            </a:r>
            <a:r>
              <a:rPr lang="en-US"/>
              <a:t>.</a:t>
            </a:r>
          </a:p>
          <a:p>
            <a:pPr lvl="1">
              <a:lnSpc>
                <a:spcPct val="90000"/>
              </a:lnSpc>
            </a:pPr>
            <a:r>
              <a:rPr lang="en-US"/>
              <a:t>It is possible for the system to eventually enter state </a:t>
            </a:r>
            <a:r>
              <a:rPr lang="en-US" i="1"/>
              <a:t>j</a:t>
            </a:r>
            <a:r>
              <a:rPr lang="en-US"/>
              <a:t> starting from state </a:t>
            </a:r>
            <a:r>
              <a:rPr lang="en-US" i="1"/>
              <a:t>i</a:t>
            </a:r>
            <a:r>
              <a:rPr lang="en-US"/>
              <a:t>. 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FD8CC1-44F1-48D6-AB75-7AB955B443A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3891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1371600"/>
            <a:ext cx="4284663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98"/>
          <p:cNvGrpSpPr>
            <a:grpSpLocks/>
          </p:cNvGrpSpPr>
          <p:nvPr/>
        </p:nvGrpSpPr>
        <p:grpSpPr bwMode="auto">
          <a:xfrm>
            <a:off x="609600" y="3581400"/>
            <a:ext cx="8153400" cy="2667000"/>
            <a:chOff x="384" y="2256"/>
            <a:chExt cx="5136" cy="1680"/>
          </a:xfrm>
        </p:grpSpPr>
        <p:sp>
          <p:nvSpPr>
            <p:cNvPr id="38918" name="Oval 64"/>
            <p:cNvSpPr>
              <a:spLocks noChangeArrowheads="1"/>
            </p:cNvSpPr>
            <p:nvPr/>
          </p:nvSpPr>
          <p:spPr bwMode="auto">
            <a:xfrm>
              <a:off x="576" y="264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38919" name="Oval 65"/>
            <p:cNvSpPr>
              <a:spLocks noChangeArrowheads="1"/>
            </p:cNvSpPr>
            <p:nvPr/>
          </p:nvSpPr>
          <p:spPr bwMode="auto">
            <a:xfrm>
              <a:off x="1872" y="264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sp>
          <p:nvSpPr>
            <p:cNvPr id="38920" name="Oval 66"/>
            <p:cNvSpPr>
              <a:spLocks noChangeArrowheads="1"/>
            </p:cNvSpPr>
            <p:nvPr/>
          </p:nvSpPr>
          <p:spPr bwMode="auto">
            <a:xfrm>
              <a:off x="3552" y="264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3</a:t>
              </a:r>
            </a:p>
          </p:txBody>
        </p:sp>
        <p:sp>
          <p:nvSpPr>
            <p:cNvPr id="38921" name="Oval 67"/>
            <p:cNvSpPr>
              <a:spLocks noChangeArrowheads="1"/>
            </p:cNvSpPr>
            <p:nvPr/>
          </p:nvSpPr>
          <p:spPr bwMode="auto">
            <a:xfrm>
              <a:off x="4800" y="264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4</a:t>
              </a:r>
            </a:p>
          </p:txBody>
        </p:sp>
        <p:sp>
          <p:nvSpPr>
            <p:cNvPr id="38922" name="Oval 68"/>
            <p:cNvSpPr>
              <a:spLocks noChangeArrowheads="1"/>
            </p:cNvSpPr>
            <p:nvPr/>
          </p:nvSpPr>
          <p:spPr bwMode="auto">
            <a:xfrm>
              <a:off x="4128" y="360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5</a:t>
              </a:r>
            </a:p>
          </p:txBody>
        </p:sp>
        <p:cxnSp>
          <p:nvCxnSpPr>
            <p:cNvPr id="38923" name="AutoShape 73"/>
            <p:cNvCxnSpPr>
              <a:cxnSpLocks noChangeShapeType="1"/>
              <a:stCxn id="38920" idx="0"/>
              <a:endCxn id="38921" idx="0"/>
            </p:cNvCxnSpPr>
            <p:nvPr/>
          </p:nvCxnSpPr>
          <p:spPr bwMode="auto">
            <a:xfrm rot="5400000" flipV="1">
              <a:off x="4343" y="2017"/>
              <a:ext cx="1" cy="1248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24" name="AutoShape 74"/>
            <p:cNvCxnSpPr>
              <a:cxnSpLocks noChangeShapeType="1"/>
              <a:stCxn id="38920" idx="0"/>
              <a:endCxn id="38920" idx="2"/>
            </p:cNvCxnSpPr>
            <p:nvPr/>
          </p:nvCxnSpPr>
          <p:spPr bwMode="auto">
            <a:xfrm rot="-5400000" flipH="1" flipV="1">
              <a:off x="3552" y="264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25" name="AutoShape 78"/>
            <p:cNvCxnSpPr>
              <a:cxnSpLocks noChangeShapeType="1"/>
              <a:stCxn id="38921" idx="0"/>
              <a:endCxn id="38921" idx="6"/>
            </p:cNvCxnSpPr>
            <p:nvPr/>
          </p:nvCxnSpPr>
          <p:spPr bwMode="auto">
            <a:xfrm rot="5400000" flipV="1">
              <a:off x="4968" y="264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26" name="AutoShape 79"/>
            <p:cNvCxnSpPr>
              <a:cxnSpLocks noChangeShapeType="1"/>
              <a:stCxn id="38921" idx="4"/>
              <a:endCxn id="38920" idx="4"/>
            </p:cNvCxnSpPr>
            <p:nvPr/>
          </p:nvCxnSpPr>
          <p:spPr bwMode="auto">
            <a:xfrm rot="5400000">
              <a:off x="4343" y="2353"/>
              <a:ext cx="1" cy="1248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27" name="AutoShape 80"/>
            <p:cNvCxnSpPr>
              <a:cxnSpLocks noChangeShapeType="1"/>
              <a:stCxn id="38921" idx="4"/>
              <a:endCxn id="38922" idx="6"/>
            </p:cNvCxnSpPr>
            <p:nvPr/>
          </p:nvCxnSpPr>
          <p:spPr bwMode="auto">
            <a:xfrm rot="5400000">
              <a:off x="4320" y="3120"/>
              <a:ext cx="792" cy="50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28" name="AutoShape 81"/>
            <p:cNvCxnSpPr>
              <a:cxnSpLocks noChangeShapeType="1"/>
              <a:stCxn id="38922" idx="0"/>
              <a:endCxn id="38921" idx="2"/>
            </p:cNvCxnSpPr>
            <p:nvPr/>
          </p:nvCxnSpPr>
          <p:spPr bwMode="auto">
            <a:xfrm rot="-5400000">
              <a:off x="4152" y="2952"/>
              <a:ext cx="792" cy="50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29" name="AutoShape 82"/>
            <p:cNvCxnSpPr>
              <a:cxnSpLocks noChangeShapeType="1"/>
              <a:stCxn id="38922" idx="0"/>
              <a:endCxn id="38922" idx="2"/>
            </p:cNvCxnSpPr>
            <p:nvPr/>
          </p:nvCxnSpPr>
          <p:spPr bwMode="auto">
            <a:xfrm rot="-5400000" flipH="1" flipV="1">
              <a:off x="4128" y="360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30" name="AutoShape 83"/>
            <p:cNvCxnSpPr>
              <a:cxnSpLocks noChangeShapeType="1"/>
              <a:stCxn id="38918" idx="0"/>
              <a:endCxn id="38918" idx="2"/>
            </p:cNvCxnSpPr>
            <p:nvPr/>
          </p:nvCxnSpPr>
          <p:spPr bwMode="auto">
            <a:xfrm rot="-5400000" flipH="1" flipV="1">
              <a:off x="576" y="264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31" name="AutoShape 84"/>
            <p:cNvCxnSpPr>
              <a:cxnSpLocks noChangeShapeType="1"/>
              <a:stCxn id="38919" idx="0"/>
              <a:endCxn id="38919" idx="6"/>
            </p:cNvCxnSpPr>
            <p:nvPr/>
          </p:nvCxnSpPr>
          <p:spPr bwMode="auto">
            <a:xfrm rot="5400000" flipV="1">
              <a:off x="2040" y="264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32" name="AutoShape 85"/>
            <p:cNvCxnSpPr>
              <a:cxnSpLocks noChangeShapeType="1"/>
              <a:stCxn id="38918" idx="0"/>
              <a:endCxn id="38919" idx="0"/>
            </p:cNvCxnSpPr>
            <p:nvPr/>
          </p:nvCxnSpPr>
          <p:spPr bwMode="auto">
            <a:xfrm rot="5400000" flipV="1">
              <a:off x="1391" y="1993"/>
              <a:ext cx="1" cy="1296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933" name="AutoShape 86"/>
            <p:cNvCxnSpPr>
              <a:cxnSpLocks noChangeShapeType="1"/>
              <a:stCxn id="38919" idx="4"/>
              <a:endCxn id="38918" idx="4"/>
            </p:cNvCxnSpPr>
            <p:nvPr/>
          </p:nvCxnSpPr>
          <p:spPr bwMode="auto">
            <a:xfrm rot="5400000">
              <a:off x="1391" y="2329"/>
              <a:ext cx="1" cy="1296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8934" name="Text Box 87"/>
            <p:cNvSpPr txBox="1">
              <a:spLocks noChangeArrowheads="1"/>
            </p:cNvSpPr>
            <p:nvPr/>
          </p:nvSpPr>
          <p:spPr bwMode="auto">
            <a:xfrm>
              <a:off x="384" y="225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38935" name="Text Box 88"/>
            <p:cNvSpPr txBox="1">
              <a:spLocks noChangeArrowheads="1"/>
            </p:cNvSpPr>
            <p:nvPr/>
          </p:nvSpPr>
          <p:spPr bwMode="auto">
            <a:xfrm>
              <a:off x="1344" y="2313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0.6</a:t>
              </a:r>
            </a:p>
          </p:txBody>
        </p:sp>
        <p:sp>
          <p:nvSpPr>
            <p:cNvPr id="38936" name="Text Box 89"/>
            <p:cNvSpPr txBox="1">
              <a:spLocks noChangeArrowheads="1"/>
            </p:cNvSpPr>
            <p:nvPr/>
          </p:nvSpPr>
          <p:spPr bwMode="auto">
            <a:xfrm>
              <a:off x="2208" y="2352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38937" name="Text Box 90"/>
            <p:cNvSpPr txBox="1">
              <a:spLocks noChangeArrowheads="1"/>
            </p:cNvSpPr>
            <p:nvPr/>
          </p:nvSpPr>
          <p:spPr bwMode="auto">
            <a:xfrm>
              <a:off x="1296" y="316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38938" name="Text Box 91"/>
            <p:cNvSpPr txBox="1">
              <a:spLocks noChangeArrowheads="1"/>
            </p:cNvSpPr>
            <p:nvPr/>
          </p:nvSpPr>
          <p:spPr bwMode="auto">
            <a:xfrm>
              <a:off x="3312" y="225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0.3</a:t>
              </a:r>
            </a:p>
          </p:txBody>
        </p:sp>
        <p:sp>
          <p:nvSpPr>
            <p:cNvPr id="38939" name="Text Box 92"/>
            <p:cNvSpPr txBox="1">
              <a:spLocks noChangeArrowheads="1"/>
            </p:cNvSpPr>
            <p:nvPr/>
          </p:nvSpPr>
          <p:spPr bwMode="auto">
            <a:xfrm>
              <a:off x="4272" y="230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0.7</a:t>
              </a:r>
            </a:p>
          </p:txBody>
        </p:sp>
        <p:sp>
          <p:nvSpPr>
            <p:cNvPr id="38940" name="Text Box 93"/>
            <p:cNvSpPr txBox="1">
              <a:spLocks noChangeArrowheads="1"/>
            </p:cNvSpPr>
            <p:nvPr/>
          </p:nvSpPr>
          <p:spPr bwMode="auto">
            <a:xfrm>
              <a:off x="3744" y="3081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38941" name="Text Box 94"/>
            <p:cNvSpPr txBox="1">
              <a:spLocks noChangeArrowheads="1"/>
            </p:cNvSpPr>
            <p:nvPr/>
          </p:nvSpPr>
          <p:spPr bwMode="auto">
            <a:xfrm>
              <a:off x="5136" y="2352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38942" name="Text Box 95"/>
            <p:cNvSpPr txBox="1">
              <a:spLocks noChangeArrowheads="1"/>
            </p:cNvSpPr>
            <p:nvPr/>
          </p:nvSpPr>
          <p:spPr bwMode="auto">
            <a:xfrm>
              <a:off x="4848" y="345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0.1</a:t>
              </a:r>
            </a:p>
          </p:txBody>
        </p:sp>
        <p:sp>
          <p:nvSpPr>
            <p:cNvPr id="38943" name="Text Box 96"/>
            <p:cNvSpPr txBox="1">
              <a:spLocks noChangeArrowheads="1"/>
            </p:cNvSpPr>
            <p:nvPr/>
          </p:nvSpPr>
          <p:spPr bwMode="auto">
            <a:xfrm>
              <a:off x="4320" y="2745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0.8</a:t>
              </a:r>
            </a:p>
          </p:txBody>
        </p:sp>
        <p:sp>
          <p:nvSpPr>
            <p:cNvPr id="38944" name="Text Box 97"/>
            <p:cNvSpPr txBox="1">
              <a:spLocks noChangeArrowheads="1"/>
            </p:cNvSpPr>
            <p:nvPr/>
          </p:nvSpPr>
          <p:spPr bwMode="auto">
            <a:xfrm>
              <a:off x="3696" y="345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6AD34D5-ACF8-45E5-ABB9-B430FEBE943E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Gambler’s Ruin Problem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67000"/>
            <a:ext cx="8229600" cy="3962400"/>
          </a:xfrm>
        </p:spPr>
        <p:txBody>
          <a:bodyPr/>
          <a:lstStyle/>
          <a:p>
            <a:r>
              <a:rPr lang="en-US" sz="2800"/>
              <a:t>1 and 2</a:t>
            </a:r>
          </a:p>
          <a:p>
            <a:pPr lvl="1"/>
            <a:r>
              <a:rPr lang="en-US" sz="2400"/>
              <a:t>1 is accessible from 2 and vice versa.</a:t>
            </a:r>
          </a:p>
          <a:p>
            <a:r>
              <a:rPr lang="en-US" sz="2800"/>
              <a:t>1 and 3</a:t>
            </a:r>
          </a:p>
          <a:p>
            <a:pPr lvl="1"/>
            <a:r>
              <a:rPr lang="en-US" sz="2400"/>
              <a:t>1 is accessible from 3 and vice versa.</a:t>
            </a:r>
          </a:p>
          <a:p>
            <a:r>
              <a:rPr lang="en-US" sz="2800"/>
              <a:t>0 and 3</a:t>
            </a:r>
          </a:p>
          <a:p>
            <a:pPr lvl="1"/>
            <a:r>
              <a:rPr lang="en-US" sz="2400"/>
              <a:t>0 is accessible from 3, but </a:t>
            </a:r>
            <a:r>
              <a:rPr lang="en-US" sz="2400" i="1"/>
              <a:t>not</a:t>
            </a:r>
            <a:r>
              <a:rPr lang="en-US" sz="2400"/>
              <a:t> vice versa.</a:t>
            </a:r>
          </a:p>
          <a:p>
            <a:r>
              <a:rPr lang="en-US" sz="2800"/>
              <a:t>0 and 4</a:t>
            </a:r>
          </a:p>
          <a:p>
            <a:pPr lvl="1"/>
            <a:r>
              <a:rPr lang="en-US" sz="2400"/>
              <a:t>0 is not accessible from 4 and vice versa.</a:t>
            </a:r>
          </a:p>
          <a:p>
            <a:pPr>
              <a:buFontTx/>
              <a:buNone/>
            </a:pPr>
            <a:endParaRPr lang="en-US" sz="2800"/>
          </a:p>
        </p:txBody>
      </p:sp>
      <p:grpSp>
        <p:nvGrpSpPr>
          <p:cNvPr id="39941" name="Group 27"/>
          <p:cNvGrpSpPr>
            <a:grpSpLocks/>
          </p:cNvGrpSpPr>
          <p:nvPr/>
        </p:nvGrpSpPr>
        <p:grpSpPr bwMode="auto">
          <a:xfrm>
            <a:off x="1219200" y="1447800"/>
            <a:ext cx="6553200" cy="1128713"/>
            <a:chOff x="768" y="912"/>
            <a:chExt cx="4128" cy="711"/>
          </a:xfrm>
        </p:grpSpPr>
        <p:sp>
          <p:nvSpPr>
            <p:cNvPr id="39942" name="Oval 5"/>
            <p:cNvSpPr>
              <a:spLocks noChangeArrowheads="1"/>
            </p:cNvSpPr>
            <p:nvPr/>
          </p:nvSpPr>
          <p:spPr bwMode="auto">
            <a:xfrm>
              <a:off x="4149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r-TR" baseline="0"/>
                <a:t>4</a:t>
              </a:r>
              <a:endParaRPr lang="en-US" baseline="0"/>
            </a:p>
          </p:txBody>
        </p:sp>
        <p:sp>
          <p:nvSpPr>
            <p:cNvPr id="39943" name="Oval 6"/>
            <p:cNvSpPr>
              <a:spLocks noChangeArrowheads="1"/>
            </p:cNvSpPr>
            <p:nvPr/>
          </p:nvSpPr>
          <p:spPr bwMode="auto">
            <a:xfrm>
              <a:off x="1246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0</a:t>
              </a:r>
            </a:p>
          </p:txBody>
        </p:sp>
        <p:sp>
          <p:nvSpPr>
            <p:cNvPr id="39944" name="Oval 7"/>
            <p:cNvSpPr>
              <a:spLocks noChangeArrowheads="1"/>
            </p:cNvSpPr>
            <p:nvPr/>
          </p:nvSpPr>
          <p:spPr bwMode="auto">
            <a:xfrm>
              <a:off x="1972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39945" name="Oval 8"/>
            <p:cNvSpPr>
              <a:spLocks noChangeArrowheads="1"/>
            </p:cNvSpPr>
            <p:nvPr/>
          </p:nvSpPr>
          <p:spPr bwMode="auto">
            <a:xfrm>
              <a:off x="2698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sp>
          <p:nvSpPr>
            <p:cNvPr id="39946" name="Line 9"/>
            <p:cNvSpPr>
              <a:spLocks noChangeShapeType="1"/>
            </p:cNvSpPr>
            <p:nvPr/>
          </p:nvSpPr>
          <p:spPr bwMode="auto">
            <a:xfrm>
              <a:off x="2244" y="1171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7" name="Line 10"/>
            <p:cNvSpPr>
              <a:spLocks noChangeShapeType="1"/>
            </p:cNvSpPr>
            <p:nvPr/>
          </p:nvSpPr>
          <p:spPr bwMode="auto">
            <a:xfrm flipH="1">
              <a:off x="2244" y="139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8" name="Line 11"/>
            <p:cNvSpPr>
              <a:spLocks noChangeShapeType="1"/>
            </p:cNvSpPr>
            <p:nvPr/>
          </p:nvSpPr>
          <p:spPr bwMode="auto">
            <a:xfrm flipH="1">
              <a:off x="1518" y="139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9" name="Oval 12"/>
            <p:cNvSpPr>
              <a:spLocks noChangeArrowheads="1"/>
            </p:cNvSpPr>
            <p:nvPr/>
          </p:nvSpPr>
          <p:spPr bwMode="auto">
            <a:xfrm>
              <a:off x="3428" y="1137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r-TR" baseline="0"/>
                <a:t>3</a:t>
              </a:r>
              <a:endParaRPr lang="en-US" baseline="0"/>
            </a:p>
          </p:txBody>
        </p:sp>
        <p:sp>
          <p:nvSpPr>
            <p:cNvPr id="39950" name="Line 13"/>
            <p:cNvSpPr>
              <a:spLocks noChangeShapeType="1"/>
            </p:cNvSpPr>
            <p:nvPr/>
          </p:nvSpPr>
          <p:spPr bwMode="auto">
            <a:xfrm>
              <a:off x="2970" y="115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1" name="Line 14"/>
            <p:cNvSpPr>
              <a:spLocks noChangeShapeType="1"/>
            </p:cNvSpPr>
            <p:nvPr/>
          </p:nvSpPr>
          <p:spPr bwMode="auto">
            <a:xfrm flipH="1">
              <a:off x="2970" y="1385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Line 15"/>
            <p:cNvSpPr>
              <a:spLocks noChangeShapeType="1"/>
            </p:cNvSpPr>
            <p:nvPr/>
          </p:nvSpPr>
          <p:spPr bwMode="auto">
            <a:xfrm>
              <a:off x="3696" y="115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3" name="Arc 16"/>
            <p:cNvSpPr>
              <a:spLocks/>
            </p:cNvSpPr>
            <p:nvPr/>
          </p:nvSpPr>
          <p:spPr bwMode="auto">
            <a:xfrm rot="7832028">
              <a:off x="975" y="1068"/>
              <a:ext cx="329" cy="330"/>
            </a:xfrm>
            <a:custGeom>
              <a:avLst/>
              <a:gdLst>
                <a:gd name="T0" fmla="*/ 0 w 43200"/>
                <a:gd name="T1" fmla="*/ 0 h 43197"/>
                <a:gd name="T2" fmla="*/ 0 w 43200"/>
                <a:gd name="T3" fmla="*/ 0 h 43197"/>
                <a:gd name="T4" fmla="*/ 0 w 43200"/>
                <a:gd name="T5" fmla="*/ 0 h 4319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197"/>
                <a:gd name="T11" fmla="*/ 43200 w 43200"/>
                <a:gd name="T12" fmla="*/ 43197 h 43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197" fill="none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</a:path>
                <a:path w="43200" h="43197" stroke="0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  <a:lnTo>
                    <a:pt x="21600" y="215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4" name="Arc 17"/>
            <p:cNvSpPr>
              <a:spLocks/>
            </p:cNvSpPr>
            <p:nvPr/>
          </p:nvSpPr>
          <p:spPr bwMode="auto">
            <a:xfrm rot="-2743033">
              <a:off x="4422" y="1159"/>
              <a:ext cx="329" cy="330"/>
            </a:xfrm>
            <a:custGeom>
              <a:avLst/>
              <a:gdLst>
                <a:gd name="T0" fmla="*/ 0 w 43200"/>
                <a:gd name="T1" fmla="*/ 0 h 43197"/>
                <a:gd name="T2" fmla="*/ 0 w 43200"/>
                <a:gd name="T3" fmla="*/ 0 h 43197"/>
                <a:gd name="T4" fmla="*/ 0 w 43200"/>
                <a:gd name="T5" fmla="*/ 0 h 4319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197"/>
                <a:gd name="T11" fmla="*/ 43200 w 43200"/>
                <a:gd name="T12" fmla="*/ 43197 h 43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197" fill="none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</a:path>
                <a:path w="43200" h="43197" stroke="0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  <a:lnTo>
                    <a:pt x="21600" y="215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5" name="Text Box 18"/>
            <p:cNvSpPr txBox="1">
              <a:spLocks noChangeArrowheads="1"/>
            </p:cNvSpPr>
            <p:nvPr/>
          </p:nvSpPr>
          <p:spPr bwMode="auto">
            <a:xfrm>
              <a:off x="768" y="1008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  <p:sp>
          <p:nvSpPr>
            <p:cNvPr id="39956" name="Text Box 19"/>
            <p:cNvSpPr txBox="1">
              <a:spLocks noChangeArrowheads="1"/>
            </p:cNvSpPr>
            <p:nvPr/>
          </p:nvSpPr>
          <p:spPr bwMode="auto">
            <a:xfrm>
              <a:off x="4656" y="96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  <p:sp>
          <p:nvSpPr>
            <p:cNvPr id="39957" name="Text Box 20"/>
            <p:cNvSpPr txBox="1">
              <a:spLocks noChangeArrowheads="1"/>
            </p:cNvSpPr>
            <p:nvPr/>
          </p:nvSpPr>
          <p:spPr bwMode="auto">
            <a:xfrm>
              <a:off x="1584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  <p:sp>
          <p:nvSpPr>
            <p:cNvPr id="39958" name="Text Box 21"/>
            <p:cNvSpPr txBox="1">
              <a:spLocks noChangeArrowheads="1"/>
            </p:cNvSpPr>
            <p:nvPr/>
          </p:nvSpPr>
          <p:spPr bwMode="auto">
            <a:xfrm>
              <a:off x="2256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  <p:sp>
          <p:nvSpPr>
            <p:cNvPr id="39959" name="Text Box 22"/>
            <p:cNvSpPr txBox="1">
              <a:spLocks noChangeArrowheads="1"/>
            </p:cNvSpPr>
            <p:nvPr/>
          </p:nvSpPr>
          <p:spPr bwMode="auto">
            <a:xfrm>
              <a:off x="3024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  <p:sp>
          <p:nvSpPr>
            <p:cNvPr id="39960" name="Text Box 23"/>
            <p:cNvSpPr txBox="1">
              <a:spLocks noChangeArrowheads="1"/>
            </p:cNvSpPr>
            <p:nvPr/>
          </p:nvSpPr>
          <p:spPr bwMode="auto">
            <a:xfrm>
              <a:off x="2256" y="91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baseline="0"/>
                <a:t>p</a:t>
              </a:r>
            </a:p>
          </p:txBody>
        </p:sp>
        <p:sp>
          <p:nvSpPr>
            <p:cNvPr id="39961" name="Text Box 25"/>
            <p:cNvSpPr txBox="1">
              <a:spLocks noChangeArrowheads="1"/>
            </p:cNvSpPr>
            <p:nvPr/>
          </p:nvSpPr>
          <p:spPr bwMode="auto">
            <a:xfrm>
              <a:off x="2976" y="91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baseline="0"/>
                <a:t>p</a:t>
              </a:r>
            </a:p>
          </p:txBody>
        </p:sp>
        <p:sp>
          <p:nvSpPr>
            <p:cNvPr id="39962" name="Text Box 26"/>
            <p:cNvSpPr txBox="1">
              <a:spLocks noChangeArrowheads="1"/>
            </p:cNvSpPr>
            <p:nvPr/>
          </p:nvSpPr>
          <p:spPr bwMode="auto">
            <a:xfrm>
              <a:off x="3696" y="91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baseline="0"/>
                <a:t>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16E600-99F4-4238-A0B6-AD5E02445388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Communication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/>
              <a:t>If state </a:t>
            </a:r>
            <a:r>
              <a:rPr lang="en-US" i="1"/>
              <a:t>j </a:t>
            </a:r>
            <a:r>
              <a:rPr lang="en-US"/>
              <a:t>is accessible from state </a:t>
            </a:r>
            <a:r>
              <a:rPr lang="en-US" i="1"/>
              <a:t>i</a:t>
            </a:r>
            <a:r>
              <a:rPr lang="en-US"/>
              <a:t>, and state </a:t>
            </a:r>
            <a:r>
              <a:rPr lang="en-US" i="1"/>
              <a:t>i </a:t>
            </a:r>
            <a:r>
              <a:rPr lang="en-US"/>
              <a:t>is accessible from state </a:t>
            </a:r>
            <a:r>
              <a:rPr lang="en-US" i="1"/>
              <a:t>j, </a:t>
            </a:r>
            <a:r>
              <a:rPr lang="en-US"/>
              <a:t>then</a:t>
            </a:r>
            <a:r>
              <a:rPr lang="en-US" i="1"/>
              <a:t> </a:t>
            </a:r>
            <a:r>
              <a:rPr lang="en-US"/>
              <a:t>states </a:t>
            </a:r>
            <a:r>
              <a:rPr lang="en-US" i="1"/>
              <a:t>i</a:t>
            </a:r>
            <a:r>
              <a:rPr lang="en-US"/>
              <a:t> and </a:t>
            </a:r>
            <a:r>
              <a:rPr lang="en-US" i="1"/>
              <a:t>j</a:t>
            </a:r>
            <a:r>
              <a:rPr lang="en-US"/>
              <a:t> are said to communicate.</a:t>
            </a:r>
          </a:p>
          <a:p>
            <a:pPr lvl="1"/>
            <a:r>
              <a:rPr lang="en-US"/>
              <a:t>Any state communicates with itself.</a:t>
            </a:r>
          </a:p>
          <a:p>
            <a:pPr lvl="2"/>
            <a:r>
              <a:rPr lang="en-US" i="1"/>
              <a:t>P</a:t>
            </a:r>
            <a:r>
              <a:rPr lang="en-US" i="1" baseline="-25000"/>
              <a:t>ii</a:t>
            </a:r>
            <a:r>
              <a:rPr lang="en-US" baseline="30000"/>
              <a:t>(0)</a:t>
            </a:r>
            <a:r>
              <a:rPr lang="en-US" i="1"/>
              <a:t>=P(X</a:t>
            </a:r>
            <a:r>
              <a:rPr lang="en-US" baseline="-25000"/>
              <a:t>0</a:t>
            </a:r>
            <a:r>
              <a:rPr lang="en-US" i="1"/>
              <a:t>=i </a:t>
            </a:r>
            <a:r>
              <a:rPr lang="en-US"/>
              <a:t>/</a:t>
            </a:r>
            <a:r>
              <a:rPr lang="en-US" i="1"/>
              <a:t> X</a:t>
            </a:r>
            <a:r>
              <a:rPr lang="en-US" baseline="-25000"/>
              <a:t>0</a:t>
            </a:r>
            <a:r>
              <a:rPr lang="en-US" i="1"/>
              <a:t>=i)</a:t>
            </a:r>
            <a:r>
              <a:rPr lang="en-US"/>
              <a:t> = 1.</a:t>
            </a:r>
          </a:p>
          <a:p>
            <a:pPr lvl="1"/>
            <a:r>
              <a:rPr lang="en-US"/>
              <a:t>If state </a:t>
            </a:r>
            <a:r>
              <a:rPr lang="en-US" i="1"/>
              <a:t>i</a:t>
            </a:r>
            <a:r>
              <a:rPr lang="en-US"/>
              <a:t> communicates with state </a:t>
            </a:r>
            <a:r>
              <a:rPr lang="en-US" i="1"/>
              <a:t>j</a:t>
            </a:r>
            <a:r>
              <a:rPr lang="en-US"/>
              <a:t>, then state </a:t>
            </a:r>
            <a:r>
              <a:rPr lang="en-US" i="1"/>
              <a:t>j</a:t>
            </a:r>
            <a:r>
              <a:rPr lang="en-US"/>
              <a:t> communicates with state </a:t>
            </a:r>
            <a:r>
              <a:rPr lang="en-US" i="1"/>
              <a:t>i.</a:t>
            </a:r>
          </a:p>
          <a:p>
            <a:pPr lvl="1"/>
            <a:r>
              <a:rPr lang="en-US"/>
              <a:t>If state </a:t>
            </a:r>
            <a:r>
              <a:rPr lang="en-US" i="1"/>
              <a:t>i</a:t>
            </a:r>
            <a:r>
              <a:rPr lang="en-US"/>
              <a:t> communicates with state </a:t>
            </a:r>
            <a:r>
              <a:rPr lang="en-US" i="1"/>
              <a:t>j</a:t>
            </a:r>
            <a:r>
              <a:rPr lang="en-US"/>
              <a:t>, and state </a:t>
            </a:r>
            <a:r>
              <a:rPr lang="en-US" i="1"/>
              <a:t>j</a:t>
            </a:r>
            <a:r>
              <a:rPr lang="en-US"/>
              <a:t> communicates with state </a:t>
            </a:r>
            <a:r>
              <a:rPr lang="en-US" i="1"/>
              <a:t>k, </a:t>
            </a:r>
            <a:r>
              <a:rPr lang="en-US"/>
              <a:t>then state i communicates with state </a:t>
            </a:r>
            <a:r>
              <a:rPr lang="en-US" i="1"/>
              <a:t>k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CB3481E-1068-441C-A7DC-FE2D3E57C61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Communication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Communication partitions the states into disjoint </a:t>
            </a:r>
            <a:r>
              <a:rPr lang="en-US" b="1" i="1"/>
              <a:t>classes</a:t>
            </a:r>
            <a:r>
              <a:rPr lang="en-US"/>
              <a:t>. </a:t>
            </a:r>
          </a:p>
          <a:p>
            <a:pPr lvl="1"/>
            <a:r>
              <a:rPr lang="en-US"/>
              <a:t>A class may be a single state.</a:t>
            </a:r>
          </a:p>
          <a:p>
            <a:r>
              <a:rPr lang="en-US"/>
              <a:t>If there is only one class, i.e., if all states communicate, then the Markov chain is said to be </a:t>
            </a:r>
            <a:r>
              <a:rPr lang="en-US" b="1" i="1"/>
              <a:t>irreducible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9ED634-1A27-464B-A87B-69A645CF95B4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267200"/>
            <a:ext cx="8229600" cy="1858963"/>
          </a:xfrm>
        </p:spPr>
        <p:txBody>
          <a:bodyPr/>
          <a:lstStyle/>
          <a:p>
            <a:r>
              <a:rPr lang="en-US"/>
              <a:t>Irreducible?</a:t>
            </a:r>
          </a:p>
          <a:p>
            <a:pPr lvl="1"/>
            <a:r>
              <a:rPr lang="en-US"/>
              <a:t>No. There are two classes.</a:t>
            </a:r>
          </a:p>
        </p:txBody>
      </p:sp>
      <p:grpSp>
        <p:nvGrpSpPr>
          <p:cNvPr id="43013" name="Group 4"/>
          <p:cNvGrpSpPr>
            <a:grpSpLocks/>
          </p:cNvGrpSpPr>
          <p:nvPr/>
        </p:nvGrpSpPr>
        <p:grpSpPr bwMode="auto">
          <a:xfrm>
            <a:off x="609600" y="1371600"/>
            <a:ext cx="8153400" cy="2667000"/>
            <a:chOff x="384" y="2256"/>
            <a:chExt cx="5136" cy="1680"/>
          </a:xfrm>
        </p:grpSpPr>
        <p:sp>
          <p:nvSpPr>
            <p:cNvPr id="43014" name="Oval 5"/>
            <p:cNvSpPr>
              <a:spLocks noChangeArrowheads="1"/>
            </p:cNvSpPr>
            <p:nvPr/>
          </p:nvSpPr>
          <p:spPr bwMode="auto">
            <a:xfrm>
              <a:off x="576" y="264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43015" name="Oval 6"/>
            <p:cNvSpPr>
              <a:spLocks noChangeArrowheads="1"/>
            </p:cNvSpPr>
            <p:nvPr/>
          </p:nvSpPr>
          <p:spPr bwMode="auto">
            <a:xfrm>
              <a:off x="1872" y="264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sp>
          <p:nvSpPr>
            <p:cNvPr id="43016" name="Oval 7"/>
            <p:cNvSpPr>
              <a:spLocks noChangeArrowheads="1"/>
            </p:cNvSpPr>
            <p:nvPr/>
          </p:nvSpPr>
          <p:spPr bwMode="auto">
            <a:xfrm>
              <a:off x="3552" y="264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3</a:t>
              </a:r>
            </a:p>
          </p:txBody>
        </p:sp>
        <p:sp>
          <p:nvSpPr>
            <p:cNvPr id="43017" name="Oval 8"/>
            <p:cNvSpPr>
              <a:spLocks noChangeArrowheads="1"/>
            </p:cNvSpPr>
            <p:nvPr/>
          </p:nvSpPr>
          <p:spPr bwMode="auto">
            <a:xfrm>
              <a:off x="4800" y="264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4</a:t>
              </a:r>
            </a:p>
          </p:txBody>
        </p:sp>
        <p:sp>
          <p:nvSpPr>
            <p:cNvPr id="43018" name="Oval 9"/>
            <p:cNvSpPr>
              <a:spLocks noChangeArrowheads="1"/>
            </p:cNvSpPr>
            <p:nvPr/>
          </p:nvSpPr>
          <p:spPr bwMode="auto">
            <a:xfrm>
              <a:off x="4128" y="360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5</a:t>
              </a:r>
            </a:p>
          </p:txBody>
        </p:sp>
        <p:cxnSp>
          <p:nvCxnSpPr>
            <p:cNvPr id="43019" name="AutoShape 10"/>
            <p:cNvCxnSpPr>
              <a:cxnSpLocks noChangeShapeType="1"/>
              <a:stCxn id="43016" idx="0"/>
              <a:endCxn id="43017" idx="0"/>
            </p:cNvCxnSpPr>
            <p:nvPr/>
          </p:nvCxnSpPr>
          <p:spPr bwMode="auto">
            <a:xfrm rot="5400000" flipV="1">
              <a:off x="4343" y="2017"/>
              <a:ext cx="1" cy="1248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0" name="AutoShape 11"/>
            <p:cNvCxnSpPr>
              <a:cxnSpLocks noChangeShapeType="1"/>
              <a:stCxn id="43016" idx="0"/>
              <a:endCxn id="43016" idx="2"/>
            </p:cNvCxnSpPr>
            <p:nvPr/>
          </p:nvCxnSpPr>
          <p:spPr bwMode="auto">
            <a:xfrm rot="-5400000" flipH="1" flipV="1">
              <a:off x="3552" y="264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1" name="AutoShape 12"/>
            <p:cNvCxnSpPr>
              <a:cxnSpLocks noChangeShapeType="1"/>
              <a:stCxn id="43017" idx="0"/>
              <a:endCxn id="43017" idx="6"/>
            </p:cNvCxnSpPr>
            <p:nvPr/>
          </p:nvCxnSpPr>
          <p:spPr bwMode="auto">
            <a:xfrm rot="5400000" flipV="1">
              <a:off x="4968" y="264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2" name="AutoShape 13"/>
            <p:cNvCxnSpPr>
              <a:cxnSpLocks noChangeShapeType="1"/>
              <a:stCxn id="43017" idx="4"/>
              <a:endCxn id="43016" idx="4"/>
            </p:cNvCxnSpPr>
            <p:nvPr/>
          </p:nvCxnSpPr>
          <p:spPr bwMode="auto">
            <a:xfrm rot="5400000">
              <a:off x="4343" y="2353"/>
              <a:ext cx="1" cy="1248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3" name="AutoShape 14"/>
            <p:cNvCxnSpPr>
              <a:cxnSpLocks noChangeShapeType="1"/>
              <a:stCxn id="43017" idx="4"/>
              <a:endCxn id="43018" idx="6"/>
            </p:cNvCxnSpPr>
            <p:nvPr/>
          </p:nvCxnSpPr>
          <p:spPr bwMode="auto">
            <a:xfrm rot="5400000">
              <a:off x="4320" y="3120"/>
              <a:ext cx="792" cy="50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4" name="AutoShape 15"/>
            <p:cNvCxnSpPr>
              <a:cxnSpLocks noChangeShapeType="1"/>
              <a:stCxn id="43018" idx="0"/>
              <a:endCxn id="43017" idx="2"/>
            </p:cNvCxnSpPr>
            <p:nvPr/>
          </p:nvCxnSpPr>
          <p:spPr bwMode="auto">
            <a:xfrm rot="-5400000">
              <a:off x="4152" y="2952"/>
              <a:ext cx="792" cy="50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5" name="AutoShape 16"/>
            <p:cNvCxnSpPr>
              <a:cxnSpLocks noChangeShapeType="1"/>
              <a:stCxn id="43018" idx="0"/>
              <a:endCxn id="43018" idx="2"/>
            </p:cNvCxnSpPr>
            <p:nvPr/>
          </p:nvCxnSpPr>
          <p:spPr bwMode="auto">
            <a:xfrm rot="-5400000" flipH="1" flipV="1">
              <a:off x="4128" y="360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6" name="AutoShape 17"/>
            <p:cNvCxnSpPr>
              <a:cxnSpLocks noChangeShapeType="1"/>
              <a:stCxn id="43014" idx="0"/>
              <a:endCxn id="43014" idx="2"/>
            </p:cNvCxnSpPr>
            <p:nvPr/>
          </p:nvCxnSpPr>
          <p:spPr bwMode="auto">
            <a:xfrm rot="-5400000" flipH="1" flipV="1">
              <a:off x="576" y="264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7" name="AutoShape 18"/>
            <p:cNvCxnSpPr>
              <a:cxnSpLocks noChangeShapeType="1"/>
              <a:stCxn id="43015" idx="0"/>
              <a:endCxn id="43015" idx="6"/>
            </p:cNvCxnSpPr>
            <p:nvPr/>
          </p:nvCxnSpPr>
          <p:spPr bwMode="auto">
            <a:xfrm rot="5400000" flipV="1">
              <a:off x="2040" y="2640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8" name="AutoShape 19"/>
            <p:cNvCxnSpPr>
              <a:cxnSpLocks noChangeShapeType="1"/>
              <a:stCxn id="43014" idx="0"/>
              <a:endCxn id="43015" idx="0"/>
            </p:cNvCxnSpPr>
            <p:nvPr/>
          </p:nvCxnSpPr>
          <p:spPr bwMode="auto">
            <a:xfrm rot="5400000" flipV="1">
              <a:off x="1391" y="1993"/>
              <a:ext cx="1" cy="1296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29" name="AutoShape 20"/>
            <p:cNvCxnSpPr>
              <a:cxnSpLocks noChangeShapeType="1"/>
              <a:stCxn id="43015" idx="4"/>
              <a:endCxn id="43014" idx="4"/>
            </p:cNvCxnSpPr>
            <p:nvPr/>
          </p:nvCxnSpPr>
          <p:spPr bwMode="auto">
            <a:xfrm rot="5400000">
              <a:off x="1391" y="2329"/>
              <a:ext cx="1" cy="1296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43030" name="Text Box 21"/>
            <p:cNvSpPr txBox="1">
              <a:spLocks noChangeArrowheads="1"/>
            </p:cNvSpPr>
            <p:nvPr/>
          </p:nvSpPr>
          <p:spPr bwMode="auto">
            <a:xfrm>
              <a:off x="384" y="225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43031" name="Text Box 22"/>
            <p:cNvSpPr txBox="1">
              <a:spLocks noChangeArrowheads="1"/>
            </p:cNvSpPr>
            <p:nvPr/>
          </p:nvSpPr>
          <p:spPr bwMode="auto">
            <a:xfrm>
              <a:off x="1344" y="2313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0.6</a:t>
              </a:r>
            </a:p>
          </p:txBody>
        </p:sp>
        <p:sp>
          <p:nvSpPr>
            <p:cNvPr id="43032" name="Text Box 23"/>
            <p:cNvSpPr txBox="1">
              <a:spLocks noChangeArrowheads="1"/>
            </p:cNvSpPr>
            <p:nvPr/>
          </p:nvSpPr>
          <p:spPr bwMode="auto">
            <a:xfrm>
              <a:off x="2208" y="2352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43033" name="Text Box 24"/>
            <p:cNvSpPr txBox="1">
              <a:spLocks noChangeArrowheads="1"/>
            </p:cNvSpPr>
            <p:nvPr/>
          </p:nvSpPr>
          <p:spPr bwMode="auto">
            <a:xfrm>
              <a:off x="1296" y="316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43034" name="Text Box 25"/>
            <p:cNvSpPr txBox="1">
              <a:spLocks noChangeArrowheads="1"/>
            </p:cNvSpPr>
            <p:nvPr/>
          </p:nvSpPr>
          <p:spPr bwMode="auto">
            <a:xfrm>
              <a:off x="3312" y="225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0.3</a:t>
              </a:r>
            </a:p>
          </p:txBody>
        </p:sp>
        <p:sp>
          <p:nvSpPr>
            <p:cNvPr id="43035" name="Text Box 26"/>
            <p:cNvSpPr txBox="1">
              <a:spLocks noChangeArrowheads="1"/>
            </p:cNvSpPr>
            <p:nvPr/>
          </p:nvSpPr>
          <p:spPr bwMode="auto">
            <a:xfrm>
              <a:off x="4272" y="230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0.7</a:t>
              </a:r>
            </a:p>
          </p:txBody>
        </p:sp>
        <p:sp>
          <p:nvSpPr>
            <p:cNvPr id="43036" name="Text Box 27"/>
            <p:cNvSpPr txBox="1">
              <a:spLocks noChangeArrowheads="1"/>
            </p:cNvSpPr>
            <p:nvPr/>
          </p:nvSpPr>
          <p:spPr bwMode="auto">
            <a:xfrm>
              <a:off x="3744" y="3081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43037" name="Text Box 28"/>
            <p:cNvSpPr txBox="1">
              <a:spLocks noChangeArrowheads="1"/>
            </p:cNvSpPr>
            <p:nvPr/>
          </p:nvSpPr>
          <p:spPr bwMode="auto">
            <a:xfrm>
              <a:off x="5136" y="2352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43038" name="Text Box 29"/>
            <p:cNvSpPr txBox="1">
              <a:spLocks noChangeArrowheads="1"/>
            </p:cNvSpPr>
            <p:nvPr/>
          </p:nvSpPr>
          <p:spPr bwMode="auto">
            <a:xfrm>
              <a:off x="4848" y="345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0.1</a:t>
              </a:r>
            </a:p>
          </p:txBody>
        </p:sp>
        <p:sp>
          <p:nvSpPr>
            <p:cNvPr id="43039" name="Text Box 30"/>
            <p:cNvSpPr txBox="1">
              <a:spLocks noChangeArrowheads="1"/>
            </p:cNvSpPr>
            <p:nvPr/>
          </p:nvSpPr>
          <p:spPr bwMode="auto">
            <a:xfrm>
              <a:off x="4320" y="2745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0.8</a:t>
              </a:r>
            </a:p>
          </p:txBody>
        </p:sp>
        <p:sp>
          <p:nvSpPr>
            <p:cNvPr id="43040" name="Text Box 31"/>
            <p:cNvSpPr txBox="1">
              <a:spLocks noChangeArrowheads="1"/>
            </p:cNvSpPr>
            <p:nvPr/>
          </p:nvSpPr>
          <p:spPr bwMode="auto">
            <a:xfrm>
              <a:off x="3696" y="345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36C9B3-3E63-453C-A2A9-C00619941A77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Gambler’s Ruin Problem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67000"/>
            <a:ext cx="8229600" cy="3962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Irreducible?</a:t>
            </a:r>
          </a:p>
          <a:p>
            <a:pPr lvl="1">
              <a:lnSpc>
                <a:spcPct val="90000"/>
              </a:lnSpc>
            </a:pPr>
            <a:r>
              <a:rPr lang="en-US"/>
              <a:t>No.</a:t>
            </a:r>
          </a:p>
          <a:p>
            <a:pPr>
              <a:lnSpc>
                <a:spcPct val="90000"/>
              </a:lnSpc>
            </a:pPr>
            <a:r>
              <a:rPr lang="en-US"/>
              <a:t>How many classes?</a:t>
            </a:r>
          </a:p>
          <a:p>
            <a:pPr lvl="1">
              <a:lnSpc>
                <a:spcPct val="90000"/>
              </a:lnSpc>
            </a:pPr>
            <a:r>
              <a:rPr lang="en-US"/>
              <a:t>3.</a:t>
            </a:r>
          </a:p>
          <a:p>
            <a:pPr>
              <a:lnSpc>
                <a:spcPct val="90000"/>
              </a:lnSpc>
            </a:pPr>
            <a:r>
              <a:rPr lang="en-US"/>
              <a:t>What are the classes?</a:t>
            </a:r>
          </a:p>
          <a:p>
            <a:pPr lvl="1">
              <a:lnSpc>
                <a:spcPct val="90000"/>
              </a:lnSpc>
            </a:pPr>
            <a:r>
              <a:rPr lang="en-US"/>
              <a:t>{0}</a:t>
            </a:r>
          </a:p>
          <a:p>
            <a:pPr lvl="1">
              <a:lnSpc>
                <a:spcPct val="90000"/>
              </a:lnSpc>
            </a:pPr>
            <a:r>
              <a:rPr lang="en-US"/>
              <a:t>{1,2,3}</a:t>
            </a:r>
          </a:p>
          <a:p>
            <a:pPr lvl="1">
              <a:lnSpc>
                <a:spcPct val="90000"/>
              </a:lnSpc>
            </a:pPr>
            <a:r>
              <a:rPr lang="en-US"/>
              <a:t>{4}</a:t>
            </a:r>
          </a:p>
        </p:txBody>
      </p:sp>
      <p:grpSp>
        <p:nvGrpSpPr>
          <p:cNvPr id="44037" name="Group 25"/>
          <p:cNvGrpSpPr>
            <a:grpSpLocks/>
          </p:cNvGrpSpPr>
          <p:nvPr/>
        </p:nvGrpSpPr>
        <p:grpSpPr bwMode="auto">
          <a:xfrm>
            <a:off x="1219200" y="1524000"/>
            <a:ext cx="6553200" cy="1052513"/>
            <a:chOff x="768" y="960"/>
            <a:chExt cx="4128" cy="663"/>
          </a:xfrm>
        </p:grpSpPr>
        <p:sp>
          <p:nvSpPr>
            <p:cNvPr id="44041" name="Oval 4"/>
            <p:cNvSpPr>
              <a:spLocks noChangeArrowheads="1"/>
            </p:cNvSpPr>
            <p:nvPr/>
          </p:nvSpPr>
          <p:spPr bwMode="auto">
            <a:xfrm>
              <a:off x="4149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r-TR" baseline="0"/>
                <a:t>4</a:t>
              </a:r>
              <a:endParaRPr lang="en-US" baseline="0"/>
            </a:p>
          </p:txBody>
        </p:sp>
        <p:sp>
          <p:nvSpPr>
            <p:cNvPr id="44042" name="Oval 5"/>
            <p:cNvSpPr>
              <a:spLocks noChangeArrowheads="1"/>
            </p:cNvSpPr>
            <p:nvPr/>
          </p:nvSpPr>
          <p:spPr bwMode="auto">
            <a:xfrm>
              <a:off x="1246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0</a:t>
              </a:r>
            </a:p>
          </p:txBody>
        </p:sp>
        <p:sp>
          <p:nvSpPr>
            <p:cNvPr id="44043" name="Oval 6"/>
            <p:cNvSpPr>
              <a:spLocks noChangeArrowheads="1"/>
            </p:cNvSpPr>
            <p:nvPr/>
          </p:nvSpPr>
          <p:spPr bwMode="auto">
            <a:xfrm>
              <a:off x="1972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44044" name="Oval 7"/>
            <p:cNvSpPr>
              <a:spLocks noChangeArrowheads="1"/>
            </p:cNvSpPr>
            <p:nvPr/>
          </p:nvSpPr>
          <p:spPr bwMode="auto">
            <a:xfrm>
              <a:off x="2698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sp>
          <p:nvSpPr>
            <p:cNvPr id="44045" name="Line 8"/>
            <p:cNvSpPr>
              <a:spLocks noChangeShapeType="1"/>
            </p:cNvSpPr>
            <p:nvPr/>
          </p:nvSpPr>
          <p:spPr bwMode="auto">
            <a:xfrm>
              <a:off x="2244" y="1171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46" name="Line 9"/>
            <p:cNvSpPr>
              <a:spLocks noChangeShapeType="1"/>
            </p:cNvSpPr>
            <p:nvPr/>
          </p:nvSpPr>
          <p:spPr bwMode="auto">
            <a:xfrm flipH="1">
              <a:off x="2244" y="139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47" name="Line 10"/>
            <p:cNvSpPr>
              <a:spLocks noChangeShapeType="1"/>
            </p:cNvSpPr>
            <p:nvPr/>
          </p:nvSpPr>
          <p:spPr bwMode="auto">
            <a:xfrm flipH="1">
              <a:off x="1518" y="139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48" name="Oval 11"/>
            <p:cNvSpPr>
              <a:spLocks noChangeArrowheads="1"/>
            </p:cNvSpPr>
            <p:nvPr/>
          </p:nvSpPr>
          <p:spPr bwMode="auto">
            <a:xfrm>
              <a:off x="3428" y="1137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r-TR" baseline="0"/>
                <a:t>3</a:t>
              </a:r>
              <a:endParaRPr lang="en-US" baseline="0"/>
            </a:p>
          </p:txBody>
        </p:sp>
        <p:sp>
          <p:nvSpPr>
            <p:cNvPr id="44049" name="Line 12"/>
            <p:cNvSpPr>
              <a:spLocks noChangeShapeType="1"/>
            </p:cNvSpPr>
            <p:nvPr/>
          </p:nvSpPr>
          <p:spPr bwMode="auto">
            <a:xfrm>
              <a:off x="2970" y="115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50" name="Line 13"/>
            <p:cNvSpPr>
              <a:spLocks noChangeShapeType="1"/>
            </p:cNvSpPr>
            <p:nvPr/>
          </p:nvSpPr>
          <p:spPr bwMode="auto">
            <a:xfrm flipH="1">
              <a:off x="2970" y="1385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51" name="Line 14"/>
            <p:cNvSpPr>
              <a:spLocks noChangeShapeType="1"/>
            </p:cNvSpPr>
            <p:nvPr/>
          </p:nvSpPr>
          <p:spPr bwMode="auto">
            <a:xfrm>
              <a:off x="3696" y="115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52" name="Arc 15"/>
            <p:cNvSpPr>
              <a:spLocks/>
            </p:cNvSpPr>
            <p:nvPr/>
          </p:nvSpPr>
          <p:spPr bwMode="auto">
            <a:xfrm rot="7832028">
              <a:off x="975" y="1068"/>
              <a:ext cx="329" cy="330"/>
            </a:xfrm>
            <a:custGeom>
              <a:avLst/>
              <a:gdLst>
                <a:gd name="T0" fmla="*/ 0 w 43200"/>
                <a:gd name="T1" fmla="*/ 0 h 43197"/>
                <a:gd name="T2" fmla="*/ 0 w 43200"/>
                <a:gd name="T3" fmla="*/ 0 h 43197"/>
                <a:gd name="T4" fmla="*/ 0 w 43200"/>
                <a:gd name="T5" fmla="*/ 0 h 4319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197"/>
                <a:gd name="T11" fmla="*/ 43200 w 43200"/>
                <a:gd name="T12" fmla="*/ 43197 h 43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197" fill="none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</a:path>
                <a:path w="43200" h="43197" stroke="0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  <a:lnTo>
                    <a:pt x="21600" y="215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3" name="Arc 16"/>
            <p:cNvSpPr>
              <a:spLocks/>
            </p:cNvSpPr>
            <p:nvPr/>
          </p:nvSpPr>
          <p:spPr bwMode="auto">
            <a:xfrm rot="-2743033">
              <a:off x="4422" y="1159"/>
              <a:ext cx="329" cy="330"/>
            </a:xfrm>
            <a:custGeom>
              <a:avLst/>
              <a:gdLst>
                <a:gd name="T0" fmla="*/ 0 w 43200"/>
                <a:gd name="T1" fmla="*/ 0 h 43197"/>
                <a:gd name="T2" fmla="*/ 0 w 43200"/>
                <a:gd name="T3" fmla="*/ 0 h 43197"/>
                <a:gd name="T4" fmla="*/ 0 w 43200"/>
                <a:gd name="T5" fmla="*/ 0 h 4319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197"/>
                <a:gd name="T11" fmla="*/ 43200 w 43200"/>
                <a:gd name="T12" fmla="*/ 43197 h 43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197" fill="none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</a:path>
                <a:path w="43200" h="43197" stroke="0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  <a:lnTo>
                    <a:pt x="21600" y="215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4" name="Text Box 17"/>
            <p:cNvSpPr txBox="1">
              <a:spLocks noChangeArrowheads="1"/>
            </p:cNvSpPr>
            <p:nvPr/>
          </p:nvSpPr>
          <p:spPr bwMode="auto">
            <a:xfrm>
              <a:off x="768" y="1008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  <p:sp>
          <p:nvSpPr>
            <p:cNvPr id="44055" name="Text Box 18"/>
            <p:cNvSpPr txBox="1">
              <a:spLocks noChangeArrowheads="1"/>
            </p:cNvSpPr>
            <p:nvPr/>
          </p:nvSpPr>
          <p:spPr bwMode="auto">
            <a:xfrm>
              <a:off x="4656" y="96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  <p:sp>
          <p:nvSpPr>
            <p:cNvPr id="44056" name="Text Box 19"/>
            <p:cNvSpPr txBox="1">
              <a:spLocks noChangeArrowheads="1"/>
            </p:cNvSpPr>
            <p:nvPr/>
          </p:nvSpPr>
          <p:spPr bwMode="auto">
            <a:xfrm>
              <a:off x="1584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  <p:sp>
          <p:nvSpPr>
            <p:cNvPr id="44057" name="Text Box 20"/>
            <p:cNvSpPr txBox="1">
              <a:spLocks noChangeArrowheads="1"/>
            </p:cNvSpPr>
            <p:nvPr/>
          </p:nvSpPr>
          <p:spPr bwMode="auto">
            <a:xfrm>
              <a:off x="2256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  <p:sp>
          <p:nvSpPr>
            <p:cNvPr id="44058" name="Text Box 21"/>
            <p:cNvSpPr txBox="1">
              <a:spLocks noChangeArrowheads="1"/>
            </p:cNvSpPr>
            <p:nvPr/>
          </p:nvSpPr>
          <p:spPr bwMode="auto">
            <a:xfrm>
              <a:off x="3024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</p:grpSp>
      <p:sp>
        <p:nvSpPr>
          <p:cNvPr id="44038" name="Text Box 22"/>
          <p:cNvSpPr txBox="1">
            <a:spLocks noChangeArrowheads="1"/>
          </p:cNvSpPr>
          <p:nvPr/>
        </p:nvSpPr>
        <p:spPr bwMode="auto">
          <a:xfrm>
            <a:off x="3581400" y="14478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baseline="0"/>
              <a:t>p</a:t>
            </a:r>
          </a:p>
        </p:txBody>
      </p:sp>
      <p:sp>
        <p:nvSpPr>
          <p:cNvPr id="44039" name="Text Box 23"/>
          <p:cNvSpPr txBox="1">
            <a:spLocks noChangeArrowheads="1"/>
          </p:cNvSpPr>
          <p:nvPr/>
        </p:nvSpPr>
        <p:spPr bwMode="auto">
          <a:xfrm>
            <a:off x="4724400" y="14478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baseline="0"/>
              <a:t>p</a:t>
            </a:r>
          </a:p>
        </p:txBody>
      </p:sp>
      <p:sp>
        <p:nvSpPr>
          <p:cNvPr id="44040" name="Text Box 24"/>
          <p:cNvSpPr txBox="1">
            <a:spLocks noChangeArrowheads="1"/>
          </p:cNvSpPr>
          <p:nvPr/>
        </p:nvSpPr>
        <p:spPr bwMode="auto">
          <a:xfrm>
            <a:off x="5867400" y="14478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baseline="0"/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DBE3CD-3990-4325-9851-1B2BDF3497E8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Transient States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r>
              <a:rPr lang="en-US"/>
              <a:t>A state is said to be </a:t>
            </a:r>
            <a:r>
              <a:rPr lang="en-US" b="1" i="1"/>
              <a:t>transient</a:t>
            </a:r>
            <a:r>
              <a:rPr lang="en-US"/>
              <a:t> if, upon entering this state, the process </a:t>
            </a:r>
            <a:r>
              <a:rPr lang="en-US" i="1"/>
              <a:t>may</a:t>
            </a:r>
            <a:r>
              <a:rPr lang="en-US"/>
              <a:t> </a:t>
            </a:r>
            <a:r>
              <a:rPr lang="en-US" i="1"/>
              <a:t>never</a:t>
            </a:r>
            <a:r>
              <a:rPr lang="en-US"/>
              <a:t> return to this state again.</a:t>
            </a:r>
          </a:p>
          <a:p>
            <a:pPr lvl="1"/>
            <a:r>
              <a:rPr lang="en-US"/>
              <a:t>Therefore, state </a:t>
            </a:r>
            <a:r>
              <a:rPr lang="en-US" i="1"/>
              <a:t>i </a:t>
            </a:r>
            <a:r>
              <a:rPr lang="en-US"/>
              <a:t>is transient if and only if there exists a state </a:t>
            </a:r>
            <a:r>
              <a:rPr lang="en-US" i="1"/>
              <a:t>j</a:t>
            </a:r>
            <a:r>
              <a:rPr lang="en-US"/>
              <a:t> accessible from </a:t>
            </a:r>
            <a:r>
              <a:rPr lang="en-US" i="1"/>
              <a:t>i</a:t>
            </a:r>
            <a:r>
              <a:rPr lang="en-US"/>
              <a:t>, but not vice versa.</a:t>
            </a:r>
          </a:p>
          <a:p>
            <a:pPr lvl="2"/>
            <a:r>
              <a:rPr lang="en-US"/>
              <a:t>Recall gambler’s ruin problem.</a:t>
            </a:r>
          </a:p>
          <a:p>
            <a:pPr lvl="1"/>
            <a:r>
              <a:rPr lang="en-US"/>
              <a:t>Since there is a positive probability that the process will never return to a transient state, </a:t>
            </a:r>
          </a:p>
          <a:p>
            <a:pPr lvl="2"/>
            <a:r>
              <a:rPr lang="en-US"/>
              <a:t>a transient state will be visited only a finite number of times.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7EFAEE-515F-4824-A2F7-307C591FD3E2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Recurrent States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/>
              <a:t>A state is said to be </a:t>
            </a:r>
            <a:r>
              <a:rPr lang="en-US" b="1" i="1"/>
              <a:t>recurrent</a:t>
            </a:r>
            <a:r>
              <a:rPr lang="en-US"/>
              <a:t> if, upon entering this state, the process </a:t>
            </a:r>
            <a:r>
              <a:rPr lang="en-US" i="1"/>
              <a:t>will</a:t>
            </a:r>
            <a:r>
              <a:rPr lang="en-US"/>
              <a:t> </a:t>
            </a:r>
            <a:r>
              <a:rPr lang="en-US" i="1"/>
              <a:t>definitely</a:t>
            </a:r>
            <a:r>
              <a:rPr lang="en-US"/>
              <a:t> return to this state again.</a:t>
            </a:r>
          </a:p>
          <a:p>
            <a:pPr lvl="1"/>
            <a:r>
              <a:rPr lang="en-US"/>
              <a:t>Thus, a recurrent state will be visited infinitely many times </a:t>
            </a:r>
            <a:r>
              <a:rPr lang="en-US" i="1"/>
              <a:t>if it is entered once.</a:t>
            </a:r>
          </a:p>
          <a:p>
            <a:r>
              <a:rPr lang="en-US"/>
              <a:t>A state is said to be </a:t>
            </a:r>
            <a:r>
              <a:rPr lang="en-US" b="1" i="1"/>
              <a:t>absorbing</a:t>
            </a:r>
            <a:r>
              <a:rPr lang="en-US"/>
              <a:t> if, upon entering this state, the process </a:t>
            </a:r>
            <a:r>
              <a:rPr lang="en-US" i="1"/>
              <a:t>will</a:t>
            </a:r>
            <a:r>
              <a:rPr lang="en-US"/>
              <a:t> </a:t>
            </a:r>
            <a:r>
              <a:rPr lang="en-US" i="1"/>
              <a:t>never</a:t>
            </a:r>
            <a:r>
              <a:rPr lang="en-US"/>
              <a:t> leave this state. Thus, for an absorbing state </a:t>
            </a:r>
            <a:r>
              <a:rPr lang="en-US" i="1"/>
              <a:t>i</a:t>
            </a:r>
            <a:endParaRPr lang="en-US"/>
          </a:p>
          <a:p>
            <a:pPr lvl="1"/>
            <a:r>
              <a:rPr lang="en-US" i="1"/>
              <a:t>P</a:t>
            </a:r>
            <a:r>
              <a:rPr lang="en-US" i="1" baseline="-25000"/>
              <a:t>ii</a:t>
            </a:r>
            <a:r>
              <a:rPr lang="en-US"/>
              <a:t> = 1.</a:t>
            </a:r>
          </a:p>
          <a:p>
            <a:endParaRPr 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B553671-8504-4B08-9C9E-991C669C574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Transient and Recurrent States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114800"/>
            <a:ext cx="8229600" cy="2438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Transient states?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None.</a:t>
            </a:r>
          </a:p>
          <a:p>
            <a:pPr>
              <a:lnSpc>
                <a:spcPct val="80000"/>
              </a:lnSpc>
            </a:pPr>
            <a:r>
              <a:rPr lang="en-US" sz="2800"/>
              <a:t>Recurrent states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All.</a:t>
            </a:r>
          </a:p>
          <a:p>
            <a:pPr>
              <a:lnSpc>
                <a:spcPct val="80000"/>
              </a:lnSpc>
            </a:pPr>
            <a:r>
              <a:rPr lang="en-US" sz="2800"/>
              <a:t>Absorbing states?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None.</a:t>
            </a:r>
          </a:p>
        </p:txBody>
      </p:sp>
      <p:sp>
        <p:nvSpPr>
          <p:cNvPr id="47109" name="Oval 7"/>
          <p:cNvSpPr>
            <a:spLocks noChangeArrowheads="1"/>
          </p:cNvSpPr>
          <p:nvPr/>
        </p:nvSpPr>
        <p:spPr bwMode="auto">
          <a:xfrm>
            <a:off x="5638800" y="1981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aseline="0"/>
              <a:t>3</a:t>
            </a:r>
          </a:p>
        </p:txBody>
      </p:sp>
      <p:sp>
        <p:nvSpPr>
          <p:cNvPr id="47110" name="Oval 8"/>
          <p:cNvSpPr>
            <a:spLocks noChangeArrowheads="1"/>
          </p:cNvSpPr>
          <p:nvPr/>
        </p:nvSpPr>
        <p:spPr bwMode="auto">
          <a:xfrm>
            <a:off x="7620000" y="1981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aseline="0"/>
              <a:t>4</a:t>
            </a:r>
          </a:p>
        </p:txBody>
      </p:sp>
      <p:sp>
        <p:nvSpPr>
          <p:cNvPr id="47111" name="Oval 9"/>
          <p:cNvSpPr>
            <a:spLocks noChangeArrowheads="1"/>
          </p:cNvSpPr>
          <p:nvPr/>
        </p:nvSpPr>
        <p:spPr bwMode="auto">
          <a:xfrm>
            <a:off x="65532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aseline="0"/>
              <a:t>5</a:t>
            </a:r>
          </a:p>
        </p:txBody>
      </p:sp>
      <p:cxnSp>
        <p:nvCxnSpPr>
          <p:cNvPr id="47112" name="AutoShape 10"/>
          <p:cNvCxnSpPr>
            <a:cxnSpLocks noChangeShapeType="1"/>
            <a:stCxn id="47109" idx="0"/>
            <a:endCxn id="47110" idx="0"/>
          </p:cNvCxnSpPr>
          <p:nvPr/>
        </p:nvCxnSpPr>
        <p:spPr bwMode="auto">
          <a:xfrm rot="5400000" flipV="1">
            <a:off x="6895306" y="991394"/>
            <a:ext cx="1588" cy="1981200"/>
          </a:xfrm>
          <a:prstGeom prst="curvedConnector3">
            <a:avLst>
              <a:gd name="adj1" fmla="val -144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7113" name="AutoShape 11"/>
          <p:cNvCxnSpPr>
            <a:cxnSpLocks noChangeShapeType="1"/>
            <a:stCxn id="47109" idx="0"/>
            <a:endCxn id="47109" idx="2"/>
          </p:cNvCxnSpPr>
          <p:nvPr/>
        </p:nvCxnSpPr>
        <p:spPr bwMode="auto">
          <a:xfrm rot="-5400000" flipH="1" flipV="1">
            <a:off x="5638800" y="1981200"/>
            <a:ext cx="266700" cy="266700"/>
          </a:xfrm>
          <a:prstGeom prst="curvedConnector4">
            <a:avLst>
              <a:gd name="adj1" fmla="val -85713"/>
              <a:gd name="adj2" fmla="val 18571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7114" name="AutoShape 12"/>
          <p:cNvCxnSpPr>
            <a:cxnSpLocks noChangeShapeType="1"/>
            <a:stCxn id="47110" idx="0"/>
            <a:endCxn id="47110" idx="6"/>
          </p:cNvCxnSpPr>
          <p:nvPr/>
        </p:nvCxnSpPr>
        <p:spPr bwMode="auto">
          <a:xfrm rot="5400000" flipV="1">
            <a:off x="7886700" y="1981200"/>
            <a:ext cx="266700" cy="266700"/>
          </a:xfrm>
          <a:prstGeom prst="curvedConnector4">
            <a:avLst>
              <a:gd name="adj1" fmla="val -85713"/>
              <a:gd name="adj2" fmla="val 18571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7115" name="AutoShape 13"/>
          <p:cNvCxnSpPr>
            <a:cxnSpLocks noChangeShapeType="1"/>
            <a:stCxn id="47110" idx="4"/>
            <a:endCxn id="47109" idx="4"/>
          </p:cNvCxnSpPr>
          <p:nvPr/>
        </p:nvCxnSpPr>
        <p:spPr bwMode="auto">
          <a:xfrm rot="5400000">
            <a:off x="6895306" y="1524794"/>
            <a:ext cx="1588" cy="1981200"/>
          </a:xfrm>
          <a:prstGeom prst="curvedConnector3">
            <a:avLst>
              <a:gd name="adj1" fmla="val 144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7116" name="AutoShape 14"/>
          <p:cNvCxnSpPr>
            <a:cxnSpLocks noChangeShapeType="1"/>
            <a:stCxn id="47110" idx="4"/>
            <a:endCxn id="47111" idx="6"/>
          </p:cNvCxnSpPr>
          <p:nvPr/>
        </p:nvCxnSpPr>
        <p:spPr bwMode="auto">
          <a:xfrm rot="5400000">
            <a:off x="6858000" y="2743200"/>
            <a:ext cx="1257300" cy="8001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7117" name="AutoShape 15"/>
          <p:cNvCxnSpPr>
            <a:cxnSpLocks noChangeShapeType="1"/>
            <a:stCxn id="47111" idx="0"/>
            <a:endCxn id="47110" idx="2"/>
          </p:cNvCxnSpPr>
          <p:nvPr/>
        </p:nvCxnSpPr>
        <p:spPr bwMode="auto">
          <a:xfrm rot="-5400000">
            <a:off x="6591300" y="2476500"/>
            <a:ext cx="1257300" cy="8001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7118" name="AutoShape 16"/>
          <p:cNvCxnSpPr>
            <a:cxnSpLocks noChangeShapeType="1"/>
            <a:stCxn id="47111" idx="0"/>
            <a:endCxn id="47111" idx="2"/>
          </p:cNvCxnSpPr>
          <p:nvPr/>
        </p:nvCxnSpPr>
        <p:spPr bwMode="auto">
          <a:xfrm rot="-5400000" flipH="1" flipV="1">
            <a:off x="6553200" y="3505200"/>
            <a:ext cx="266700" cy="266700"/>
          </a:xfrm>
          <a:prstGeom prst="curvedConnector4">
            <a:avLst>
              <a:gd name="adj1" fmla="val -85713"/>
              <a:gd name="adj2" fmla="val 18571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47119" name="Group 33"/>
          <p:cNvGrpSpPr>
            <a:grpSpLocks/>
          </p:cNvGrpSpPr>
          <p:nvPr/>
        </p:nvGrpSpPr>
        <p:grpSpPr bwMode="auto">
          <a:xfrm>
            <a:off x="609600" y="1371600"/>
            <a:ext cx="3505200" cy="1814513"/>
            <a:chOff x="384" y="864"/>
            <a:chExt cx="2208" cy="1143"/>
          </a:xfrm>
        </p:grpSpPr>
        <p:sp>
          <p:nvSpPr>
            <p:cNvPr id="47127" name="Text Box 23"/>
            <p:cNvSpPr txBox="1">
              <a:spLocks noChangeArrowheads="1"/>
            </p:cNvSpPr>
            <p:nvPr/>
          </p:nvSpPr>
          <p:spPr bwMode="auto">
            <a:xfrm>
              <a:off x="2208" y="960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47128" name="Oval 5"/>
            <p:cNvSpPr>
              <a:spLocks noChangeArrowheads="1"/>
            </p:cNvSpPr>
            <p:nvPr/>
          </p:nvSpPr>
          <p:spPr bwMode="auto">
            <a:xfrm>
              <a:off x="576" y="124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47129" name="Oval 6"/>
            <p:cNvSpPr>
              <a:spLocks noChangeArrowheads="1"/>
            </p:cNvSpPr>
            <p:nvPr/>
          </p:nvSpPr>
          <p:spPr bwMode="auto">
            <a:xfrm>
              <a:off x="1872" y="124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cxnSp>
          <p:nvCxnSpPr>
            <p:cNvPr id="47130" name="AutoShape 17"/>
            <p:cNvCxnSpPr>
              <a:cxnSpLocks noChangeShapeType="1"/>
              <a:stCxn id="47128" idx="0"/>
              <a:endCxn id="47128" idx="2"/>
            </p:cNvCxnSpPr>
            <p:nvPr/>
          </p:nvCxnSpPr>
          <p:spPr bwMode="auto">
            <a:xfrm rot="-5400000" flipH="1" flipV="1">
              <a:off x="576" y="1248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7131" name="AutoShape 18"/>
            <p:cNvCxnSpPr>
              <a:cxnSpLocks noChangeShapeType="1"/>
              <a:stCxn id="47129" idx="0"/>
              <a:endCxn id="47129" idx="6"/>
            </p:cNvCxnSpPr>
            <p:nvPr/>
          </p:nvCxnSpPr>
          <p:spPr bwMode="auto">
            <a:xfrm rot="5400000" flipV="1">
              <a:off x="2040" y="1248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7132" name="AutoShape 19"/>
            <p:cNvCxnSpPr>
              <a:cxnSpLocks noChangeShapeType="1"/>
              <a:stCxn id="47128" idx="0"/>
              <a:endCxn id="47129" idx="0"/>
            </p:cNvCxnSpPr>
            <p:nvPr/>
          </p:nvCxnSpPr>
          <p:spPr bwMode="auto">
            <a:xfrm rot="5400000" flipV="1">
              <a:off x="1391" y="601"/>
              <a:ext cx="1" cy="1296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7133" name="AutoShape 20"/>
            <p:cNvCxnSpPr>
              <a:cxnSpLocks noChangeShapeType="1"/>
              <a:stCxn id="47129" idx="4"/>
              <a:endCxn id="47128" idx="4"/>
            </p:cNvCxnSpPr>
            <p:nvPr/>
          </p:nvCxnSpPr>
          <p:spPr bwMode="auto">
            <a:xfrm rot="5400000">
              <a:off x="1391" y="937"/>
              <a:ext cx="1" cy="1296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47134" name="Text Box 21"/>
            <p:cNvSpPr txBox="1">
              <a:spLocks noChangeArrowheads="1"/>
            </p:cNvSpPr>
            <p:nvPr/>
          </p:nvSpPr>
          <p:spPr bwMode="auto">
            <a:xfrm>
              <a:off x="384" y="86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47135" name="Text Box 22"/>
            <p:cNvSpPr txBox="1">
              <a:spLocks noChangeArrowheads="1"/>
            </p:cNvSpPr>
            <p:nvPr/>
          </p:nvSpPr>
          <p:spPr bwMode="auto">
            <a:xfrm>
              <a:off x="1344" y="921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0.6</a:t>
              </a:r>
            </a:p>
          </p:txBody>
        </p:sp>
        <p:sp>
          <p:nvSpPr>
            <p:cNvPr id="47136" name="Text Box 24"/>
            <p:cNvSpPr txBox="1">
              <a:spLocks noChangeArrowheads="1"/>
            </p:cNvSpPr>
            <p:nvPr/>
          </p:nvSpPr>
          <p:spPr bwMode="auto">
            <a:xfrm>
              <a:off x="1296" y="177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</p:grpSp>
      <p:sp>
        <p:nvSpPr>
          <p:cNvPr id="47120" name="Text Box 25"/>
          <p:cNvSpPr txBox="1">
            <a:spLocks noChangeArrowheads="1"/>
          </p:cNvSpPr>
          <p:nvPr/>
        </p:nvSpPr>
        <p:spPr bwMode="auto">
          <a:xfrm>
            <a:off x="5257800" y="13716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0.3</a:t>
            </a:r>
          </a:p>
        </p:txBody>
      </p:sp>
      <p:sp>
        <p:nvSpPr>
          <p:cNvPr id="47121" name="Text Box 26"/>
          <p:cNvSpPr txBox="1">
            <a:spLocks noChangeArrowheads="1"/>
          </p:cNvSpPr>
          <p:nvPr/>
        </p:nvSpPr>
        <p:spPr bwMode="auto">
          <a:xfrm>
            <a:off x="6781800" y="14478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0.7</a:t>
            </a:r>
          </a:p>
        </p:txBody>
      </p:sp>
      <p:sp>
        <p:nvSpPr>
          <p:cNvPr id="47122" name="Text Box 27"/>
          <p:cNvSpPr txBox="1">
            <a:spLocks noChangeArrowheads="1"/>
          </p:cNvSpPr>
          <p:nvPr/>
        </p:nvSpPr>
        <p:spPr bwMode="auto">
          <a:xfrm>
            <a:off x="5943600" y="2681288"/>
            <a:ext cx="609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0.5</a:t>
            </a:r>
          </a:p>
        </p:txBody>
      </p:sp>
      <p:sp>
        <p:nvSpPr>
          <p:cNvPr id="47123" name="Text Box 28"/>
          <p:cNvSpPr txBox="1">
            <a:spLocks noChangeArrowheads="1"/>
          </p:cNvSpPr>
          <p:nvPr/>
        </p:nvSpPr>
        <p:spPr bwMode="auto">
          <a:xfrm>
            <a:off x="8153400" y="15240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0.4</a:t>
            </a:r>
          </a:p>
        </p:txBody>
      </p:sp>
      <p:sp>
        <p:nvSpPr>
          <p:cNvPr id="47124" name="Text Box 29"/>
          <p:cNvSpPr txBox="1">
            <a:spLocks noChangeArrowheads="1"/>
          </p:cNvSpPr>
          <p:nvPr/>
        </p:nvSpPr>
        <p:spPr bwMode="auto">
          <a:xfrm>
            <a:off x="7696200" y="32766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0.1</a:t>
            </a:r>
          </a:p>
        </p:txBody>
      </p:sp>
      <p:sp>
        <p:nvSpPr>
          <p:cNvPr id="47125" name="Text Box 30"/>
          <p:cNvSpPr txBox="1">
            <a:spLocks noChangeArrowheads="1"/>
          </p:cNvSpPr>
          <p:nvPr/>
        </p:nvSpPr>
        <p:spPr bwMode="auto">
          <a:xfrm>
            <a:off x="6858000" y="2147888"/>
            <a:ext cx="609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0.8</a:t>
            </a:r>
          </a:p>
        </p:txBody>
      </p:sp>
      <p:sp>
        <p:nvSpPr>
          <p:cNvPr id="47126" name="Text Box 31"/>
          <p:cNvSpPr txBox="1">
            <a:spLocks noChangeArrowheads="1"/>
          </p:cNvSpPr>
          <p:nvPr/>
        </p:nvSpPr>
        <p:spPr bwMode="auto">
          <a:xfrm>
            <a:off x="5867400" y="32766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0.2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85773A-109B-4BE2-B4B2-4F79B981CD48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Transient and Recurrent States</a:t>
            </a:r>
          </a:p>
        </p:txBody>
      </p:sp>
      <p:sp>
        <p:nvSpPr>
          <p:cNvPr id="1617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3352800"/>
            <a:ext cx="8229600" cy="31242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Transient states?</a:t>
            </a:r>
          </a:p>
          <a:p>
            <a:pPr lvl="1">
              <a:lnSpc>
                <a:spcPct val="90000"/>
              </a:lnSpc>
            </a:pPr>
            <a:r>
              <a:rPr lang="en-US"/>
              <a:t>{1,2,3}.</a:t>
            </a:r>
          </a:p>
          <a:p>
            <a:pPr>
              <a:lnSpc>
                <a:spcPct val="90000"/>
              </a:lnSpc>
            </a:pPr>
            <a:r>
              <a:rPr lang="en-US"/>
              <a:t>Recurrent states</a:t>
            </a:r>
          </a:p>
          <a:p>
            <a:pPr lvl="1">
              <a:lnSpc>
                <a:spcPct val="90000"/>
              </a:lnSpc>
            </a:pPr>
            <a:r>
              <a:rPr lang="en-US"/>
              <a:t>{0} and {4}.</a:t>
            </a:r>
          </a:p>
          <a:p>
            <a:pPr>
              <a:lnSpc>
                <a:spcPct val="90000"/>
              </a:lnSpc>
            </a:pPr>
            <a:r>
              <a:rPr lang="en-US"/>
              <a:t>Absorbing states?</a:t>
            </a:r>
          </a:p>
          <a:p>
            <a:pPr lvl="1">
              <a:lnSpc>
                <a:spcPct val="90000"/>
              </a:lnSpc>
            </a:pPr>
            <a:r>
              <a:rPr lang="en-US"/>
              <a:t>{0} and {4}.</a:t>
            </a:r>
          </a:p>
        </p:txBody>
      </p:sp>
      <p:grpSp>
        <p:nvGrpSpPr>
          <p:cNvPr id="48133" name="Group 6"/>
          <p:cNvGrpSpPr>
            <a:grpSpLocks/>
          </p:cNvGrpSpPr>
          <p:nvPr/>
        </p:nvGrpSpPr>
        <p:grpSpPr bwMode="auto">
          <a:xfrm>
            <a:off x="1219200" y="1538288"/>
            <a:ext cx="6553200" cy="1052512"/>
            <a:chOff x="768" y="960"/>
            <a:chExt cx="4128" cy="663"/>
          </a:xfrm>
        </p:grpSpPr>
        <p:sp>
          <p:nvSpPr>
            <p:cNvPr id="48134" name="Oval 7"/>
            <p:cNvSpPr>
              <a:spLocks noChangeArrowheads="1"/>
            </p:cNvSpPr>
            <p:nvPr/>
          </p:nvSpPr>
          <p:spPr bwMode="auto">
            <a:xfrm>
              <a:off x="4149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r-TR" baseline="0"/>
                <a:t>4</a:t>
              </a:r>
              <a:endParaRPr lang="en-US" baseline="0"/>
            </a:p>
          </p:txBody>
        </p:sp>
        <p:sp>
          <p:nvSpPr>
            <p:cNvPr id="48135" name="Oval 8"/>
            <p:cNvSpPr>
              <a:spLocks noChangeArrowheads="1"/>
            </p:cNvSpPr>
            <p:nvPr/>
          </p:nvSpPr>
          <p:spPr bwMode="auto">
            <a:xfrm>
              <a:off x="1246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0</a:t>
              </a:r>
            </a:p>
          </p:txBody>
        </p:sp>
        <p:sp>
          <p:nvSpPr>
            <p:cNvPr id="48136" name="Oval 9"/>
            <p:cNvSpPr>
              <a:spLocks noChangeArrowheads="1"/>
            </p:cNvSpPr>
            <p:nvPr/>
          </p:nvSpPr>
          <p:spPr bwMode="auto">
            <a:xfrm>
              <a:off x="1972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48137" name="Oval 10"/>
            <p:cNvSpPr>
              <a:spLocks noChangeArrowheads="1"/>
            </p:cNvSpPr>
            <p:nvPr/>
          </p:nvSpPr>
          <p:spPr bwMode="auto">
            <a:xfrm>
              <a:off x="2698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sp>
          <p:nvSpPr>
            <p:cNvPr id="48138" name="Line 11"/>
            <p:cNvSpPr>
              <a:spLocks noChangeShapeType="1"/>
            </p:cNvSpPr>
            <p:nvPr/>
          </p:nvSpPr>
          <p:spPr bwMode="auto">
            <a:xfrm>
              <a:off x="2244" y="1171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39" name="Line 12"/>
            <p:cNvSpPr>
              <a:spLocks noChangeShapeType="1"/>
            </p:cNvSpPr>
            <p:nvPr/>
          </p:nvSpPr>
          <p:spPr bwMode="auto">
            <a:xfrm flipH="1">
              <a:off x="2244" y="139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0" name="Line 13"/>
            <p:cNvSpPr>
              <a:spLocks noChangeShapeType="1"/>
            </p:cNvSpPr>
            <p:nvPr/>
          </p:nvSpPr>
          <p:spPr bwMode="auto">
            <a:xfrm flipH="1">
              <a:off x="1518" y="139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1" name="Oval 14"/>
            <p:cNvSpPr>
              <a:spLocks noChangeArrowheads="1"/>
            </p:cNvSpPr>
            <p:nvPr/>
          </p:nvSpPr>
          <p:spPr bwMode="auto">
            <a:xfrm>
              <a:off x="3428" y="1137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r-TR" baseline="0"/>
                <a:t>3</a:t>
              </a:r>
              <a:endParaRPr lang="en-US" baseline="0"/>
            </a:p>
          </p:txBody>
        </p:sp>
        <p:sp>
          <p:nvSpPr>
            <p:cNvPr id="48142" name="Line 15"/>
            <p:cNvSpPr>
              <a:spLocks noChangeShapeType="1"/>
            </p:cNvSpPr>
            <p:nvPr/>
          </p:nvSpPr>
          <p:spPr bwMode="auto">
            <a:xfrm>
              <a:off x="2970" y="115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3" name="Line 16"/>
            <p:cNvSpPr>
              <a:spLocks noChangeShapeType="1"/>
            </p:cNvSpPr>
            <p:nvPr/>
          </p:nvSpPr>
          <p:spPr bwMode="auto">
            <a:xfrm flipH="1">
              <a:off x="2970" y="1385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4" name="Line 17"/>
            <p:cNvSpPr>
              <a:spLocks noChangeShapeType="1"/>
            </p:cNvSpPr>
            <p:nvPr/>
          </p:nvSpPr>
          <p:spPr bwMode="auto">
            <a:xfrm>
              <a:off x="3696" y="115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5" name="Arc 18"/>
            <p:cNvSpPr>
              <a:spLocks/>
            </p:cNvSpPr>
            <p:nvPr/>
          </p:nvSpPr>
          <p:spPr bwMode="auto">
            <a:xfrm rot="7832028">
              <a:off x="975" y="1068"/>
              <a:ext cx="329" cy="330"/>
            </a:xfrm>
            <a:custGeom>
              <a:avLst/>
              <a:gdLst>
                <a:gd name="T0" fmla="*/ 0 w 43200"/>
                <a:gd name="T1" fmla="*/ 0 h 43197"/>
                <a:gd name="T2" fmla="*/ 0 w 43200"/>
                <a:gd name="T3" fmla="*/ 0 h 43197"/>
                <a:gd name="T4" fmla="*/ 0 w 43200"/>
                <a:gd name="T5" fmla="*/ 0 h 4319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197"/>
                <a:gd name="T11" fmla="*/ 43200 w 43200"/>
                <a:gd name="T12" fmla="*/ 43197 h 43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197" fill="none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</a:path>
                <a:path w="43200" h="43197" stroke="0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  <a:lnTo>
                    <a:pt x="21600" y="215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6" name="Arc 19"/>
            <p:cNvSpPr>
              <a:spLocks/>
            </p:cNvSpPr>
            <p:nvPr/>
          </p:nvSpPr>
          <p:spPr bwMode="auto">
            <a:xfrm rot="-2743033">
              <a:off x="4422" y="1159"/>
              <a:ext cx="329" cy="330"/>
            </a:xfrm>
            <a:custGeom>
              <a:avLst/>
              <a:gdLst>
                <a:gd name="T0" fmla="*/ 0 w 43200"/>
                <a:gd name="T1" fmla="*/ 0 h 43197"/>
                <a:gd name="T2" fmla="*/ 0 w 43200"/>
                <a:gd name="T3" fmla="*/ 0 h 43197"/>
                <a:gd name="T4" fmla="*/ 0 w 43200"/>
                <a:gd name="T5" fmla="*/ 0 h 4319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197"/>
                <a:gd name="T11" fmla="*/ 43200 w 43200"/>
                <a:gd name="T12" fmla="*/ 43197 h 43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197" fill="none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</a:path>
                <a:path w="43200" h="43197" stroke="0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  <a:lnTo>
                    <a:pt x="21600" y="215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7" name="Text Box 20"/>
            <p:cNvSpPr txBox="1">
              <a:spLocks noChangeArrowheads="1"/>
            </p:cNvSpPr>
            <p:nvPr/>
          </p:nvSpPr>
          <p:spPr bwMode="auto">
            <a:xfrm>
              <a:off x="768" y="1008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  <p:sp>
          <p:nvSpPr>
            <p:cNvPr id="48148" name="Text Box 21"/>
            <p:cNvSpPr txBox="1">
              <a:spLocks noChangeArrowheads="1"/>
            </p:cNvSpPr>
            <p:nvPr/>
          </p:nvSpPr>
          <p:spPr bwMode="auto">
            <a:xfrm>
              <a:off x="4656" y="96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  <p:sp>
          <p:nvSpPr>
            <p:cNvPr id="48149" name="Text Box 22"/>
            <p:cNvSpPr txBox="1">
              <a:spLocks noChangeArrowheads="1"/>
            </p:cNvSpPr>
            <p:nvPr/>
          </p:nvSpPr>
          <p:spPr bwMode="auto">
            <a:xfrm>
              <a:off x="1584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  <p:sp>
          <p:nvSpPr>
            <p:cNvPr id="48150" name="Text Box 23"/>
            <p:cNvSpPr txBox="1">
              <a:spLocks noChangeArrowheads="1"/>
            </p:cNvSpPr>
            <p:nvPr/>
          </p:nvSpPr>
          <p:spPr bwMode="auto">
            <a:xfrm>
              <a:off x="2256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  <p:sp>
          <p:nvSpPr>
            <p:cNvPr id="48151" name="Text Box 24"/>
            <p:cNvSpPr txBox="1">
              <a:spLocks noChangeArrowheads="1"/>
            </p:cNvSpPr>
            <p:nvPr/>
          </p:nvSpPr>
          <p:spPr bwMode="auto">
            <a:xfrm>
              <a:off x="3024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B7FBB01-283C-4A6E-8771-81557E9A5F6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Transient and Recurrent States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en-US"/>
              <a:t>Recurrence is a class property.</a:t>
            </a:r>
          </a:p>
          <a:p>
            <a:pPr lvl="1"/>
            <a:r>
              <a:rPr lang="en-US"/>
              <a:t>That is all states in a class are either recurrent or transient.</a:t>
            </a:r>
          </a:p>
          <a:p>
            <a:r>
              <a:rPr lang="en-US"/>
              <a:t>In a finite-state Markov chain, not all states can be transient. Why?</a:t>
            </a:r>
          </a:p>
          <a:p>
            <a:r>
              <a:rPr lang="en-US"/>
              <a:t>Therefore, in a finite-state, irreducible Markov chain </a:t>
            </a:r>
          </a:p>
          <a:p>
            <a:pPr lvl="1"/>
            <a:r>
              <a:rPr lang="en-US"/>
              <a:t>all states must be recurrent.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4746BD3-D6E7-4AC5-8D98-581AB3B28C96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Periodicity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 i="1"/>
              <a:t>period</a:t>
            </a:r>
            <a:r>
              <a:rPr lang="en-US"/>
              <a:t> </a:t>
            </a:r>
            <a:r>
              <a:rPr lang="en-US" i="1"/>
              <a:t>t&gt;</a:t>
            </a:r>
            <a:r>
              <a:rPr lang="en-US"/>
              <a:t>1</a:t>
            </a:r>
            <a:r>
              <a:rPr lang="en-US" i="1"/>
              <a:t> </a:t>
            </a:r>
            <a:r>
              <a:rPr lang="en-US"/>
              <a:t>of a state </a:t>
            </a:r>
            <a:r>
              <a:rPr lang="en-US" i="1"/>
              <a:t>i </a:t>
            </a:r>
            <a:r>
              <a:rPr lang="en-US"/>
              <a:t>is defined as the </a:t>
            </a:r>
            <a:r>
              <a:rPr lang="en-US" i="1"/>
              <a:t>largest</a:t>
            </a:r>
            <a:r>
              <a:rPr lang="en-US"/>
              <a:t> integer such that </a:t>
            </a:r>
            <a:r>
              <a:rPr lang="en-US" i="1"/>
              <a:t>P</a:t>
            </a:r>
            <a:r>
              <a:rPr lang="en-US" baseline="30000"/>
              <a:t>(</a:t>
            </a:r>
            <a:r>
              <a:rPr lang="en-US" i="1" baseline="30000"/>
              <a:t>n</a:t>
            </a:r>
            <a:r>
              <a:rPr lang="en-US" baseline="30000"/>
              <a:t>)</a:t>
            </a:r>
            <a:r>
              <a:rPr lang="en-US" i="1" baseline="-25000"/>
              <a:t>ii</a:t>
            </a:r>
            <a:r>
              <a:rPr lang="en-US"/>
              <a:t> = 0 when </a:t>
            </a:r>
            <a:r>
              <a:rPr lang="en-US" i="1"/>
              <a:t>n</a:t>
            </a:r>
            <a:r>
              <a:rPr lang="en-US"/>
              <a:t> is </a:t>
            </a:r>
            <a:r>
              <a:rPr lang="en-US" i="1"/>
              <a:t>not </a:t>
            </a:r>
            <a:r>
              <a:rPr lang="en-US"/>
              <a:t>divisible by </a:t>
            </a:r>
            <a:r>
              <a:rPr lang="en-US" i="1"/>
              <a:t>t</a:t>
            </a:r>
            <a:r>
              <a:rPr lang="en-US"/>
              <a:t>.</a:t>
            </a:r>
          </a:p>
          <a:p>
            <a:r>
              <a:rPr lang="en-US"/>
              <a:t>If there are two consecutive numbers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s</a:t>
            </a:r>
            <a:r>
              <a:rPr lang="en-US"/>
              <a:t>+1 such that the process can be in state </a:t>
            </a:r>
            <a:r>
              <a:rPr lang="en-US" i="1"/>
              <a:t>i </a:t>
            </a:r>
            <a:r>
              <a:rPr lang="en-US"/>
              <a:t>at times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s</a:t>
            </a:r>
            <a:r>
              <a:rPr lang="en-US"/>
              <a:t>+1 starting at state </a:t>
            </a:r>
            <a:r>
              <a:rPr lang="en-US" i="1"/>
              <a:t>i</a:t>
            </a:r>
            <a:r>
              <a:rPr lang="en-US"/>
              <a:t>, then the state is said to have period 1 and is called </a:t>
            </a:r>
            <a:r>
              <a:rPr lang="en-US" b="1" i="1"/>
              <a:t>aperiodic.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2ED960-8632-4410-A008-5178CFE6E05C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Periodicity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38600"/>
            <a:ext cx="8229600" cy="20875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What is the period of 1?</a:t>
            </a:r>
          </a:p>
          <a:p>
            <a:pPr lvl="1">
              <a:lnSpc>
                <a:spcPct val="90000"/>
              </a:lnSpc>
            </a:pPr>
            <a:r>
              <a:rPr lang="en-US"/>
              <a:t>Aperiodic.</a:t>
            </a:r>
          </a:p>
          <a:p>
            <a:pPr>
              <a:lnSpc>
                <a:spcPct val="90000"/>
              </a:lnSpc>
            </a:pPr>
            <a:r>
              <a:rPr lang="en-US"/>
              <a:t>What is the period of 2?</a:t>
            </a:r>
          </a:p>
          <a:p>
            <a:pPr lvl="1">
              <a:lnSpc>
                <a:spcPct val="90000"/>
              </a:lnSpc>
            </a:pPr>
            <a:r>
              <a:rPr lang="en-US"/>
              <a:t>Aperiodic.</a:t>
            </a:r>
          </a:p>
          <a:p>
            <a:pPr lvl="1">
              <a:lnSpc>
                <a:spcPct val="90000"/>
              </a:lnSpc>
            </a:pPr>
            <a:endParaRPr lang="en-US"/>
          </a:p>
        </p:txBody>
      </p:sp>
      <p:grpSp>
        <p:nvGrpSpPr>
          <p:cNvPr id="51205" name="Group 14"/>
          <p:cNvGrpSpPr>
            <a:grpSpLocks/>
          </p:cNvGrpSpPr>
          <p:nvPr/>
        </p:nvGrpSpPr>
        <p:grpSpPr bwMode="auto">
          <a:xfrm>
            <a:off x="2743200" y="1385888"/>
            <a:ext cx="3505200" cy="1814512"/>
            <a:chOff x="384" y="864"/>
            <a:chExt cx="2208" cy="1143"/>
          </a:xfrm>
        </p:grpSpPr>
        <p:sp>
          <p:nvSpPr>
            <p:cNvPr id="51206" name="Text Box 15"/>
            <p:cNvSpPr txBox="1">
              <a:spLocks noChangeArrowheads="1"/>
            </p:cNvSpPr>
            <p:nvPr/>
          </p:nvSpPr>
          <p:spPr bwMode="auto">
            <a:xfrm>
              <a:off x="2208" y="960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51207" name="Oval 16"/>
            <p:cNvSpPr>
              <a:spLocks noChangeArrowheads="1"/>
            </p:cNvSpPr>
            <p:nvPr/>
          </p:nvSpPr>
          <p:spPr bwMode="auto">
            <a:xfrm>
              <a:off x="576" y="124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51208" name="Oval 17"/>
            <p:cNvSpPr>
              <a:spLocks noChangeArrowheads="1"/>
            </p:cNvSpPr>
            <p:nvPr/>
          </p:nvSpPr>
          <p:spPr bwMode="auto">
            <a:xfrm>
              <a:off x="1872" y="124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cxnSp>
          <p:nvCxnSpPr>
            <p:cNvPr id="51209" name="AutoShape 18"/>
            <p:cNvCxnSpPr>
              <a:cxnSpLocks noChangeShapeType="1"/>
              <a:stCxn id="51207" idx="0"/>
              <a:endCxn id="51207" idx="2"/>
            </p:cNvCxnSpPr>
            <p:nvPr/>
          </p:nvCxnSpPr>
          <p:spPr bwMode="auto">
            <a:xfrm rot="-5400000" flipH="1" flipV="1">
              <a:off x="576" y="1248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1210" name="AutoShape 19"/>
            <p:cNvCxnSpPr>
              <a:cxnSpLocks noChangeShapeType="1"/>
              <a:stCxn id="51208" idx="0"/>
              <a:endCxn id="51208" idx="6"/>
            </p:cNvCxnSpPr>
            <p:nvPr/>
          </p:nvCxnSpPr>
          <p:spPr bwMode="auto">
            <a:xfrm rot="5400000" flipV="1">
              <a:off x="2040" y="1248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1211" name="AutoShape 20"/>
            <p:cNvCxnSpPr>
              <a:cxnSpLocks noChangeShapeType="1"/>
              <a:stCxn id="51207" idx="0"/>
              <a:endCxn id="51208" idx="0"/>
            </p:cNvCxnSpPr>
            <p:nvPr/>
          </p:nvCxnSpPr>
          <p:spPr bwMode="auto">
            <a:xfrm rot="5400000" flipV="1">
              <a:off x="1391" y="601"/>
              <a:ext cx="1" cy="1296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1212" name="AutoShape 21"/>
            <p:cNvCxnSpPr>
              <a:cxnSpLocks noChangeShapeType="1"/>
              <a:stCxn id="51208" idx="4"/>
              <a:endCxn id="51207" idx="4"/>
            </p:cNvCxnSpPr>
            <p:nvPr/>
          </p:nvCxnSpPr>
          <p:spPr bwMode="auto">
            <a:xfrm rot="5400000">
              <a:off x="1391" y="937"/>
              <a:ext cx="1" cy="1296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1213" name="Text Box 22"/>
            <p:cNvSpPr txBox="1">
              <a:spLocks noChangeArrowheads="1"/>
            </p:cNvSpPr>
            <p:nvPr/>
          </p:nvSpPr>
          <p:spPr bwMode="auto">
            <a:xfrm>
              <a:off x="384" y="86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51214" name="Text Box 23"/>
            <p:cNvSpPr txBox="1">
              <a:spLocks noChangeArrowheads="1"/>
            </p:cNvSpPr>
            <p:nvPr/>
          </p:nvSpPr>
          <p:spPr bwMode="auto">
            <a:xfrm>
              <a:off x="1344" y="921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0.6</a:t>
              </a:r>
            </a:p>
          </p:txBody>
        </p:sp>
        <p:sp>
          <p:nvSpPr>
            <p:cNvPr id="51215" name="Text Box 24"/>
            <p:cNvSpPr txBox="1">
              <a:spLocks noChangeArrowheads="1"/>
            </p:cNvSpPr>
            <p:nvPr/>
          </p:nvSpPr>
          <p:spPr bwMode="auto">
            <a:xfrm>
              <a:off x="1296" y="177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A041F16-22A7-4687-B691-198D08CC8449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Periodicity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71800"/>
            <a:ext cx="8229600" cy="3505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What are the periods of 0 and 4?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Aperiodic.</a:t>
            </a:r>
          </a:p>
          <a:p>
            <a:pPr>
              <a:lnSpc>
                <a:spcPct val="90000"/>
              </a:lnSpc>
            </a:pPr>
            <a:r>
              <a:rPr lang="en-US" sz="2800"/>
              <a:t>What is the period of 1?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2.</a:t>
            </a:r>
          </a:p>
          <a:p>
            <a:pPr>
              <a:lnSpc>
                <a:spcPct val="90000"/>
              </a:lnSpc>
            </a:pPr>
            <a:r>
              <a:rPr lang="en-US" sz="2800"/>
              <a:t>What is the period of 2?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2.</a:t>
            </a:r>
          </a:p>
          <a:p>
            <a:pPr>
              <a:lnSpc>
                <a:spcPct val="90000"/>
              </a:lnSpc>
            </a:pPr>
            <a:r>
              <a:rPr lang="en-US" sz="2800"/>
              <a:t>What is the period of 3?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2.</a:t>
            </a:r>
          </a:p>
        </p:txBody>
      </p:sp>
      <p:grpSp>
        <p:nvGrpSpPr>
          <p:cNvPr id="52229" name="Group 4"/>
          <p:cNvGrpSpPr>
            <a:grpSpLocks/>
          </p:cNvGrpSpPr>
          <p:nvPr/>
        </p:nvGrpSpPr>
        <p:grpSpPr bwMode="auto">
          <a:xfrm>
            <a:off x="1219200" y="1447800"/>
            <a:ext cx="6553200" cy="1052513"/>
            <a:chOff x="768" y="960"/>
            <a:chExt cx="4128" cy="663"/>
          </a:xfrm>
        </p:grpSpPr>
        <p:sp>
          <p:nvSpPr>
            <p:cNvPr id="52230" name="Oval 5"/>
            <p:cNvSpPr>
              <a:spLocks noChangeArrowheads="1"/>
            </p:cNvSpPr>
            <p:nvPr/>
          </p:nvSpPr>
          <p:spPr bwMode="auto">
            <a:xfrm>
              <a:off x="4149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r-TR" baseline="0"/>
                <a:t>4</a:t>
              </a:r>
              <a:endParaRPr lang="en-US" baseline="0"/>
            </a:p>
          </p:txBody>
        </p:sp>
        <p:sp>
          <p:nvSpPr>
            <p:cNvPr id="52231" name="Oval 6"/>
            <p:cNvSpPr>
              <a:spLocks noChangeArrowheads="1"/>
            </p:cNvSpPr>
            <p:nvPr/>
          </p:nvSpPr>
          <p:spPr bwMode="auto">
            <a:xfrm>
              <a:off x="1246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0</a:t>
              </a:r>
            </a:p>
          </p:txBody>
        </p:sp>
        <p:sp>
          <p:nvSpPr>
            <p:cNvPr id="52232" name="Oval 7"/>
            <p:cNvSpPr>
              <a:spLocks noChangeArrowheads="1"/>
            </p:cNvSpPr>
            <p:nvPr/>
          </p:nvSpPr>
          <p:spPr bwMode="auto">
            <a:xfrm>
              <a:off x="1972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52233" name="Oval 8"/>
            <p:cNvSpPr>
              <a:spLocks noChangeArrowheads="1"/>
            </p:cNvSpPr>
            <p:nvPr/>
          </p:nvSpPr>
          <p:spPr bwMode="auto">
            <a:xfrm>
              <a:off x="2698" y="1125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sp>
          <p:nvSpPr>
            <p:cNvPr id="52234" name="Line 9"/>
            <p:cNvSpPr>
              <a:spLocks noChangeShapeType="1"/>
            </p:cNvSpPr>
            <p:nvPr/>
          </p:nvSpPr>
          <p:spPr bwMode="auto">
            <a:xfrm>
              <a:off x="2244" y="1171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35" name="Line 10"/>
            <p:cNvSpPr>
              <a:spLocks noChangeShapeType="1"/>
            </p:cNvSpPr>
            <p:nvPr/>
          </p:nvSpPr>
          <p:spPr bwMode="auto">
            <a:xfrm flipH="1">
              <a:off x="2244" y="139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36" name="Line 11"/>
            <p:cNvSpPr>
              <a:spLocks noChangeShapeType="1"/>
            </p:cNvSpPr>
            <p:nvPr/>
          </p:nvSpPr>
          <p:spPr bwMode="auto">
            <a:xfrm flipH="1">
              <a:off x="1518" y="139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37" name="Oval 12"/>
            <p:cNvSpPr>
              <a:spLocks noChangeArrowheads="1"/>
            </p:cNvSpPr>
            <p:nvPr/>
          </p:nvSpPr>
          <p:spPr bwMode="auto">
            <a:xfrm>
              <a:off x="3428" y="1137"/>
              <a:ext cx="318" cy="31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r-TR" baseline="0"/>
                <a:t>3</a:t>
              </a:r>
              <a:endParaRPr lang="en-US" baseline="0"/>
            </a:p>
          </p:txBody>
        </p:sp>
        <p:sp>
          <p:nvSpPr>
            <p:cNvPr id="52238" name="Line 13"/>
            <p:cNvSpPr>
              <a:spLocks noChangeShapeType="1"/>
            </p:cNvSpPr>
            <p:nvPr/>
          </p:nvSpPr>
          <p:spPr bwMode="auto">
            <a:xfrm>
              <a:off x="2970" y="115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39" name="Line 14"/>
            <p:cNvSpPr>
              <a:spLocks noChangeShapeType="1"/>
            </p:cNvSpPr>
            <p:nvPr/>
          </p:nvSpPr>
          <p:spPr bwMode="auto">
            <a:xfrm flipH="1">
              <a:off x="2970" y="1385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40" name="Line 15"/>
            <p:cNvSpPr>
              <a:spLocks noChangeShapeType="1"/>
            </p:cNvSpPr>
            <p:nvPr/>
          </p:nvSpPr>
          <p:spPr bwMode="auto">
            <a:xfrm>
              <a:off x="3696" y="115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41" name="Arc 16"/>
            <p:cNvSpPr>
              <a:spLocks/>
            </p:cNvSpPr>
            <p:nvPr/>
          </p:nvSpPr>
          <p:spPr bwMode="auto">
            <a:xfrm rot="7832028">
              <a:off x="975" y="1068"/>
              <a:ext cx="329" cy="330"/>
            </a:xfrm>
            <a:custGeom>
              <a:avLst/>
              <a:gdLst>
                <a:gd name="T0" fmla="*/ 0 w 43200"/>
                <a:gd name="T1" fmla="*/ 0 h 43197"/>
                <a:gd name="T2" fmla="*/ 0 w 43200"/>
                <a:gd name="T3" fmla="*/ 0 h 43197"/>
                <a:gd name="T4" fmla="*/ 0 w 43200"/>
                <a:gd name="T5" fmla="*/ 0 h 4319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197"/>
                <a:gd name="T11" fmla="*/ 43200 w 43200"/>
                <a:gd name="T12" fmla="*/ 43197 h 43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197" fill="none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</a:path>
                <a:path w="43200" h="43197" stroke="0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  <a:lnTo>
                    <a:pt x="21600" y="215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2" name="Arc 17"/>
            <p:cNvSpPr>
              <a:spLocks/>
            </p:cNvSpPr>
            <p:nvPr/>
          </p:nvSpPr>
          <p:spPr bwMode="auto">
            <a:xfrm rot="-2743033">
              <a:off x="4422" y="1159"/>
              <a:ext cx="329" cy="330"/>
            </a:xfrm>
            <a:custGeom>
              <a:avLst/>
              <a:gdLst>
                <a:gd name="T0" fmla="*/ 0 w 43200"/>
                <a:gd name="T1" fmla="*/ 0 h 43197"/>
                <a:gd name="T2" fmla="*/ 0 w 43200"/>
                <a:gd name="T3" fmla="*/ 0 h 43197"/>
                <a:gd name="T4" fmla="*/ 0 w 43200"/>
                <a:gd name="T5" fmla="*/ 0 h 4319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197"/>
                <a:gd name="T11" fmla="*/ 43200 w 43200"/>
                <a:gd name="T12" fmla="*/ 43197 h 43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197" fill="none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</a:path>
                <a:path w="43200" h="43197" stroke="0" extrusionOk="0">
                  <a:moveTo>
                    <a:pt x="21985" y="0"/>
                  </a:moveTo>
                  <a:cubicBezTo>
                    <a:pt x="33762" y="210"/>
                    <a:pt x="43200" y="9818"/>
                    <a:pt x="43200" y="21597"/>
                  </a:cubicBezTo>
                  <a:cubicBezTo>
                    <a:pt x="43200" y="33526"/>
                    <a:pt x="33529" y="43197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18862"/>
                    <a:pt x="519" y="16152"/>
                    <a:pt x="1530" y="13612"/>
                  </a:cubicBezTo>
                  <a:lnTo>
                    <a:pt x="21600" y="215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3" name="Text Box 18"/>
            <p:cNvSpPr txBox="1">
              <a:spLocks noChangeArrowheads="1"/>
            </p:cNvSpPr>
            <p:nvPr/>
          </p:nvSpPr>
          <p:spPr bwMode="auto">
            <a:xfrm>
              <a:off x="768" y="1008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  <p:sp>
          <p:nvSpPr>
            <p:cNvPr id="52244" name="Text Box 19"/>
            <p:cNvSpPr txBox="1">
              <a:spLocks noChangeArrowheads="1"/>
            </p:cNvSpPr>
            <p:nvPr/>
          </p:nvSpPr>
          <p:spPr bwMode="auto">
            <a:xfrm>
              <a:off x="4656" y="96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  <p:sp>
          <p:nvSpPr>
            <p:cNvPr id="52245" name="Text Box 20"/>
            <p:cNvSpPr txBox="1">
              <a:spLocks noChangeArrowheads="1"/>
            </p:cNvSpPr>
            <p:nvPr/>
          </p:nvSpPr>
          <p:spPr bwMode="auto">
            <a:xfrm>
              <a:off x="1584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  <p:sp>
          <p:nvSpPr>
            <p:cNvPr id="52246" name="Text Box 21"/>
            <p:cNvSpPr txBox="1">
              <a:spLocks noChangeArrowheads="1"/>
            </p:cNvSpPr>
            <p:nvPr/>
          </p:nvSpPr>
          <p:spPr bwMode="auto">
            <a:xfrm>
              <a:off x="2256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  <p:sp>
          <p:nvSpPr>
            <p:cNvPr id="52247" name="Text Box 22"/>
            <p:cNvSpPr txBox="1">
              <a:spLocks noChangeArrowheads="1"/>
            </p:cNvSpPr>
            <p:nvPr/>
          </p:nvSpPr>
          <p:spPr bwMode="auto">
            <a:xfrm>
              <a:off x="3024" y="13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1-</a:t>
              </a:r>
              <a:r>
                <a:rPr lang="en-US" i="1" baseline="0"/>
                <a:t>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FFDA53-0052-4FCE-814B-18991253864E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Periodicity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Periodicity is a class property.</a:t>
            </a:r>
          </a:p>
          <a:p>
            <a:pPr lvl="1"/>
            <a:r>
              <a:rPr lang="en-US"/>
              <a:t>That is, if state </a:t>
            </a:r>
            <a:r>
              <a:rPr lang="en-US" i="1"/>
              <a:t>i </a:t>
            </a:r>
            <a:r>
              <a:rPr lang="en-US"/>
              <a:t>in a class has period </a:t>
            </a:r>
            <a:r>
              <a:rPr lang="en-US" i="1"/>
              <a:t>t</a:t>
            </a:r>
            <a:r>
              <a:rPr lang="en-US"/>
              <a:t>, then all states in that class have period </a:t>
            </a:r>
            <a:r>
              <a:rPr lang="en-US" i="1"/>
              <a:t>t.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B11750-BE0E-421B-ACDF-9B391B0489F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Ergodicity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In a finite-state Markov chain, recurrent states that are aperiodic are called </a:t>
            </a:r>
            <a:r>
              <a:rPr lang="en-US" b="1" i="1" dirty="0"/>
              <a:t>ergodic</a:t>
            </a:r>
            <a:r>
              <a:rPr lang="en-US" dirty="0"/>
              <a:t>.</a:t>
            </a:r>
          </a:p>
          <a:p>
            <a:r>
              <a:rPr lang="en-US" dirty="0"/>
              <a:t>A Markov chain is said to be ergodic if all states are ergodic.</a:t>
            </a:r>
          </a:p>
          <a:p>
            <a:r>
              <a:rPr lang="en-US" dirty="0"/>
              <a:t>This is a key property for the existence of steady-state probabilities.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3E6BFE-412B-43B4-BA0D-B7A2D64C6521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Limiting Probabilities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762000"/>
          </a:xfrm>
        </p:spPr>
        <p:txBody>
          <a:bodyPr/>
          <a:lstStyle/>
          <a:p>
            <a:r>
              <a:rPr lang="en-US"/>
              <a:t>Recall the weather example.</a:t>
            </a:r>
          </a:p>
        </p:txBody>
      </p:sp>
      <p:pic>
        <p:nvPicPr>
          <p:cNvPr id="55301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9250" y="2514600"/>
            <a:ext cx="3079750" cy="81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2" name="Picture 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8200" y="2466975"/>
            <a:ext cx="40386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3" name="Line 6"/>
          <p:cNvSpPr>
            <a:spLocks noChangeShapeType="1"/>
          </p:cNvSpPr>
          <p:nvPr/>
        </p:nvSpPr>
        <p:spPr bwMode="auto">
          <a:xfrm>
            <a:off x="3581400" y="2895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3064" name="Rectangle 8"/>
          <p:cNvSpPr>
            <a:spLocks noChangeArrowheads="1"/>
          </p:cNvSpPr>
          <p:nvPr/>
        </p:nvSpPr>
        <p:spPr bwMode="auto">
          <a:xfrm>
            <a:off x="457200" y="3733800"/>
            <a:ext cx="8229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aseline="0"/>
              <a:t>If </a:t>
            </a:r>
            <a:r>
              <a:rPr lang="en-US" sz="3200" i="1" baseline="0"/>
              <a:t>n</a:t>
            </a:r>
            <a:r>
              <a:rPr lang="en-US" sz="3200" baseline="0"/>
              <a:t> is large enough, the probability that the system is in a particular state after </a:t>
            </a:r>
            <a:r>
              <a:rPr lang="en-US" sz="3200" i="1" baseline="0"/>
              <a:t>n </a:t>
            </a:r>
            <a:r>
              <a:rPr lang="en-US" sz="3200" baseline="0"/>
              <a:t>transitions does not depend on the initial state.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D6F3BE-9E0D-4DFC-9A40-EB6850B936CC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Limiting Probabilities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will investigate the long term properties of Markov Chains.</a:t>
            </a:r>
          </a:p>
          <a:p>
            <a:pPr lvl="1"/>
            <a:r>
              <a:rPr lang="en-US"/>
              <a:t>Under which conditions does </a:t>
            </a:r>
            <a:r>
              <a:rPr lang="en-US" i="1"/>
              <a:t>P</a:t>
            </a:r>
            <a:r>
              <a:rPr lang="en-US" baseline="30000"/>
              <a:t>(</a:t>
            </a:r>
            <a:r>
              <a:rPr lang="en-US" i="1" baseline="30000"/>
              <a:t>n</a:t>
            </a:r>
            <a:r>
              <a:rPr lang="en-US" baseline="30000"/>
              <a:t>)</a:t>
            </a:r>
            <a:r>
              <a:rPr lang="en-US"/>
              <a:t> converge?</a:t>
            </a:r>
          </a:p>
          <a:p>
            <a:pPr lvl="1"/>
            <a:r>
              <a:rPr lang="en-US"/>
              <a:t>Interpretations of limiting probabilities.</a:t>
            </a:r>
          </a:p>
          <a:p>
            <a:pPr lvl="1"/>
            <a:r>
              <a:rPr lang="en-US"/>
              <a:t>Is there an efficient way of computing the limiting probabilities when they exist?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C461F39-BDD4-4A29-88E4-B0CB7EFE5077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Limiting Probabilities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any </a:t>
            </a:r>
            <a:r>
              <a:rPr lang="en-US" b="1" i="1" dirty="0"/>
              <a:t>irreducible ergodic</a:t>
            </a:r>
            <a:r>
              <a:rPr lang="en-US" b="1" dirty="0"/>
              <a:t> </a:t>
            </a:r>
            <a:r>
              <a:rPr lang="en-US" b="1" i="1" dirty="0"/>
              <a:t>finite-state </a:t>
            </a:r>
            <a:r>
              <a:rPr lang="en-US" dirty="0"/>
              <a:t>Markov chain,             exists and is independent of </a:t>
            </a:r>
            <a:r>
              <a:rPr lang="en-US" i="1" dirty="0" err="1"/>
              <a:t>i</a:t>
            </a:r>
            <a:r>
              <a:rPr lang="en-US" i="1" dirty="0"/>
              <a:t>. </a:t>
            </a:r>
            <a:r>
              <a:rPr lang="en-US" dirty="0"/>
              <a:t>Furthermore, 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	where </a:t>
            </a:r>
            <a:r>
              <a:rPr lang="en-US" i="1" dirty="0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 dirty="0">
                <a:sym typeface="Symbol" pitchFamily="18" charset="2"/>
              </a:rPr>
              <a:t>j</a:t>
            </a:r>
            <a:r>
              <a:rPr lang="en-US" dirty="0"/>
              <a:t>’s </a:t>
            </a:r>
            <a:r>
              <a:rPr lang="en-US" b="1" i="1" dirty="0"/>
              <a:t>uniquely</a:t>
            </a:r>
            <a:r>
              <a:rPr lang="en-US" dirty="0"/>
              <a:t> satisfy the following steady-state equations:</a:t>
            </a:r>
          </a:p>
        </p:txBody>
      </p:sp>
      <p:pic>
        <p:nvPicPr>
          <p:cNvPr id="57349" name="Picture 12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82650" y="4905375"/>
            <a:ext cx="3917950" cy="157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50" name="Picture 13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35363" y="2147888"/>
            <a:ext cx="1265237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51" name="Picture 14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15975" y="3163888"/>
            <a:ext cx="2560638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5744A6-C3E2-44DC-828A-476311AFA42D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Interpretation of </a:t>
            </a:r>
            <a:br>
              <a:rPr lang="en-US" sz="4000"/>
            </a:br>
            <a:r>
              <a:rPr lang="en-US" sz="4000"/>
              <a:t>Limiting Probabilities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r>
              <a:rPr lang="en-US" dirty="0"/>
              <a:t>Steady-state probabilities</a:t>
            </a:r>
          </a:p>
          <a:p>
            <a:pPr lvl="1"/>
            <a:r>
              <a:rPr lang="en-US" dirty="0"/>
              <a:t>The probability of finding the process in a certain state, say </a:t>
            </a:r>
            <a:r>
              <a:rPr lang="en-US" i="1" dirty="0"/>
              <a:t>j</a:t>
            </a:r>
            <a:r>
              <a:rPr lang="en-US" dirty="0"/>
              <a:t>, after a large number of transitions converges to the value </a:t>
            </a:r>
            <a:r>
              <a:rPr lang="en-US" i="1" dirty="0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 dirty="0">
                <a:sym typeface="Symbol" pitchFamily="18" charset="2"/>
              </a:rPr>
              <a:t>j</a:t>
            </a:r>
            <a:r>
              <a:rPr lang="en-US" dirty="0"/>
              <a:t>, independent of the distribution of the initial state.</a:t>
            </a:r>
          </a:p>
          <a:p>
            <a:pPr lvl="1"/>
            <a:r>
              <a:rPr lang="en-US" dirty="0"/>
              <a:t>Note that this does not mean that the Markov chain settles into a state. The process continues to make transitions according to the one-step transition probability matrix.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34EB7B7-464D-4C9E-A231-2F7DF7565CAD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Interpretation of </a:t>
            </a:r>
            <a:br>
              <a:rPr lang="en-US" sz="4000"/>
            </a:br>
            <a:r>
              <a:rPr lang="en-US" sz="4000"/>
              <a:t>Limiting Probabilities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Steady-state probabilities</a:t>
            </a:r>
          </a:p>
          <a:p>
            <a:pPr lvl="1"/>
            <a:r>
              <a:rPr lang="en-US" dirty="0"/>
              <a:t>Equivalently, we can state that the </a:t>
            </a:r>
            <a:r>
              <a:rPr lang="en-US" i="1" dirty="0"/>
              <a:t>long-run proportion of time</a:t>
            </a:r>
            <a:r>
              <a:rPr lang="en-US" dirty="0"/>
              <a:t> that the process will be in state </a:t>
            </a:r>
            <a:r>
              <a:rPr lang="en-US" i="1" dirty="0"/>
              <a:t>j</a:t>
            </a:r>
            <a:r>
              <a:rPr lang="en-US" dirty="0"/>
              <a:t> is </a:t>
            </a:r>
            <a:r>
              <a:rPr lang="en-US" i="1" dirty="0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 dirty="0">
                <a:sym typeface="Symbol" pitchFamily="18" charset="2"/>
              </a:rPr>
              <a:t>j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2CA3A6-249B-40D7-ABD0-5CD5A32B7B07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Interpretation of </a:t>
            </a:r>
            <a:br>
              <a:rPr lang="en-US" sz="4000"/>
            </a:br>
            <a:r>
              <a:rPr lang="en-US" sz="4000"/>
              <a:t>Limiting Probabilities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Stationary probabilities </a:t>
            </a:r>
          </a:p>
          <a:p>
            <a:pPr lvl="1"/>
            <a:r>
              <a:rPr lang="en-US"/>
              <a:t>These are not to be confused with the stationary transition probabilities.</a:t>
            </a:r>
          </a:p>
          <a:p>
            <a:pPr lvl="1"/>
            <a:r>
              <a:rPr lang="en-US"/>
              <a:t>If P(</a:t>
            </a:r>
            <a:r>
              <a:rPr lang="en-US" i="1"/>
              <a:t>X</a:t>
            </a:r>
            <a:r>
              <a:rPr lang="en-US" baseline="-25000"/>
              <a:t>0</a:t>
            </a:r>
            <a:r>
              <a:rPr lang="en-US"/>
              <a:t> = </a:t>
            </a:r>
            <a:r>
              <a:rPr lang="en-US" i="1"/>
              <a:t>j</a:t>
            </a:r>
            <a:r>
              <a:rPr lang="en-US"/>
              <a:t>) = </a:t>
            </a:r>
            <a:r>
              <a:rPr lang="en-US" i="1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>
                <a:sym typeface="Symbol" pitchFamily="18" charset="2"/>
              </a:rPr>
              <a:t>j</a:t>
            </a:r>
            <a:r>
              <a:rPr lang="en-US" i="1">
                <a:sym typeface="Symbol" pitchFamily="18" charset="2"/>
              </a:rPr>
              <a:t> </a:t>
            </a:r>
            <a:r>
              <a:rPr lang="en-US">
                <a:latin typeface="cmsy10" pitchFamily="34" charset="0"/>
                <a:sym typeface="Symbol" pitchFamily="18" charset="2"/>
              </a:rPr>
              <a:t>8</a:t>
            </a:r>
            <a:r>
              <a:rPr lang="en-US" i="1">
                <a:sym typeface="Symbol" pitchFamily="18" charset="2"/>
              </a:rPr>
              <a:t> j, </a:t>
            </a:r>
            <a:r>
              <a:rPr lang="en-US">
                <a:sym typeface="Symbol" pitchFamily="18" charset="2"/>
              </a:rPr>
              <a:t>then the probability of finding the process in state </a:t>
            </a:r>
            <a:r>
              <a:rPr lang="en-US" i="1">
                <a:sym typeface="Symbol" pitchFamily="18" charset="2"/>
              </a:rPr>
              <a:t>j</a:t>
            </a:r>
            <a:r>
              <a:rPr lang="en-US">
                <a:sym typeface="Symbol" pitchFamily="18" charset="2"/>
              </a:rPr>
              <a:t> after </a:t>
            </a:r>
            <a:r>
              <a:rPr lang="en-US" i="1">
                <a:sym typeface="Symbol" pitchFamily="18" charset="2"/>
              </a:rPr>
              <a:t>n=</a:t>
            </a:r>
            <a:r>
              <a:rPr lang="en-US">
                <a:sym typeface="Symbol" pitchFamily="18" charset="2"/>
              </a:rPr>
              <a:t>1,2</a:t>
            </a:r>
            <a:r>
              <a:rPr lang="en-US" i="1">
                <a:sym typeface="Symbol" pitchFamily="18" charset="2"/>
              </a:rPr>
              <a:t>,…</a:t>
            </a:r>
            <a:r>
              <a:rPr lang="en-US">
                <a:sym typeface="Symbol" pitchFamily="18" charset="2"/>
              </a:rPr>
              <a:t> transitions is also </a:t>
            </a:r>
            <a:r>
              <a:rPr lang="en-US" i="1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>
                <a:sym typeface="Symbol" pitchFamily="18" charset="2"/>
              </a:rPr>
              <a:t>j</a:t>
            </a:r>
            <a:r>
              <a:rPr lang="en-US" i="1">
                <a:sym typeface="Symbol" pitchFamily="18" charset="2"/>
              </a:rPr>
              <a:t>. </a:t>
            </a:r>
            <a:r>
              <a:rPr lang="en-US">
                <a:sym typeface="Symbol" pitchFamily="18" charset="2"/>
              </a:rPr>
              <a:t>In other words, </a:t>
            </a:r>
            <a:endParaRPr lang="en-US" i="1" baseline="-25000">
              <a:sym typeface="Symbol" pitchFamily="18" charset="2"/>
            </a:endParaRPr>
          </a:p>
          <a:p>
            <a:pPr lvl="1">
              <a:buFontTx/>
              <a:buNone/>
            </a:pPr>
            <a:r>
              <a:rPr lang="en-US"/>
              <a:t>	P(</a:t>
            </a:r>
            <a:r>
              <a:rPr lang="en-US" i="1"/>
              <a:t>X</a:t>
            </a:r>
            <a:r>
              <a:rPr lang="en-US" baseline="-25000"/>
              <a:t>1</a:t>
            </a:r>
            <a:r>
              <a:rPr lang="en-US"/>
              <a:t> = </a:t>
            </a:r>
            <a:r>
              <a:rPr lang="en-US" i="1"/>
              <a:t>j</a:t>
            </a:r>
            <a:r>
              <a:rPr lang="en-US"/>
              <a:t>) = </a:t>
            </a:r>
            <a:r>
              <a:rPr lang="en-US" i="1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>
                <a:sym typeface="Symbol" pitchFamily="18" charset="2"/>
              </a:rPr>
              <a:t>j</a:t>
            </a:r>
            <a:r>
              <a:rPr lang="en-US" i="1">
                <a:sym typeface="Symbol" pitchFamily="18" charset="2"/>
              </a:rPr>
              <a:t> </a:t>
            </a:r>
            <a:r>
              <a:rPr lang="en-US">
                <a:latin typeface="cmsy10" pitchFamily="34" charset="0"/>
                <a:sym typeface="Symbol" pitchFamily="18" charset="2"/>
              </a:rPr>
              <a:t>8</a:t>
            </a:r>
            <a:r>
              <a:rPr lang="en-US" i="1">
                <a:sym typeface="Symbol" pitchFamily="18" charset="2"/>
              </a:rPr>
              <a:t> j, </a:t>
            </a:r>
            <a:r>
              <a:rPr lang="en-US"/>
              <a:t>P(</a:t>
            </a:r>
            <a:r>
              <a:rPr lang="en-US" i="1"/>
              <a:t>X</a:t>
            </a:r>
            <a:r>
              <a:rPr lang="en-US" baseline="-25000"/>
              <a:t>2</a:t>
            </a:r>
            <a:r>
              <a:rPr lang="en-US"/>
              <a:t> = </a:t>
            </a:r>
            <a:r>
              <a:rPr lang="en-US" i="1"/>
              <a:t>j</a:t>
            </a:r>
            <a:r>
              <a:rPr lang="en-US"/>
              <a:t>) = </a:t>
            </a:r>
            <a:r>
              <a:rPr lang="en-US" i="1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>
                <a:sym typeface="Symbol" pitchFamily="18" charset="2"/>
              </a:rPr>
              <a:t>j</a:t>
            </a:r>
            <a:r>
              <a:rPr lang="en-US" i="1">
                <a:sym typeface="Symbol" pitchFamily="18" charset="2"/>
              </a:rPr>
              <a:t> </a:t>
            </a:r>
            <a:r>
              <a:rPr lang="en-US">
                <a:latin typeface="cmsy10" pitchFamily="34" charset="0"/>
                <a:sym typeface="Symbol" pitchFamily="18" charset="2"/>
              </a:rPr>
              <a:t>8</a:t>
            </a:r>
            <a:r>
              <a:rPr lang="en-US" i="1">
                <a:sym typeface="Symbol" pitchFamily="18" charset="2"/>
              </a:rPr>
              <a:t> j, </a:t>
            </a:r>
            <a:r>
              <a:rPr lang="en-US">
                <a:sym typeface="Symbol" pitchFamily="18" charset="2"/>
              </a:rPr>
              <a:t>etc.</a:t>
            </a:r>
            <a:endParaRPr lang="en-US" baseline="-25000">
              <a:sym typeface="Symbol" pitchFamily="18" charset="2"/>
            </a:endParaRPr>
          </a:p>
          <a:p>
            <a:pPr lvl="1"/>
            <a:endParaRPr lang="en-US" baseline="-25000">
              <a:sym typeface="Symbol" pitchFamily="18" charset="2"/>
            </a:endParaRPr>
          </a:p>
          <a:p>
            <a:pPr lvl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540BA7-24DE-46A4-B7AA-7F173565FDE1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Interpretation of </a:t>
            </a:r>
            <a:br>
              <a:rPr lang="en-US" sz="4000"/>
            </a:br>
            <a:r>
              <a:rPr lang="en-US" sz="4000"/>
              <a:t>Limiting Probabilities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5943600" cy="685800"/>
          </a:xfrm>
        </p:spPr>
        <p:txBody>
          <a:bodyPr/>
          <a:lstStyle/>
          <a:p>
            <a:r>
              <a:rPr lang="en-US" sz="3200"/>
              <a:t>Equilibrium distribution.</a:t>
            </a:r>
          </a:p>
        </p:txBody>
      </p:sp>
      <p:sp>
        <p:nvSpPr>
          <p:cNvPr id="179212" name="Rectangle 12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3810000"/>
            <a:ext cx="7772400" cy="2819400"/>
          </a:xfrm>
        </p:spPr>
        <p:txBody>
          <a:bodyPr/>
          <a:lstStyle/>
          <a:p>
            <a:r>
              <a:rPr lang="en-US" sz="3200" dirty="0"/>
              <a:t>What do you expect?</a:t>
            </a:r>
          </a:p>
          <a:p>
            <a:pPr lvl="1"/>
            <a:r>
              <a:rPr lang="en-US" sz="2800" dirty="0"/>
              <a:t>These probabilities are equal in steady state. </a:t>
            </a:r>
          </a:p>
          <a:p>
            <a:endParaRPr lang="en-US" sz="3200" dirty="0"/>
          </a:p>
        </p:txBody>
      </p:sp>
      <p:sp>
        <p:nvSpPr>
          <p:cNvPr id="61446" name="Oval 4"/>
          <p:cNvSpPr>
            <a:spLocks noChangeArrowheads="1"/>
          </p:cNvSpPr>
          <p:nvPr/>
        </p:nvSpPr>
        <p:spPr bwMode="auto">
          <a:xfrm>
            <a:off x="3733800" y="2590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i="1" baseline="0"/>
              <a:t>j</a:t>
            </a:r>
          </a:p>
        </p:txBody>
      </p:sp>
      <p:sp>
        <p:nvSpPr>
          <p:cNvPr id="61447" name="Line 5"/>
          <p:cNvSpPr>
            <a:spLocks noChangeShapeType="1"/>
          </p:cNvSpPr>
          <p:nvPr/>
        </p:nvSpPr>
        <p:spPr bwMode="auto">
          <a:xfrm>
            <a:off x="2209800" y="2819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48" name="Line 6"/>
          <p:cNvSpPr>
            <a:spLocks noChangeShapeType="1"/>
          </p:cNvSpPr>
          <p:nvPr/>
        </p:nvSpPr>
        <p:spPr bwMode="auto">
          <a:xfrm>
            <a:off x="4267200" y="2819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49" name="Text Box 7"/>
          <p:cNvSpPr txBox="1">
            <a:spLocks noChangeArrowheads="1"/>
          </p:cNvSpPr>
          <p:nvPr/>
        </p:nvSpPr>
        <p:spPr bwMode="auto">
          <a:xfrm>
            <a:off x="1676400" y="2895600"/>
            <a:ext cx="2209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Probability of entering state </a:t>
            </a:r>
            <a:r>
              <a:rPr lang="en-US" i="1" baseline="0"/>
              <a:t>j</a:t>
            </a:r>
          </a:p>
        </p:txBody>
      </p:sp>
      <p:sp>
        <p:nvSpPr>
          <p:cNvPr id="61450" name="Text Box 13"/>
          <p:cNvSpPr txBox="1">
            <a:spLocks noChangeArrowheads="1"/>
          </p:cNvSpPr>
          <p:nvPr/>
        </p:nvSpPr>
        <p:spPr bwMode="auto">
          <a:xfrm>
            <a:off x="4495800" y="2895600"/>
            <a:ext cx="2209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Probability of leaving state </a:t>
            </a:r>
            <a:r>
              <a:rPr lang="en-US" i="1" baseline="0"/>
              <a:t>j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2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5D4046C-53DF-466F-BD4A-5CEF67D15DD6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Interpretation of </a:t>
            </a:r>
            <a:br>
              <a:rPr lang="en-US" sz="4000"/>
            </a:br>
            <a:r>
              <a:rPr lang="en-US" sz="4000"/>
              <a:t>Limiting Probabilities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5943600" cy="53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200"/>
              <a:t>Equilibrium distribution.</a:t>
            </a:r>
          </a:p>
        </p:txBody>
      </p:sp>
      <p:sp>
        <p:nvSpPr>
          <p:cNvPr id="62469" name="Oval 5"/>
          <p:cNvSpPr>
            <a:spLocks noChangeArrowheads="1"/>
          </p:cNvSpPr>
          <p:nvPr/>
        </p:nvSpPr>
        <p:spPr bwMode="auto">
          <a:xfrm>
            <a:off x="4191000" y="263525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i="1" baseline="0"/>
              <a:t>j</a:t>
            </a:r>
          </a:p>
        </p:txBody>
      </p:sp>
      <p:sp>
        <p:nvSpPr>
          <p:cNvPr id="62470" name="Line 6"/>
          <p:cNvSpPr>
            <a:spLocks noChangeShapeType="1"/>
          </p:cNvSpPr>
          <p:nvPr/>
        </p:nvSpPr>
        <p:spPr bwMode="auto">
          <a:xfrm>
            <a:off x="2667000" y="286385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2471" name="Line 7"/>
          <p:cNvSpPr>
            <a:spLocks noChangeShapeType="1"/>
          </p:cNvSpPr>
          <p:nvPr/>
        </p:nvSpPr>
        <p:spPr bwMode="auto">
          <a:xfrm>
            <a:off x="4724400" y="286385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83310" name="Picture 1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51150" y="3124200"/>
            <a:ext cx="1111250" cy="98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73" name="Text Box 18"/>
          <p:cNvSpPr txBox="1">
            <a:spLocks noChangeArrowheads="1"/>
          </p:cNvSpPr>
          <p:nvPr/>
        </p:nvSpPr>
        <p:spPr bwMode="auto">
          <a:xfrm>
            <a:off x="3886200" y="2209800"/>
            <a:ext cx="106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aseline="0"/>
              <a:t>=</a:t>
            </a:r>
          </a:p>
        </p:txBody>
      </p:sp>
      <p:sp>
        <p:nvSpPr>
          <p:cNvPr id="62474" name="Text Box 19"/>
          <p:cNvSpPr txBox="1">
            <a:spLocks noChangeArrowheads="1"/>
          </p:cNvSpPr>
          <p:nvPr/>
        </p:nvSpPr>
        <p:spPr bwMode="auto">
          <a:xfrm>
            <a:off x="3886200" y="3336925"/>
            <a:ext cx="106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aseline="0"/>
              <a:t>=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752600" y="4267200"/>
            <a:ext cx="3584575" cy="741363"/>
            <a:chOff x="1104" y="2913"/>
            <a:chExt cx="2258" cy="467"/>
          </a:xfrm>
        </p:grpSpPr>
        <p:sp>
          <p:nvSpPr>
            <p:cNvPr id="62481" name="AutoShape 20"/>
            <p:cNvSpPr>
              <a:spLocks noChangeArrowheads="1"/>
            </p:cNvSpPr>
            <p:nvPr/>
          </p:nvSpPr>
          <p:spPr bwMode="auto">
            <a:xfrm>
              <a:off x="1104" y="3024"/>
              <a:ext cx="432" cy="288"/>
            </a:xfrm>
            <a:prstGeom prst="leftRightArrow">
              <a:avLst>
                <a:gd name="adj1" fmla="val 50000"/>
                <a:gd name="adj2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2" name="Text Box 23"/>
            <p:cNvSpPr txBox="1">
              <a:spLocks noChangeArrowheads="1"/>
            </p:cNvSpPr>
            <p:nvPr/>
          </p:nvSpPr>
          <p:spPr bwMode="auto">
            <a:xfrm>
              <a:off x="2428" y="2968"/>
              <a:ext cx="6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aseline="0"/>
                <a:t>=</a:t>
              </a:r>
            </a:p>
          </p:txBody>
        </p:sp>
        <p:pic>
          <p:nvPicPr>
            <p:cNvPr id="62483" name="Picture 24" descr="txp_fig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778" y="2913"/>
              <a:ext cx="700" cy="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2484" name="Picture 25" descr="txp_fig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168" y="3061"/>
              <a:ext cx="194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83323" name="Picture 2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900613" y="3348038"/>
            <a:ext cx="15113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77" name="Text Box 28"/>
          <p:cNvSpPr txBox="1">
            <a:spLocks noChangeArrowheads="1"/>
          </p:cNvSpPr>
          <p:nvPr/>
        </p:nvSpPr>
        <p:spPr bwMode="auto">
          <a:xfrm>
            <a:off x="2133600" y="2133600"/>
            <a:ext cx="1828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Probability of entering state </a:t>
            </a:r>
            <a:r>
              <a:rPr lang="en-US" i="1" baseline="0"/>
              <a:t>j</a:t>
            </a:r>
          </a:p>
        </p:txBody>
      </p:sp>
      <p:sp>
        <p:nvSpPr>
          <p:cNvPr id="62478" name="Text Box 29"/>
          <p:cNvSpPr txBox="1">
            <a:spLocks noChangeArrowheads="1"/>
          </p:cNvSpPr>
          <p:nvPr/>
        </p:nvSpPr>
        <p:spPr bwMode="auto">
          <a:xfrm>
            <a:off x="5029200" y="2133600"/>
            <a:ext cx="2209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aseline="0"/>
              <a:t>Probability of leaving state </a:t>
            </a:r>
            <a:r>
              <a:rPr lang="en-US" i="1" baseline="0"/>
              <a:t>j</a:t>
            </a:r>
          </a:p>
        </p:txBody>
      </p:sp>
      <p:sp>
        <p:nvSpPr>
          <p:cNvPr id="183326" name="Rectangle 30"/>
          <p:cNvSpPr>
            <a:spLocks noChangeArrowheads="1"/>
          </p:cNvSpPr>
          <p:nvPr/>
        </p:nvSpPr>
        <p:spPr bwMode="auto">
          <a:xfrm>
            <a:off x="457200" y="5029200"/>
            <a:ext cx="8382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aseline="0" dirty="0"/>
              <a:t>If (1) were violated for any state, then for some state </a:t>
            </a:r>
            <a:r>
              <a:rPr lang="en-US" sz="2400" i="1" baseline="0" dirty="0"/>
              <a:t>j</a:t>
            </a:r>
            <a:r>
              <a:rPr lang="en-US" sz="2400" baseline="0" dirty="0"/>
              <a:t>, the LHS of (1) would exceed the RHS of (1).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aseline="0" dirty="0"/>
              <a:t>This would result in probability “piling up” in state </a:t>
            </a:r>
            <a:r>
              <a:rPr lang="en-US" sz="2400" i="1" baseline="0" dirty="0"/>
              <a:t>j</a:t>
            </a:r>
            <a:r>
              <a:rPr lang="en-US" sz="2400" baseline="0" dirty="0"/>
              <a:t>, and the steady state distribution would not exist.</a:t>
            </a:r>
          </a:p>
        </p:txBody>
      </p:sp>
      <p:sp>
        <p:nvSpPr>
          <p:cNvPr id="62480" name="Text Box 31"/>
          <p:cNvSpPr txBox="1">
            <a:spLocks noChangeArrowheads="1"/>
          </p:cNvSpPr>
          <p:nvPr/>
        </p:nvSpPr>
        <p:spPr bwMode="auto">
          <a:xfrm>
            <a:off x="6781800" y="3290888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aseline="0"/>
              <a:t>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2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10B5FD-6D1B-4F6C-9A4A-E11E0FA5C128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Computing Limiting Probabilities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971800"/>
            <a:ext cx="8229600" cy="3154363"/>
          </a:xfrm>
        </p:spPr>
        <p:txBody>
          <a:bodyPr/>
          <a:lstStyle/>
          <a:p>
            <a:r>
              <a:rPr lang="en-US" sz="2800"/>
              <a:t>How many variables do we have?</a:t>
            </a:r>
          </a:p>
          <a:p>
            <a:pPr lvl="1"/>
            <a:r>
              <a:rPr lang="en-US" sz="2400" i="1"/>
              <a:t>M</a:t>
            </a:r>
            <a:r>
              <a:rPr lang="en-US" sz="2400"/>
              <a:t>+1</a:t>
            </a:r>
          </a:p>
          <a:p>
            <a:r>
              <a:rPr lang="en-US" sz="2800"/>
              <a:t>How many equations do we have?</a:t>
            </a:r>
          </a:p>
          <a:p>
            <a:pPr lvl="1"/>
            <a:r>
              <a:rPr lang="en-US" sz="2400" i="1"/>
              <a:t>M</a:t>
            </a:r>
            <a:r>
              <a:rPr lang="en-US" sz="2400"/>
              <a:t>+2</a:t>
            </a:r>
          </a:p>
          <a:p>
            <a:r>
              <a:rPr lang="en-US" sz="2800"/>
              <a:t>So, how do we find a unique set of </a:t>
            </a:r>
            <a:r>
              <a:rPr lang="en-US" sz="2800" i="1">
                <a:latin typeface="Symbol" pitchFamily="18" charset="2"/>
                <a:sym typeface="Symbol" pitchFamily="18" charset="2"/>
              </a:rPr>
              <a:t></a:t>
            </a:r>
            <a:r>
              <a:rPr lang="en-US" sz="2800" i="1" baseline="-25000">
                <a:sym typeface="Symbol" pitchFamily="18" charset="2"/>
              </a:rPr>
              <a:t>j</a:t>
            </a:r>
            <a:r>
              <a:rPr lang="en-US" sz="2800"/>
              <a:t>’s that satisfy the equations above?</a:t>
            </a:r>
          </a:p>
        </p:txBody>
      </p:sp>
      <p:pic>
        <p:nvPicPr>
          <p:cNvPr id="63493" name="Picture 7" descr="txp_fig"/>
          <p:cNvPicPr>
            <a:picLocks noGrp="1" noChangeAspect="1" noChangeArrowheads="1"/>
          </p:cNvPicPr>
          <p:nvPr>
            <p:ph sz="half" idx="2"/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133600" y="1371600"/>
            <a:ext cx="4267200" cy="14605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479F3E-1AB5-4FC7-888C-D6E2F145C32D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/>
              <a:t>Computing Limiting Probabilities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743200"/>
            <a:ext cx="8229600" cy="4114800"/>
          </a:xfrm>
        </p:spPr>
        <p:txBody>
          <a:bodyPr/>
          <a:lstStyle/>
          <a:p>
            <a:r>
              <a:rPr lang="en-US"/>
              <a:t>Since there </a:t>
            </a:r>
            <a:r>
              <a:rPr lang="en-US" dirty="0"/>
              <a:t>is a unique solution, one of the constraints in (1) must be redundant.</a:t>
            </a:r>
          </a:p>
          <a:p>
            <a:pPr lvl="1"/>
            <a:r>
              <a:rPr lang="en-US" dirty="0"/>
              <a:t>Note the </a:t>
            </a:r>
            <a:r>
              <a:rPr lang="en-US" i="1" dirty="0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 dirty="0">
                <a:sym typeface="Symbol" pitchFamily="18" charset="2"/>
              </a:rPr>
              <a:t>j</a:t>
            </a:r>
            <a:r>
              <a:rPr lang="en-US" dirty="0"/>
              <a:t> = 0 </a:t>
            </a:r>
            <a:r>
              <a:rPr lang="en-US" dirty="0">
                <a:latin typeface="cmsy10" pitchFamily="34" charset="0"/>
              </a:rPr>
              <a:t>8</a:t>
            </a:r>
            <a:r>
              <a:rPr lang="en-US" dirty="0"/>
              <a:t> </a:t>
            </a:r>
            <a:r>
              <a:rPr lang="en-US" i="1" dirty="0"/>
              <a:t>j</a:t>
            </a:r>
            <a:r>
              <a:rPr lang="en-US" dirty="0"/>
              <a:t> satisfies the </a:t>
            </a:r>
            <a:r>
              <a:rPr lang="en-US" i="1" dirty="0"/>
              <a:t>M+</a:t>
            </a:r>
            <a:r>
              <a:rPr lang="en-US" dirty="0"/>
              <a:t>1</a:t>
            </a:r>
            <a:r>
              <a:rPr lang="en-US" i="1" dirty="0"/>
              <a:t> </a:t>
            </a:r>
            <a:r>
              <a:rPr lang="en-US" dirty="0"/>
              <a:t>equations given in (1). </a:t>
            </a:r>
          </a:p>
          <a:p>
            <a:pPr lvl="1"/>
            <a:r>
              <a:rPr lang="en-US" dirty="0"/>
              <a:t>If this were the unique solution, then (2) would not hold. Hence, </a:t>
            </a:r>
          </a:p>
          <a:p>
            <a:pPr lvl="2"/>
            <a:r>
              <a:rPr lang="en-US" dirty="0"/>
              <a:t>One of the constraints in (1) must be redundant and can be omitted while solving for </a:t>
            </a:r>
            <a:r>
              <a:rPr lang="en-US" i="1" dirty="0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 dirty="0" err="1">
                <a:sym typeface="Symbol" pitchFamily="18" charset="2"/>
              </a:rPr>
              <a:t>j</a:t>
            </a:r>
            <a:r>
              <a:rPr lang="en-US" dirty="0" err="1"/>
              <a:t>’s</a:t>
            </a:r>
            <a:r>
              <a:rPr lang="en-US" dirty="0"/>
              <a:t>.</a:t>
            </a:r>
          </a:p>
        </p:txBody>
      </p:sp>
      <p:pic>
        <p:nvPicPr>
          <p:cNvPr id="64517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57388" y="1169988"/>
            <a:ext cx="4595812" cy="157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B10613-0C7C-4E38-984A-CB9932E371EB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Computing Limiting Probabilities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Example…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7D3FFA4-B8D5-4607-A534-F8F25986DD60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Conditions for Limiting Probabilities Revisited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75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Recall that we require an </a:t>
            </a:r>
            <a:r>
              <a:rPr lang="en-US" sz="2800" b="1" i="1"/>
              <a:t>irreducible ergodic</a:t>
            </a:r>
            <a:r>
              <a:rPr lang="en-US" sz="2800" b="1"/>
              <a:t> </a:t>
            </a:r>
            <a:r>
              <a:rPr lang="en-US" sz="2800"/>
              <a:t>Markov chain for computing the limiting probabilities. What if we have more than one recurrent and aperiodic class?</a:t>
            </a:r>
            <a:endParaRPr lang="en-US" sz="2800" b="1"/>
          </a:p>
        </p:txBody>
      </p:sp>
      <p:grpSp>
        <p:nvGrpSpPr>
          <p:cNvPr id="66565" name="Group 4"/>
          <p:cNvGrpSpPr>
            <a:grpSpLocks/>
          </p:cNvGrpSpPr>
          <p:nvPr/>
        </p:nvGrpSpPr>
        <p:grpSpPr bwMode="auto">
          <a:xfrm>
            <a:off x="609600" y="4281488"/>
            <a:ext cx="3505200" cy="1814512"/>
            <a:chOff x="384" y="864"/>
            <a:chExt cx="2208" cy="1143"/>
          </a:xfrm>
        </p:grpSpPr>
        <p:sp>
          <p:nvSpPr>
            <p:cNvPr id="66585" name="Oval 5"/>
            <p:cNvSpPr>
              <a:spLocks noChangeArrowheads="1"/>
            </p:cNvSpPr>
            <p:nvPr/>
          </p:nvSpPr>
          <p:spPr bwMode="auto">
            <a:xfrm>
              <a:off x="576" y="124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66586" name="Oval 6"/>
            <p:cNvSpPr>
              <a:spLocks noChangeArrowheads="1"/>
            </p:cNvSpPr>
            <p:nvPr/>
          </p:nvSpPr>
          <p:spPr bwMode="auto">
            <a:xfrm>
              <a:off x="1872" y="124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cxnSp>
          <p:nvCxnSpPr>
            <p:cNvPr id="66587" name="AutoShape 7"/>
            <p:cNvCxnSpPr>
              <a:cxnSpLocks noChangeShapeType="1"/>
              <a:stCxn id="66585" idx="0"/>
              <a:endCxn id="66585" idx="2"/>
            </p:cNvCxnSpPr>
            <p:nvPr/>
          </p:nvCxnSpPr>
          <p:spPr bwMode="auto">
            <a:xfrm rot="-5400000" flipH="1" flipV="1">
              <a:off x="576" y="1248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588" name="AutoShape 8"/>
            <p:cNvCxnSpPr>
              <a:cxnSpLocks noChangeShapeType="1"/>
              <a:stCxn id="66586" idx="0"/>
              <a:endCxn id="66586" idx="6"/>
            </p:cNvCxnSpPr>
            <p:nvPr/>
          </p:nvCxnSpPr>
          <p:spPr bwMode="auto">
            <a:xfrm rot="5400000" flipV="1">
              <a:off x="2040" y="1248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589" name="AutoShape 9"/>
            <p:cNvCxnSpPr>
              <a:cxnSpLocks noChangeShapeType="1"/>
              <a:stCxn id="66585" idx="0"/>
              <a:endCxn id="66586" idx="0"/>
            </p:cNvCxnSpPr>
            <p:nvPr/>
          </p:nvCxnSpPr>
          <p:spPr bwMode="auto">
            <a:xfrm rot="5400000" flipV="1">
              <a:off x="1391" y="601"/>
              <a:ext cx="1" cy="1296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590" name="AutoShape 10"/>
            <p:cNvCxnSpPr>
              <a:cxnSpLocks noChangeShapeType="1"/>
              <a:stCxn id="66586" idx="4"/>
              <a:endCxn id="66585" idx="4"/>
            </p:cNvCxnSpPr>
            <p:nvPr/>
          </p:nvCxnSpPr>
          <p:spPr bwMode="auto">
            <a:xfrm rot="5400000">
              <a:off x="1391" y="937"/>
              <a:ext cx="1" cy="1296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6591" name="Text Box 11"/>
            <p:cNvSpPr txBox="1">
              <a:spLocks noChangeArrowheads="1"/>
            </p:cNvSpPr>
            <p:nvPr/>
          </p:nvSpPr>
          <p:spPr bwMode="auto">
            <a:xfrm>
              <a:off x="384" y="86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66592" name="Text Box 12"/>
            <p:cNvSpPr txBox="1">
              <a:spLocks noChangeArrowheads="1"/>
            </p:cNvSpPr>
            <p:nvPr/>
          </p:nvSpPr>
          <p:spPr bwMode="auto">
            <a:xfrm>
              <a:off x="1344" y="921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0.6</a:t>
              </a:r>
            </a:p>
          </p:txBody>
        </p:sp>
        <p:sp>
          <p:nvSpPr>
            <p:cNvPr id="66593" name="Text Box 13"/>
            <p:cNvSpPr txBox="1">
              <a:spLocks noChangeArrowheads="1"/>
            </p:cNvSpPr>
            <p:nvPr/>
          </p:nvSpPr>
          <p:spPr bwMode="auto">
            <a:xfrm>
              <a:off x="2208" y="960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66594" name="Text Box 14"/>
            <p:cNvSpPr txBox="1">
              <a:spLocks noChangeArrowheads="1"/>
            </p:cNvSpPr>
            <p:nvPr/>
          </p:nvSpPr>
          <p:spPr bwMode="auto">
            <a:xfrm>
              <a:off x="1296" y="177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</p:grpSp>
      <p:grpSp>
        <p:nvGrpSpPr>
          <p:cNvPr id="66566" name="Group 15"/>
          <p:cNvGrpSpPr>
            <a:grpSpLocks/>
          </p:cNvGrpSpPr>
          <p:nvPr/>
        </p:nvGrpSpPr>
        <p:grpSpPr bwMode="auto">
          <a:xfrm>
            <a:off x="5257800" y="3810000"/>
            <a:ext cx="3505200" cy="2667000"/>
            <a:chOff x="3312" y="864"/>
            <a:chExt cx="2208" cy="1680"/>
          </a:xfrm>
        </p:grpSpPr>
        <p:sp>
          <p:nvSpPr>
            <p:cNvPr id="66568" name="Oval 16"/>
            <p:cNvSpPr>
              <a:spLocks noChangeArrowheads="1"/>
            </p:cNvSpPr>
            <p:nvPr/>
          </p:nvSpPr>
          <p:spPr bwMode="auto">
            <a:xfrm>
              <a:off x="3552" y="124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3</a:t>
              </a:r>
            </a:p>
          </p:txBody>
        </p:sp>
        <p:sp>
          <p:nvSpPr>
            <p:cNvPr id="66569" name="Oval 17"/>
            <p:cNvSpPr>
              <a:spLocks noChangeArrowheads="1"/>
            </p:cNvSpPr>
            <p:nvPr/>
          </p:nvSpPr>
          <p:spPr bwMode="auto">
            <a:xfrm>
              <a:off x="4800" y="124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4</a:t>
              </a:r>
            </a:p>
          </p:txBody>
        </p:sp>
        <p:sp>
          <p:nvSpPr>
            <p:cNvPr id="66570" name="Oval 18"/>
            <p:cNvSpPr>
              <a:spLocks noChangeArrowheads="1"/>
            </p:cNvSpPr>
            <p:nvPr/>
          </p:nvSpPr>
          <p:spPr bwMode="auto">
            <a:xfrm>
              <a:off x="4128" y="220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5</a:t>
              </a:r>
            </a:p>
          </p:txBody>
        </p:sp>
        <p:cxnSp>
          <p:nvCxnSpPr>
            <p:cNvPr id="66571" name="AutoShape 19"/>
            <p:cNvCxnSpPr>
              <a:cxnSpLocks noChangeShapeType="1"/>
              <a:stCxn id="66568" idx="0"/>
              <a:endCxn id="66569" idx="0"/>
            </p:cNvCxnSpPr>
            <p:nvPr/>
          </p:nvCxnSpPr>
          <p:spPr bwMode="auto">
            <a:xfrm rot="5400000" flipV="1">
              <a:off x="4343" y="625"/>
              <a:ext cx="1" cy="1248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572" name="AutoShape 20"/>
            <p:cNvCxnSpPr>
              <a:cxnSpLocks noChangeShapeType="1"/>
              <a:stCxn id="66568" idx="0"/>
              <a:endCxn id="66568" idx="2"/>
            </p:cNvCxnSpPr>
            <p:nvPr/>
          </p:nvCxnSpPr>
          <p:spPr bwMode="auto">
            <a:xfrm rot="-5400000" flipH="1" flipV="1">
              <a:off x="3552" y="1248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573" name="AutoShape 21"/>
            <p:cNvCxnSpPr>
              <a:cxnSpLocks noChangeShapeType="1"/>
              <a:stCxn id="66569" idx="0"/>
              <a:endCxn id="66569" idx="6"/>
            </p:cNvCxnSpPr>
            <p:nvPr/>
          </p:nvCxnSpPr>
          <p:spPr bwMode="auto">
            <a:xfrm rot="5400000" flipV="1">
              <a:off x="4968" y="1248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574" name="AutoShape 22"/>
            <p:cNvCxnSpPr>
              <a:cxnSpLocks noChangeShapeType="1"/>
              <a:stCxn id="66569" idx="4"/>
              <a:endCxn id="66568" idx="4"/>
            </p:cNvCxnSpPr>
            <p:nvPr/>
          </p:nvCxnSpPr>
          <p:spPr bwMode="auto">
            <a:xfrm rot="5400000">
              <a:off x="4343" y="961"/>
              <a:ext cx="1" cy="1248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575" name="AutoShape 23"/>
            <p:cNvCxnSpPr>
              <a:cxnSpLocks noChangeShapeType="1"/>
              <a:stCxn id="66569" idx="4"/>
              <a:endCxn id="66570" idx="6"/>
            </p:cNvCxnSpPr>
            <p:nvPr/>
          </p:nvCxnSpPr>
          <p:spPr bwMode="auto">
            <a:xfrm rot="5400000">
              <a:off x="4320" y="1728"/>
              <a:ext cx="792" cy="50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576" name="AutoShape 24"/>
            <p:cNvCxnSpPr>
              <a:cxnSpLocks noChangeShapeType="1"/>
              <a:stCxn id="66570" idx="0"/>
              <a:endCxn id="66569" idx="2"/>
            </p:cNvCxnSpPr>
            <p:nvPr/>
          </p:nvCxnSpPr>
          <p:spPr bwMode="auto">
            <a:xfrm rot="-5400000">
              <a:off x="4152" y="1560"/>
              <a:ext cx="792" cy="50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577" name="AutoShape 25"/>
            <p:cNvCxnSpPr>
              <a:cxnSpLocks noChangeShapeType="1"/>
              <a:stCxn id="66570" idx="0"/>
              <a:endCxn id="66570" idx="2"/>
            </p:cNvCxnSpPr>
            <p:nvPr/>
          </p:nvCxnSpPr>
          <p:spPr bwMode="auto">
            <a:xfrm rot="-5400000" flipH="1" flipV="1">
              <a:off x="4128" y="2208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6578" name="Text Box 26"/>
            <p:cNvSpPr txBox="1">
              <a:spLocks noChangeArrowheads="1"/>
            </p:cNvSpPr>
            <p:nvPr/>
          </p:nvSpPr>
          <p:spPr bwMode="auto">
            <a:xfrm>
              <a:off x="3312" y="86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0.3</a:t>
              </a:r>
            </a:p>
          </p:txBody>
        </p:sp>
        <p:sp>
          <p:nvSpPr>
            <p:cNvPr id="66579" name="Text Box 27"/>
            <p:cNvSpPr txBox="1">
              <a:spLocks noChangeArrowheads="1"/>
            </p:cNvSpPr>
            <p:nvPr/>
          </p:nvSpPr>
          <p:spPr bwMode="auto">
            <a:xfrm>
              <a:off x="4272" y="912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0.7</a:t>
              </a:r>
            </a:p>
          </p:txBody>
        </p:sp>
        <p:sp>
          <p:nvSpPr>
            <p:cNvPr id="66580" name="Text Box 28"/>
            <p:cNvSpPr txBox="1">
              <a:spLocks noChangeArrowheads="1"/>
            </p:cNvSpPr>
            <p:nvPr/>
          </p:nvSpPr>
          <p:spPr bwMode="auto">
            <a:xfrm>
              <a:off x="3744" y="168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sp>
          <p:nvSpPr>
            <p:cNvPr id="66581" name="Text Box 29"/>
            <p:cNvSpPr txBox="1">
              <a:spLocks noChangeArrowheads="1"/>
            </p:cNvSpPr>
            <p:nvPr/>
          </p:nvSpPr>
          <p:spPr bwMode="auto">
            <a:xfrm>
              <a:off x="5136" y="960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66582" name="Text Box 30"/>
            <p:cNvSpPr txBox="1">
              <a:spLocks noChangeArrowheads="1"/>
            </p:cNvSpPr>
            <p:nvPr/>
          </p:nvSpPr>
          <p:spPr bwMode="auto">
            <a:xfrm>
              <a:off x="4848" y="206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0.1</a:t>
              </a:r>
            </a:p>
          </p:txBody>
        </p:sp>
        <p:sp>
          <p:nvSpPr>
            <p:cNvPr id="66583" name="Text Box 31"/>
            <p:cNvSpPr txBox="1">
              <a:spLocks noChangeArrowheads="1"/>
            </p:cNvSpPr>
            <p:nvPr/>
          </p:nvSpPr>
          <p:spPr bwMode="auto">
            <a:xfrm>
              <a:off x="4320" y="1353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0.8</a:t>
              </a:r>
            </a:p>
          </p:txBody>
        </p:sp>
        <p:sp>
          <p:nvSpPr>
            <p:cNvPr id="66584" name="Text Box 32"/>
            <p:cNvSpPr txBox="1">
              <a:spLocks noChangeArrowheads="1"/>
            </p:cNvSpPr>
            <p:nvPr/>
          </p:nvSpPr>
          <p:spPr bwMode="auto">
            <a:xfrm>
              <a:off x="3696" y="206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0.2</a:t>
              </a:r>
            </a:p>
          </p:txBody>
        </p:sp>
      </p:grpSp>
      <p:pic>
        <p:nvPicPr>
          <p:cNvPr id="187430" name="Picture 3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90650" y="3257550"/>
            <a:ext cx="64182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0546D5-DF7B-4FD8-943A-00DB29D3F13C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Conditions for Limiting Probabilities Revisited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905000"/>
          </a:xfrm>
        </p:spPr>
        <p:txBody>
          <a:bodyPr/>
          <a:lstStyle/>
          <a:p>
            <a:r>
              <a:rPr lang="en-US"/>
              <a:t>What if </a:t>
            </a:r>
            <a:r>
              <a:rPr lang="en-US" i="1"/>
              <a:t>j</a:t>
            </a:r>
            <a:r>
              <a:rPr lang="en-US"/>
              <a:t> is a transient state?</a:t>
            </a:r>
          </a:p>
          <a:p>
            <a:endParaRPr lang="en-US"/>
          </a:p>
          <a:p>
            <a:r>
              <a:rPr lang="en-US"/>
              <a:t>What are the limiting probabilities for: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609600" y="3733800"/>
            <a:ext cx="8153400" cy="2667000"/>
            <a:chOff x="384" y="2352"/>
            <a:chExt cx="5136" cy="1680"/>
          </a:xfrm>
        </p:grpSpPr>
        <p:sp>
          <p:nvSpPr>
            <p:cNvPr id="67591" name="Oval 7"/>
            <p:cNvSpPr>
              <a:spLocks noChangeArrowheads="1"/>
            </p:cNvSpPr>
            <p:nvPr/>
          </p:nvSpPr>
          <p:spPr bwMode="auto">
            <a:xfrm>
              <a:off x="576" y="3033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67592" name="Oval 8"/>
            <p:cNvSpPr>
              <a:spLocks noChangeArrowheads="1"/>
            </p:cNvSpPr>
            <p:nvPr/>
          </p:nvSpPr>
          <p:spPr bwMode="auto">
            <a:xfrm>
              <a:off x="1872" y="3033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cxnSp>
          <p:nvCxnSpPr>
            <p:cNvPr id="67593" name="AutoShape 9"/>
            <p:cNvCxnSpPr>
              <a:cxnSpLocks noChangeShapeType="1"/>
              <a:stCxn id="67591" idx="0"/>
              <a:endCxn id="67591" idx="2"/>
            </p:cNvCxnSpPr>
            <p:nvPr/>
          </p:nvCxnSpPr>
          <p:spPr bwMode="auto">
            <a:xfrm rot="-5400000" flipH="1" flipV="1">
              <a:off x="576" y="3033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7594" name="AutoShape 10"/>
            <p:cNvCxnSpPr>
              <a:cxnSpLocks noChangeShapeType="1"/>
              <a:stCxn id="67592" idx="0"/>
              <a:endCxn id="67592" idx="6"/>
            </p:cNvCxnSpPr>
            <p:nvPr/>
          </p:nvCxnSpPr>
          <p:spPr bwMode="auto">
            <a:xfrm rot="5400000" flipV="1">
              <a:off x="2040" y="3033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7595" name="AutoShape 11"/>
            <p:cNvCxnSpPr>
              <a:cxnSpLocks noChangeShapeType="1"/>
              <a:stCxn id="67591" idx="0"/>
              <a:endCxn id="67592" idx="0"/>
            </p:cNvCxnSpPr>
            <p:nvPr/>
          </p:nvCxnSpPr>
          <p:spPr bwMode="auto">
            <a:xfrm rot="5400000" flipV="1">
              <a:off x="1391" y="2386"/>
              <a:ext cx="1" cy="1296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7596" name="AutoShape 12"/>
            <p:cNvCxnSpPr>
              <a:cxnSpLocks noChangeShapeType="1"/>
              <a:stCxn id="67592" idx="4"/>
              <a:endCxn id="67591" idx="4"/>
            </p:cNvCxnSpPr>
            <p:nvPr/>
          </p:nvCxnSpPr>
          <p:spPr bwMode="auto">
            <a:xfrm rot="5400000">
              <a:off x="1391" y="2722"/>
              <a:ext cx="1" cy="1296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7597" name="Text Box 13"/>
            <p:cNvSpPr txBox="1">
              <a:spLocks noChangeArrowheads="1"/>
            </p:cNvSpPr>
            <p:nvPr/>
          </p:nvSpPr>
          <p:spPr bwMode="auto">
            <a:xfrm>
              <a:off x="384" y="264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67598" name="Text Box 14"/>
            <p:cNvSpPr txBox="1">
              <a:spLocks noChangeArrowheads="1"/>
            </p:cNvSpPr>
            <p:nvPr/>
          </p:nvSpPr>
          <p:spPr bwMode="auto">
            <a:xfrm>
              <a:off x="1344" y="270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0.6</a:t>
              </a:r>
            </a:p>
          </p:txBody>
        </p:sp>
        <p:sp>
          <p:nvSpPr>
            <p:cNvPr id="67599" name="Text Box 15"/>
            <p:cNvSpPr txBox="1">
              <a:spLocks noChangeArrowheads="1"/>
            </p:cNvSpPr>
            <p:nvPr/>
          </p:nvSpPr>
          <p:spPr bwMode="auto">
            <a:xfrm>
              <a:off x="2208" y="2745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0.4</a:t>
              </a:r>
            </a:p>
          </p:txBody>
        </p:sp>
        <p:sp>
          <p:nvSpPr>
            <p:cNvPr id="67600" name="Text Box 16"/>
            <p:cNvSpPr txBox="1">
              <a:spLocks noChangeArrowheads="1"/>
            </p:cNvSpPr>
            <p:nvPr/>
          </p:nvSpPr>
          <p:spPr bwMode="auto">
            <a:xfrm>
              <a:off x="1296" y="3561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0.5</a:t>
              </a:r>
            </a:p>
          </p:txBody>
        </p:sp>
        <p:grpSp>
          <p:nvGrpSpPr>
            <p:cNvPr id="67601" name="Group 17"/>
            <p:cNvGrpSpPr>
              <a:grpSpLocks/>
            </p:cNvGrpSpPr>
            <p:nvPr/>
          </p:nvGrpSpPr>
          <p:grpSpPr bwMode="auto">
            <a:xfrm>
              <a:off x="3312" y="2352"/>
              <a:ext cx="2208" cy="1680"/>
              <a:chOff x="3312" y="864"/>
              <a:chExt cx="2208" cy="1680"/>
            </a:xfrm>
          </p:grpSpPr>
          <p:sp>
            <p:nvSpPr>
              <p:cNvPr id="67604" name="Oval 18"/>
              <p:cNvSpPr>
                <a:spLocks noChangeArrowheads="1"/>
              </p:cNvSpPr>
              <p:nvPr/>
            </p:nvSpPr>
            <p:spPr bwMode="auto">
              <a:xfrm>
                <a:off x="3552" y="1248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baseline="0"/>
                  <a:t>3</a:t>
                </a:r>
              </a:p>
            </p:txBody>
          </p:sp>
          <p:sp>
            <p:nvSpPr>
              <p:cNvPr id="67605" name="Oval 19"/>
              <p:cNvSpPr>
                <a:spLocks noChangeArrowheads="1"/>
              </p:cNvSpPr>
              <p:nvPr/>
            </p:nvSpPr>
            <p:spPr bwMode="auto">
              <a:xfrm>
                <a:off x="4800" y="1248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baseline="0"/>
                  <a:t>4</a:t>
                </a:r>
              </a:p>
            </p:txBody>
          </p:sp>
          <p:sp>
            <p:nvSpPr>
              <p:cNvPr id="67606" name="Oval 20"/>
              <p:cNvSpPr>
                <a:spLocks noChangeArrowheads="1"/>
              </p:cNvSpPr>
              <p:nvPr/>
            </p:nvSpPr>
            <p:spPr bwMode="auto">
              <a:xfrm>
                <a:off x="4128" y="2208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baseline="0"/>
                  <a:t>5</a:t>
                </a:r>
              </a:p>
            </p:txBody>
          </p:sp>
          <p:cxnSp>
            <p:nvCxnSpPr>
              <p:cNvPr id="67607" name="AutoShape 21"/>
              <p:cNvCxnSpPr>
                <a:cxnSpLocks noChangeShapeType="1"/>
                <a:stCxn id="67604" idx="0"/>
                <a:endCxn id="67605" idx="0"/>
              </p:cNvCxnSpPr>
              <p:nvPr/>
            </p:nvCxnSpPr>
            <p:spPr bwMode="auto">
              <a:xfrm rot="5400000" flipV="1">
                <a:off x="4343" y="625"/>
                <a:ext cx="1" cy="1248"/>
              </a:xfrm>
              <a:prstGeom prst="curvedConnector3">
                <a:avLst>
                  <a:gd name="adj1" fmla="val -14400005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7608" name="AutoShape 22"/>
              <p:cNvCxnSpPr>
                <a:cxnSpLocks noChangeShapeType="1"/>
                <a:stCxn id="67604" idx="0"/>
                <a:endCxn id="67604" idx="2"/>
              </p:cNvCxnSpPr>
              <p:nvPr/>
            </p:nvCxnSpPr>
            <p:spPr bwMode="auto">
              <a:xfrm rot="-5400000" flipH="1" flipV="1">
                <a:off x="3552" y="1248"/>
                <a:ext cx="168" cy="168"/>
              </a:xfrm>
              <a:prstGeom prst="curvedConnector4">
                <a:avLst>
                  <a:gd name="adj1" fmla="val -85713"/>
                  <a:gd name="adj2" fmla="val 185713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7609" name="AutoShape 23"/>
              <p:cNvCxnSpPr>
                <a:cxnSpLocks noChangeShapeType="1"/>
                <a:stCxn id="67605" idx="0"/>
                <a:endCxn id="67605" idx="6"/>
              </p:cNvCxnSpPr>
              <p:nvPr/>
            </p:nvCxnSpPr>
            <p:spPr bwMode="auto">
              <a:xfrm rot="5400000" flipV="1">
                <a:off x="4968" y="1248"/>
                <a:ext cx="168" cy="168"/>
              </a:xfrm>
              <a:prstGeom prst="curvedConnector4">
                <a:avLst>
                  <a:gd name="adj1" fmla="val -85713"/>
                  <a:gd name="adj2" fmla="val 185713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7610" name="AutoShape 24"/>
              <p:cNvCxnSpPr>
                <a:cxnSpLocks noChangeShapeType="1"/>
                <a:stCxn id="67605" idx="4"/>
                <a:endCxn id="67604" idx="4"/>
              </p:cNvCxnSpPr>
              <p:nvPr/>
            </p:nvCxnSpPr>
            <p:spPr bwMode="auto">
              <a:xfrm rot="5400000">
                <a:off x="4343" y="961"/>
                <a:ext cx="1" cy="1248"/>
              </a:xfrm>
              <a:prstGeom prst="curvedConnector3">
                <a:avLst>
                  <a:gd name="adj1" fmla="val 14400005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7611" name="AutoShape 25"/>
              <p:cNvCxnSpPr>
                <a:cxnSpLocks noChangeShapeType="1"/>
                <a:stCxn id="67605" idx="4"/>
                <a:endCxn id="67606" idx="6"/>
              </p:cNvCxnSpPr>
              <p:nvPr/>
            </p:nvCxnSpPr>
            <p:spPr bwMode="auto">
              <a:xfrm rot="5400000">
                <a:off x="4320" y="1728"/>
                <a:ext cx="792" cy="50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7612" name="AutoShape 26"/>
              <p:cNvCxnSpPr>
                <a:cxnSpLocks noChangeShapeType="1"/>
                <a:stCxn id="67606" idx="0"/>
                <a:endCxn id="67605" idx="2"/>
              </p:cNvCxnSpPr>
              <p:nvPr/>
            </p:nvCxnSpPr>
            <p:spPr bwMode="auto">
              <a:xfrm rot="-5400000">
                <a:off x="4152" y="1560"/>
                <a:ext cx="792" cy="50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7613" name="AutoShape 27"/>
              <p:cNvCxnSpPr>
                <a:cxnSpLocks noChangeShapeType="1"/>
                <a:stCxn id="67606" idx="0"/>
                <a:endCxn id="67606" idx="2"/>
              </p:cNvCxnSpPr>
              <p:nvPr/>
            </p:nvCxnSpPr>
            <p:spPr bwMode="auto">
              <a:xfrm rot="-5400000" flipH="1" flipV="1">
                <a:off x="4128" y="2208"/>
                <a:ext cx="168" cy="168"/>
              </a:xfrm>
              <a:prstGeom prst="curvedConnector4">
                <a:avLst>
                  <a:gd name="adj1" fmla="val -85713"/>
                  <a:gd name="adj2" fmla="val 185713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67614" name="Text Box 28"/>
              <p:cNvSpPr txBox="1">
                <a:spLocks noChangeArrowheads="1"/>
              </p:cNvSpPr>
              <p:nvPr/>
            </p:nvSpPr>
            <p:spPr bwMode="auto">
              <a:xfrm>
                <a:off x="3312" y="864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aseline="0"/>
                  <a:t>0.3</a:t>
                </a:r>
              </a:p>
            </p:txBody>
          </p:sp>
          <p:sp>
            <p:nvSpPr>
              <p:cNvPr id="67615" name="Text Box 29"/>
              <p:cNvSpPr txBox="1">
                <a:spLocks noChangeArrowheads="1"/>
              </p:cNvSpPr>
              <p:nvPr/>
            </p:nvSpPr>
            <p:spPr bwMode="auto">
              <a:xfrm>
                <a:off x="4272" y="912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aseline="0"/>
                  <a:t>0.7</a:t>
                </a:r>
              </a:p>
            </p:txBody>
          </p:sp>
          <p:sp>
            <p:nvSpPr>
              <p:cNvPr id="67616" name="Text Box 30"/>
              <p:cNvSpPr txBox="1">
                <a:spLocks noChangeArrowheads="1"/>
              </p:cNvSpPr>
              <p:nvPr/>
            </p:nvSpPr>
            <p:spPr bwMode="auto">
              <a:xfrm>
                <a:off x="3744" y="1689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aseline="0"/>
                  <a:t>0.5</a:t>
                </a:r>
              </a:p>
            </p:txBody>
          </p:sp>
          <p:sp>
            <p:nvSpPr>
              <p:cNvPr id="67617" name="Text Box 31"/>
              <p:cNvSpPr txBox="1">
                <a:spLocks noChangeArrowheads="1"/>
              </p:cNvSpPr>
              <p:nvPr/>
            </p:nvSpPr>
            <p:spPr bwMode="auto">
              <a:xfrm>
                <a:off x="5136" y="960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aseline="0"/>
                  <a:t>0.4</a:t>
                </a:r>
              </a:p>
            </p:txBody>
          </p:sp>
          <p:sp>
            <p:nvSpPr>
              <p:cNvPr id="67618" name="Text Box 32"/>
              <p:cNvSpPr txBox="1">
                <a:spLocks noChangeArrowheads="1"/>
              </p:cNvSpPr>
              <p:nvPr/>
            </p:nvSpPr>
            <p:spPr bwMode="auto">
              <a:xfrm>
                <a:off x="4848" y="2064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aseline="0"/>
                  <a:t>0.1</a:t>
                </a:r>
              </a:p>
            </p:txBody>
          </p:sp>
          <p:sp>
            <p:nvSpPr>
              <p:cNvPr id="67619" name="Text Box 33"/>
              <p:cNvSpPr txBox="1">
                <a:spLocks noChangeArrowheads="1"/>
              </p:cNvSpPr>
              <p:nvPr/>
            </p:nvSpPr>
            <p:spPr bwMode="auto">
              <a:xfrm>
                <a:off x="4320" y="1353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aseline="0"/>
                  <a:t>0.8</a:t>
                </a:r>
              </a:p>
            </p:txBody>
          </p:sp>
          <p:sp>
            <p:nvSpPr>
              <p:cNvPr id="67620" name="Text Box 34"/>
              <p:cNvSpPr txBox="1">
                <a:spLocks noChangeArrowheads="1"/>
              </p:cNvSpPr>
              <p:nvPr/>
            </p:nvSpPr>
            <p:spPr bwMode="auto">
              <a:xfrm>
                <a:off x="3696" y="2064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aseline="0"/>
                  <a:t>0.2</a:t>
                </a:r>
              </a:p>
            </p:txBody>
          </p:sp>
        </p:grpSp>
        <p:cxnSp>
          <p:nvCxnSpPr>
            <p:cNvPr id="67602" name="AutoShape 37"/>
            <p:cNvCxnSpPr>
              <a:cxnSpLocks noChangeShapeType="1"/>
              <a:stCxn id="67592" idx="4"/>
              <a:endCxn id="67604" idx="4"/>
            </p:cNvCxnSpPr>
            <p:nvPr/>
          </p:nvCxnSpPr>
          <p:spPr bwMode="auto">
            <a:xfrm rot="5400000" flipH="1" flipV="1">
              <a:off x="2731" y="2381"/>
              <a:ext cx="297" cy="1680"/>
            </a:xfrm>
            <a:prstGeom prst="curvedConnector3">
              <a:avLst>
                <a:gd name="adj1" fmla="val -4848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7603" name="Text Box 38"/>
            <p:cNvSpPr txBox="1">
              <a:spLocks noChangeArrowheads="1"/>
            </p:cNvSpPr>
            <p:nvPr/>
          </p:nvSpPr>
          <p:spPr bwMode="auto">
            <a:xfrm>
              <a:off x="2784" y="3513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0.1</a:t>
              </a:r>
            </a:p>
          </p:txBody>
        </p:sp>
      </p:grpSp>
      <p:pic>
        <p:nvPicPr>
          <p:cNvPr id="189480" name="Picture 4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249488"/>
            <a:ext cx="2220913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2CD049-4B31-4F14-A139-DC3AD13197CF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Conditions for Limiting Probabilities Revisited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752600"/>
          </a:xfrm>
        </p:spPr>
        <p:txBody>
          <a:bodyPr/>
          <a:lstStyle/>
          <a:p>
            <a:r>
              <a:rPr lang="en-US"/>
              <a:t>What if the states are not aperiodic? Then,</a:t>
            </a:r>
          </a:p>
          <a:p>
            <a:endParaRPr lang="en-US"/>
          </a:p>
          <a:p>
            <a:pPr>
              <a:buFontTx/>
              <a:buNone/>
            </a:pPr>
            <a:r>
              <a:rPr lang="en-US"/>
              <a:t>	does not exist. Consider</a:t>
            </a:r>
          </a:p>
          <a:p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124200" y="3429000"/>
            <a:ext cx="2590800" cy="1724025"/>
            <a:chOff x="768" y="2322"/>
            <a:chExt cx="1632" cy="1086"/>
          </a:xfrm>
        </p:grpSpPr>
        <p:sp>
          <p:nvSpPr>
            <p:cNvPr id="68616" name="Oval 6"/>
            <p:cNvSpPr>
              <a:spLocks noChangeArrowheads="1"/>
            </p:cNvSpPr>
            <p:nvPr/>
          </p:nvSpPr>
          <p:spPr bwMode="auto">
            <a:xfrm>
              <a:off x="768" y="2649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1</a:t>
              </a:r>
            </a:p>
          </p:txBody>
        </p:sp>
        <p:sp>
          <p:nvSpPr>
            <p:cNvPr id="68617" name="Oval 7"/>
            <p:cNvSpPr>
              <a:spLocks noChangeArrowheads="1"/>
            </p:cNvSpPr>
            <p:nvPr/>
          </p:nvSpPr>
          <p:spPr bwMode="auto">
            <a:xfrm>
              <a:off x="2064" y="2649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aseline="0"/>
                <a:t>2</a:t>
              </a:r>
            </a:p>
          </p:txBody>
        </p:sp>
        <p:cxnSp>
          <p:nvCxnSpPr>
            <p:cNvPr id="68618" name="AutoShape 10"/>
            <p:cNvCxnSpPr>
              <a:cxnSpLocks noChangeShapeType="1"/>
              <a:stCxn id="68616" idx="0"/>
              <a:endCxn id="68617" idx="0"/>
            </p:cNvCxnSpPr>
            <p:nvPr/>
          </p:nvCxnSpPr>
          <p:spPr bwMode="auto">
            <a:xfrm rot="5400000" flipV="1">
              <a:off x="1583" y="2002"/>
              <a:ext cx="1" cy="1296"/>
            </a:xfrm>
            <a:prstGeom prst="curvedConnector3">
              <a:avLst>
                <a:gd name="adj1" fmla="val -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8619" name="AutoShape 11"/>
            <p:cNvCxnSpPr>
              <a:cxnSpLocks noChangeShapeType="1"/>
              <a:stCxn id="68617" idx="4"/>
              <a:endCxn id="68616" idx="4"/>
            </p:cNvCxnSpPr>
            <p:nvPr/>
          </p:nvCxnSpPr>
          <p:spPr bwMode="auto">
            <a:xfrm rot="5400000">
              <a:off x="1583" y="2338"/>
              <a:ext cx="1" cy="1296"/>
            </a:xfrm>
            <a:prstGeom prst="curved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8620" name="Text Box 13"/>
            <p:cNvSpPr txBox="1">
              <a:spLocks noChangeArrowheads="1"/>
            </p:cNvSpPr>
            <p:nvPr/>
          </p:nvSpPr>
          <p:spPr bwMode="auto">
            <a:xfrm>
              <a:off x="1536" y="2322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  <p:sp>
          <p:nvSpPr>
            <p:cNvPr id="68621" name="Text Box 15"/>
            <p:cNvSpPr txBox="1">
              <a:spLocks noChangeArrowheads="1"/>
            </p:cNvSpPr>
            <p:nvPr/>
          </p:nvSpPr>
          <p:spPr bwMode="auto">
            <a:xfrm>
              <a:off x="1488" y="3177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aseline="0"/>
                <a:t>1</a:t>
              </a:r>
            </a:p>
          </p:txBody>
        </p:sp>
      </p:grpSp>
      <p:sp>
        <p:nvSpPr>
          <p:cNvPr id="192529" name="Rectangle 17"/>
          <p:cNvSpPr>
            <a:spLocks noChangeArrowheads="1"/>
          </p:cNvSpPr>
          <p:nvPr/>
        </p:nvSpPr>
        <p:spPr bwMode="auto">
          <a:xfrm>
            <a:off x="457200" y="51816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aseline="0"/>
              <a:t>If the process starts at 1, then it will be in state 1 at times 0,2,4,…, and in state 2 at times 1,3,5,…</a:t>
            </a:r>
          </a:p>
        </p:txBody>
      </p:sp>
      <p:pic>
        <p:nvPicPr>
          <p:cNvPr id="192530" name="Picture 1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2244725"/>
            <a:ext cx="1265238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/>
      <p:bldP spid="19252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5D6432E-91FA-43FE-A31C-AAA01DDE2A4E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Conditions for Limiting Probabilities Revisited</a:t>
            </a:r>
          </a:p>
        </p:txBody>
      </p:sp>
      <p:pic>
        <p:nvPicPr>
          <p:cNvPr id="193554" name="Picture 1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63600" y="1541463"/>
            <a:ext cx="40052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3555" name="Picture 1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4075" y="2381250"/>
            <a:ext cx="3486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3556" name="Picture 20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1850" y="3063875"/>
            <a:ext cx="67437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EEED15-80D5-442F-BB5A-2D235DEF4B37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Conditions for Limiting Probabilities Revisited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05800" cy="1981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In this case, i.e., when a finite-state Markov chain is irreducible but has a period </a:t>
            </a:r>
            <a:r>
              <a:rPr lang="en-US" i="1"/>
              <a:t>t</a:t>
            </a:r>
            <a:r>
              <a:rPr lang="en-US"/>
              <a:t> &gt; 1, </a:t>
            </a:r>
            <a:r>
              <a:rPr lang="en-US" i="1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>
                <a:sym typeface="Symbol" pitchFamily="18" charset="2"/>
              </a:rPr>
              <a:t>j</a:t>
            </a:r>
            <a:r>
              <a:rPr lang="en-US"/>
              <a:t> &gt; 0 </a:t>
            </a:r>
            <a:r>
              <a:rPr lang="en-US">
                <a:latin typeface="cmsy10" pitchFamily="34" charset="0"/>
              </a:rPr>
              <a:t>8</a:t>
            </a:r>
            <a:r>
              <a:rPr lang="en-US"/>
              <a:t> </a:t>
            </a:r>
            <a:r>
              <a:rPr lang="en-US" i="1"/>
              <a:t>j</a:t>
            </a:r>
            <a:r>
              <a:rPr lang="en-US"/>
              <a:t> is still the unique solution of </a:t>
            </a:r>
          </a:p>
        </p:txBody>
      </p:sp>
      <p:pic>
        <p:nvPicPr>
          <p:cNvPr id="70661" name="Picture 4" descr="txp_fig"/>
          <p:cNvPicPr>
            <a:picLocks noGrp="1" noChangeAspect="1" noChangeArrowheads="1"/>
          </p:cNvPicPr>
          <p:nvPr>
            <p:ph sz="half" idx="2"/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514600" y="3352800"/>
            <a:ext cx="4191000" cy="1433513"/>
          </a:xfrm>
          <a:noFill/>
        </p:spPr>
      </p:pic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457200" y="4800600"/>
            <a:ext cx="8305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aseline="0"/>
              <a:t>However, now </a:t>
            </a:r>
            <a:r>
              <a:rPr lang="en-US" sz="3200" i="1" baseline="0">
                <a:latin typeface="Symbol" pitchFamily="18" charset="2"/>
                <a:sym typeface="Symbol" pitchFamily="18" charset="2"/>
              </a:rPr>
              <a:t></a:t>
            </a:r>
            <a:r>
              <a:rPr lang="en-US" sz="3200" i="1">
                <a:sym typeface="Symbol" pitchFamily="18" charset="2"/>
              </a:rPr>
              <a:t>j</a:t>
            </a:r>
            <a:r>
              <a:rPr lang="en-US" sz="3200" baseline="0"/>
              <a:t> can be interpreted only as the </a:t>
            </a:r>
            <a:r>
              <a:rPr lang="en-US" sz="3200" i="1" baseline="0"/>
              <a:t>long-run proportion of time</a:t>
            </a:r>
            <a:r>
              <a:rPr lang="en-US" sz="3200" baseline="0"/>
              <a:t> the process spends in state </a:t>
            </a:r>
            <a:r>
              <a:rPr lang="en-US" sz="3200" i="1" baseline="0"/>
              <a:t>j.</a:t>
            </a:r>
            <a:endParaRPr lang="en-US" sz="3200" baseline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647C1F-5BC7-4C5E-84D3-02907804269F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Expected Average Cost per </a:t>
            </a:r>
            <a:br>
              <a:rPr lang="en-US" sz="4000"/>
            </a:br>
            <a:r>
              <a:rPr lang="en-US" sz="4000"/>
              <a:t>Unit Time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following limit does always exist for an </a:t>
            </a:r>
            <a:r>
              <a:rPr lang="en-US" b="1" i="1"/>
              <a:t>irreducible</a:t>
            </a:r>
            <a:r>
              <a:rPr lang="en-US"/>
              <a:t> finite-state Markov chain: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Suppose that a cost (or another penalty or reward) </a:t>
            </a:r>
            <a:r>
              <a:rPr lang="en-US" i="1"/>
              <a:t>C</a:t>
            </a:r>
            <a:r>
              <a:rPr lang="en-US"/>
              <a:t>(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) is incurred when the process is in state 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 at time </a:t>
            </a:r>
            <a:r>
              <a:rPr lang="en-US" i="1"/>
              <a:t>t</a:t>
            </a:r>
            <a:r>
              <a:rPr lang="en-US"/>
              <a:t>=0,1,…</a:t>
            </a:r>
          </a:p>
          <a:p>
            <a:pPr>
              <a:lnSpc>
                <a:spcPct val="90000"/>
              </a:lnSpc>
            </a:pPr>
            <a:r>
              <a:rPr lang="en-US"/>
              <a:t>Assume that </a:t>
            </a:r>
            <a:r>
              <a:rPr lang="en-US" i="1"/>
              <a:t>C</a:t>
            </a:r>
            <a:r>
              <a:rPr lang="en-US"/>
              <a:t>(</a:t>
            </a:r>
            <a:r>
              <a:rPr lang="en-US" i="1"/>
              <a:t>X</a:t>
            </a:r>
            <a:r>
              <a:rPr lang="en-US" i="1" baseline="-25000"/>
              <a:t>t</a:t>
            </a:r>
            <a:r>
              <a:rPr lang="en-US"/>
              <a:t>) is independent of time and note that it is a random variable that takes on the values </a:t>
            </a:r>
            <a:r>
              <a:rPr lang="en-US" i="1"/>
              <a:t>C</a:t>
            </a:r>
            <a:r>
              <a:rPr lang="en-US"/>
              <a:t>(0), </a:t>
            </a:r>
            <a:r>
              <a:rPr lang="en-US" i="1"/>
              <a:t>C</a:t>
            </a:r>
            <a:r>
              <a:rPr lang="en-US"/>
              <a:t>(1),…,</a:t>
            </a:r>
            <a:r>
              <a:rPr lang="en-US" i="1"/>
              <a:t>C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).</a:t>
            </a:r>
          </a:p>
        </p:txBody>
      </p:sp>
      <p:pic>
        <p:nvPicPr>
          <p:cNvPr id="219140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8213" y="2667000"/>
            <a:ext cx="3557587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0CA89F-2A29-4E10-B9A3-7D547B3CA08F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Expected Average Cost per </a:t>
            </a:r>
            <a:br>
              <a:rPr lang="en-US" sz="4000"/>
            </a:br>
            <a:r>
              <a:rPr lang="en-US" sz="4000"/>
              <a:t>Unit Time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expected average cost over the first </a:t>
            </a:r>
            <a:r>
              <a:rPr lang="en-US" i="1"/>
              <a:t>n</a:t>
            </a:r>
            <a:r>
              <a:rPr lang="en-US"/>
              <a:t> periods is given by: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Then, by using                           ,</a:t>
            </a:r>
          </a:p>
          <a:p>
            <a:pPr>
              <a:buFontTx/>
              <a:buNone/>
            </a:pPr>
            <a:r>
              <a:rPr lang="en-US"/>
              <a:t>	we can show that</a:t>
            </a:r>
          </a:p>
          <a:p>
            <a:pPr>
              <a:buFontTx/>
              <a:buNone/>
            </a:pPr>
            <a:endParaRPr lang="en-US"/>
          </a:p>
        </p:txBody>
      </p:sp>
      <p:pic>
        <p:nvPicPr>
          <p:cNvPr id="220164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400" y="2870200"/>
            <a:ext cx="25558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0165" name="Picture 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10000" y="3657600"/>
            <a:ext cx="3557588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0166" name="Picture 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8200" y="5138738"/>
            <a:ext cx="5389563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14075C-F099-48B4-93A3-37B436AE9A3C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Expected Average Cost per </a:t>
            </a:r>
            <a:br>
              <a:rPr lang="en-US" sz="4000"/>
            </a:br>
            <a:r>
              <a:rPr lang="en-US" sz="4000"/>
              <a:t>Unit Time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/>
              <a:t>Assume that you receive $1 each time you visit state </a:t>
            </a:r>
            <a:r>
              <a:rPr lang="en-US" i="1"/>
              <a:t>k. </a:t>
            </a:r>
            <a:r>
              <a:rPr lang="en-US"/>
              <a:t>What is your long-run expected average reward per unit time?</a:t>
            </a:r>
          </a:p>
          <a:p>
            <a:pPr lvl="1"/>
            <a:r>
              <a:rPr lang="en-US"/>
              <a:t>This is equivalent to determining the long-run expected fraction of time the system spends in state </a:t>
            </a:r>
            <a:r>
              <a:rPr lang="en-US" i="1"/>
              <a:t>k</a:t>
            </a:r>
            <a:r>
              <a:rPr lang="en-US"/>
              <a:t>.</a:t>
            </a:r>
          </a:p>
          <a:p>
            <a:pPr lvl="1">
              <a:buFontTx/>
              <a:buNone/>
            </a:pPr>
            <a:r>
              <a:rPr lang="en-US"/>
              <a:t>	= </a:t>
            </a:r>
            <a:r>
              <a:rPr lang="en-US" i="1">
                <a:latin typeface="Symbol" pitchFamily="18" charset="2"/>
                <a:sym typeface="Symbol" pitchFamily="18" charset="2"/>
              </a:rPr>
              <a:t></a:t>
            </a:r>
            <a:r>
              <a:rPr lang="en-US" i="1" baseline="-25000">
                <a:sym typeface="Symbol" pitchFamily="18" charset="2"/>
              </a:rPr>
              <a:t>k</a:t>
            </a:r>
            <a:endParaRPr lang="en-US" i="1" baseline="-25000"/>
          </a:p>
          <a:p>
            <a:pPr>
              <a:buFontTx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F38214-8AFD-488C-ABD8-0FAEBA0E8D77}" type="slidenum">
              <a:rPr lang="en-US" smtClean="0"/>
              <a:pPr/>
              <a:t>75</a:t>
            </a:fld>
            <a:endParaRPr lang="en-US"/>
          </a:p>
        </p:txBody>
      </p:sp>
      <p:pic>
        <p:nvPicPr>
          <p:cNvPr id="74755" name="Picture 23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87425" y="4872038"/>
            <a:ext cx="76009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22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71550" y="5568950"/>
            <a:ext cx="2730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Expected Average Cost per </a:t>
            </a:r>
            <a:br>
              <a:rPr lang="en-US" sz="4000"/>
            </a:br>
            <a:r>
              <a:rPr lang="en-US" sz="4000"/>
              <a:t>Unit Time</a:t>
            </a:r>
          </a:p>
        </p:txBody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09600"/>
          </a:xfrm>
        </p:spPr>
        <p:txBody>
          <a:bodyPr/>
          <a:lstStyle/>
          <a:p>
            <a:r>
              <a:rPr lang="en-US"/>
              <a:t>Define </a:t>
            </a:r>
          </a:p>
        </p:txBody>
      </p:sp>
      <p:sp>
        <p:nvSpPr>
          <p:cNvPr id="74759" name="Rectangle 8"/>
          <p:cNvSpPr>
            <a:spLocks noChangeArrowheads="1"/>
          </p:cNvSpPr>
          <p:nvPr/>
        </p:nvSpPr>
        <p:spPr bwMode="auto">
          <a:xfrm>
            <a:off x="457200" y="32766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aseline="0"/>
              <a:t>Then,</a:t>
            </a:r>
          </a:p>
        </p:txBody>
      </p:sp>
      <p:pic>
        <p:nvPicPr>
          <p:cNvPr id="74760" name="Picture 14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914400" y="3810000"/>
            <a:ext cx="3316288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1746" name="Rectangle 18"/>
          <p:cNvSpPr>
            <a:spLocks noChangeArrowheads="1"/>
          </p:cNvSpPr>
          <p:nvPr/>
        </p:nvSpPr>
        <p:spPr bwMode="auto">
          <a:xfrm>
            <a:off x="1295400" y="4800600"/>
            <a:ext cx="7391400" cy="685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1748" name="Rectangle 20"/>
          <p:cNvSpPr>
            <a:spLocks noChangeArrowheads="1"/>
          </p:cNvSpPr>
          <p:nvPr/>
        </p:nvSpPr>
        <p:spPr bwMode="auto">
          <a:xfrm>
            <a:off x="2971800" y="5486400"/>
            <a:ext cx="8382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4763" name="Picture 21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15975" y="2286000"/>
            <a:ext cx="36957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1747" name="Rectangle 19"/>
          <p:cNvSpPr>
            <a:spLocks noChangeArrowheads="1"/>
          </p:cNvSpPr>
          <p:nvPr/>
        </p:nvSpPr>
        <p:spPr bwMode="auto">
          <a:xfrm>
            <a:off x="1295400" y="5486400"/>
            <a:ext cx="16764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46" grpId="0" animBg="1"/>
      <p:bldP spid="201748" grpId="0" animBg="1"/>
      <p:bldP spid="20174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D7C2A8-2478-4999-970D-4037DCD50A43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Expected Average Cost per </a:t>
            </a:r>
            <a:br>
              <a:rPr lang="en-US" sz="4000"/>
            </a:br>
            <a:r>
              <a:rPr lang="en-US" sz="4000"/>
              <a:t>Unit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780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Inventory example</a:t>
                </a:r>
              </a:p>
              <a:p>
                <a:pPr lvl="1"/>
                <a:r>
                  <a:rPr lang="tr-TR" dirty="0" err="1"/>
                  <a:t>You</a:t>
                </a:r>
                <a:r>
                  <a:rPr lang="tr-TR" dirty="0"/>
                  <a:t> pay an </a:t>
                </a:r>
                <a:r>
                  <a:rPr lang="tr-TR" dirty="0" err="1"/>
                  <a:t>inventory</a:t>
                </a:r>
                <a:r>
                  <a:rPr lang="tr-TR" dirty="0"/>
                  <a:t> </a:t>
                </a:r>
                <a:r>
                  <a:rPr lang="tr-TR" dirty="0" err="1"/>
                  <a:t>carrying</a:t>
                </a:r>
                <a:r>
                  <a:rPr lang="tr-TR" dirty="0"/>
                  <a:t> </a:t>
                </a:r>
                <a:r>
                  <a:rPr lang="tr-TR" dirty="0" err="1"/>
                  <a:t>cost</a:t>
                </a:r>
                <a:endParaRPr lang="tr-TR" dirty="0"/>
              </a:p>
              <a:p>
                <a:pPr lvl="2"/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tr-T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tr-T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tr-T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tr-T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tr-T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tr-T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tr-T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tr-T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tr-T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tr-T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tr-TR" dirty="0"/>
              </a:p>
              <a:p>
                <a:r>
                  <a:rPr lang="tr-TR" dirty="0" err="1"/>
                  <a:t>What</a:t>
                </a:r>
                <a:r>
                  <a:rPr lang="tr-TR" dirty="0"/>
                  <a:t> is </a:t>
                </a:r>
                <a:r>
                  <a:rPr lang="tr-TR" dirty="0" err="1"/>
                  <a:t>your</a:t>
                </a:r>
                <a:r>
                  <a:rPr lang="tr-TR" dirty="0"/>
                  <a:t> </a:t>
                </a:r>
                <a:r>
                  <a:rPr lang="tr-TR" dirty="0" err="1"/>
                  <a:t>expected</a:t>
                </a:r>
                <a:r>
                  <a:rPr lang="tr-TR" dirty="0"/>
                  <a:t> </a:t>
                </a:r>
                <a:r>
                  <a:rPr lang="tr-TR" dirty="0" err="1"/>
                  <a:t>inventory</a:t>
                </a:r>
                <a:r>
                  <a:rPr lang="tr-TR" dirty="0"/>
                  <a:t> </a:t>
                </a:r>
                <a:r>
                  <a:rPr lang="tr-TR" dirty="0" err="1"/>
                  <a:t>carrying</a:t>
                </a:r>
                <a:r>
                  <a:rPr lang="tr-TR" dirty="0"/>
                  <a:t> </a:t>
                </a:r>
                <a:r>
                  <a:rPr lang="tr-TR" dirty="0" err="1"/>
                  <a:t>cost</a:t>
                </a:r>
                <a:r>
                  <a:rPr lang="tr-TR" dirty="0"/>
                  <a:t> in a </a:t>
                </a:r>
                <a:r>
                  <a:rPr lang="tr-TR" dirty="0" err="1"/>
                  <a:t>given</a:t>
                </a:r>
                <a:r>
                  <a:rPr lang="tr-TR" dirty="0"/>
                  <a:t> </a:t>
                </a:r>
                <a:r>
                  <a:rPr lang="tr-TR" dirty="0" err="1"/>
                  <a:t>week</a:t>
                </a:r>
                <a:r>
                  <a:rPr lang="tr-TR" dirty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7578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D7C2A8-2478-4999-970D-4037DCD50A43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Expected Average Cost per </a:t>
            </a:r>
            <a:br>
              <a:rPr lang="en-US" sz="4000"/>
            </a:br>
            <a:r>
              <a:rPr lang="en-US" sz="4000"/>
              <a:t>Unit Time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Examples</a:t>
            </a:r>
          </a:p>
          <a:p>
            <a:pPr lvl="1"/>
            <a:r>
              <a:rPr lang="en-US"/>
              <a:t>Inventory example</a:t>
            </a:r>
          </a:p>
          <a:p>
            <a:pPr lvl="1"/>
            <a:r>
              <a:rPr lang="en-US"/>
              <a:t>Car replacement example</a:t>
            </a:r>
          </a:p>
        </p:txBody>
      </p:sp>
    </p:spTree>
    <p:extLst>
      <p:ext uri="{BB962C8B-B14F-4D97-AF65-F5344CB8AC3E}">
        <p14:creationId xmlns:p14="http://schemas.microsoft.com/office/powerpoint/2010/main" val="37509912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64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2"/>
  <p:tag name="DEFAULTFONTSIZE" val="10"/>
  <p:tag name="DEFAULTWIDTH" val="717"/>
  <p:tag name="DEFAULTHEIGHT" val="46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X_t=\left\{&#10;\begin{array}{ll}&#10;0&amp;\mbox{if day $t$ is dry}\\&#10;1&amp;\mbox{if day $t$ has rain}.&#10;\end{array}&#10;\right.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25"/>
  <p:tag name="PICTUREFILESIZE" val="78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X_{t+1}=\left\{&#10;\begin{array}{ll}&#10;\max(3-D_{t+1},0)&amp;\mbox{if $X_{t}=0$}\\&#10;\max(X_{t}-D_{t+1},0)&amp;\mbox{if $X_{t}\geq 1$}.&#10;\end{array}&#10;\right.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81"/>
  <p:tag name="PICTUREFILESIZE" val="1145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}&#10;\sum_{j=0}^{M}P^{(n)}_{ij} = 1,\ n\geq 0,\ \forall i.\\&#10;\end{array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15"/>
  <p:tag name="PICTUREFILESIZE" val="553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}&#10;P^{(n)}_{ij}\geq 0,\ n\geq 0,\ \forall i, j,\\&#10;\end{array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97"/>
  <p:tag name="PICTUREFILESIZE" val="468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n)}=&#10;\left[&#10;\begin{array}{cccc}&#10;P_{00}^{(n)}&amp;P_{01}^{(n)}&amp;\ldots&amp;P_{0M}^{(n)}\\&#10;P_{10}^{(n)}&amp;P_{11}^{(n)}&amp;\ldots&amp;P_{1M}^{(n)}\\&#10;\ldots&amp;\ldots&amp;\ldots&amp;\ldots\\&#10;P_{M0}^{(n)}&amp;P_{M1}^{(n)}&amp;\ldots&amp;P_{MM}^{(n)}\\&#10;\end{array}&#10;\right]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57"/>
  <p:tag name="PICTUREFILESIZE" val="1612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_{0j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79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_{i0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3"/>
  <p:tag name="PICTUREFILESIZE" val="72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_{i1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3"/>
  <p:tag name="PICTUREFILESIZE" val="63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_{1j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68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_{ik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3"/>
  <p:tag name="PICTUREFILESIZE" val="80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_{kj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84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_{iM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7"/>
  <p:tag name="PICTUREFILESIZE" val="99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_{Mj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8"/>
  <p:tag name="PICTUREFILESIZE" val="102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2)}_{ij}=\sum\limits_{k=0}^{M}P_{ik}^{(1)}P_{kj}^{(1)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84"/>
  <p:tag name="PICTUREFILESIZE" val="588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2)}_{ij}=\sum\limits_{k=0}^{M}P_{ik}^{(1)}P_{kj}^{(1)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84"/>
  <p:tag name="PICTUREFILESIZE" val="588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1)}=&#10;\left[&#10;\begin{array}{ccccc}&#10;P_{00}&amp;\ldots&amp;P_{0j}&amp;\ldots&amp;P_{0M}\\&#10;P_{i0}&amp;\ldots&amp;P_{ij}&amp;\ldots&amp;P_{iM}\\&#10;\ldots&amp;\ldots&amp;\ldots&amp;\ldots&amp;\ldots\\&#10;P_{M0}&amp;\ldots&amp;P_{Mj}&amp;\ldots&amp;P_{MM}\\&#10;\end{array}&#10;\right]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77"/>
  <p:tag name="PICTUREFILESIZE" val="1146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l}&#10;P_{ij}^{(n)} = \sum_{k=0}^{M}P_{ik}^{(m)}P_{kj}^{(n-m)}&amp;\forall i=0,\ldots,M\\&#10;&amp;\forall j=0,\ldots,M\\&#10;&amp;\forall m=1,\ldots,n-1\\&#10;&amp;\forall n=m+1,m+2,\ldots&#10;\end{array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221"/>
  <p:tag name="PICTUREFILESIZE" val="1734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n)}_{ij}=\sum\limits_{k=0}^{M}P_{ik}^{(1)}P_{kj}^{(n-1)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96"/>
  <p:tag name="PICTUREFILESIZE" val="63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n)}_{ij}=\sum\limits_{k=0}^{M}P_{ik}^{(n-1)}P_{kj}^{(1)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96"/>
  <p:tag name="PICTUREFILESIZE" val="625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n)}=P\cdot P^{(n-1)}=P\cdot [P\cdot P^{(n-2)}]=\ldots=P^n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206"/>
  <p:tag name="PICTUREFILESIZE" val="565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n)}=P^{(n-1)}\cdot P=[P^{(n-2)}\cdot P]\cdot P=\ldots=P^n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206"/>
  <p:tag name="PICTUREFILESIZE" val="560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2)}=P\cdot P=&#10;\left[&#10;\begin{array}{cc}&#10;0.800&amp; 0.200\\&#10;0.600&amp; 0.400\\&#10;\end{array}&#10;\right]&#10;\left[&#10;\begin{array}{cc}&#10;0.800&amp; 0.200\\&#10;0.600&amp; 0.400\\&#10;\end{array}&#10;\right]&#10;=&#10;\left[&#10;\begin{array}{cc}&#10;0.760&amp; 0.240\\&#10;0.720&amp; 0.280\\&#10;\end{array}&#10;\right]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308"/>
  <p:tag name="PICTUREFILESIZE" val="1514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3)}=P\cdot P^{(2)}=&#10;\left[&#10;\begin{array}{cc}&#10;0.800&amp; 0.200\\&#10;0.600&amp; 0.400\\&#10;\end{array}&#10;\right]&#10;\left[&#10;\begin{array}{cc}&#10;0.760&amp; 0.240\\&#10;0.720&amp; 0.280\\&#10;\end{array}&#10;\right]&#10;=&#10;\left[&#10;\begin{array}{cc}&#10;0.752&amp; 0.248\\&#10;0.744&amp; 0.256\\&#10;\end{array}&#10;\right]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319"/>
  <p:tag name="PICTUREFILESIZE" val="1801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4)}=P\cdot P^{(3)}=&#10;\left[&#10;\begin{array}{cc}&#10;0.800&amp; 0.200\\&#10;0.600&amp; 0.400\\&#10;\end{array}&#10;\right]&#10;\left[&#10;\begin{array}{cc}&#10;0.752&amp; 0.248\\&#10;0.744&amp; 0.256\\&#10;\end{array}&#10;\right]&#10;=&#10;\left[&#10;\begin{array}{cc}&#10;0.750&amp; 0.250\\&#10;0.749&amp; 0.251\\&#10;\end{array}&#10;\right]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319"/>
  <p:tag name="PICTUREFILESIZE" val="1751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5)}=P\cdot P^{(4)}=&#10;\left[&#10;\begin{array}{cc}&#10;0.800&amp; 0.200\\&#10;0.600&amp; 0.400\\&#10;\end{array}&#10;\right]&#10;\left[&#10;\begin{array}{cc}&#10;0.750&amp; 0.250\\&#10;0.749&amp; 0.251\\&#10;\end{array}&#10;\right]&#10;=&#10;\left[&#10;\begin{array}{cc}&#10;0.750&amp; 0.250\\&#10;0.750&amp; 0.250\\&#10;\end{array}&#10;\right]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319"/>
  <p:tag name="PICTUREFILESIZE" val="1624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=&#10;\left[&#10;\begin{array}{cc}&#10;0.800&amp; 0.200\\&#10;0.600&amp; 0.400\\&#10;\end{array}&#10;\right]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95"/>
  <p:tag name="PICTUREFILESIZE" val="486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5)}=&#10;\left[&#10;\begin{array}{cc}&#10;0.750&amp; 0.250\\&#10;0.750&amp; 0.250\\&#10;\end{array}&#10;\right]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05"/>
  <p:tag name="PICTUREFILESIZE" val="557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(X_n=j)=\sum\limits_{i=0}^{M}P(X_n=j / X_0 = i)P(X_0 = i)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201"/>
  <p:tag name="PICTUREFILESIZE" val="936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2)}=&#10;\left[&#10;\begin{array}{cc}&#10;0.760&amp; 0.240\\&#10;0.720&amp; 0.280\\&#10;\end{array}&#10;\right]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05"/>
  <p:tag name="PICTUREFILESIZE" val="608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q\cdot P^{(2)}=&#10;\left[&#10;\begin{array}{cc}&#10;0.641&amp; 0.359&#10;\end{array}&#10;\right]&#10;\left[&#10;\begin{array}{cc}&#10;0.760&amp; 0.240\\&#10;0.720&amp; 0.280\\&#10;\end{array}&#10;\right]&#10;=&#10;\left[&#10;\begin{array}{cc}&#10;0.746&amp; 0.254\\&#10;\end{array}&#10;\right]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280"/>
  <p:tag name="PICTUREFILESIZE" val="1258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=&#10;\left[&#10;\begin{array}{ccccc}&#10;0.4&amp; 0.6&amp; 0&amp; 0&amp; 0\\&#10;0.5&amp; 0.5&amp; 0&amp; 0&amp; 0\\&#10;0&amp; 0&amp; 0.3&amp; 0.7&amp; 0\\&#10;0&amp; 0&amp; 0.5&amp; 0.4&amp; 0.1\\&#10;0&amp; 0&amp; 0&amp; 0.8&amp; 0.2\\&#10;\end{array}&#10;\right]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45"/>
  <p:tag name="PICTUREFILESIZE" val="1254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=&#10;\left[&#10;\begin{array}{cc}&#10;0.800&amp; 0.200\\&#10;0.600&amp; 0.400\\&#10;\end{array}&#10;\right]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95"/>
  <p:tag name="PICTUREFILESIZE" val="486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P^{(5)}=&#10;\left[&#10;\begin{array}{cc}&#10;0.750&amp; 0.250\\&#10;0.750&amp; 0.250\\&#10;\end{array}&#10;\right]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05"/>
  <p:tag name="PICTUREFILESIZE" val="557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l}&#10;\pi_j = \sum\limits_{i=0}^{M} \pi_i P_{ij}&amp;j=0,\ldots,M\\&#10;\sum\limits_{j=0}^{M}  \pi_j =1&#10;\end{array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27"/>
  <p:tag name="PICTUREFILESIZE" val="881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lim\limits_{n\rightarrow\infty} P_{ij}^{(n)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41"/>
  <p:tag name="PICTUREFILESIZE" val="253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lim\limits_{n\rightarrow\infty} P_{ij}^{(n)} = \pi_j &gt; 0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83"/>
  <p:tag name="PICTUREFILESIZE" val="404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$&#10;\sum\limits_{\substack{i=0\\i\neq j}}^{M} \pi_i P_{ij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36"/>
  <p:tag name="PICTUREFILESIZE" val="360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$&#10;\pi_j (1-P_{jj})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49"/>
  <p:tag name="PICTUREFILESIZE" val="19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$&#10;\sum\limits_{i=0}^{M} \pi_i P_{ij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36"/>
  <p:tag name="PICTUREFILESIZE" val="286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$&#10;\pi_j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54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lr}&#10;\pi_j = \sum\limits_{i=0}^{M} \pi_i P_{ij}&amp;j=0,\ldots,M&amp;(1)\\&#10;\sum\limits_{j=0}^{M}  \pi_j =1&amp;&amp;(2)&#10;\end{array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49"/>
  <p:tag name="PICTUREFILESIZE" val="1083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lr}&#10;\pi_j = \sum\limits_{i=0}^{M} \pi_i P_{ij}&amp;j=0,\ldots,M&amp;(1)\\&#10;\sum\limits_{j=0}^{M}  \pi_j =1&amp;&amp;(2)&#10;\end{array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49"/>
  <p:tag name="PICTUREFILESIZE" val="1083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$&#10;P_{ij}^{(n)} = 0,\ P_{ji}^{(n)} = 0, \ \forall n,\ i\in \{1,2\},\ j\in \{3,4,5\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208"/>
  <p:tag name="PICTUREFILESIZE" val="917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$&#10;\lim\limits_{n\rightarrow\infty}P_{ij}^{(n)} = 0\ \forall i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72"/>
  <p:tag name="PICTUREFILESIZE" val="370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$&#10;\lim\limits_{n\rightarrow\infty}P_{ij}^{(n)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41"/>
  <p:tag name="PICTUREFILESIZE" val="253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$&#10;P_{11}^{(n)}=0&#10;$&#10;if $n$ is odd, and 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08"/>
  <p:tag name="PICTUREFILESIZE" val="415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$&#10;P_{11}^{(n)}=1, &#10;$&#10;if $n$ is even.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94"/>
  <p:tag name="PICTUREFILESIZE" val="356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&#10;\begin{document}&#10;Hence, the limit &#10;$&#10;\lim\limits_{n\rightarrow\infty}P_{11}^{(n)}&#10;$&#10;does not exist.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82"/>
  <p:tag name="PICTUREFILESIZE" val="725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lr}&#10;\pi_j = \sum\limits_{i=0}^{M} \pi_i P_{ij}&amp;j=0,\ldots,M&amp;(1)\\&#10;\sum\limits_{j=0}^{M}  \pi_j =1&amp;&amp;(2)&#10;\end{array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49"/>
  <p:tag name="PICTUREFILESIZE" val="1083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lim\limits_{n\rightarrow\infty} \left(\frac{1}{n}\sum\limits_{k=1}^{n}P_{ij}^{(k)}\right)=\pi_j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03"/>
  <p:tag name="PICTUREFILESIZE" val="686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E\left(\frac{1}{n}\sum\limits_{t=1}^{n}C(X_t)\right)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74"/>
  <p:tag name="PICTUREFILESIZE" val="539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lim\limits_{n\rightarrow\infty} \left(\frac{1}{n}\sum\limits_{k=1}^{n}P_{ij}^{(k)}\right)=\pi_j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03"/>
  <p:tag name="PICTUREFILESIZE" val="686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lim\limits_{n\rightarrow\infty}E\left(\frac{1}{n}\sum\limits_{t=1}^{n}C(X_t)\right)=\sum\limits_{j=0}^{M}C(j)\pi_j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56"/>
  <p:tag name="PICTUREFILESIZE" val="1035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}&#10;=\lim\limits_{n\rightarrow\infty}E(\mbox{fraction of time the system is in state $k$})\\&#10;\end{array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220"/>
  <p:tag name="PICTUREFILESIZE" val="890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}&#10;=\sum\limits_{j=0}^{M}C(j)\pi_j=\pi_k\\&#10;\end{array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79"/>
  <p:tag name="PICTUREFILESIZE" val="464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\begin{array}{l}&#10;\lim\limits_{n\rightarrow\infty}E\left(\frac{1}{n}\sum\limits_{t=1}^{n}C(X_t)\right)\\&#10;\end{array}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96"/>
  <p:tag name="PICTUREFILESIZE" val="673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begin{document}&#10;$&#10;C(X_t)=\left\{&#10;\begin{array}{ll}&#10;1&amp;\mbox{if } X_t = k\\&#10;0&amp;\mbox{if } X_t \neq k&#10;\end{array}\right.&#10;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24"/>
  <p:tag name="BOXHEIGHT" val="295"/>
  <p:tag name="BOXFONT" val="10"/>
  <p:tag name="BOXWRAP" val="False"/>
  <p:tag name="WORKAROUNDTRANSPARENCYBUG" val="False"/>
  <p:tag name="ALLOWFONTSUBSTITUTION" val="False"/>
  <p:tag name="BITMAPFORMAT" val="pngmono"/>
  <p:tag name="ORIGWIDTH" val="107"/>
  <p:tag name="PICTUREFILESIZE" val="6582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416e2cc4-927b-4a48-abf1-08c8b7746fe4" origin="userSelected">
  <element uid="id_classification_generalbusiness" value=""/>
</sisl>
</file>

<file path=customXml/itemProps1.xml><?xml version="1.0" encoding="utf-8"?>
<ds:datastoreItem xmlns:ds="http://schemas.openxmlformats.org/officeDocument/2006/customXml" ds:itemID="{CAE40F79-A310-4C66-874C-F0360666717B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5736</TotalTime>
  <Words>4345</Words>
  <Application>Microsoft Office PowerPoint</Application>
  <PresentationFormat>On-screen Show (4:3)</PresentationFormat>
  <Paragraphs>675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Arial</vt:lpstr>
      <vt:lpstr>Cambria Math</vt:lpstr>
      <vt:lpstr>cmsy10</vt:lpstr>
      <vt:lpstr>Symbol</vt:lpstr>
      <vt:lpstr>Default Design</vt:lpstr>
      <vt:lpstr>DA 507 modeling and optimization </vt:lpstr>
      <vt:lpstr>Stochastic Processes</vt:lpstr>
      <vt:lpstr>Stochastic Processes</vt:lpstr>
      <vt:lpstr>Discrete Time  Stochastic Processes</vt:lpstr>
      <vt:lpstr>Continuous Time  Stochastic Processes</vt:lpstr>
      <vt:lpstr>State Space</vt:lpstr>
      <vt:lpstr>Scope</vt:lpstr>
      <vt:lpstr>A Weather Example</vt:lpstr>
      <vt:lpstr>A Weather Example</vt:lpstr>
      <vt:lpstr>A Weather Example</vt:lpstr>
      <vt:lpstr>PowerPoint Presentation</vt:lpstr>
      <vt:lpstr>Gambler’s Ruin Problem</vt:lpstr>
      <vt:lpstr>Gambler’s Ruin Problem</vt:lpstr>
      <vt:lpstr>Gambler’s Ruin Problem</vt:lpstr>
      <vt:lpstr>PowerPoint Presentation</vt:lpstr>
      <vt:lpstr>An Inventory Example</vt:lpstr>
      <vt:lpstr>An Inventory Example</vt:lpstr>
      <vt:lpstr>An Inventory Example</vt:lpstr>
      <vt:lpstr>PowerPoint Presentation</vt:lpstr>
      <vt:lpstr>Markovian Property</vt:lpstr>
      <vt:lpstr>Markov Chain</vt:lpstr>
      <vt:lpstr>Stationarity</vt:lpstr>
      <vt:lpstr>Stationarity</vt:lpstr>
      <vt:lpstr>Transition Probabilities</vt:lpstr>
      <vt:lpstr>Transition Probabilities</vt:lpstr>
      <vt:lpstr>Focus</vt:lpstr>
      <vt:lpstr>Markov Chain Modeling</vt:lpstr>
      <vt:lpstr>Computation of  Transition Probabilities </vt:lpstr>
      <vt:lpstr>Computation of  Transition Probabilities</vt:lpstr>
      <vt:lpstr>Computation of  Transition Probabilities</vt:lpstr>
      <vt:lpstr>Computation of  Transition Probabilities</vt:lpstr>
      <vt:lpstr>n-Step Transition Matrices for the Weather Example</vt:lpstr>
      <vt:lpstr>n-Step Transition Matrices for the Weather Example</vt:lpstr>
      <vt:lpstr>Unconditional State Probabilities</vt:lpstr>
      <vt:lpstr>Unconditional State Probabilities for the Weather Example</vt:lpstr>
      <vt:lpstr>Unconditional State Probabilities for the Weather Example</vt:lpstr>
      <vt:lpstr>An Investment Example</vt:lpstr>
      <vt:lpstr>An Investment Example</vt:lpstr>
      <vt:lpstr>Classification of States in a  Markov Chain</vt:lpstr>
      <vt:lpstr>Example</vt:lpstr>
      <vt:lpstr>Gambler’s Ruin Problem</vt:lpstr>
      <vt:lpstr>Communication</vt:lpstr>
      <vt:lpstr>Communication</vt:lpstr>
      <vt:lpstr>Example</vt:lpstr>
      <vt:lpstr>Gambler’s Ruin Problem</vt:lpstr>
      <vt:lpstr>Transient States</vt:lpstr>
      <vt:lpstr>Recurrent States</vt:lpstr>
      <vt:lpstr>Transient and Recurrent States</vt:lpstr>
      <vt:lpstr>Transient and Recurrent States</vt:lpstr>
      <vt:lpstr>Transient and Recurrent States</vt:lpstr>
      <vt:lpstr>Periodicity</vt:lpstr>
      <vt:lpstr>Periodicity</vt:lpstr>
      <vt:lpstr>Periodicity</vt:lpstr>
      <vt:lpstr>Periodicity</vt:lpstr>
      <vt:lpstr>Ergodicity</vt:lpstr>
      <vt:lpstr>Limiting Probabilities</vt:lpstr>
      <vt:lpstr>Limiting Probabilities</vt:lpstr>
      <vt:lpstr>Limiting Probabilities</vt:lpstr>
      <vt:lpstr>Interpretation of  Limiting Probabilities</vt:lpstr>
      <vt:lpstr>Interpretation of  Limiting Probabilities</vt:lpstr>
      <vt:lpstr>Interpretation of  Limiting Probabilities</vt:lpstr>
      <vt:lpstr>Interpretation of  Limiting Probabilities</vt:lpstr>
      <vt:lpstr>Interpretation of  Limiting Probabilities</vt:lpstr>
      <vt:lpstr>Computing Limiting Probabilities</vt:lpstr>
      <vt:lpstr>Computing Limiting Probabilities</vt:lpstr>
      <vt:lpstr>Computing Limiting Probabilities</vt:lpstr>
      <vt:lpstr>Conditions for Limiting Probabilities Revisited</vt:lpstr>
      <vt:lpstr>Conditions for Limiting Probabilities Revisited</vt:lpstr>
      <vt:lpstr>Conditions for Limiting Probabilities Revisited</vt:lpstr>
      <vt:lpstr>Conditions for Limiting Probabilities Revisited</vt:lpstr>
      <vt:lpstr>Conditions for Limiting Probabilities Revisited</vt:lpstr>
      <vt:lpstr>Expected Average Cost per  Unit Time</vt:lpstr>
      <vt:lpstr>Expected Average Cost per  Unit Time</vt:lpstr>
      <vt:lpstr>Expected Average Cost per  Unit Time</vt:lpstr>
      <vt:lpstr>Expected Average Cost per  Unit Time</vt:lpstr>
      <vt:lpstr>Expected Average Cost per  Unit Time</vt:lpstr>
      <vt:lpstr>Expected Average Cost per  Unit Time</vt:lpstr>
    </vt:vector>
  </TitlesOfParts>
  <Company>Sabanci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and Analysis of Large Systems</dc:title>
  <dc:creator>Kerem Bulbul</dc:creator>
  <cp:lastModifiedBy>Volkan Yurtseven</cp:lastModifiedBy>
  <cp:revision>268</cp:revision>
  <dcterms:created xsi:type="dcterms:W3CDTF">2003-10-02T18:57:18Z</dcterms:created>
  <dcterms:modified xsi:type="dcterms:W3CDTF">2022-01-03T21:07:43Z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6c506970-e330-49b8-8583-61931f03fe18</vt:lpwstr>
  </property>
  <property fmtid="{D5CDD505-2E9C-101B-9397-08002B2CF9AE}" pid="3" name="bjSaver">
    <vt:lpwstr>GCQzHYWfdzjTrjdlW3avldOuoiAZmI8T</vt:lpwstr>
  </property>
  <property fmtid="{D5CDD505-2E9C-101B-9397-08002B2CF9AE}" pid="4" name="bjDocumentLabelXML">
    <vt:lpwstr>&lt;?xml version="1.0" encoding="us-ascii"?&gt;&lt;sisl xmlns:xsd="http://www.w3.org/2001/XMLSchema" xmlns:xsi="http://www.w3.org/2001/XMLSchema-instance" sislVersion="0" policy="416e2cc4-927b-4a48-abf1-08c8b7746fe4" origin="userSelected" xmlns="http://www.boldonj</vt:lpwstr>
  </property>
  <property fmtid="{D5CDD505-2E9C-101B-9397-08002B2CF9AE}" pid="5" name="bjDocumentLabelXML-0">
    <vt:lpwstr>ames.com/2008/01/sie/internal/label"&gt;&lt;element uid="id_classification_generalbusiness" value="" /&gt;&lt;/sisl&gt;</vt:lpwstr>
  </property>
  <property fmtid="{D5CDD505-2E9C-101B-9397-08002B2CF9AE}" pid="6" name="bjDocumentSecurityLabel">
    <vt:lpwstr>Genel</vt:lpwstr>
  </property>
</Properties>
</file>