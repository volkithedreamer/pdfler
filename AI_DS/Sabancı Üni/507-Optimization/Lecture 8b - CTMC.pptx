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comment1.xml" ContentType="application/vnd.openxmlformats-officedocument.presentationml.comments+xml"/>
  <Override PartName="/ppt/tags/tag8.xml" ContentType="application/vnd.openxmlformats-officedocument.presentationml.tags+xml"/>
  <Override PartName="/ppt/tags/tag9.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6.xml" ContentType="application/vnd.openxmlformats-officedocument.presentationml.notesSlide+xml"/>
  <Override PartName="/ppt/tags/tag12.xml" ContentType="application/vnd.openxmlformats-officedocument.presentationml.tags+xml"/>
  <Override PartName="/ppt/notesSlides/notesSlide17.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5.xml" ContentType="application/vnd.openxmlformats-officedocument.presentationml.tags+xml"/>
  <Override PartName="/ppt/notesSlides/notesSlide24.xml" ContentType="application/vnd.openxmlformats-officedocument.presentationml.notesSlide+xml"/>
  <Override PartName="/ppt/tags/tag16.xml" ContentType="application/vnd.openxmlformats-officedocument.presentationml.tags+xml"/>
  <Override PartName="/ppt/notesSlides/notesSlide25.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26.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9.xml" ContentType="application/vnd.openxmlformats-officedocument.presentationml.notesSlide+xml"/>
  <Override PartName="/ppt/tags/tag30.xml" ContentType="application/vnd.openxmlformats-officedocument.presentationml.tags+xml"/>
  <Override PartName="/ppt/notesSlides/notesSlide30.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notesSlides/notesSlide36.xml" ContentType="application/vnd.openxmlformats-officedocument.presentationml.notesSlide+xml"/>
  <Override PartName="/ppt/tags/tag35.xml" ContentType="application/vnd.openxmlformats-officedocument.presentationml.tags+xml"/>
  <Override PartName="/ppt/notesSlides/notesSlide37.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Lst>
  <p:notesMasterIdLst>
    <p:notesMasterId r:id="rId41"/>
  </p:notesMasterIdLst>
  <p:handoutMasterIdLst>
    <p:handoutMasterId r:id="rId42"/>
  </p:handoutMasterIdLst>
  <p:sldIdLst>
    <p:sldId id="273" r:id="rId3"/>
    <p:sldId id="346" r:id="rId4"/>
    <p:sldId id="347" r:id="rId5"/>
    <p:sldId id="348" r:id="rId6"/>
    <p:sldId id="349" r:id="rId7"/>
    <p:sldId id="350" r:id="rId8"/>
    <p:sldId id="351" r:id="rId9"/>
    <p:sldId id="352" r:id="rId10"/>
    <p:sldId id="353" r:id="rId11"/>
    <p:sldId id="354" r:id="rId12"/>
    <p:sldId id="355" r:id="rId13"/>
    <p:sldId id="356" r:id="rId14"/>
    <p:sldId id="397" r:id="rId15"/>
    <p:sldId id="357" r:id="rId16"/>
    <p:sldId id="358" r:id="rId17"/>
    <p:sldId id="363" r:id="rId18"/>
    <p:sldId id="364" r:id="rId19"/>
    <p:sldId id="365" r:id="rId20"/>
    <p:sldId id="366" r:id="rId21"/>
    <p:sldId id="367" r:id="rId22"/>
    <p:sldId id="377" r:id="rId23"/>
    <p:sldId id="368" r:id="rId24"/>
    <p:sldId id="369" r:id="rId25"/>
    <p:sldId id="380" r:id="rId26"/>
    <p:sldId id="381" r:id="rId27"/>
    <p:sldId id="382" r:id="rId28"/>
    <p:sldId id="379" r:id="rId29"/>
    <p:sldId id="384" r:id="rId30"/>
    <p:sldId id="396" r:id="rId31"/>
    <p:sldId id="372" r:id="rId32"/>
    <p:sldId id="389" r:id="rId33"/>
    <p:sldId id="390" r:id="rId34"/>
    <p:sldId id="392" r:id="rId35"/>
    <p:sldId id="393" r:id="rId36"/>
    <p:sldId id="394" r:id="rId37"/>
    <p:sldId id="374" r:id="rId38"/>
    <p:sldId id="376" r:id="rId39"/>
    <p:sldId id="375" r:id="rId40"/>
  </p:sldIdLst>
  <p:sldSz cx="9144000" cy="6858000" type="screen4x3"/>
  <p:notesSz cx="7099300" cy="10234613"/>
  <p:custDataLst>
    <p:tags r:id="rId43"/>
  </p:custDataLst>
  <p:defaultTextStyle>
    <a:defPPr>
      <a:defRPr lang="en-US"/>
    </a:defPPr>
    <a:lvl1pPr algn="l" rtl="0" fontAlgn="base">
      <a:spcBef>
        <a:spcPct val="0"/>
      </a:spcBef>
      <a:spcAft>
        <a:spcPct val="0"/>
      </a:spcAft>
      <a:defRPr kern="1200" baseline="-25000">
        <a:solidFill>
          <a:schemeClr val="tx1"/>
        </a:solidFill>
        <a:latin typeface="Arial" charset="0"/>
        <a:ea typeface="+mn-ea"/>
        <a:cs typeface="Arial" charset="0"/>
      </a:defRPr>
    </a:lvl1pPr>
    <a:lvl2pPr marL="457200" algn="l" rtl="0" fontAlgn="base">
      <a:spcBef>
        <a:spcPct val="0"/>
      </a:spcBef>
      <a:spcAft>
        <a:spcPct val="0"/>
      </a:spcAft>
      <a:defRPr kern="1200" baseline="-25000">
        <a:solidFill>
          <a:schemeClr val="tx1"/>
        </a:solidFill>
        <a:latin typeface="Arial" charset="0"/>
        <a:ea typeface="+mn-ea"/>
        <a:cs typeface="Arial" charset="0"/>
      </a:defRPr>
    </a:lvl2pPr>
    <a:lvl3pPr marL="914400" algn="l" rtl="0" fontAlgn="base">
      <a:spcBef>
        <a:spcPct val="0"/>
      </a:spcBef>
      <a:spcAft>
        <a:spcPct val="0"/>
      </a:spcAft>
      <a:defRPr kern="1200" baseline="-25000">
        <a:solidFill>
          <a:schemeClr val="tx1"/>
        </a:solidFill>
        <a:latin typeface="Arial" charset="0"/>
        <a:ea typeface="+mn-ea"/>
        <a:cs typeface="Arial" charset="0"/>
      </a:defRPr>
    </a:lvl3pPr>
    <a:lvl4pPr marL="1371600" algn="l" rtl="0" fontAlgn="base">
      <a:spcBef>
        <a:spcPct val="0"/>
      </a:spcBef>
      <a:spcAft>
        <a:spcPct val="0"/>
      </a:spcAft>
      <a:defRPr kern="1200" baseline="-25000">
        <a:solidFill>
          <a:schemeClr val="tx1"/>
        </a:solidFill>
        <a:latin typeface="Arial" charset="0"/>
        <a:ea typeface="+mn-ea"/>
        <a:cs typeface="Arial" charset="0"/>
      </a:defRPr>
    </a:lvl4pPr>
    <a:lvl5pPr marL="1828800" algn="l" rtl="0" fontAlgn="base">
      <a:spcBef>
        <a:spcPct val="0"/>
      </a:spcBef>
      <a:spcAft>
        <a:spcPct val="0"/>
      </a:spcAft>
      <a:defRPr kern="1200" baseline="-25000">
        <a:solidFill>
          <a:schemeClr val="tx1"/>
        </a:solidFill>
        <a:latin typeface="Arial" charset="0"/>
        <a:ea typeface="+mn-ea"/>
        <a:cs typeface="Arial" charset="0"/>
      </a:defRPr>
    </a:lvl5pPr>
    <a:lvl6pPr marL="2286000" algn="l" defTabSz="914400" rtl="0" eaLnBrk="1" latinLnBrk="0" hangingPunct="1">
      <a:defRPr kern="1200" baseline="-25000">
        <a:solidFill>
          <a:schemeClr val="tx1"/>
        </a:solidFill>
        <a:latin typeface="Arial" charset="0"/>
        <a:ea typeface="+mn-ea"/>
        <a:cs typeface="Arial" charset="0"/>
      </a:defRPr>
    </a:lvl6pPr>
    <a:lvl7pPr marL="2743200" algn="l" defTabSz="914400" rtl="0" eaLnBrk="1" latinLnBrk="0" hangingPunct="1">
      <a:defRPr kern="1200" baseline="-25000">
        <a:solidFill>
          <a:schemeClr val="tx1"/>
        </a:solidFill>
        <a:latin typeface="Arial" charset="0"/>
        <a:ea typeface="+mn-ea"/>
        <a:cs typeface="Arial" charset="0"/>
      </a:defRPr>
    </a:lvl7pPr>
    <a:lvl8pPr marL="3200400" algn="l" defTabSz="914400" rtl="0" eaLnBrk="1" latinLnBrk="0" hangingPunct="1">
      <a:defRPr kern="1200" baseline="-25000">
        <a:solidFill>
          <a:schemeClr val="tx1"/>
        </a:solidFill>
        <a:latin typeface="Arial" charset="0"/>
        <a:ea typeface="+mn-ea"/>
        <a:cs typeface="Arial" charset="0"/>
      </a:defRPr>
    </a:lvl8pPr>
    <a:lvl9pPr marL="3657600" algn="l" defTabSz="914400" rtl="0" eaLnBrk="1" latinLnBrk="0" hangingPunct="1">
      <a:defRPr kern="1200" baseline="-250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irol Yüceoğlu (Migros)" initials="BY(" lastIdx="1" clrIdx="0">
    <p:extLst>
      <p:ext uri="{19B8F6BF-5375-455C-9EA6-DF929625EA0E}">
        <p15:presenceInfo xmlns:p15="http://schemas.microsoft.com/office/powerpoint/2012/main" userId="S-1-5-21-2944650463-1781490683-1021277156-7027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85507" autoAdjust="0"/>
  </p:normalViewPr>
  <p:slideViewPr>
    <p:cSldViewPr>
      <p:cViewPr varScale="1">
        <p:scale>
          <a:sx n="97" d="100"/>
          <a:sy n="97" d="100"/>
        </p:scale>
        <p:origin x="618" y="90"/>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58" d="100"/>
          <a:sy n="58" d="100"/>
        </p:scale>
        <p:origin x="-1056" y="-78"/>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handoutMaster" Target="handoutMasters/handoutMaster1.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notesMaster" Target="notesMasters/notes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1-02T15:39:51.450" idx="1">
    <p:pos x="5655" y="1034"/>
    <p:text/>
    <p:extLst>
      <p:ext uri="{C676402C-5697-4E1C-873F-D02D1690AC5C}">
        <p15:threadingInfo xmlns:p15="http://schemas.microsoft.com/office/powerpoint/2012/main" timeZoneBias="-18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bwMode="auto">
          <a:xfrm>
            <a:off x="0" y="0"/>
            <a:ext cx="3076672" cy="5110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aseline="0"/>
            </a:lvl1pPr>
          </a:lstStyle>
          <a:p>
            <a:pPr>
              <a:defRPr/>
            </a:pPr>
            <a:endParaRPr lang="en-US"/>
          </a:p>
        </p:txBody>
      </p:sp>
      <p:sp>
        <p:nvSpPr>
          <p:cNvPr id="110595" name="Rectangle 3"/>
          <p:cNvSpPr>
            <a:spLocks noGrp="1" noChangeArrowheads="1"/>
          </p:cNvSpPr>
          <p:nvPr>
            <p:ph type="dt" sz="quarter" idx="1"/>
          </p:nvPr>
        </p:nvSpPr>
        <p:spPr bwMode="auto">
          <a:xfrm>
            <a:off x="4021088" y="0"/>
            <a:ext cx="3076672" cy="5110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aseline="0"/>
            </a:lvl1pPr>
          </a:lstStyle>
          <a:p>
            <a:pPr>
              <a:defRPr/>
            </a:pPr>
            <a:endParaRPr lang="en-US"/>
          </a:p>
        </p:txBody>
      </p:sp>
      <p:sp>
        <p:nvSpPr>
          <p:cNvPr id="110596" name="Rectangle 4"/>
          <p:cNvSpPr>
            <a:spLocks noGrp="1" noChangeArrowheads="1"/>
          </p:cNvSpPr>
          <p:nvPr>
            <p:ph type="ftr" sz="quarter" idx="2"/>
          </p:nvPr>
        </p:nvSpPr>
        <p:spPr bwMode="auto">
          <a:xfrm>
            <a:off x="0" y="9721868"/>
            <a:ext cx="3076672" cy="5110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aseline="0"/>
            </a:lvl1pPr>
          </a:lstStyle>
          <a:p>
            <a:pPr>
              <a:defRPr/>
            </a:pPr>
            <a:endParaRPr lang="en-US"/>
          </a:p>
        </p:txBody>
      </p:sp>
      <p:sp>
        <p:nvSpPr>
          <p:cNvPr id="110597" name="Rectangle 5"/>
          <p:cNvSpPr>
            <a:spLocks noGrp="1" noChangeArrowheads="1"/>
          </p:cNvSpPr>
          <p:nvPr>
            <p:ph type="sldNum" sz="quarter" idx="3"/>
          </p:nvPr>
        </p:nvSpPr>
        <p:spPr bwMode="auto">
          <a:xfrm>
            <a:off x="4021088" y="9721868"/>
            <a:ext cx="3076672" cy="5110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aseline="0"/>
            </a:lvl1pPr>
          </a:lstStyle>
          <a:p>
            <a:pPr>
              <a:defRPr/>
            </a:pPr>
            <a:fld id="{D2ABB3EA-33E4-462F-B4AE-E583C918057C}"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76672" cy="511054"/>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baseline="0"/>
            </a:lvl1pPr>
          </a:lstStyle>
          <a:p>
            <a:pPr>
              <a:defRPr/>
            </a:pPr>
            <a:endParaRPr lang="en-US"/>
          </a:p>
        </p:txBody>
      </p:sp>
      <p:sp>
        <p:nvSpPr>
          <p:cNvPr id="4099" name="Rectangle 3"/>
          <p:cNvSpPr>
            <a:spLocks noGrp="1" noChangeArrowheads="1"/>
          </p:cNvSpPr>
          <p:nvPr>
            <p:ph type="dt" idx="1"/>
          </p:nvPr>
        </p:nvSpPr>
        <p:spPr bwMode="auto">
          <a:xfrm>
            <a:off x="4021088" y="0"/>
            <a:ext cx="3076672" cy="511054"/>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baseline="0"/>
            </a:lvl1pPr>
          </a:lstStyle>
          <a:p>
            <a:pPr>
              <a:defRPr/>
            </a:pPr>
            <a:endParaRPr lang="en-US"/>
          </a:p>
        </p:txBody>
      </p:sp>
      <p:sp>
        <p:nvSpPr>
          <p:cNvPr id="114692" name="Rectangle 4"/>
          <p:cNvSpPr>
            <a:spLocks noGrp="1" noRot="1" noChangeAspect="1" noChangeArrowheads="1" noTextEdit="1"/>
          </p:cNvSpPr>
          <p:nvPr>
            <p:ph type="sldImg" idx="2"/>
          </p:nvPr>
        </p:nvSpPr>
        <p:spPr bwMode="auto">
          <a:xfrm>
            <a:off x="990600" y="768350"/>
            <a:ext cx="5118100" cy="3838575"/>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710239" y="4861781"/>
            <a:ext cx="5678824" cy="46045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9721868"/>
            <a:ext cx="3076672" cy="511054"/>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baseline="0"/>
            </a:lvl1pPr>
          </a:lstStyle>
          <a:p>
            <a:pPr>
              <a:defRPr/>
            </a:pPr>
            <a:endParaRPr lang="en-US"/>
          </a:p>
        </p:txBody>
      </p:sp>
      <p:sp>
        <p:nvSpPr>
          <p:cNvPr id="4103" name="Rectangle 7"/>
          <p:cNvSpPr>
            <a:spLocks noGrp="1" noChangeArrowheads="1"/>
          </p:cNvSpPr>
          <p:nvPr>
            <p:ph type="sldNum" sz="quarter" idx="5"/>
          </p:nvPr>
        </p:nvSpPr>
        <p:spPr bwMode="auto">
          <a:xfrm>
            <a:off x="4021088" y="9721868"/>
            <a:ext cx="3076672" cy="511054"/>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baseline="0"/>
            </a:lvl1pPr>
          </a:lstStyle>
          <a:p>
            <a:pPr>
              <a:defRPr/>
            </a:pPr>
            <a:fld id="{A1AA0421-1CE9-4789-AC5B-7F6669F84777}" type="slidenum">
              <a:rPr lang="en-US"/>
              <a:pPr>
                <a:defRPr/>
              </a:pPr>
              <a:t>‹#›</a:t>
            </a:fld>
            <a:endParaRPr lang="en-US"/>
          </a:p>
        </p:txBody>
      </p:sp>
    </p:spTree>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1</a:t>
            </a:fld>
            <a:endParaRPr lang="en-US"/>
          </a:p>
        </p:txBody>
      </p:sp>
    </p:spTree>
    <p:extLst>
      <p:ext uri="{BB962C8B-B14F-4D97-AF65-F5344CB8AC3E}">
        <p14:creationId xmlns:p14="http://schemas.microsoft.com/office/powerpoint/2010/main" val="3293636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2</a:t>
            </a:fld>
            <a:endParaRPr lang="en-US"/>
          </a:p>
        </p:txBody>
      </p:sp>
    </p:spTree>
    <p:extLst>
      <p:ext uri="{BB962C8B-B14F-4D97-AF65-F5344CB8AC3E}">
        <p14:creationId xmlns:p14="http://schemas.microsoft.com/office/powerpoint/2010/main" val="2121988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3</a:t>
            </a:fld>
            <a:endParaRPr lang="en-US"/>
          </a:p>
        </p:txBody>
      </p:sp>
    </p:spTree>
    <p:extLst>
      <p:ext uri="{BB962C8B-B14F-4D97-AF65-F5344CB8AC3E}">
        <p14:creationId xmlns:p14="http://schemas.microsoft.com/office/powerpoint/2010/main" val="1363999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4</a:t>
            </a:fld>
            <a:endParaRPr lang="en-US"/>
          </a:p>
        </p:txBody>
      </p:sp>
    </p:spTree>
    <p:extLst>
      <p:ext uri="{BB962C8B-B14F-4D97-AF65-F5344CB8AC3E}">
        <p14:creationId xmlns:p14="http://schemas.microsoft.com/office/powerpoint/2010/main" val="1924382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5</a:t>
            </a:fld>
            <a:endParaRPr lang="en-US"/>
          </a:p>
        </p:txBody>
      </p:sp>
    </p:spTree>
    <p:extLst>
      <p:ext uri="{BB962C8B-B14F-4D97-AF65-F5344CB8AC3E}">
        <p14:creationId xmlns:p14="http://schemas.microsoft.com/office/powerpoint/2010/main" val="3717762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9619000C-9E89-427D-9110-A18A87E4F7EB}" type="slidenum">
              <a:rPr lang="en-US" smtClean="0"/>
              <a:pPr/>
              <a:t>6</a:t>
            </a:fld>
            <a:endParaRPr lang="en-US"/>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p:spPr>
        <p:txBody>
          <a:bodyPr/>
          <a:lstStyle/>
          <a:p>
            <a:pPr>
              <a:buFontTx/>
              <a:buChar char="•"/>
            </a:pPr>
            <a:r>
              <a:rPr lang="en-US"/>
              <a:t>This limit corresponds to P(X_0 = j / X_0 = i) in discrete time Markov chains.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7</a:t>
            </a:fld>
            <a:endParaRPr lang="en-US"/>
          </a:p>
        </p:txBody>
      </p:sp>
    </p:spTree>
    <p:extLst>
      <p:ext uri="{BB962C8B-B14F-4D97-AF65-F5344CB8AC3E}">
        <p14:creationId xmlns:p14="http://schemas.microsoft.com/office/powerpoint/2010/main" val="3703588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8</a:t>
            </a:fld>
            <a:endParaRPr lang="en-US"/>
          </a:p>
        </p:txBody>
      </p:sp>
    </p:spTree>
    <p:extLst>
      <p:ext uri="{BB962C8B-B14F-4D97-AF65-F5344CB8AC3E}">
        <p14:creationId xmlns:p14="http://schemas.microsoft.com/office/powerpoint/2010/main" val="2309463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851D5230-59FD-4780-9933-83239F3C7A8A}" type="slidenum">
              <a:rPr lang="en-US" smtClean="0"/>
              <a:pPr/>
              <a:t>9</a:t>
            </a:fld>
            <a:endParaRPr lang="en-US"/>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a:buFontTx/>
              <a:buChar char="•"/>
            </a:pPr>
            <a:r>
              <a:rPr lang="en-US"/>
              <a:t>There is only one memoryless continuous distribution.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E8F14893-8740-432F-9D22-F19D625D1485}" type="slidenum">
              <a:rPr lang="en-US" smtClean="0"/>
              <a:pPr/>
              <a:t>10</a:t>
            </a:fld>
            <a:endParaRPr lang="en-US"/>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p:spPr>
        <p:txBody>
          <a:bodyPr/>
          <a:lstStyle/>
          <a:p>
            <a:pPr>
              <a:buFontTx/>
              <a:buChar char="•"/>
            </a:pPr>
            <a:r>
              <a:rPr lang="en-US"/>
              <a:t>If the next state visited and T_i were not independent, then we could infer information about the next state from the amount of time spent so far in state i, and this would violate the Markovian property.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11</a:t>
            </a:fld>
            <a:endParaRPr lang="en-US"/>
          </a:p>
        </p:txBody>
      </p:sp>
    </p:spTree>
    <p:extLst>
      <p:ext uri="{BB962C8B-B14F-4D97-AF65-F5344CB8AC3E}">
        <p14:creationId xmlns:p14="http://schemas.microsoft.com/office/powerpoint/2010/main" val="1401975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5C57FFD1-DE95-4AD8-90C5-B87C341F869E}" type="slidenum">
              <a:rPr lang="en-US" smtClean="0"/>
              <a:pPr/>
              <a:t>12</a:t>
            </a:fld>
            <a:endParaRPr lang="en-US"/>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pPr>
              <a:buFontTx/>
              <a:buChar char="•"/>
            </a:pPr>
            <a:r>
              <a:rPr lang="en-US"/>
              <a:t>Mention that the rate of the distribution min(</a:t>
            </a:r>
            <a:r>
              <a:rPr lang="en-US" i="1"/>
              <a:t>X</a:t>
            </a:r>
            <a:r>
              <a:rPr lang="en-US" baseline="-25000"/>
              <a:t>1</a:t>
            </a:r>
            <a:r>
              <a:rPr lang="en-US"/>
              <a:t>, </a:t>
            </a:r>
            <a:r>
              <a:rPr lang="en-US" i="1"/>
              <a:t>X</a:t>
            </a:r>
            <a:r>
              <a:rPr lang="en-US" baseline="-25000"/>
              <a:t>2</a:t>
            </a:r>
            <a:r>
              <a:rPr lang="en-US"/>
              <a:t>)  is the sum of the rates of </a:t>
            </a:r>
            <a:r>
              <a:rPr lang="en-US" i="1"/>
              <a:t>X</a:t>
            </a:r>
            <a:r>
              <a:rPr lang="en-US" baseline="-25000"/>
              <a:t>1</a:t>
            </a:r>
            <a:r>
              <a:rPr lang="en-US"/>
              <a:t> and </a:t>
            </a:r>
            <a:r>
              <a:rPr lang="en-US" i="1"/>
              <a:t>X</a:t>
            </a:r>
            <a:r>
              <a:rPr lang="en-US" baseline="-25000"/>
              <a:t>2</a:t>
            </a:r>
            <a:r>
              <a:rPr lang="en-US"/>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13</a:t>
            </a:fld>
            <a:endParaRPr lang="en-US"/>
          </a:p>
        </p:txBody>
      </p:sp>
    </p:spTree>
    <p:extLst>
      <p:ext uri="{BB962C8B-B14F-4D97-AF65-F5344CB8AC3E}">
        <p14:creationId xmlns:p14="http://schemas.microsoft.com/office/powerpoint/2010/main" val="16517500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14</a:t>
            </a:fld>
            <a:endParaRPr lang="en-US"/>
          </a:p>
        </p:txBody>
      </p:sp>
    </p:spTree>
    <p:extLst>
      <p:ext uri="{BB962C8B-B14F-4D97-AF65-F5344CB8AC3E}">
        <p14:creationId xmlns:p14="http://schemas.microsoft.com/office/powerpoint/2010/main" val="2516695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15</a:t>
            </a:fld>
            <a:endParaRPr lang="en-US"/>
          </a:p>
        </p:txBody>
      </p:sp>
    </p:spTree>
    <p:extLst>
      <p:ext uri="{BB962C8B-B14F-4D97-AF65-F5344CB8AC3E}">
        <p14:creationId xmlns:p14="http://schemas.microsoft.com/office/powerpoint/2010/main" val="34592047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16</a:t>
            </a:fld>
            <a:endParaRPr lang="en-US"/>
          </a:p>
        </p:txBody>
      </p:sp>
    </p:spTree>
    <p:extLst>
      <p:ext uri="{BB962C8B-B14F-4D97-AF65-F5344CB8AC3E}">
        <p14:creationId xmlns:p14="http://schemas.microsoft.com/office/powerpoint/2010/main" val="2802954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17</a:t>
            </a:fld>
            <a:endParaRPr lang="en-US"/>
          </a:p>
        </p:txBody>
      </p:sp>
    </p:spTree>
    <p:extLst>
      <p:ext uri="{BB962C8B-B14F-4D97-AF65-F5344CB8AC3E}">
        <p14:creationId xmlns:p14="http://schemas.microsoft.com/office/powerpoint/2010/main" val="29757210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18</a:t>
            </a:fld>
            <a:endParaRPr lang="en-US"/>
          </a:p>
        </p:txBody>
      </p:sp>
    </p:spTree>
    <p:extLst>
      <p:ext uri="{BB962C8B-B14F-4D97-AF65-F5344CB8AC3E}">
        <p14:creationId xmlns:p14="http://schemas.microsoft.com/office/powerpoint/2010/main" val="14458887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19</a:t>
            </a:fld>
            <a:endParaRPr lang="en-US"/>
          </a:p>
        </p:txBody>
      </p:sp>
    </p:spTree>
    <p:extLst>
      <p:ext uri="{BB962C8B-B14F-4D97-AF65-F5344CB8AC3E}">
        <p14:creationId xmlns:p14="http://schemas.microsoft.com/office/powerpoint/2010/main" val="36685460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20</a:t>
            </a:fld>
            <a:endParaRPr lang="en-US"/>
          </a:p>
        </p:txBody>
      </p:sp>
    </p:spTree>
    <p:extLst>
      <p:ext uri="{BB962C8B-B14F-4D97-AF65-F5344CB8AC3E}">
        <p14:creationId xmlns:p14="http://schemas.microsoft.com/office/powerpoint/2010/main" val="31833674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21</a:t>
            </a:fld>
            <a:endParaRPr lang="en-US"/>
          </a:p>
        </p:txBody>
      </p:sp>
    </p:spTree>
    <p:extLst>
      <p:ext uri="{BB962C8B-B14F-4D97-AF65-F5344CB8AC3E}">
        <p14:creationId xmlns:p14="http://schemas.microsoft.com/office/powerpoint/2010/main" val="14154645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22</a:t>
            </a:fld>
            <a:endParaRPr lang="en-US"/>
          </a:p>
        </p:txBody>
      </p:sp>
    </p:spTree>
    <p:extLst>
      <p:ext uri="{BB962C8B-B14F-4D97-AF65-F5344CB8AC3E}">
        <p14:creationId xmlns:p14="http://schemas.microsoft.com/office/powerpoint/2010/main" val="36241614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23</a:t>
            </a:fld>
            <a:endParaRPr lang="en-US"/>
          </a:p>
        </p:txBody>
      </p:sp>
    </p:spTree>
    <p:extLst>
      <p:ext uri="{BB962C8B-B14F-4D97-AF65-F5344CB8AC3E}">
        <p14:creationId xmlns:p14="http://schemas.microsoft.com/office/powerpoint/2010/main" val="21236538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24</a:t>
            </a:fld>
            <a:endParaRPr lang="en-US"/>
          </a:p>
        </p:txBody>
      </p:sp>
    </p:spTree>
    <p:extLst>
      <p:ext uri="{BB962C8B-B14F-4D97-AF65-F5344CB8AC3E}">
        <p14:creationId xmlns:p14="http://schemas.microsoft.com/office/powerpoint/2010/main" val="37396179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25</a:t>
            </a:fld>
            <a:endParaRPr lang="en-US"/>
          </a:p>
        </p:txBody>
      </p:sp>
    </p:spTree>
    <p:extLst>
      <p:ext uri="{BB962C8B-B14F-4D97-AF65-F5344CB8AC3E}">
        <p14:creationId xmlns:p14="http://schemas.microsoft.com/office/powerpoint/2010/main" val="790967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26</a:t>
            </a:fld>
            <a:endParaRPr lang="en-US"/>
          </a:p>
        </p:txBody>
      </p:sp>
    </p:spTree>
    <p:extLst>
      <p:ext uri="{BB962C8B-B14F-4D97-AF65-F5344CB8AC3E}">
        <p14:creationId xmlns:p14="http://schemas.microsoft.com/office/powerpoint/2010/main" val="17170552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27</a:t>
            </a:fld>
            <a:endParaRPr lang="en-US"/>
          </a:p>
        </p:txBody>
      </p:sp>
    </p:spTree>
    <p:extLst>
      <p:ext uri="{BB962C8B-B14F-4D97-AF65-F5344CB8AC3E}">
        <p14:creationId xmlns:p14="http://schemas.microsoft.com/office/powerpoint/2010/main" val="24393882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BAD258ED-3192-445F-B0A1-AA72EE942B29}" type="slidenum">
              <a:rPr lang="en-US" smtClean="0"/>
              <a:pPr/>
              <a:t>28</a:t>
            </a:fld>
            <a:endParaRPr lang="en-US"/>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p:spPr>
        <p:txBody>
          <a:bodyPr/>
          <a:lstStyle/>
          <a:p>
            <a:pPr eaLnBrk="1" hangingPunct="1">
              <a:buFontTx/>
              <a:buChar char="•"/>
            </a:pPr>
            <a:r>
              <a:rPr lang="en-US"/>
              <a:t>The utilization factor represents the expected proportion of time an individual server is busy. For this statement to hold, an idle server must be chosen randomly for a customer entering service.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p>
            <a:fld id="{6A151F3F-5291-4A41-8FFB-0F93D71D5998}" type="slidenum">
              <a:rPr lang="en-US" smtClean="0"/>
              <a:pPr/>
              <a:t>29</a:t>
            </a:fld>
            <a:endParaRPr lang="en-US"/>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p:spPr>
        <p:txBody>
          <a:bodyPr/>
          <a:lstStyle/>
          <a:p>
            <a:pPr eaLnBrk="1" hangingPunct="1">
              <a:buFontTx/>
              <a:buChar char="•"/>
            </a:pPr>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30</a:t>
            </a:fld>
            <a:endParaRPr lang="en-US"/>
          </a:p>
        </p:txBody>
      </p:sp>
    </p:spTree>
    <p:extLst>
      <p:ext uri="{BB962C8B-B14F-4D97-AF65-F5344CB8AC3E}">
        <p14:creationId xmlns:p14="http://schemas.microsoft.com/office/powerpoint/2010/main" val="690039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31</a:t>
            </a:fld>
            <a:endParaRPr lang="en-US"/>
          </a:p>
        </p:txBody>
      </p:sp>
    </p:spTree>
    <p:extLst>
      <p:ext uri="{BB962C8B-B14F-4D97-AF65-F5344CB8AC3E}">
        <p14:creationId xmlns:p14="http://schemas.microsoft.com/office/powerpoint/2010/main" val="42724858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32</a:t>
            </a:fld>
            <a:endParaRPr lang="en-US"/>
          </a:p>
        </p:txBody>
      </p:sp>
    </p:spTree>
    <p:extLst>
      <p:ext uri="{BB962C8B-B14F-4D97-AF65-F5344CB8AC3E}">
        <p14:creationId xmlns:p14="http://schemas.microsoft.com/office/powerpoint/2010/main" val="16291892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33</a:t>
            </a:fld>
            <a:endParaRPr lang="en-US"/>
          </a:p>
        </p:txBody>
      </p:sp>
    </p:spTree>
    <p:extLst>
      <p:ext uri="{BB962C8B-B14F-4D97-AF65-F5344CB8AC3E}">
        <p14:creationId xmlns:p14="http://schemas.microsoft.com/office/powerpoint/2010/main" val="16433228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34</a:t>
            </a:fld>
            <a:endParaRPr lang="en-US"/>
          </a:p>
        </p:txBody>
      </p:sp>
    </p:spTree>
    <p:extLst>
      <p:ext uri="{BB962C8B-B14F-4D97-AF65-F5344CB8AC3E}">
        <p14:creationId xmlns:p14="http://schemas.microsoft.com/office/powerpoint/2010/main" val="14066405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35</a:t>
            </a:fld>
            <a:endParaRPr lang="en-US"/>
          </a:p>
        </p:txBody>
      </p:sp>
    </p:spTree>
    <p:extLst>
      <p:ext uri="{BB962C8B-B14F-4D97-AF65-F5344CB8AC3E}">
        <p14:creationId xmlns:p14="http://schemas.microsoft.com/office/powerpoint/2010/main" val="1535539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36</a:t>
            </a:fld>
            <a:endParaRPr lang="en-US"/>
          </a:p>
        </p:txBody>
      </p:sp>
    </p:spTree>
    <p:extLst>
      <p:ext uri="{BB962C8B-B14F-4D97-AF65-F5344CB8AC3E}">
        <p14:creationId xmlns:p14="http://schemas.microsoft.com/office/powerpoint/2010/main" val="38766190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37</a:t>
            </a:fld>
            <a:endParaRPr lang="en-US"/>
          </a:p>
        </p:txBody>
      </p:sp>
    </p:spTree>
    <p:extLst>
      <p:ext uri="{BB962C8B-B14F-4D97-AF65-F5344CB8AC3E}">
        <p14:creationId xmlns:p14="http://schemas.microsoft.com/office/powerpoint/2010/main" val="11834997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AA0421-1CE9-4789-AC5B-7F6669F84777}" type="slidenum">
              <a:rPr lang="en-US" smtClean="0"/>
              <a:pPr>
                <a:defRPr/>
              </a:pPr>
              <a:t>38</a:t>
            </a:fld>
            <a:endParaRPr lang="en-US"/>
          </a:p>
        </p:txBody>
      </p:sp>
    </p:spTree>
    <p:extLst>
      <p:ext uri="{BB962C8B-B14F-4D97-AF65-F5344CB8AC3E}">
        <p14:creationId xmlns:p14="http://schemas.microsoft.com/office/powerpoint/2010/main" val="4114217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EE6C11E-890A-414A-A9C5-DBD4994CF314}"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B6AAEF4-2D69-49BC-99EA-7F41508374F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421A966-C867-43B4-B086-595742664EA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A7560D0-1612-4985-AC65-6F1BE1BC9B77}"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3D5288E-6D51-4C5D-AB0D-276A863AB4D1}"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1191190A-3BFE-4E89-AB18-9C9B516E3B51}"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570FE7B2-2C19-4394-A05D-04DAFC8CEE91}"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C9964D6-CFB2-4333-8B93-6D764EF25A9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DE0E48B-6AB2-4E76-A0DB-577CF449CFD2}"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0F22A82-099D-4A90-9F43-24B0ADC3C91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CDC3AE1-12B7-4DB1-B1B6-2307D32649FB}"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2B9278F-F721-4771-86F2-646247548B8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aseline="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aseline="0"/>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aseline="0"/>
            </a:lvl1pPr>
          </a:lstStyle>
          <a:p>
            <a:pPr>
              <a:defRPr/>
            </a:pPr>
            <a:fld id="{F5E771D7-D84D-4EA3-9618-371DEEBA6AF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19.png"/><Relationship Id="rId5" Type="http://schemas.openxmlformats.org/officeDocument/2006/relationships/image" Target="../media/image2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24.pn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23.png"/><Relationship Id="rId2" Type="http://schemas.openxmlformats.org/officeDocument/2006/relationships/tags" Target="../tags/tag20.xml"/><Relationship Id="rId16" Type="http://schemas.openxmlformats.org/officeDocument/2006/relationships/image" Target="../media/image27.pn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22.png"/><Relationship Id="rId5" Type="http://schemas.openxmlformats.org/officeDocument/2006/relationships/tags" Target="../tags/tag23.xml"/><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tags" Target="../tags/tag22.xml"/><Relationship Id="rId9" Type="http://schemas.openxmlformats.org/officeDocument/2006/relationships/notesSlide" Target="../notesSlides/notesSlide27.xml"/><Relationship Id="rId1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28.xml"/><Relationship Id="rId7" Type="http://schemas.openxmlformats.org/officeDocument/2006/relationships/image" Target="../media/image24.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notesSlide" Target="../notesSlides/notesSlide29.xml"/><Relationship Id="rId5" Type="http://schemas.openxmlformats.org/officeDocument/2006/relationships/slideLayout" Target="../slideLayouts/slideLayout2.xml"/><Relationship Id="rId10" Type="http://schemas.openxmlformats.org/officeDocument/2006/relationships/image" Target="../media/image28.png"/><Relationship Id="rId4" Type="http://schemas.openxmlformats.org/officeDocument/2006/relationships/tags" Target="../tags/tag29.xml"/><Relationship Id="rId9"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30.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35.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tags" Target="../tags/tag38.xml"/><Relationship Id="rId7" Type="http://schemas.openxmlformats.org/officeDocument/2006/relationships/image" Target="../media/image35.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notesSlide" Target="../notesSlides/notesSlide38.xml"/><Relationship Id="rId5" Type="http://schemas.openxmlformats.org/officeDocument/2006/relationships/slideLayout" Target="../slideLayouts/slideLayout2.xml"/><Relationship Id="rId10" Type="http://schemas.openxmlformats.org/officeDocument/2006/relationships/image" Target="../media/image38.png"/><Relationship Id="rId4" Type="http://schemas.openxmlformats.org/officeDocument/2006/relationships/tags" Target="../tags/tag39.xml"/><Relationship Id="rId9"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eaLnBrk="1" hangingPunct="1">
              <a:defRPr/>
            </a:pPr>
            <a:r>
              <a:rPr lang="en-US" dirty="0"/>
              <a:t>DA 507</a:t>
            </a:r>
            <a:br>
              <a:rPr lang="en-US" dirty="0"/>
            </a:br>
            <a:r>
              <a:rPr lang="en-US" dirty="0"/>
              <a:t>modeling and optimization</a:t>
            </a:r>
            <a:br>
              <a:rPr lang="en-US" dirty="0"/>
            </a:br>
            <a:endParaRPr lang="en-US" dirty="0"/>
          </a:p>
        </p:txBody>
      </p:sp>
      <p:sp>
        <p:nvSpPr>
          <p:cNvPr id="3" name="Subtitle 2"/>
          <p:cNvSpPr>
            <a:spLocks noGrp="1"/>
          </p:cNvSpPr>
          <p:nvPr>
            <p:ph type="subTitle" idx="1"/>
          </p:nvPr>
        </p:nvSpPr>
        <p:spPr>
          <a:xfrm>
            <a:off x="1371600" y="3886200"/>
            <a:ext cx="6400800" cy="2362200"/>
          </a:xfrm>
        </p:spPr>
        <p:txBody>
          <a:bodyPr>
            <a:normAutofit/>
          </a:bodyPr>
          <a:lstStyle/>
          <a:p>
            <a:pPr eaLnBrk="1" hangingPunct="1">
              <a:defRPr/>
            </a:pPr>
            <a:r>
              <a:rPr lang="en-US" dirty="0"/>
              <a:t>Week 6</a:t>
            </a:r>
          </a:p>
          <a:p>
            <a:pPr eaLnBrk="1" hangingPunct="1">
              <a:defRPr/>
            </a:pPr>
            <a:r>
              <a:rPr lang="en-US" sz="2400" dirty="0"/>
              <a:t>Stochastic Processes</a:t>
            </a:r>
          </a:p>
          <a:p>
            <a:pPr eaLnBrk="1" hangingPunct="1">
              <a:defRPr/>
            </a:pPr>
            <a:r>
              <a:rPr lang="en-US" sz="2400" dirty="0"/>
              <a:t>Continuous Time Markov Chains</a:t>
            </a:r>
          </a:p>
          <a:p>
            <a:pPr eaLnBrk="1" hangingPunct="1">
              <a:defRPr/>
            </a:pPr>
            <a:r>
              <a:rPr lang="en-US" sz="2400" dirty="0" err="1"/>
              <a:t>Kerem</a:t>
            </a:r>
            <a:r>
              <a:rPr lang="en-US" sz="2400" dirty="0"/>
              <a:t> </a:t>
            </a:r>
            <a:r>
              <a:rPr lang="en-US" sz="2400" dirty="0" err="1"/>
              <a:t>Bülbül</a:t>
            </a:r>
            <a:r>
              <a:rPr lang="en-US" sz="2400" dirty="0"/>
              <a:t> &amp; </a:t>
            </a:r>
            <a:r>
              <a:rPr lang="en-US" sz="2400" dirty="0" err="1"/>
              <a:t>Güvenç</a:t>
            </a:r>
            <a:r>
              <a:rPr lang="en-US" sz="2400" dirty="0"/>
              <a:t> </a:t>
            </a:r>
            <a:r>
              <a:rPr lang="en-US" sz="2400" dirty="0" err="1"/>
              <a:t>Şahin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5"/>
          <p:cNvSpPr>
            <a:spLocks noGrp="1"/>
          </p:cNvSpPr>
          <p:nvPr>
            <p:ph type="sldNum" sz="quarter" idx="12"/>
          </p:nvPr>
        </p:nvSpPr>
        <p:spPr>
          <a:noFill/>
        </p:spPr>
        <p:txBody>
          <a:bodyPr/>
          <a:lstStyle/>
          <a:p>
            <a:fld id="{EFFDBF87-4189-4E87-89DD-2F6665E70464}" type="slidenum">
              <a:rPr lang="en-US" smtClean="0"/>
              <a:pPr/>
              <a:t>2</a:t>
            </a:fld>
            <a:endParaRPr lang="en-US"/>
          </a:p>
        </p:txBody>
      </p:sp>
      <p:sp>
        <p:nvSpPr>
          <p:cNvPr id="76803" name="Rectangle 2"/>
          <p:cNvSpPr>
            <a:spLocks noGrp="1" noChangeArrowheads="1"/>
          </p:cNvSpPr>
          <p:nvPr>
            <p:ph type="title"/>
          </p:nvPr>
        </p:nvSpPr>
        <p:spPr/>
        <p:txBody>
          <a:bodyPr/>
          <a:lstStyle/>
          <a:p>
            <a:r>
              <a:rPr lang="en-US" sz="4000"/>
              <a:t>Continuous Time Stochastic Processes</a:t>
            </a:r>
          </a:p>
        </p:txBody>
      </p:sp>
      <p:sp>
        <p:nvSpPr>
          <p:cNvPr id="236547" name="Rectangle 3"/>
          <p:cNvSpPr>
            <a:spLocks noGrp="1" noChangeArrowheads="1"/>
          </p:cNvSpPr>
          <p:nvPr>
            <p:ph type="body" idx="1"/>
          </p:nvPr>
        </p:nvSpPr>
        <p:spPr>
          <a:xfrm>
            <a:off x="457200" y="1447800"/>
            <a:ext cx="8229600" cy="5257800"/>
          </a:xfrm>
        </p:spPr>
        <p:txBody>
          <a:bodyPr/>
          <a:lstStyle/>
          <a:p>
            <a:r>
              <a:rPr lang="en-US" dirty="0"/>
              <a:t>In previous models, time was discrete, i.e., </a:t>
            </a:r>
            <a:r>
              <a:rPr lang="en-US" i="1" dirty="0"/>
              <a:t>t</a:t>
            </a:r>
            <a:r>
              <a:rPr lang="en-US" dirty="0"/>
              <a:t> = 0, 1, …</a:t>
            </a:r>
          </a:p>
          <a:p>
            <a:r>
              <a:rPr lang="en-US" dirty="0"/>
              <a:t>However, in many stochastic processes the system is observed continuously over time, i.e., </a:t>
            </a:r>
            <a:r>
              <a:rPr lang="en-US" i="1" dirty="0"/>
              <a:t>t</a:t>
            </a:r>
            <a:r>
              <a:rPr lang="en-US" dirty="0"/>
              <a:t> </a:t>
            </a:r>
            <a:r>
              <a:rPr lang="tr-TR" dirty="0"/>
              <a:t>≥</a:t>
            </a:r>
            <a:r>
              <a:rPr lang="en-US" dirty="0"/>
              <a:t> 0.</a:t>
            </a:r>
          </a:p>
          <a:p>
            <a:r>
              <a:rPr lang="en-US" dirty="0"/>
              <a:t>Now, we will discuss properties of continuous stochastic processes with the </a:t>
            </a:r>
            <a:r>
              <a:rPr lang="en-US" dirty="0" err="1"/>
              <a:t>Markovian</a:t>
            </a:r>
            <a:r>
              <a:rPr lang="en-US" dirty="0"/>
              <a:t> property.</a:t>
            </a:r>
          </a:p>
          <a:p>
            <a:r>
              <a:rPr lang="en-US" dirty="0"/>
              <a:t>Continuous time Markov chains also provide a link to the </a:t>
            </a:r>
            <a:r>
              <a:rPr lang="en-US" dirty="0" err="1"/>
              <a:t>queueing</a:t>
            </a:r>
            <a:r>
              <a:rPr lang="en-US" dirty="0"/>
              <a:t> theory.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65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65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65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65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7"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5"/>
          <p:cNvSpPr>
            <a:spLocks noGrp="1"/>
          </p:cNvSpPr>
          <p:nvPr>
            <p:ph type="sldNum" sz="quarter" idx="12"/>
          </p:nvPr>
        </p:nvSpPr>
        <p:spPr>
          <a:noFill/>
        </p:spPr>
        <p:txBody>
          <a:bodyPr/>
          <a:lstStyle/>
          <a:p>
            <a:fld id="{D9D5390E-188A-4CE7-A98A-55328FA7C187}" type="slidenum">
              <a:rPr lang="en-US" smtClean="0"/>
              <a:pPr/>
              <a:t>3</a:t>
            </a:fld>
            <a:endParaRPr lang="en-US"/>
          </a:p>
        </p:txBody>
      </p:sp>
      <p:sp>
        <p:nvSpPr>
          <p:cNvPr id="77827" name="Rectangle 2"/>
          <p:cNvSpPr>
            <a:spLocks noGrp="1" noChangeArrowheads="1"/>
          </p:cNvSpPr>
          <p:nvPr>
            <p:ph type="title"/>
          </p:nvPr>
        </p:nvSpPr>
        <p:spPr/>
        <p:txBody>
          <a:bodyPr/>
          <a:lstStyle/>
          <a:p>
            <a:r>
              <a:rPr lang="en-US" sz="4000"/>
              <a:t>Continuous Time Stochastic Processes</a:t>
            </a:r>
          </a:p>
        </p:txBody>
      </p:sp>
      <p:sp>
        <p:nvSpPr>
          <p:cNvPr id="237571" name="Rectangle 3"/>
          <p:cNvSpPr>
            <a:spLocks noGrp="1" noChangeArrowheads="1"/>
          </p:cNvSpPr>
          <p:nvPr>
            <p:ph type="body" idx="1"/>
          </p:nvPr>
        </p:nvSpPr>
        <p:spPr>
          <a:xfrm>
            <a:off x="457200" y="1676400"/>
            <a:ext cx="8229600" cy="5029200"/>
          </a:xfrm>
        </p:spPr>
        <p:txBody>
          <a:bodyPr/>
          <a:lstStyle/>
          <a:p>
            <a:r>
              <a:rPr lang="en-US" dirty="0"/>
              <a:t>Let </a:t>
            </a:r>
            <a:r>
              <a:rPr lang="en-US" i="1" dirty="0"/>
              <a:t>X</a:t>
            </a:r>
            <a:r>
              <a:rPr lang="en-US" dirty="0"/>
              <a:t>(</a:t>
            </a:r>
            <a:r>
              <a:rPr lang="en-US" i="1" dirty="0"/>
              <a:t>t</a:t>
            </a:r>
            <a:r>
              <a:rPr lang="en-US" dirty="0"/>
              <a:t>) be the state of the continuous stochastic process {</a:t>
            </a:r>
            <a:r>
              <a:rPr lang="en-US" i="1" dirty="0"/>
              <a:t>X</a:t>
            </a:r>
            <a:r>
              <a:rPr lang="en-US" dirty="0"/>
              <a:t>(</a:t>
            </a:r>
            <a:r>
              <a:rPr lang="en-US" i="1" dirty="0"/>
              <a:t>t</a:t>
            </a:r>
            <a:r>
              <a:rPr lang="en-US" dirty="0"/>
              <a:t>), </a:t>
            </a:r>
            <a:r>
              <a:rPr lang="en-US" i="1" dirty="0"/>
              <a:t>t</a:t>
            </a:r>
            <a:r>
              <a:rPr lang="en-US" dirty="0"/>
              <a:t> </a:t>
            </a:r>
            <a:r>
              <a:rPr lang="tr-TR" dirty="0"/>
              <a:t>≥</a:t>
            </a:r>
            <a:r>
              <a:rPr lang="en-US" dirty="0"/>
              <a:t> 0} at time </a:t>
            </a:r>
            <a:r>
              <a:rPr lang="en-US" i="1" dirty="0"/>
              <a:t>t</a:t>
            </a:r>
            <a:r>
              <a:rPr lang="en-US" dirty="0"/>
              <a:t>.</a:t>
            </a:r>
          </a:p>
          <a:p>
            <a:r>
              <a:rPr lang="en-US" i="1" dirty="0"/>
              <a:t>X</a:t>
            </a:r>
            <a:r>
              <a:rPr lang="en-US" dirty="0"/>
              <a:t>(</a:t>
            </a:r>
            <a:r>
              <a:rPr lang="en-US" i="1" dirty="0"/>
              <a:t>t</a:t>
            </a:r>
            <a:r>
              <a:rPr lang="en-US" dirty="0"/>
              <a:t>) takes one of its possible values over some interval 0 </a:t>
            </a:r>
            <a:r>
              <a:rPr lang="en-US" dirty="0">
                <a:latin typeface="cmsy10" pitchFamily="34" charset="0"/>
                <a:cs typeface="Arial"/>
              </a:rPr>
              <a:t>≤</a:t>
            </a:r>
            <a:r>
              <a:rPr lang="en-US" dirty="0"/>
              <a:t> </a:t>
            </a:r>
            <a:r>
              <a:rPr lang="en-US" i="1" dirty="0"/>
              <a:t>t</a:t>
            </a:r>
            <a:r>
              <a:rPr lang="en-US" dirty="0"/>
              <a:t> &lt; </a:t>
            </a:r>
            <a:r>
              <a:rPr lang="en-US" i="1" dirty="0"/>
              <a:t>t</a:t>
            </a:r>
            <a:r>
              <a:rPr lang="en-US" baseline="-25000" dirty="0"/>
              <a:t>1</a:t>
            </a:r>
            <a:r>
              <a:rPr lang="en-US" dirty="0"/>
              <a:t>, then will jump to another value over the interval </a:t>
            </a:r>
            <a:r>
              <a:rPr lang="en-US" i="1" dirty="0"/>
              <a:t>t</a:t>
            </a:r>
            <a:r>
              <a:rPr lang="en-US" baseline="-25000" dirty="0"/>
              <a:t>1</a:t>
            </a:r>
            <a:r>
              <a:rPr lang="en-US" dirty="0"/>
              <a:t> </a:t>
            </a:r>
            <a:r>
              <a:rPr lang="en-US" dirty="0">
                <a:latin typeface="cmsy10" pitchFamily="34" charset="0"/>
              </a:rPr>
              <a:t>≤</a:t>
            </a:r>
            <a:r>
              <a:rPr lang="en-US" dirty="0"/>
              <a:t> </a:t>
            </a:r>
            <a:r>
              <a:rPr lang="en-US" i="1" dirty="0"/>
              <a:t>t</a:t>
            </a:r>
            <a:r>
              <a:rPr lang="en-US" dirty="0"/>
              <a:t> &lt; </a:t>
            </a:r>
            <a:r>
              <a:rPr lang="en-US" i="1" dirty="0"/>
              <a:t>t</a:t>
            </a:r>
            <a:r>
              <a:rPr lang="en-US" baseline="-25000" dirty="0"/>
              <a:t>2</a:t>
            </a:r>
            <a:r>
              <a:rPr lang="en-US" dirty="0"/>
              <a:t>, etc.</a:t>
            </a:r>
          </a:p>
          <a:p>
            <a:r>
              <a:rPr lang="en-US" dirty="0"/>
              <a:t>These points in time </a:t>
            </a:r>
            <a:r>
              <a:rPr lang="en-US" i="1" dirty="0"/>
              <a:t>t</a:t>
            </a:r>
            <a:r>
              <a:rPr lang="en-US" baseline="-25000" dirty="0"/>
              <a:t>1</a:t>
            </a:r>
            <a:r>
              <a:rPr lang="en-US" dirty="0"/>
              <a:t>, </a:t>
            </a:r>
            <a:r>
              <a:rPr lang="en-US" i="1" dirty="0"/>
              <a:t>t</a:t>
            </a:r>
            <a:r>
              <a:rPr lang="en-US" baseline="-25000" dirty="0"/>
              <a:t>2</a:t>
            </a:r>
            <a:r>
              <a:rPr lang="en-US" dirty="0"/>
              <a:t>, … are random variables, and they are not necessarily integers.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75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75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75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Number Placeholder 5"/>
          <p:cNvSpPr>
            <a:spLocks noGrp="1"/>
          </p:cNvSpPr>
          <p:nvPr>
            <p:ph type="sldNum" sz="quarter" idx="12"/>
          </p:nvPr>
        </p:nvSpPr>
        <p:spPr>
          <a:noFill/>
        </p:spPr>
        <p:txBody>
          <a:bodyPr/>
          <a:lstStyle/>
          <a:p>
            <a:fld id="{2CE6F174-90F7-496E-818B-DFDE482C1DB3}" type="slidenum">
              <a:rPr lang="en-US" smtClean="0"/>
              <a:pPr/>
              <a:t>4</a:t>
            </a:fld>
            <a:endParaRPr lang="en-US"/>
          </a:p>
        </p:txBody>
      </p:sp>
      <p:sp>
        <p:nvSpPr>
          <p:cNvPr id="78851" name="Rectangle 2"/>
          <p:cNvSpPr>
            <a:spLocks noGrp="1" noChangeArrowheads="1"/>
          </p:cNvSpPr>
          <p:nvPr>
            <p:ph type="title"/>
          </p:nvPr>
        </p:nvSpPr>
        <p:spPr>
          <a:xfrm>
            <a:off x="304800" y="274638"/>
            <a:ext cx="8839200" cy="1143000"/>
          </a:xfrm>
        </p:spPr>
        <p:txBody>
          <a:bodyPr/>
          <a:lstStyle/>
          <a:p>
            <a:r>
              <a:rPr lang="en-US" sz="3600"/>
              <a:t>Markovian Property for </a:t>
            </a:r>
            <a:br>
              <a:rPr lang="en-US" sz="3600"/>
            </a:br>
            <a:r>
              <a:rPr lang="en-US" sz="3600"/>
              <a:t>Continuous Time Stochastic Processes</a:t>
            </a:r>
          </a:p>
        </p:txBody>
      </p:sp>
      <p:sp>
        <p:nvSpPr>
          <p:cNvPr id="78852" name="Rectangle 3"/>
          <p:cNvSpPr>
            <a:spLocks noGrp="1" noChangeArrowheads="1"/>
          </p:cNvSpPr>
          <p:nvPr>
            <p:ph type="body" idx="1"/>
          </p:nvPr>
        </p:nvSpPr>
        <p:spPr>
          <a:xfrm>
            <a:off x="457200" y="1600200"/>
            <a:ext cx="8458200" cy="2057400"/>
          </a:xfrm>
        </p:spPr>
        <p:txBody>
          <a:bodyPr/>
          <a:lstStyle/>
          <a:p>
            <a:r>
              <a:rPr lang="en-US" dirty="0"/>
              <a:t>A continuous time stochastic process </a:t>
            </a:r>
            <a:r>
              <a:rPr lang="tr-TR" dirty="0"/>
              <a:t>   </a:t>
            </a:r>
            <a:r>
              <a:rPr lang="en-US" dirty="0"/>
              <a:t>{</a:t>
            </a:r>
            <a:r>
              <a:rPr lang="en-US" i="1" dirty="0"/>
              <a:t>X</a:t>
            </a:r>
            <a:r>
              <a:rPr lang="en-US" dirty="0"/>
              <a:t>(</a:t>
            </a:r>
            <a:r>
              <a:rPr lang="en-US" i="1" dirty="0"/>
              <a:t>t</a:t>
            </a:r>
            <a:r>
              <a:rPr lang="en-US" dirty="0"/>
              <a:t>), </a:t>
            </a:r>
            <a:r>
              <a:rPr lang="en-US" i="1" dirty="0"/>
              <a:t>t</a:t>
            </a:r>
            <a:r>
              <a:rPr lang="tr-TR" i="1" dirty="0"/>
              <a:t> </a:t>
            </a:r>
            <a:r>
              <a:rPr lang="en-US" dirty="0">
                <a:latin typeface="cmsy10" pitchFamily="34" charset="0"/>
                <a:cs typeface="Arial"/>
              </a:rPr>
              <a:t>≥</a:t>
            </a:r>
            <a:r>
              <a:rPr lang="en-US" dirty="0"/>
              <a:t> 0} is said to have the </a:t>
            </a:r>
            <a:r>
              <a:rPr lang="en-US" dirty="0" err="1"/>
              <a:t>Markovian</a:t>
            </a:r>
            <a:r>
              <a:rPr lang="en-US" dirty="0"/>
              <a:t> property if for all </a:t>
            </a:r>
            <a:r>
              <a:rPr lang="en-US" i="1" dirty="0"/>
              <a:t>s</a:t>
            </a:r>
            <a:r>
              <a:rPr lang="en-US" dirty="0"/>
              <a:t>, </a:t>
            </a:r>
            <a:r>
              <a:rPr lang="en-US" i="1" dirty="0"/>
              <a:t>t</a:t>
            </a:r>
            <a:r>
              <a:rPr lang="en-US" dirty="0"/>
              <a:t> </a:t>
            </a:r>
            <a:r>
              <a:rPr lang="en-US" dirty="0">
                <a:latin typeface="cmsy10" pitchFamily="34" charset="0"/>
              </a:rPr>
              <a:t>≥</a:t>
            </a:r>
            <a:r>
              <a:rPr lang="en-US" dirty="0"/>
              <a:t> 0, </a:t>
            </a:r>
            <a:r>
              <a:rPr lang="en-US" i="1" dirty="0"/>
              <a:t>x</a:t>
            </a:r>
            <a:r>
              <a:rPr lang="en-US" dirty="0"/>
              <a:t>(</a:t>
            </a:r>
            <a:r>
              <a:rPr lang="en-US" i="1" dirty="0"/>
              <a:t>r</a:t>
            </a:r>
            <a:r>
              <a:rPr lang="en-US" dirty="0"/>
              <a:t>), 0</a:t>
            </a:r>
            <a:r>
              <a:rPr lang="en-US" dirty="0">
                <a:latin typeface="cmsy10" pitchFamily="34" charset="0"/>
              </a:rPr>
              <a:t> ≤</a:t>
            </a:r>
            <a:r>
              <a:rPr lang="en-US" dirty="0"/>
              <a:t> </a:t>
            </a:r>
            <a:r>
              <a:rPr lang="en-US" i="1" dirty="0"/>
              <a:t>r</a:t>
            </a:r>
            <a:r>
              <a:rPr lang="en-US" dirty="0"/>
              <a:t> &lt; </a:t>
            </a:r>
            <a:r>
              <a:rPr lang="en-US" i="1" dirty="0"/>
              <a:t>s</a:t>
            </a:r>
            <a:r>
              <a:rPr lang="en-US" dirty="0"/>
              <a:t>, and for all states </a:t>
            </a:r>
            <a:r>
              <a:rPr lang="en-US" i="1" dirty="0" err="1"/>
              <a:t>i</a:t>
            </a:r>
            <a:r>
              <a:rPr lang="en-US" dirty="0"/>
              <a:t>, </a:t>
            </a:r>
            <a:r>
              <a:rPr lang="en-US" i="1" dirty="0"/>
              <a:t>j</a:t>
            </a:r>
            <a:r>
              <a:rPr lang="en-US" dirty="0"/>
              <a:t>, we have</a:t>
            </a:r>
          </a:p>
        </p:txBody>
      </p:sp>
      <p:grpSp>
        <p:nvGrpSpPr>
          <p:cNvPr id="78853" name="Group 19"/>
          <p:cNvGrpSpPr>
            <a:grpSpLocks/>
          </p:cNvGrpSpPr>
          <p:nvPr/>
        </p:nvGrpSpPr>
        <p:grpSpPr bwMode="auto">
          <a:xfrm>
            <a:off x="762000" y="4648200"/>
            <a:ext cx="5791200" cy="533400"/>
            <a:chOff x="480" y="2592"/>
            <a:chExt cx="3648" cy="336"/>
          </a:xfrm>
        </p:grpSpPr>
        <p:sp>
          <p:nvSpPr>
            <p:cNvPr id="78862" name="Line 9"/>
            <p:cNvSpPr>
              <a:spLocks noChangeShapeType="1"/>
            </p:cNvSpPr>
            <p:nvPr/>
          </p:nvSpPr>
          <p:spPr bwMode="auto">
            <a:xfrm>
              <a:off x="576" y="2640"/>
              <a:ext cx="3552" cy="0"/>
            </a:xfrm>
            <a:prstGeom prst="line">
              <a:avLst/>
            </a:prstGeom>
            <a:noFill/>
            <a:ln w="9525">
              <a:solidFill>
                <a:schemeClr val="tx1"/>
              </a:solidFill>
              <a:round/>
              <a:headEnd/>
              <a:tailEnd type="triangle" w="med" len="med"/>
            </a:ln>
          </p:spPr>
          <p:txBody>
            <a:bodyPr/>
            <a:lstStyle/>
            <a:p>
              <a:endParaRPr lang="en-US"/>
            </a:p>
          </p:txBody>
        </p:sp>
        <p:sp>
          <p:nvSpPr>
            <p:cNvPr id="78863" name="Text Box 10"/>
            <p:cNvSpPr txBox="1">
              <a:spLocks noChangeArrowheads="1"/>
            </p:cNvSpPr>
            <p:nvPr/>
          </p:nvSpPr>
          <p:spPr bwMode="auto">
            <a:xfrm>
              <a:off x="480" y="2640"/>
              <a:ext cx="240" cy="288"/>
            </a:xfrm>
            <a:prstGeom prst="rect">
              <a:avLst/>
            </a:prstGeom>
            <a:noFill/>
            <a:ln w="9525">
              <a:noFill/>
              <a:miter lim="800000"/>
              <a:headEnd/>
              <a:tailEnd/>
            </a:ln>
          </p:spPr>
          <p:txBody>
            <a:bodyPr>
              <a:spAutoFit/>
            </a:bodyPr>
            <a:lstStyle/>
            <a:p>
              <a:pPr>
                <a:spcBef>
                  <a:spcPct val="50000"/>
                </a:spcBef>
              </a:pPr>
              <a:r>
                <a:rPr lang="en-US" sz="2400" baseline="0"/>
                <a:t>0</a:t>
              </a:r>
            </a:p>
          </p:txBody>
        </p:sp>
        <p:sp>
          <p:nvSpPr>
            <p:cNvPr id="78864" name="Text Box 11"/>
            <p:cNvSpPr txBox="1">
              <a:spLocks noChangeArrowheads="1"/>
            </p:cNvSpPr>
            <p:nvPr/>
          </p:nvSpPr>
          <p:spPr bwMode="auto">
            <a:xfrm>
              <a:off x="1344" y="2640"/>
              <a:ext cx="240" cy="288"/>
            </a:xfrm>
            <a:prstGeom prst="rect">
              <a:avLst/>
            </a:prstGeom>
            <a:noFill/>
            <a:ln w="9525">
              <a:noFill/>
              <a:miter lim="800000"/>
              <a:headEnd/>
              <a:tailEnd/>
            </a:ln>
          </p:spPr>
          <p:txBody>
            <a:bodyPr>
              <a:spAutoFit/>
            </a:bodyPr>
            <a:lstStyle/>
            <a:p>
              <a:pPr>
                <a:spcBef>
                  <a:spcPct val="50000"/>
                </a:spcBef>
              </a:pPr>
              <a:r>
                <a:rPr lang="en-US" sz="2400" i="1" baseline="0"/>
                <a:t>r</a:t>
              </a:r>
            </a:p>
          </p:txBody>
        </p:sp>
        <p:sp>
          <p:nvSpPr>
            <p:cNvPr id="78865" name="Line 12"/>
            <p:cNvSpPr>
              <a:spLocks noChangeShapeType="1"/>
            </p:cNvSpPr>
            <p:nvPr/>
          </p:nvSpPr>
          <p:spPr bwMode="auto">
            <a:xfrm>
              <a:off x="2352" y="2592"/>
              <a:ext cx="0" cy="96"/>
            </a:xfrm>
            <a:prstGeom prst="line">
              <a:avLst/>
            </a:prstGeom>
            <a:noFill/>
            <a:ln w="9525">
              <a:solidFill>
                <a:schemeClr val="tx1"/>
              </a:solidFill>
              <a:round/>
              <a:headEnd/>
              <a:tailEnd/>
            </a:ln>
          </p:spPr>
          <p:txBody>
            <a:bodyPr/>
            <a:lstStyle/>
            <a:p>
              <a:endParaRPr lang="en-US"/>
            </a:p>
          </p:txBody>
        </p:sp>
        <p:sp>
          <p:nvSpPr>
            <p:cNvPr id="78866" name="Line 13"/>
            <p:cNvSpPr>
              <a:spLocks noChangeShapeType="1"/>
            </p:cNvSpPr>
            <p:nvPr/>
          </p:nvSpPr>
          <p:spPr bwMode="auto">
            <a:xfrm>
              <a:off x="1440" y="2592"/>
              <a:ext cx="0" cy="96"/>
            </a:xfrm>
            <a:prstGeom prst="line">
              <a:avLst/>
            </a:prstGeom>
            <a:noFill/>
            <a:ln w="9525">
              <a:solidFill>
                <a:schemeClr val="tx1"/>
              </a:solidFill>
              <a:round/>
              <a:headEnd/>
              <a:tailEnd/>
            </a:ln>
          </p:spPr>
          <p:txBody>
            <a:bodyPr/>
            <a:lstStyle/>
            <a:p>
              <a:endParaRPr lang="en-US"/>
            </a:p>
          </p:txBody>
        </p:sp>
        <p:sp>
          <p:nvSpPr>
            <p:cNvPr id="78867" name="Line 14"/>
            <p:cNvSpPr>
              <a:spLocks noChangeShapeType="1"/>
            </p:cNvSpPr>
            <p:nvPr/>
          </p:nvSpPr>
          <p:spPr bwMode="auto">
            <a:xfrm>
              <a:off x="576" y="2592"/>
              <a:ext cx="0" cy="96"/>
            </a:xfrm>
            <a:prstGeom prst="line">
              <a:avLst/>
            </a:prstGeom>
            <a:noFill/>
            <a:ln w="9525">
              <a:solidFill>
                <a:schemeClr val="tx1"/>
              </a:solidFill>
              <a:round/>
              <a:headEnd/>
              <a:tailEnd/>
            </a:ln>
          </p:spPr>
          <p:txBody>
            <a:bodyPr/>
            <a:lstStyle/>
            <a:p>
              <a:endParaRPr lang="en-US"/>
            </a:p>
          </p:txBody>
        </p:sp>
        <p:sp>
          <p:nvSpPr>
            <p:cNvPr id="78868" name="Text Box 15"/>
            <p:cNvSpPr txBox="1">
              <a:spLocks noChangeArrowheads="1"/>
            </p:cNvSpPr>
            <p:nvPr/>
          </p:nvSpPr>
          <p:spPr bwMode="auto">
            <a:xfrm>
              <a:off x="2256" y="2640"/>
              <a:ext cx="240" cy="288"/>
            </a:xfrm>
            <a:prstGeom prst="rect">
              <a:avLst/>
            </a:prstGeom>
            <a:noFill/>
            <a:ln w="9525">
              <a:noFill/>
              <a:miter lim="800000"/>
              <a:headEnd/>
              <a:tailEnd/>
            </a:ln>
          </p:spPr>
          <p:txBody>
            <a:bodyPr>
              <a:spAutoFit/>
            </a:bodyPr>
            <a:lstStyle/>
            <a:p>
              <a:pPr>
                <a:spcBef>
                  <a:spcPct val="50000"/>
                </a:spcBef>
              </a:pPr>
              <a:r>
                <a:rPr lang="en-US" sz="2400" i="1" baseline="0"/>
                <a:t>s</a:t>
              </a:r>
            </a:p>
          </p:txBody>
        </p:sp>
        <p:sp>
          <p:nvSpPr>
            <p:cNvPr id="78869" name="Text Box 16"/>
            <p:cNvSpPr txBox="1">
              <a:spLocks noChangeArrowheads="1"/>
            </p:cNvSpPr>
            <p:nvPr/>
          </p:nvSpPr>
          <p:spPr bwMode="auto">
            <a:xfrm>
              <a:off x="2880" y="2640"/>
              <a:ext cx="720" cy="288"/>
            </a:xfrm>
            <a:prstGeom prst="rect">
              <a:avLst/>
            </a:prstGeom>
            <a:noFill/>
            <a:ln w="9525">
              <a:noFill/>
              <a:miter lim="800000"/>
              <a:headEnd/>
              <a:tailEnd/>
            </a:ln>
          </p:spPr>
          <p:txBody>
            <a:bodyPr>
              <a:spAutoFit/>
            </a:bodyPr>
            <a:lstStyle/>
            <a:p>
              <a:pPr>
                <a:spcBef>
                  <a:spcPct val="50000"/>
                </a:spcBef>
              </a:pPr>
              <a:r>
                <a:rPr lang="en-US" sz="2400" i="1" baseline="0"/>
                <a:t>s+t</a:t>
              </a:r>
            </a:p>
          </p:txBody>
        </p:sp>
        <p:sp>
          <p:nvSpPr>
            <p:cNvPr id="78870" name="Line 17"/>
            <p:cNvSpPr>
              <a:spLocks noChangeShapeType="1"/>
            </p:cNvSpPr>
            <p:nvPr/>
          </p:nvSpPr>
          <p:spPr bwMode="auto">
            <a:xfrm>
              <a:off x="3072" y="2592"/>
              <a:ext cx="0" cy="96"/>
            </a:xfrm>
            <a:prstGeom prst="line">
              <a:avLst/>
            </a:prstGeom>
            <a:noFill/>
            <a:ln w="9525">
              <a:solidFill>
                <a:schemeClr val="tx1"/>
              </a:solidFill>
              <a:round/>
              <a:headEnd/>
              <a:tailEnd/>
            </a:ln>
          </p:spPr>
          <p:txBody>
            <a:bodyPr/>
            <a:lstStyle/>
            <a:p>
              <a:endParaRPr lang="en-US"/>
            </a:p>
          </p:txBody>
        </p:sp>
      </p:grpSp>
      <p:grpSp>
        <p:nvGrpSpPr>
          <p:cNvPr id="78854" name="Group 22"/>
          <p:cNvGrpSpPr>
            <a:grpSpLocks/>
          </p:cNvGrpSpPr>
          <p:nvPr/>
        </p:nvGrpSpPr>
        <p:grpSpPr bwMode="auto">
          <a:xfrm>
            <a:off x="2514600" y="4052888"/>
            <a:ext cx="1447800" cy="671512"/>
            <a:chOff x="1584" y="2553"/>
            <a:chExt cx="912" cy="423"/>
          </a:xfrm>
        </p:grpSpPr>
        <p:sp>
          <p:nvSpPr>
            <p:cNvPr id="78860" name="Line 20"/>
            <p:cNvSpPr>
              <a:spLocks noChangeShapeType="1"/>
            </p:cNvSpPr>
            <p:nvPr/>
          </p:nvSpPr>
          <p:spPr bwMode="auto">
            <a:xfrm>
              <a:off x="2064" y="2784"/>
              <a:ext cx="288" cy="192"/>
            </a:xfrm>
            <a:prstGeom prst="line">
              <a:avLst/>
            </a:prstGeom>
            <a:noFill/>
            <a:ln w="9525">
              <a:solidFill>
                <a:schemeClr val="tx1"/>
              </a:solidFill>
              <a:round/>
              <a:headEnd/>
              <a:tailEnd type="triangle" w="med" len="med"/>
            </a:ln>
          </p:spPr>
          <p:txBody>
            <a:bodyPr/>
            <a:lstStyle/>
            <a:p>
              <a:endParaRPr lang="en-US"/>
            </a:p>
          </p:txBody>
        </p:sp>
        <p:sp>
          <p:nvSpPr>
            <p:cNvPr id="78861" name="Text Box 21"/>
            <p:cNvSpPr txBox="1">
              <a:spLocks noChangeArrowheads="1"/>
            </p:cNvSpPr>
            <p:nvPr/>
          </p:nvSpPr>
          <p:spPr bwMode="auto">
            <a:xfrm>
              <a:off x="1584" y="2553"/>
              <a:ext cx="912" cy="231"/>
            </a:xfrm>
            <a:prstGeom prst="rect">
              <a:avLst/>
            </a:prstGeom>
            <a:noFill/>
            <a:ln w="9525">
              <a:noFill/>
              <a:miter lim="800000"/>
              <a:headEnd/>
              <a:tailEnd/>
            </a:ln>
          </p:spPr>
          <p:txBody>
            <a:bodyPr>
              <a:spAutoFit/>
            </a:bodyPr>
            <a:lstStyle/>
            <a:p>
              <a:pPr>
                <a:spcBef>
                  <a:spcPct val="50000"/>
                </a:spcBef>
              </a:pPr>
              <a:r>
                <a:rPr lang="en-US" baseline="0"/>
                <a:t>Current time</a:t>
              </a:r>
            </a:p>
          </p:txBody>
        </p:sp>
      </p:grpSp>
      <p:pic>
        <p:nvPicPr>
          <p:cNvPr id="238615" name="Picture 23" descr="txp_fig"/>
          <p:cNvPicPr>
            <a:picLocks noChangeAspect="1" noChangeArrowheads="1"/>
          </p:cNvPicPr>
          <p:nvPr>
            <p:custDataLst>
              <p:tags r:id="rId1"/>
            </p:custDataLst>
          </p:nvPr>
        </p:nvPicPr>
        <p:blipFill>
          <a:blip r:embed="rId4" cstate="print"/>
          <a:srcRect/>
          <a:stretch>
            <a:fillRect/>
          </a:stretch>
        </p:blipFill>
        <p:spPr bwMode="auto">
          <a:xfrm>
            <a:off x="196850" y="5624513"/>
            <a:ext cx="8621713" cy="847725"/>
          </a:xfrm>
          <a:prstGeom prst="rect">
            <a:avLst/>
          </a:prstGeom>
          <a:noFill/>
          <a:ln w="9525">
            <a:noFill/>
            <a:miter lim="800000"/>
            <a:headEnd/>
            <a:tailEnd/>
          </a:ln>
        </p:spPr>
      </p:pic>
      <p:sp>
        <p:nvSpPr>
          <p:cNvPr id="238616" name="Rectangle 24"/>
          <p:cNvSpPr>
            <a:spLocks noChangeArrowheads="1"/>
          </p:cNvSpPr>
          <p:nvPr/>
        </p:nvSpPr>
        <p:spPr bwMode="auto">
          <a:xfrm>
            <a:off x="762000" y="6019800"/>
            <a:ext cx="4495800" cy="533400"/>
          </a:xfrm>
          <a:prstGeom prst="rect">
            <a:avLst/>
          </a:prstGeom>
          <a:solidFill>
            <a:schemeClr val="bg1"/>
          </a:solidFill>
          <a:ln w="9525">
            <a:noFill/>
            <a:miter lim="800000"/>
            <a:headEnd/>
            <a:tailEnd/>
          </a:ln>
        </p:spPr>
        <p:txBody>
          <a:bodyPr wrap="none" anchor="ctr"/>
          <a:lstStyle/>
          <a:p>
            <a:endParaRPr lang="en-US"/>
          </a:p>
        </p:txBody>
      </p:sp>
      <p:grpSp>
        <p:nvGrpSpPr>
          <p:cNvPr id="4" name="Group 27"/>
          <p:cNvGrpSpPr>
            <a:grpSpLocks/>
          </p:cNvGrpSpPr>
          <p:nvPr/>
        </p:nvGrpSpPr>
        <p:grpSpPr bwMode="auto">
          <a:xfrm>
            <a:off x="5334000" y="6019800"/>
            <a:ext cx="2743200" cy="641350"/>
            <a:chOff x="3696" y="3792"/>
            <a:chExt cx="1728" cy="404"/>
          </a:xfrm>
        </p:grpSpPr>
        <p:sp>
          <p:nvSpPr>
            <p:cNvPr id="78858" name="Text Box 25"/>
            <p:cNvSpPr txBox="1">
              <a:spLocks noChangeArrowheads="1"/>
            </p:cNvSpPr>
            <p:nvPr/>
          </p:nvSpPr>
          <p:spPr bwMode="auto">
            <a:xfrm>
              <a:off x="4320" y="3792"/>
              <a:ext cx="1104" cy="404"/>
            </a:xfrm>
            <a:prstGeom prst="rect">
              <a:avLst/>
            </a:prstGeom>
            <a:noFill/>
            <a:ln w="9525">
              <a:noFill/>
              <a:miter lim="800000"/>
              <a:headEnd/>
              <a:tailEnd/>
            </a:ln>
          </p:spPr>
          <p:txBody>
            <a:bodyPr>
              <a:spAutoFit/>
            </a:bodyPr>
            <a:lstStyle/>
            <a:p>
              <a:pPr>
                <a:spcBef>
                  <a:spcPct val="50000"/>
                </a:spcBef>
              </a:pPr>
              <a:r>
                <a:rPr lang="en-US" baseline="0"/>
                <a:t>Transition probability</a:t>
              </a:r>
            </a:p>
          </p:txBody>
        </p:sp>
        <p:sp>
          <p:nvSpPr>
            <p:cNvPr id="78859" name="Line 26"/>
            <p:cNvSpPr>
              <a:spLocks noChangeShapeType="1"/>
            </p:cNvSpPr>
            <p:nvPr/>
          </p:nvSpPr>
          <p:spPr bwMode="auto">
            <a:xfrm flipH="1">
              <a:off x="3696" y="3984"/>
              <a:ext cx="576" cy="0"/>
            </a:xfrm>
            <a:prstGeom prst="line">
              <a:avLst/>
            </a:prstGeom>
            <a:noFill/>
            <a:ln w="9525">
              <a:solidFill>
                <a:schemeClr val="tx1"/>
              </a:solidFill>
              <a:round/>
              <a:headEnd/>
              <a:tailEnd type="triangle" w="med" len="me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386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3861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6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5"/>
          <p:cNvSpPr>
            <a:spLocks noGrp="1"/>
          </p:cNvSpPr>
          <p:nvPr>
            <p:ph type="sldNum" sz="quarter" idx="12"/>
          </p:nvPr>
        </p:nvSpPr>
        <p:spPr>
          <a:noFill/>
        </p:spPr>
        <p:txBody>
          <a:bodyPr/>
          <a:lstStyle/>
          <a:p>
            <a:fld id="{D85614C6-0761-4089-93F7-78956D95DF7D}" type="slidenum">
              <a:rPr lang="en-US" smtClean="0"/>
              <a:pPr/>
              <a:t>5</a:t>
            </a:fld>
            <a:endParaRPr lang="en-US"/>
          </a:p>
        </p:txBody>
      </p:sp>
      <p:sp>
        <p:nvSpPr>
          <p:cNvPr id="79875" name="Rectangle 2"/>
          <p:cNvSpPr>
            <a:spLocks noGrp="1" noChangeArrowheads="1"/>
          </p:cNvSpPr>
          <p:nvPr>
            <p:ph type="title"/>
          </p:nvPr>
        </p:nvSpPr>
        <p:spPr/>
        <p:txBody>
          <a:bodyPr/>
          <a:lstStyle/>
          <a:p>
            <a:r>
              <a:rPr lang="en-US" sz="4000"/>
              <a:t>Stationary Transition Probabilities</a:t>
            </a:r>
          </a:p>
        </p:txBody>
      </p:sp>
      <p:sp>
        <p:nvSpPr>
          <p:cNvPr id="79876" name="Rectangle 3"/>
          <p:cNvSpPr>
            <a:spLocks noGrp="1" noChangeArrowheads="1"/>
          </p:cNvSpPr>
          <p:nvPr>
            <p:ph type="body" idx="1"/>
          </p:nvPr>
        </p:nvSpPr>
        <p:spPr>
          <a:xfrm>
            <a:off x="457200" y="2286000"/>
            <a:ext cx="8229600" cy="1066800"/>
          </a:xfrm>
        </p:spPr>
        <p:txBody>
          <a:bodyPr/>
          <a:lstStyle/>
          <a:p>
            <a:r>
              <a:rPr lang="en-US"/>
              <a:t>If the probability above is independent of the current time </a:t>
            </a:r>
            <a:r>
              <a:rPr lang="en-US" i="1"/>
              <a:t>s, </a:t>
            </a:r>
            <a:r>
              <a:rPr lang="en-US"/>
              <a:t>i.e.</a:t>
            </a:r>
            <a:r>
              <a:rPr lang="en-US" i="1"/>
              <a:t>, </a:t>
            </a:r>
            <a:endParaRPr lang="en-US"/>
          </a:p>
        </p:txBody>
      </p:sp>
      <p:pic>
        <p:nvPicPr>
          <p:cNvPr id="79877" name="Picture 8" descr="txp_fig"/>
          <p:cNvPicPr>
            <a:picLocks noChangeAspect="1" noChangeArrowheads="1"/>
          </p:cNvPicPr>
          <p:nvPr>
            <p:custDataLst>
              <p:tags r:id="rId1"/>
            </p:custDataLst>
          </p:nvPr>
        </p:nvPicPr>
        <p:blipFill>
          <a:blip r:embed="rId5" cstate="print"/>
          <a:srcRect/>
          <a:stretch>
            <a:fillRect/>
          </a:stretch>
        </p:blipFill>
        <p:spPr bwMode="auto">
          <a:xfrm>
            <a:off x="838200" y="1752600"/>
            <a:ext cx="4164013" cy="404813"/>
          </a:xfrm>
          <a:prstGeom prst="rect">
            <a:avLst/>
          </a:prstGeom>
          <a:noFill/>
          <a:ln w="9525">
            <a:noFill/>
            <a:miter lim="800000"/>
            <a:headEnd/>
            <a:tailEnd/>
          </a:ln>
        </p:spPr>
      </p:pic>
      <p:sp>
        <p:nvSpPr>
          <p:cNvPr id="239625" name="Rectangle 9"/>
          <p:cNvSpPr>
            <a:spLocks noChangeArrowheads="1"/>
          </p:cNvSpPr>
          <p:nvPr/>
        </p:nvSpPr>
        <p:spPr bwMode="auto">
          <a:xfrm>
            <a:off x="457200" y="4419600"/>
            <a:ext cx="8382000" cy="1447800"/>
          </a:xfrm>
          <a:prstGeom prst="rect">
            <a:avLst/>
          </a:prstGeom>
          <a:noFill/>
          <a:ln w="9525">
            <a:noFill/>
            <a:miter lim="800000"/>
            <a:headEnd/>
            <a:tailEnd/>
          </a:ln>
        </p:spPr>
        <p:txBody>
          <a:bodyPr/>
          <a:lstStyle/>
          <a:p>
            <a:pPr marL="342900" indent="-342900">
              <a:spcBef>
                <a:spcPct val="20000"/>
              </a:spcBef>
              <a:buFontTx/>
              <a:buChar char="•"/>
            </a:pPr>
            <a:r>
              <a:rPr lang="en-US" sz="3200" baseline="0"/>
              <a:t>We say that the transition probabilities are </a:t>
            </a:r>
            <a:r>
              <a:rPr lang="en-US" sz="3200" i="1" baseline="0"/>
              <a:t>stationary</a:t>
            </a:r>
            <a:r>
              <a:rPr lang="en-US" sz="3200" baseline="0"/>
              <a:t>.</a:t>
            </a:r>
          </a:p>
        </p:txBody>
      </p:sp>
      <p:pic>
        <p:nvPicPr>
          <p:cNvPr id="79879" name="Picture 13" descr="txp_fig"/>
          <p:cNvPicPr>
            <a:picLocks noChangeAspect="1" noChangeArrowheads="1"/>
          </p:cNvPicPr>
          <p:nvPr>
            <p:custDataLst>
              <p:tags r:id="rId2"/>
            </p:custDataLst>
          </p:nvPr>
        </p:nvPicPr>
        <p:blipFill>
          <a:blip r:embed="rId6" cstate="print"/>
          <a:srcRect/>
          <a:stretch>
            <a:fillRect/>
          </a:stretch>
        </p:blipFill>
        <p:spPr bwMode="auto">
          <a:xfrm>
            <a:off x="152400" y="3435350"/>
            <a:ext cx="7037388" cy="884238"/>
          </a:xfrm>
          <a:prstGeom prst="rect">
            <a:avLst/>
          </a:prstGeom>
          <a:noFill/>
          <a:ln w="9525">
            <a:noFill/>
            <a:miter lim="800000"/>
            <a:headEnd/>
            <a:tailEnd/>
          </a:ln>
        </p:spPr>
      </p:pic>
      <p:sp>
        <p:nvSpPr>
          <p:cNvPr id="239630" name="Rectangle 14"/>
          <p:cNvSpPr>
            <a:spLocks noChangeArrowheads="1"/>
          </p:cNvSpPr>
          <p:nvPr/>
        </p:nvSpPr>
        <p:spPr bwMode="auto">
          <a:xfrm>
            <a:off x="609600" y="3886200"/>
            <a:ext cx="7543800" cy="609600"/>
          </a:xfrm>
          <a:prstGeom prst="rect">
            <a:avLst/>
          </a:prstGeom>
          <a:solidFill>
            <a:schemeClr val="bg1"/>
          </a:solidFill>
          <a:ln w="9525">
            <a:noFill/>
            <a:miter lim="800000"/>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3963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96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25" grpId="0"/>
      <p:bldP spid="2396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5"/>
          <p:cNvSpPr>
            <a:spLocks noGrp="1"/>
          </p:cNvSpPr>
          <p:nvPr>
            <p:ph type="sldNum" sz="quarter" idx="12"/>
          </p:nvPr>
        </p:nvSpPr>
        <p:spPr>
          <a:noFill/>
        </p:spPr>
        <p:txBody>
          <a:bodyPr/>
          <a:lstStyle/>
          <a:p>
            <a:fld id="{CACF0F01-ACB3-466D-84B8-7E2ED9F51673}" type="slidenum">
              <a:rPr lang="en-US" smtClean="0"/>
              <a:pPr/>
              <a:t>6</a:t>
            </a:fld>
            <a:endParaRPr lang="en-US"/>
          </a:p>
        </p:txBody>
      </p:sp>
      <p:sp>
        <p:nvSpPr>
          <p:cNvPr id="80899" name="Rectangle 2"/>
          <p:cNvSpPr>
            <a:spLocks noGrp="1" noChangeArrowheads="1"/>
          </p:cNvSpPr>
          <p:nvPr>
            <p:ph type="title"/>
          </p:nvPr>
        </p:nvSpPr>
        <p:spPr/>
        <p:txBody>
          <a:bodyPr/>
          <a:lstStyle/>
          <a:p>
            <a:r>
              <a:rPr lang="en-US" sz="4000"/>
              <a:t>Continuous Time </a:t>
            </a:r>
            <a:br>
              <a:rPr lang="en-US" sz="4000"/>
            </a:br>
            <a:r>
              <a:rPr lang="en-US" sz="4000"/>
              <a:t>Transition Probability Function</a:t>
            </a:r>
          </a:p>
        </p:txBody>
      </p:sp>
      <p:sp>
        <p:nvSpPr>
          <p:cNvPr id="240643" name="Rectangle 3"/>
          <p:cNvSpPr>
            <a:spLocks noGrp="1" noChangeArrowheads="1"/>
          </p:cNvSpPr>
          <p:nvPr>
            <p:ph type="body" idx="1"/>
          </p:nvPr>
        </p:nvSpPr>
        <p:spPr>
          <a:xfrm>
            <a:off x="457200" y="1600200"/>
            <a:ext cx="8229600" cy="2286000"/>
          </a:xfrm>
        </p:spPr>
        <p:txBody>
          <a:bodyPr/>
          <a:lstStyle/>
          <a:p>
            <a:r>
              <a:rPr lang="en-US" i="1"/>
              <a:t>P</a:t>
            </a:r>
            <a:r>
              <a:rPr lang="en-US" i="1" baseline="-25000"/>
              <a:t>ij</a:t>
            </a:r>
            <a:r>
              <a:rPr lang="en-US"/>
              <a:t>(</a:t>
            </a:r>
            <a:r>
              <a:rPr lang="en-US" i="1"/>
              <a:t>t</a:t>
            </a:r>
            <a:r>
              <a:rPr lang="en-US"/>
              <a:t>) is the probability that the system is in state </a:t>
            </a:r>
            <a:r>
              <a:rPr lang="en-US" i="1"/>
              <a:t>j </a:t>
            </a:r>
            <a:r>
              <a:rPr lang="en-US"/>
              <a:t>after </a:t>
            </a:r>
            <a:r>
              <a:rPr lang="en-US" i="1"/>
              <a:t>t </a:t>
            </a:r>
            <a:r>
              <a:rPr lang="en-US"/>
              <a:t>units of</a:t>
            </a:r>
            <a:r>
              <a:rPr lang="en-US" i="1"/>
              <a:t> </a:t>
            </a:r>
            <a:r>
              <a:rPr lang="en-US"/>
              <a:t>time given that it is currently in state </a:t>
            </a:r>
            <a:r>
              <a:rPr lang="en-US" i="1"/>
              <a:t>i.</a:t>
            </a:r>
            <a:endParaRPr lang="en-US"/>
          </a:p>
          <a:p>
            <a:r>
              <a:rPr lang="en-US"/>
              <a:t>We assume that </a:t>
            </a:r>
          </a:p>
        </p:txBody>
      </p:sp>
      <p:pic>
        <p:nvPicPr>
          <p:cNvPr id="240645" name="Picture 5" descr="txp_fig"/>
          <p:cNvPicPr>
            <a:picLocks noChangeAspect="1" noChangeArrowheads="1"/>
          </p:cNvPicPr>
          <p:nvPr>
            <p:custDataLst>
              <p:tags r:id="rId1"/>
            </p:custDataLst>
          </p:nvPr>
        </p:nvPicPr>
        <p:blipFill>
          <a:blip r:embed="rId4" cstate="print"/>
          <a:srcRect/>
          <a:stretch>
            <a:fillRect/>
          </a:stretch>
        </p:blipFill>
        <p:spPr bwMode="auto">
          <a:xfrm>
            <a:off x="914400" y="3806825"/>
            <a:ext cx="4114800" cy="9175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06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064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06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5"/>
          <p:cNvSpPr>
            <a:spLocks noGrp="1"/>
          </p:cNvSpPr>
          <p:nvPr>
            <p:ph type="sldNum" sz="quarter" idx="12"/>
          </p:nvPr>
        </p:nvSpPr>
        <p:spPr>
          <a:noFill/>
        </p:spPr>
        <p:txBody>
          <a:bodyPr/>
          <a:lstStyle/>
          <a:p>
            <a:fld id="{C693006B-24FB-4FF5-8415-167F000CCF4B}" type="slidenum">
              <a:rPr lang="en-US" smtClean="0"/>
              <a:pPr/>
              <a:t>7</a:t>
            </a:fld>
            <a:endParaRPr lang="en-US"/>
          </a:p>
        </p:txBody>
      </p:sp>
      <p:sp>
        <p:nvSpPr>
          <p:cNvPr id="81923" name="Rectangle 2"/>
          <p:cNvSpPr>
            <a:spLocks noGrp="1" noChangeArrowheads="1"/>
          </p:cNvSpPr>
          <p:nvPr>
            <p:ph type="title"/>
          </p:nvPr>
        </p:nvSpPr>
        <p:spPr/>
        <p:txBody>
          <a:bodyPr/>
          <a:lstStyle/>
          <a:p>
            <a:r>
              <a:rPr lang="en-US" sz="4000"/>
              <a:t>Continuous Time Markov Chains</a:t>
            </a:r>
          </a:p>
        </p:txBody>
      </p:sp>
      <p:sp>
        <p:nvSpPr>
          <p:cNvPr id="241667" name="Rectangle 3"/>
          <p:cNvSpPr>
            <a:spLocks noGrp="1" noChangeArrowheads="1"/>
          </p:cNvSpPr>
          <p:nvPr>
            <p:ph type="body" idx="1"/>
          </p:nvPr>
        </p:nvSpPr>
        <p:spPr>
          <a:xfrm>
            <a:off x="457200" y="1600200"/>
            <a:ext cx="8229600" cy="4876800"/>
          </a:xfrm>
        </p:spPr>
        <p:txBody>
          <a:bodyPr/>
          <a:lstStyle/>
          <a:p>
            <a:r>
              <a:rPr lang="en-US" dirty="0"/>
              <a:t>A continuous time stochastic process </a:t>
            </a:r>
            <a:r>
              <a:rPr lang="tr-TR" dirty="0"/>
              <a:t>  </a:t>
            </a:r>
            <a:r>
              <a:rPr lang="en-US" dirty="0"/>
              <a:t>{</a:t>
            </a:r>
            <a:r>
              <a:rPr lang="en-US" i="1" dirty="0"/>
              <a:t>X</a:t>
            </a:r>
            <a:r>
              <a:rPr lang="en-US" dirty="0"/>
              <a:t>(</a:t>
            </a:r>
            <a:r>
              <a:rPr lang="en-US" i="1" dirty="0"/>
              <a:t>t</a:t>
            </a:r>
            <a:r>
              <a:rPr lang="en-US" dirty="0"/>
              <a:t>), </a:t>
            </a:r>
            <a:r>
              <a:rPr lang="en-US" i="1" dirty="0"/>
              <a:t>t</a:t>
            </a:r>
            <a:r>
              <a:rPr lang="en-US" dirty="0"/>
              <a:t> </a:t>
            </a:r>
            <a:r>
              <a:rPr lang="en-US" dirty="0">
                <a:latin typeface="cmsy10" pitchFamily="34" charset="0"/>
              </a:rPr>
              <a:t>≥</a:t>
            </a:r>
            <a:r>
              <a:rPr lang="en-US" dirty="0"/>
              <a:t> 0} is a continuous time Markov chain if it has the </a:t>
            </a:r>
            <a:r>
              <a:rPr lang="en-US" dirty="0" err="1"/>
              <a:t>Markovian</a:t>
            </a:r>
            <a:r>
              <a:rPr lang="en-US" dirty="0"/>
              <a:t> property.</a:t>
            </a:r>
          </a:p>
          <a:p>
            <a:r>
              <a:rPr lang="en-US" dirty="0"/>
              <a:t>In this course, we assume that the transition probabilities are stationary.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16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16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5"/>
          <p:cNvSpPr>
            <a:spLocks noGrp="1"/>
          </p:cNvSpPr>
          <p:nvPr>
            <p:ph type="sldNum" sz="quarter" idx="12"/>
          </p:nvPr>
        </p:nvSpPr>
        <p:spPr>
          <a:noFill/>
        </p:spPr>
        <p:txBody>
          <a:bodyPr/>
          <a:lstStyle/>
          <a:p>
            <a:fld id="{536D65BE-5D29-475F-A20E-4B9C47505579}" type="slidenum">
              <a:rPr lang="en-US" smtClean="0"/>
              <a:pPr/>
              <a:t>8</a:t>
            </a:fld>
            <a:endParaRPr lang="en-US"/>
          </a:p>
        </p:txBody>
      </p:sp>
      <p:sp>
        <p:nvSpPr>
          <p:cNvPr id="82947" name="Rectangle 2"/>
          <p:cNvSpPr>
            <a:spLocks noGrp="1" noChangeArrowheads="1"/>
          </p:cNvSpPr>
          <p:nvPr>
            <p:ph type="title"/>
          </p:nvPr>
        </p:nvSpPr>
        <p:spPr/>
        <p:txBody>
          <a:bodyPr/>
          <a:lstStyle/>
          <a:p>
            <a:r>
              <a:rPr lang="en-US"/>
              <a:t>Some Key Random Variables</a:t>
            </a:r>
          </a:p>
        </p:txBody>
      </p:sp>
      <p:sp>
        <p:nvSpPr>
          <p:cNvPr id="242691" name="Rectangle 3"/>
          <p:cNvSpPr>
            <a:spLocks noGrp="1" noChangeArrowheads="1"/>
          </p:cNvSpPr>
          <p:nvPr>
            <p:ph type="body" idx="1"/>
          </p:nvPr>
        </p:nvSpPr>
        <p:spPr>
          <a:xfrm>
            <a:off x="457200" y="1600200"/>
            <a:ext cx="8534400" cy="5105400"/>
          </a:xfrm>
        </p:spPr>
        <p:txBody>
          <a:bodyPr/>
          <a:lstStyle/>
          <a:p>
            <a:r>
              <a:rPr lang="en-US"/>
              <a:t>Each time the process enters state </a:t>
            </a:r>
            <a:r>
              <a:rPr lang="en-US" i="1"/>
              <a:t>i, </a:t>
            </a:r>
            <a:r>
              <a:rPr lang="en-US"/>
              <a:t>the amount of time it spends in that state is a continuous random variable </a:t>
            </a:r>
            <a:r>
              <a:rPr lang="en-US" i="1"/>
              <a:t>T</a:t>
            </a:r>
            <a:r>
              <a:rPr lang="en-US" i="1" baseline="-25000"/>
              <a:t>i</a:t>
            </a:r>
            <a:r>
              <a:rPr lang="en-US"/>
              <a:t>, </a:t>
            </a:r>
            <a:r>
              <a:rPr lang="en-US" i="1"/>
              <a:t>i</a:t>
            </a:r>
            <a:r>
              <a:rPr lang="en-US"/>
              <a:t>=0,1, …,</a:t>
            </a:r>
            <a:r>
              <a:rPr lang="en-US" i="1"/>
              <a:t>M.</a:t>
            </a:r>
          </a:p>
          <a:p>
            <a:r>
              <a:rPr lang="en-US"/>
              <a:t>Suppose that the Markov chain enters state </a:t>
            </a:r>
            <a:r>
              <a:rPr lang="en-US" i="1"/>
              <a:t>i</a:t>
            </a:r>
            <a:r>
              <a:rPr lang="en-US"/>
              <a:t> at some time, say zero, and does not leave it for the next 10 time units. What is the probability that the process does not leave state </a:t>
            </a:r>
            <a:r>
              <a:rPr lang="en-US" i="1"/>
              <a:t>i </a:t>
            </a:r>
            <a:r>
              <a:rPr lang="en-US"/>
              <a:t>during the following 5 time units? </a:t>
            </a:r>
          </a:p>
          <a:p>
            <a:endParaRPr lang="en-US" i="1" baseline="-25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26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5"/>
          <p:cNvSpPr>
            <a:spLocks noGrp="1"/>
          </p:cNvSpPr>
          <p:nvPr>
            <p:ph type="sldNum" sz="quarter" idx="12"/>
          </p:nvPr>
        </p:nvSpPr>
        <p:spPr>
          <a:noFill/>
        </p:spPr>
        <p:txBody>
          <a:bodyPr/>
          <a:lstStyle/>
          <a:p>
            <a:fld id="{67B28DAA-EDF5-4E01-A023-CF73240FF9C0}" type="slidenum">
              <a:rPr lang="en-US" smtClean="0"/>
              <a:pPr/>
              <a:t>9</a:t>
            </a:fld>
            <a:endParaRPr lang="en-US"/>
          </a:p>
        </p:txBody>
      </p:sp>
      <p:sp>
        <p:nvSpPr>
          <p:cNvPr id="83971" name="Rectangle 2"/>
          <p:cNvSpPr>
            <a:spLocks noGrp="1" noChangeArrowheads="1"/>
          </p:cNvSpPr>
          <p:nvPr>
            <p:ph type="title"/>
          </p:nvPr>
        </p:nvSpPr>
        <p:spPr/>
        <p:txBody>
          <a:bodyPr/>
          <a:lstStyle/>
          <a:p>
            <a:r>
              <a:rPr lang="en-US"/>
              <a:t>Some Key Random Variables</a:t>
            </a:r>
          </a:p>
        </p:txBody>
      </p:sp>
      <p:sp>
        <p:nvSpPr>
          <p:cNvPr id="243715" name="Rectangle 3"/>
          <p:cNvSpPr>
            <a:spLocks noGrp="1" noChangeArrowheads="1"/>
          </p:cNvSpPr>
          <p:nvPr>
            <p:ph type="body" idx="1"/>
          </p:nvPr>
        </p:nvSpPr>
        <p:spPr>
          <a:xfrm>
            <a:off x="457200" y="1600200"/>
            <a:ext cx="8458200" cy="4953000"/>
          </a:xfrm>
        </p:spPr>
        <p:txBody>
          <a:bodyPr/>
          <a:lstStyle/>
          <a:p>
            <a:pPr>
              <a:lnSpc>
                <a:spcPct val="90000"/>
              </a:lnSpc>
            </a:pPr>
            <a:r>
              <a:rPr lang="en-US" dirty="0"/>
              <a:t>In other words, what is P(</a:t>
            </a:r>
            <a:r>
              <a:rPr lang="en-US" i="1" dirty="0"/>
              <a:t>T</a:t>
            </a:r>
            <a:r>
              <a:rPr lang="en-US" i="1" baseline="-25000" dirty="0"/>
              <a:t>i</a:t>
            </a:r>
            <a:r>
              <a:rPr lang="en-US" dirty="0"/>
              <a:t> &gt;15  / </a:t>
            </a:r>
            <a:r>
              <a:rPr lang="en-US" i="1" dirty="0"/>
              <a:t>T</a:t>
            </a:r>
            <a:r>
              <a:rPr lang="en-US" i="1" baseline="-25000" dirty="0"/>
              <a:t>i</a:t>
            </a:r>
            <a:r>
              <a:rPr lang="en-US" dirty="0"/>
              <a:t> &gt;10)?</a:t>
            </a:r>
          </a:p>
          <a:p>
            <a:pPr>
              <a:lnSpc>
                <a:spcPct val="90000"/>
              </a:lnSpc>
            </a:pPr>
            <a:r>
              <a:rPr lang="en-US" dirty="0"/>
              <a:t>By the </a:t>
            </a:r>
            <a:r>
              <a:rPr lang="en-US" dirty="0" err="1"/>
              <a:t>Markovian</a:t>
            </a:r>
            <a:r>
              <a:rPr lang="en-US" dirty="0"/>
              <a:t> property, this probability must equal P(</a:t>
            </a:r>
            <a:r>
              <a:rPr lang="en-US" i="1" dirty="0"/>
              <a:t>T</a:t>
            </a:r>
            <a:r>
              <a:rPr lang="en-US" i="1" baseline="-25000" dirty="0"/>
              <a:t>i</a:t>
            </a:r>
            <a:r>
              <a:rPr lang="en-US" dirty="0"/>
              <a:t> &gt; 5).</a:t>
            </a:r>
          </a:p>
          <a:p>
            <a:pPr>
              <a:lnSpc>
                <a:spcPct val="90000"/>
              </a:lnSpc>
            </a:pPr>
            <a:r>
              <a:rPr lang="en-US" dirty="0"/>
              <a:t>More generally,</a:t>
            </a:r>
          </a:p>
          <a:p>
            <a:pPr>
              <a:lnSpc>
                <a:spcPct val="90000"/>
              </a:lnSpc>
            </a:pPr>
            <a:endParaRPr lang="en-US" dirty="0"/>
          </a:p>
          <a:p>
            <a:pPr>
              <a:lnSpc>
                <a:spcPct val="90000"/>
              </a:lnSpc>
            </a:pPr>
            <a:r>
              <a:rPr lang="en-US" dirty="0"/>
              <a:t>So, </a:t>
            </a:r>
            <a:r>
              <a:rPr lang="en-US" i="1" dirty="0"/>
              <a:t>T</a:t>
            </a:r>
            <a:r>
              <a:rPr lang="en-US" i="1" baseline="-25000" dirty="0"/>
              <a:t>i</a:t>
            </a:r>
            <a:r>
              <a:rPr lang="en-US" dirty="0"/>
              <a:t> is a </a:t>
            </a:r>
            <a:r>
              <a:rPr lang="en-US" i="1" dirty="0" err="1"/>
              <a:t>memoryless</a:t>
            </a:r>
            <a:r>
              <a:rPr lang="en-US" i="1" dirty="0"/>
              <a:t> continuous </a:t>
            </a:r>
            <a:r>
              <a:rPr lang="en-US" dirty="0"/>
              <a:t>random variable and must be exponentially distributed.</a:t>
            </a:r>
          </a:p>
          <a:p>
            <a:pPr>
              <a:lnSpc>
                <a:spcPct val="90000"/>
              </a:lnSpc>
            </a:pPr>
            <a:r>
              <a:rPr lang="en-US" dirty="0"/>
              <a:t>E(</a:t>
            </a:r>
            <a:r>
              <a:rPr lang="en-US" i="1" dirty="0"/>
              <a:t>T</a:t>
            </a:r>
            <a:r>
              <a:rPr lang="en-US" i="1" baseline="-25000" dirty="0"/>
              <a:t>i</a:t>
            </a:r>
            <a:r>
              <a:rPr lang="en-US" dirty="0"/>
              <a:t>) = 1 / </a:t>
            </a:r>
            <a:r>
              <a:rPr lang="en-US" i="1" dirty="0" err="1"/>
              <a:t>q</a:t>
            </a:r>
            <a:r>
              <a:rPr lang="en-US" i="1" baseline="-25000" dirty="0" err="1"/>
              <a:t>i</a:t>
            </a:r>
            <a:r>
              <a:rPr lang="en-US" dirty="0"/>
              <a:t> and P(</a:t>
            </a:r>
            <a:r>
              <a:rPr lang="en-US" i="1" dirty="0"/>
              <a:t>T</a:t>
            </a:r>
            <a:r>
              <a:rPr lang="en-US" i="1" baseline="-25000" dirty="0"/>
              <a:t>i</a:t>
            </a:r>
            <a:r>
              <a:rPr lang="en-US" dirty="0"/>
              <a:t> </a:t>
            </a:r>
            <a:r>
              <a:rPr lang="en-US" dirty="0">
                <a:latin typeface="cmsy10" pitchFamily="34" charset="0"/>
                <a:cs typeface="Arial"/>
              </a:rPr>
              <a:t>≤</a:t>
            </a:r>
            <a:r>
              <a:rPr lang="en-US" dirty="0"/>
              <a:t> </a:t>
            </a:r>
            <a:r>
              <a:rPr lang="en-US" i="1" dirty="0"/>
              <a:t>t</a:t>
            </a:r>
            <a:r>
              <a:rPr lang="en-US" dirty="0"/>
              <a:t>) = 1 – e</a:t>
            </a:r>
            <a:r>
              <a:rPr lang="en-US" baseline="30000" dirty="0"/>
              <a:t>-</a:t>
            </a:r>
            <a:r>
              <a:rPr lang="en-US" i="1" baseline="30000" dirty="0" err="1"/>
              <a:t>q</a:t>
            </a:r>
            <a:r>
              <a:rPr lang="en-US" i="1" baseline="15000" dirty="0" err="1"/>
              <a:t>i</a:t>
            </a:r>
            <a:r>
              <a:rPr lang="en-US" i="1" baseline="30000" dirty="0" err="1"/>
              <a:t>t</a:t>
            </a:r>
            <a:r>
              <a:rPr lang="en-US" i="1" dirty="0"/>
              <a:t> </a:t>
            </a:r>
            <a:r>
              <a:rPr lang="tr-TR" i="1" dirty="0"/>
              <a:t> </a:t>
            </a:r>
            <a:r>
              <a:rPr lang="tr-TR" dirty="0"/>
              <a:t>∀</a:t>
            </a:r>
            <a:r>
              <a:rPr lang="en-US" dirty="0"/>
              <a:t> </a:t>
            </a:r>
            <a:r>
              <a:rPr lang="en-US" i="1" dirty="0"/>
              <a:t>t</a:t>
            </a:r>
            <a:r>
              <a:rPr lang="tr-TR" i="1" dirty="0"/>
              <a:t> </a:t>
            </a:r>
            <a:r>
              <a:rPr lang="en-US" dirty="0">
                <a:latin typeface="cmsy10" pitchFamily="34" charset="0"/>
                <a:cs typeface="Arial"/>
              </a:rPr>
              <a:t>≥</a:t>
            </a:r>
            <a:r>
              <a:rPr lang="en-US" i="1" dirty="0"/>
              <a:t> </a:t>
            </a:r>
            <a:r>
              <a:rPr lang="en-US" dirty="0"/>
              <a:t>0.</a:t>
            </a:r>
            <a:endParaRPr lang="en-US" baseline="30000" dirty="0"/>
          </a:p>
        </p:txBody>
      </p:sp>
      <p:pic>
        <p:nvPicPr>
          <p:cNvPr id="243717" name="Picture 5" descr="txp_fig"/>
          <p:cNvPicPr>
            <a:picLocks noChangeAspect="1" noChangeArrowheads="1"/>
          </p:cNvPicPr>
          <p:nvPr>
            <p:custDataLst>
              <p:tags r:id="rId1"/>
            </p:custDataLst>
          </p:nvPr>
        </p:nvPicPr>
        <p:blipFill>
          <a:blip r:embed="rId4" cstate="print"/>
          <a:srcRect/>
          <a:stretch>
            <a:fillRect/>
          </a:stretch>
        </p:blipFill>
        <p:spPr bwMode="auto">
          <a:xfrm>
            <a:off x="868363" y="3657600"/>
            <a:ext cx="7285037" cy="5524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37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37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371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37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371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37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Number Placeholder 5"/>
          <p:cNvSpPr>
            <a:spLocks noGrp="1"/>
          </p:cNvSpPr>
          <p:nvPr>
            <p:ph type="sldNum" sz="quarter" idx="12"/>
          </p:nvPr>
        </p:nvSpPr>
        <p:spPr>
          <a:noFill/>
        </p:spPr>
        <p:txBody>
          <a:bodyPr/>
          <a:lstStyle/>
          <a:p>
            <a:fld id="{DBC1AB2E-F516-4BB2-AD11-9F5154547677}" type="slidenum">
              <a:rPr lang="en-US" smtClean="0"/>
              <a:pPr/>
              <a:t>10</a:t>
            </a:fld>
            <a:endParaRPr lang="en-US"/>
          </a:p>
        </p:txBody>
      </p:sp>
      <p:sp>
        <p:nvSpPr>
          <p:cNvPr id="84995" name="Rectangle 2"/>
          <p:cNvSpPr>
            <a:spLocks noGrp="1" noChangeArrowheads="1"/>
          </p:cNvSpPr>
          <p:nvPr>
            <p:ph type="title"/>
          </p:nvPr>
        </p:nvSpPr>
        <p:spPr>
          <a:xfrm>
            <a:off x="457200" y="76200"/>
            <a:ext cx="8229600" cy="868363"/>
          </a:xfrm>
        </p:spPr>
        <p:txBody>
          <a:bodyPr/>
          <a:lstStyle/>
          <a:p>
            <a:r>
              <a:rPr lang="en-US" sz="4000"/>
              <a:t>Continuous Time Markov Chains</a:t>
            </a:r>
          </a:p>
        </p:txBody>
      </p:sp>
      <p:sp>
        <p:nvSpPr>
          <p:cNvPr id="244739" name="Rectangle 3"/>
          <p:cNvSpPr>
            <a:spLocks noGrp="1" noChangeArrowheads="1"/>
          </p:cNvSpPr>
          <p:nvPr>
            <p:ph type="body" idx="1"/>
          </p:nvPr>
        </p:nvSpPr>
        <p:spPr>
          <a:xfrm>
            <a:off x="457200" y="914400"/>
            <a:ext cx="8229600" cy="5715000"/>
          </a:xfrm>
        </p:spPr>
        <p:txBody>
          <a:bodyPr/>
          <a:lstStyle/>
          <a:p>
            <a:r>
              <a:rPr lang="en-US"/>
              <a:t>Alternatively, a continuous time Markov chain is a stochastic process such that </a:t>
            </a:r>
          </a:p>
          <a:p>
            <a:pPr lvl="1"/>
            <a:r>
              <a:rPr lang="en-US"/>
              <a:t>The amount of time spent in state </a:t>
            </a:r>
            <a:r>
              <a:rPr lang="en-US" i="1"/>
              <a:t>i </a:t>
            </a:r>
            <a:r>
              <a:rPr lang="en-US"/>
              <a:t>before making a transition into some other state is distributed exponentially with mean 1 / </a:t>
            </a:r>
            <a:r>
              <a:rPr lang="en-US" i="1"/>
              <a:t>q</a:t>
            </a:r>
            <a:r>
              <a:rPr lang="en-US" i="1" baseline="-25000"/>
              <a:t>i</a:t>
            </a:r>
            <a:r>
              <a:rPr lang="en-US"/>
              <a:t>.</a:t>
            </a:r>
          </a:p>
          <a:p>
            <a:pPr lvl="1"/>
            <a:r>
              <a:rPr lang="en-US"/>
              <a:t>When the process leaves state </a:t>
            </a:r>
            <a:r>
              <a:rPr lang="en-US" i="1"/>
              <a:t>i, </a:t>
            </a:r>
            <a:r>
              <a:rPr lang="en-US"/>
              <a:t>it next enters state </a:t>
            </a:r>
            <a:r>
              <a:rPr lang="en-US" i="1"/>
              <a:t>j</a:t>
            </a:r>
            <a:r>
              <a:rPr lang="en-US"/>
              <a:t> with some probability </a:t>
            </a:r>
            <a:r>
              <a:rPr lang="en-US" i="1"/>
              <a:t>P</a:t>
            </a:r>
            <a:r>
              <a:rPr lang="en-US" i="1" baseline="-25000"/>
              <a:t>ij</a:t>
            </a:r>
            <a:r>
              <a:rPr lang="en-US" i="1"/>
              <a:t>. </a:t>
            </a:r>
            <a:r>
              <a:rPr lang="en-US"/>
              <a:t>These probabilities satisfy</a:t>
            </a:r>
          </a:p>
          <a:p>
            <a:pPr lvl="1"/>
            <a:endParaRPr lang="en-US"/>
          </a:p>
          <a:p>
            <a:pPr lvl="1"/>
            <a:endParaRPr lang="en-US"/>
          </a:p>
          <a:p>
            <a:pPr lvl="1"/>
            <a:r>
              <a:rPr lang="en-US"/>
              <a:t>The next state visited is independent from </a:t>
            </a:r>
            <a:r>
              <a:rPr lang="en-US" i="1"/>
              <a:t>T</a:t>
            </a:r>
            <a:r>
              <a:rPr lang="en-US" i="1" baseline="-25000"/>
              <a:t>i</a:t>
            </a:r>
            <a:r>
              <a:rPr lang="en-US" i="1"/>
              <a:t>.</a:t>
            </a:r>
            <a:endParaRPr lang="en-US" i="1" baseline="-25000"/>
          </a:p>
        </p:txBody>
      </p:sp>
      <p:pic>
        <p:nvPicPr>
          <p:cNvPr id="244741" name="Picture 5" descr="txp_fig"/>
          <p:cNvPicPr>
            <a:picLocks noChangeAspect="1" noChangeArrowheads="1"/>
          </p:cNvPicPr>
          <p:nvPr>
            <p:custDataLst>
              <p:tags r:id="rId1"/>
            </p:custDataLst>
          </p:nvPr>
        </p:nvPicPr>
        <p:blipFill>
          <a:blip r:embed="rId4" cstate="print"/>
          <a:srcRect/>
          <a:stretch>
            <a:fillRect/>
          </a:stretch>
        </p:blipFill>
        <p:spPr bwMode="auto">
          <a:xfrm>
            <a:off x="1219200" y="4695825"/>
            <a:ext cx="2122488" cy="11715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47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47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47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47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47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5"/>
          <p:cNvSpPr>
            <a:spLocks noGrp="1"/>
          </p:cNvSpPr>
          <p:nvPr>
            <p:ph type="sldNum" sz="quarter" idx="12"/>
          </p:nvPr>
        </p:nvSpPr>
        <p:spPr>
          <a:noFill/>
        </p:spPr>
        <p:txBody>
          <a:bodyPr/>
          <a:lstStyle/>
          <a:p>
            <a:fld id="{BCF4A85C-1AA8-4AF5-B098-D532CB005CC0}" type="slidenum">
              <a:rPr lang="en-US" smtClean="0"/>
              <a:pPr/>
              <a:t>11</a:t>
            </a:fld>
            <a:endParaRPr lang="en-US"/>
          </a:p>
        </p:txBody>
      </p:sp>
      <p:sp>
        <p:nvSpPr>
          <p:cNvPr id="86019" name="Rectangle 2"/>
          <p:cNvSpPr>
            <a:spLocks noGrp="1" noChangeArrowheads="1"/>
          </p:cNvSpPr>
          <p:nvPr>
            <p:ph type="title"/>
          </p:nvPr>
        </p:nvSpPr>
        <p:spPr/>
        <p:txBody>
          <a:bodyPr/>
          <a:lstStyle/>
          <a:p>
            <a:r>
              <a:rPr lang="en-US" sz="4000"/>
              <a:t>Continuous Time Markov Chains</a:t>
            </a:r>
          </a:p>
        </p:txBody>
      </p:sp>
      <p:sp>
        <p:nvSpPr>
          <p:cNvPr id="86020" name="Rectangle 3"/>
          <p:cNvSpPr>
            <a:spLocks noGrp="1" noChangeArrowheads="1"/>
          </p:cNvSpPr>
          <p:nvPr>
            <p:ph type="body" idx="1"/>
          </p:nvPr>
        </p:nvSpPr>
        <p:spPr>
          <a:xfrm>
            <a:off x="457200" y="1600200"/>
            <a:ext cx="8534400" cy="4525963"/>
          </a:xfrm>
        </p:spPr>
        <p:txBody>
          <a:bodyPr/>
          <a:lstStyle/>
          <a:p>
            <a:r>
              <a:rPr lang="en-US" dirty="0"/>
              <a:t>In other words, a continuous time Markov chain is a continuous process that moves from state to state according to a </a:t>
            </a:r>
            <a:r>
              <a:rPr lang="en-US" i="1" dirty="0"/>
              <a:t>discrete time Markov chain, </a:t>
            </a:r>
            <a:r>
              <a:rPr lang="en-US" dirty="0"/>
              <a:t>but is such that the amount of time spent in each state, before proceeding to the next state, is exponentially distributed.</a:t>
            </a:r>
            <a:endParaRPr lang="tr-TR" dirty="0"/>
          </a:p>
          <a:p>
            <a:r>
              <a:rPr lang="tr-TR" dirty="0"/>
              <a:t>A </a:t>
            </a:r>
            <a:r>
              <a:rPr lang="tr-TR" dirty="0" err="1"/>
              <a:t>continuous</a:t>
            </a:r>
            <a:r>
              <a:rPr lang="tr-TR" dirty="0"/>
              <a:t> time </a:t>
            </a:r>
            <a:r>
              <a:rPr lang="tr-TR" dirty="0" err="1"/>
              <a:t>Markov</a:t>
            </a:r>
            <a:r>
              <a:rPr lang="tr-TR" dirty="0"/>
              <a:t> </a:t>
            </a:r>
            <a:r>
              <a:rPr lang="tr-TR" dirty="0" err="1"/>
              <a:t>Chain</a:t>
            </a:r>
            <a:r>
              <a:rPr lang="tr-TR" dirty="0"/>
              <a:t> has an </a:t>
            </a:r>
            <a:r>
              <a:rPr lang="tr-TR" dirty="0" err="1"/>
              <a:t>underlying</a:t>
            </a:r>
            <a:r>
              <a:rPr lang="tr-TR" dirty="0"/>
              <a:t> </a:t>
            </a:r>
            <a:r>
              <a:rPr lang="tr-TR" dirty="0" err="1"/>
              <a:t>Discrete</a:t>
            </a:r>
            <a:r>
              <a:rPr lang="tr-TR" dirty="0"/>
              <a:t> Time </a:t>
            </a:r>
            <a:r>
              <a:rPr lang="tr-TR" dirty="0" err="1"/>
              <a:t>Markov</a:t>
            </a:r>
            <a:r>
              <a:rPr lang="tr-TR" dirty="0"/>
              <a:t> </a:t>
            </a:r>
            <a:r>
              <a:rPr lang="tr-TR" dirty="0" err="1"/>
              <a:t>Chain</a:t>
            </a:r>
            <a:r>
              <a:rPr lang="tr-TR" dirty="0"/>
              <a: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Number Placeholder 5"/>
          <p:cNvSpPr>
            <a:spLocks noGrp="1"/>
          </p:cNvSpPr>
          <p:nvPr>
            <p:ph type="sldNum" sz="quarter" idx="12"/>
          </p:nvPr>
        </p:nvSpPr>
        <p:spPr>
          <a:noFill/>
        </p:spPr>
        <p:txBody>
          <a:bodyPr/>
          <a:lstStyle/>
          <a:p>
            <a:fld id="{44576004-57B5-4881-BA13-77DFBF6E4E6B}" type="slidenum">
              <a:rPr lang="en-US" smtClean="0"/>
              <a:pPr/>
              <a:t>12</a:t>
            </a:fld>
            <a:endParaRPr lang="en-US"/>
          </a:p>
        </p:txBody>
      </p:sp>
      <p:sp>
        <p:nvSpPr>
          <p:cNvPr id="87043" name="Rectangle 2"/>
          <p:cNvSpPr>
            <a:spLocks noGrp="1" noChangeArrowheads="1"/>
          </p:cNvSpPr>
          <p:nvPr>
            <p:ph type="title"/>
          </p:nvPr>
        </p:nvSpPr>
        <p:spPr/>
        <p:txBody>
          <a:bodyPr/>
          <a:lstStyle/>
          <a:p>
            <a:r>
              <a:rPr lang="en-US" sz="4000"/>
              <a:t>Two Useful Properties of Exponential Distribution</a:t>
            </a:r>
          </a:p>
        </p:txBody>
      </p:sp>
      <p:sp>
        <p:nvSpPr>
          <p:cNvPr id="247811" name="Rectangle 3"/>
          <p:cNvSpPr>
            <a:spLocks noGrp="1" noChangeArrowheads="1"/>
          </p:cNvSpPr>
          <p:nvPr>
            <p:ph type="body" idx="1"/>
          </p:nvPr>
        </p:nvSpPr>
        <p:spPr>
          <a:xfrm>
            <a:off x="304800" y="1600200"/>
            <a:ext cx="8839200" cy="5105400"/>
          </a:xfrm>
        </p:spPr>
        <p:txBody>
          <a:bodyPr/>
          <a:lstStyle/>
          <a:p>
            <a:r>
              <a:rPr lang="en-US" i="1" dirty="0"/>
              <a:t>X</a:t>
            </a:r>
            <a:r>
              <a:rPr lang="en-US" baseline="-25000" dirty="0"/>
              <a:t>1</a:t>
            </a:r>
            <a:r>
              <a:rPr lang="en-US" dirty="0"/>
              <a:t> is exponentially distributed with mean 1/</a:t>
            </a:r>
            <a:r>
              <a:rPr lang="en-US" i="1" dirty="0">
                <a:latin typeface="Symbol" pitchFamily="18" charset="2"/>
                <a:sym typeface="Symbol" pitchFamily="18" charset="2"/>
              </a:rPr>
              <a:t></a:t>
            </a:r>
            <a:r>
              <a:rPr lang="en-US" baseline="-25000" dirty="0">
                <a:sym typeface="Symbol" pitchFamily="18" charset="2"/>
              </a:rPr>
              <a:t>1</a:t>
            </a:r>
            <a:r>
              <a:rPr lang="en-US" dirty="0"/>
              <a:t>, </a:t>
            </a:r>
          </a:p>
          <a:p>
            <a:r>
              <a:rPr lang="en-US" i="1" dirty="0"/>
              <a:t>X</a:t>
            </a:r>
            <a:r>
              <a:rPr lang="en-US" baseline="-25000" dirty="0"/>
              <a:t>2</a:t>
            </a:r>
            <a:r>
              <a:rPr lang="en-US" dirty="0"/>
              <a:t> is exponentially distributed with mean 1/</a:t>
            </a:r>
            <a:r>
              <a:rPr lang="en-US" i="1" dirty="0">
                <a:latin typeface="Symbol" pitchFamily="18" charset="2"/>
                <a:sym typeface="Symbol" pitchFamily="18" charset="2"/>
              </a:rPr>
              <a:t></a:t>
            </a:r>
            <a:r>
              <a:rPr lang="en-US" baseline="-25000" dirty="0">
                <a:sym typeface="Symbol" pitchFamily="18" charset="2"/>
              </a:rPr>
              <a:t>2</a:t>
            </a:r>
            <a:r>
              <a:rPr lang="en-US" dirty="0">
                <a:sym typeface="Symbol" pitchFamily="18" charset="2"/>
              </a:rPr>
              <a:t>,</a:t>
            </a:r>
          </a:p>
          <a:p>
            <a:r>
              <a:rPr lang="en-US" i="1" dirty="0">
                <a:sym typeface="Symbol" pitchFamily="18" charset="2"/>
              </a:rPr>
              <a:t>X</a:t>
            </a:r>
            <a:r>
              <a:rPr lang="en-US" baseline="-25000" dirty="0">
                <a:sym typeface="Symbol" pitchFamily="18" charset="2"/>
              </a:rPr>
              <a:t>1</a:t>
            </a:r>
            <a:r>
              <a:rPr lang="en-US" dirty="0">
                <a:sym typeface="Symbol" pitchFamily="18" charset="2"/>
              </a:rPr>
              <a:t> and </a:t>
            </a:r>
            <a:r>
              <a:rPr lang="en-US" i="1" dirty="0">
                <a:sym typeface="Symbol" pitchFamily="18" charset="2"/>
              </a:rPr>
              <a:t>X</a:t>
            </a:r>
            <a:r>
              <a:rPr lang="en-US" baseline="-25000" dirty="0">
                <a:sym typeface="Symbol" pitchFamily="18" charset="2"/>
              </a:rPr>
              <a:t>2</a:t>
            </a:r>
            <a:r>
              <a:rPr lang="en-US" dirty="0">
                <a:sym typeface="Symbol" pitchFamily="18" charset="2"/>
              </a:rPr>
              <a:t> are independent.</a:t>
            </a:r>
            <a:endParaRPr lang="en-US" baseline="-25000" dirty="0">
              <a:sym typeface="Symbol" pitchFamily="18" charset="2"/>
            </a:endParaRPr>
          </a:p>
          <a:p>
            <a:pPr>
              <a:buFontTx/>
              <a:buNone/>
            </a:pPr>
            <a:r>
              <a:rPr lang="en-US" dirty="0">
                <a:sym typeface="Symbol" pitchFamily="18" charset="2"/>
              </a:rPr>
              <a:t></a:t>
            </a:r>
            <a:r>
              <a:rPr lang="en-US" dirty="0"/>
              <a:t>min(</a:t>
            </a:r>
            <a:r>
              <a:rPr lang="en-US" i="1" dirty="0"/>
              <a:t>X</a:t>
            </a:r>
            <a:r>
              <a:rPr lang="en-US" baseline="-25000" dirty="0"/>
              <a:t>1</a:t>
            </a:r>
            <a:r>
              <a:rPr lang="en-US" dirty="0"/>
              <a:t>, </a:t>
            </a:r>
            <a:r>
              <a:rPr lang="en-US" i="1" dirty="0"/>
              <a:t>X</a:t>
            </a:r>
            <a:r>
              <a:rPr lang="en-US" baseline="-25000" dirty="0"/>
              <a:t>2</a:t>
            </a:r>
            <a:r>
              <a:rPr lang="en-US" dirty="0"/>
              <a:t>) is exponentially distributed </a:t>
            </a:r>
          </a:p>
          <a:p>
            <a:pPr>
              <a:buFontTx/>
              <a:buNone/>
            </a:pPr>
            <a:r>
              <a:rPr lang="en-US" dirty="0"/>
              <a:t>	with mean 1 / (</a:t>
            </a:r>
            <a:r>
              <a:rPr lang="en-US" i="1" dirty="0">
                <a:latin typeface="Symbol" pitchFamily="18" charset="2"/>
                <a:sym typeface="Symbol" pitchFamily="18" charset="2"/>
              </a:rPr>
              <a:t></a:t>
            </a:r>
            <a:r>
              <a:rPr lang="en-US" baseline="-25000" dirty="0">
                <a:sym typeface="Symbol" pitchFamily="18" charset="2"/>
              </a:rPr>
              <a:t>1</a:t>
            </a:r>
            <a:r>
              <a:rPr lang="en-US" dirty="0"/>
              <a:t> + </a:t>
            </a:r>
            <a:r>
              <a:rPr lang="en-US" i="1" dirty="0">
                <a:latin typeface="Symbol" pitchFamily="18" charset="2"/>
                <a:sym typeface="Symbol" pitchFamily="18" charset="2"/>
              </a:rPr>
              <a:t></a:t>
            </a:r>
            <a:r>
              <a:rPr lang="en-US" baseline="-25000" dirty="0">
                <a:sym typeface="Symbol" pitchFamily="18" charset="2"/>
              </a:rPr>
              <a:t>2</a:t>
            </a:r>
            <a:r>
              <a:rPr lang="en-US" dirty="0"/>
              <a:t>).</a:t>
            </a:r>
            <a:r>
              <a:rPr lang="tr-TR" dirty="0"/>
              <a:t>  </a:t>
            </a:r>
            <a:endParaRPr lang="en-US" dirty="0"/>
          </a:p>
          <a:p>
            <a:pPr>
              <a:buFontTx/>
              <a:buNone/>
            </a:pPr>
            <a:r>
              <a:rPr lang="tr-TR" dirty="0" err="1">
                <a:sym typeface="Symbol" pitchFamily="18" charset="2"/>
              </a:rPr>
              <a:t>Two</a:t>
            </a:r>
            <a:r>
              <a:rPr lang="tr-TR" dirty="0">
                <a:sym typeface="Symbol" pitchFamily="18" charset="2"/>
              </a:rPr>
              <a:t> </a:t>
            </a:r>
            <a:r>
              <a:rPr lang="tr-TR" dirty="0" err="1">
                <a:sym typeface="Symbol" pitchFamily="18" charset="2"/>
              </a:rPr>
              <a:t>exponential</a:t>
            </a:r>
            <a:r>
              <a:rPr lang="tr-TR" dirty="0">
                <a:sym typeface="Symbol" pitchFamily="18" charset="2"/>
              </a:rPr>
              <a:t> alarm </a:t>
            </a:r>
            <a:r>
              <a:rPr lang="tr-TR" dirty="0" err="1">
                <a:sym typeface="Symbol" pitchFamily="18" charset="2"/>
              </a:rPr>
              <a:t>clocks</a:t>
            </a:r>
            <a:r>
              <a:rPr lang="tr-TR" dirty="0">
                <a:sym typeface="Symbol" pitchFamily="18" charset="2"/>
              </a:rPr>
              <a:t> </a:t>
            </a:r>
            <a:r>
              <a:rPr lang="tr-TR" dirty="0" err="1">
                <a:sym typeface="Symbol" pitchFamily="18" charset="2"/>
              </a:rPr>
              <a:t>ticking</a:t>
            </a:r>
            <a:endParaRPr lang="tr-TR" dirty="0">
              <a:sym typeface="Symbol" pitchFamily="18" charset="2"/>
            </a:endParaRPr>
          </a:p>
          <a:p>
            <a:pPr>
              <a:buFontTx/>
              <a:buNone/>
            </a:pPr>
            <a:r>
              <a:rPr lang="en-US" dirty="0">
                <a:sym typeface="Symbol" pitchFamily="18" charset="2"/>
              </a:rPr>
              <a:t>P(</a:t>
            </a:r>
            <a:r>
              <a:rPr lang="en-US" i="1" dirty="0">
                <a:sym typeface="Symbol" pitchFamily="18" charset="2"/>
              </a:rPr>
              <a:t>X</a:t>
            </a:r>
            <a:r>
              <a:rPr lang="en-US" baseline="-25000" dirty="0">
                <a:sym typeface="Symbol" pitchFamily="18" charset="2"/>
              </a:rPr>
              <a:t>1</a:t>
            </a:r>
            <a:r>
              <a:rPr lang="en-US" dirty="0">
                <a:sym typeface="Symbol" pitchFamily="18" charset="2"/>
              </a:rPr>
              <a:t> </a:t>
            </a:r>
            <a:r>
              <a:rPr lang="tr-TR" dirty="0">
                <a:sym typeface="Symbol" pitchFamily="18" charset="2"/>
              </a:rPr>
              <a:t>&lt;</a:t>
            </a:r>
            <a:r>
              <a:rPr lang="en-US" dirty="0">
                <a:sym typeface="Symbol" pitchFamily="18" charset="2"/>
              </a:rPr>
              <a:t> </a:t>
            </a:r>
            <a:r>
              <a:rPr lang="en-US" i="1" dirty="0">
                <a:sym typeface="Symbol" pitchFamily="18" charset="2"/>
              </a:rPr>
              <a:t>X</a:t>
            </a:r>
            <a:r>
              <a:rPr lang="en-US" baseline="-25000" dirty="0">
                <a:sym typeface="Symbol" pitchFamily="18" charset="2"/>
              </a:rPr>
              <a:t>2</a:t>
            </a:r>
            <a:r>
              <a:rPr lang="en-US" dirty="0">
                <a:sym typeface="Symbol" pitchFamily="18" charset="2"/>
              </a:rPr>
              <a:t>) = </a:t>
            </a:r>
            <a:r>
              <a:rPr lang="en-US" i="1" dirty="0">
                <a:latin typeface="Symbol" pitchFamily="18" charset="2"/>
                <a:sym typeface="Symbol" pitchFamily="18" charset="2"/>
              </a:rPr>
              <a:t></a:t>
            </a:r>
            <a:r>
              <a:rPr lang="en-US" baseline="-25000" dirty="0">
                <a:sym typeface="Symbol" pitchFamily="18" charset="2"/>
              </a:rPr>
              <a:t>1</a:t>
            </a:r>
            <a:r>
              <a:rPr lang="en-US" dirty="0">
                <a:sym typeface="Symbol" pitchFamily="18" charset="2"/>
              </a:rPr>
              <a:t> / (</a:t>
            </a:r>
            <a:r>
              <a:rPr lang="en-US" i="1" dirty="0">
                <a:latin typeface="Symbol" pitchFamily="18" charset="2"/>
                <a:sym typeface="Symbol" pitchFamily="18" charset="2"/>
              </a:rPr>
              <a:t></a:t>
            </a:r>
            <a:r>
              <a:rPr lang="en-US" baseline="-25000" dirty="0">
                <a:sym typeface="Symbol" pitchFamily="18" charset="2"/>
              </a:rPr>
              <a:t>1</a:t>
            </a:r>
            <a:r>
              <a:rPr lang="en-US" dirty="0">
                <a:sym typeface="Symbol" pitchFamily="18" charset="2"/>
              </a:rPr>
              <a:t>+</a:t>
            </a:r>
            <a:r>
              <a:rPr lang="en-US" i="1" dirty="0">
                <a:latin typeface="Symbol" pitchFamily="18" charset="2"/>
                <a:sym typeface="Symbol" pitchFamily="18" charset="2"/>
              </a:rPr>
              <a:t></a:t>
            </a:r>
            <a:r>
              <a:rPr lang="en-US" baseline="-25000" dirty="0">
                <a:sym typeface="Symbol" pitchFamily="18" charset="2"/>
              </a:rPr>
              <a:t>2</a:t>
            </a:r>
            <a:r>
              <a:rPr lang="en-US" dirty="0">
                <a:sym typeface="Symbol" pitchFamily="18" charset="2"/>
              </a:rPr>
              <a:t>) and    	             P(</a:t>
            </a:r>
            <a:r>
              <a:rPr lang="en-US" i="1" dirty="0">
                <a:sym typeface="Symbol" pitchFamily="18" charset="2"/>
              </a:rPr>
              <a:t>X</a:t>
            </a:r>
            <a:r>
              <a:rPr lang="en-US" baseline="-25000" dirty="0">
                <a:sym typeface="Symbol" pitchFamily="18" charset="2"/>
              </a:rPr>
              <a:t>2</a:t>
            </a:r>
            <a:r>
              <a:rPr lang="en-US" dirty="0">
                <a:sym typeface="Symbol" pitchFamily="18" charset="2"/>
              </a:rPr>
              <a:t> </a:t>
            </a:r>
            <a:r>
              <a:rPr lang="tr-TR" dirty="0">
                <a:sym typeface="Symbol" pitchFamily="18" charset="2"/>
              </a:rPr>
              <a:t>&lt;</a:t>
            </a:r>
            <a:r>
              <a:rPr lang="en-US" dirty="0">
                <a:sym typeface="Symbol" pitchFamily="18" charset="2"/>
              </a:rPr>
              <a:t> </a:t>
            </a:r>
            <a:r>
              <a:rPr lang="en-US" i="1" dirty="0">
                <a:sym typeface="Symbol" pitchFamily="18" charset="2"/>
              </a:rPr>
              <a:t>X</a:t>
            </a:r>
            <a:r>
              <a:rPr lang="en-US" baseline="-25000" dirty="0">
                <a:sym typeface="Symbol" pitchFamily="18" charset="2"/>
              </a:rPr>
              <a:t>1</a:t>
            </a:r>
            <a:r>
              <a:rPr lang="en-US" dirty="0">
                <a:sym typeface="Symbol" pitchFamily="18" charset="2"/>
              </a:rPr>
              <a:t>) = </a:t>
            </a:r>
            <a:r>
              <a:rPr lang="en-US" i="1" dirty="0">
                <a:latin typeface="Symbol" pitchFamily="18" charset="2"/>
                <a:sym typeface="Symbol" pitchFamily="18" charset="2"/>
              </a:rPr>
              <a:t></a:t>
            </a:r>
            <a:r>
              <a:rPr lang="en-US" baseline="-25000" dirty="0">
                <a:sym typeface="Symbol" pitchFamily="18" charset="2"/>
              </a:rPr>
              <a:t>2</a:t>
            </a:r>
            <a:r>
              <a:rPr lang="en-US" dirty="0">
                <a:sym typeface="Symbol" pitchFamily="18" charset="2"/>
              </a:rPr>
              <a:t> / (</a:t>
            </a:r>
            <a:r>
              <a:rPr lang="en-US" i="1" dirty="0">
                <a:latin typeface="Symbol" pitchFamily="18" charset="2"/>
                <a:sym typeface="Symbol" pitchFamily="18" charset="2"/>
              </a:rPr>
              <a:t></a:t>
            </a:r>
            <a:r>
              <a:rPr lang="en-US" baseline="-25000" dirty="0">
                <a:sym typeface="Symbol" pitchFamily="18" charset="2"/>
              </a:rPr>
              <a:t>1</a:t>
            </a:r>
            <a:r>
              <a:rPr lang="en-US" dirty="0">
                <a:sym typeface="Symbol" pitchFamily="18" charset="2"/>
              </a:rPr>
              <a:t>+</a:t>
            </a:r>
            <a:r>
              <a:rPr lang="en-US" i="1" dirty="0">
                <a:latin typeface="Symbol" pitchFamily="18" charset="2"/>
                <a:sym typeface="Symbol" pitchFamily="18" charset="2"/>
              </a:rPr>
              <a:t></a:t>
            </a:r>
            <a:r>
              <a:rPr lang="en-US" baseline="-25000" dirty="0">
                <a:sym typeface="Symbol" pitchFamily="18" charset="2"/>
              </a:rPr>
              <a:t>2</a:t>
            </a:r>
            <a:r>
              <a:rPr lang="en-US" dirty="0">
                <a:sym typeface="Symbol" pitchFamily="18" charset="2"/>
              </a:rPr>
              <a:t>).</a:t>
            </a:r>
            <a:r>
              <a:rPr lang="tr-TR" dirty="0">
                <a:sym typeface="Symbol" pitchFamily="18" charset="2"/>
              </a:rPr>
              <a:t> </a:t>
            </a:r>
          </a:p>
          <a:p>
            <a:pPr>
              <a:buFontTx/>
              <a:buNone/>
            </a:pPr>
            <a:r>
              <a:rPr lang="tr-TR" dirty="0" err="1">
                <a:sym typeface="Symbol" pitchFamily="18" charset="2"/>
              </a:rPr>
              <a:t>Which</a:t>
            </a:r>
            <a:r>
              <a:rPr lang="tr-TR" dirty="0">
                <a:sym typeface="Symbol" pitchFamily="18" charset="2"/>
              </a:rPr>
              <a:t> alarm </a:t>
            </a:r>
            <a:r>
              <a:rPr lang="tr-TR" dirty="0" err="1">
                <a:sym typeface="Symbol" pitchFamily="18" charset="2"/>
              </a:rPr>
              <a:t>rings</a:t>
            </a:r>
            <a:r>
              <a:rPr lang="tr-TR" dirty="0">
                <a:sym typeface="Symbol" pitchFamily="18" charset="2"/>
              </a:rPr>
              <a:t> </a:t>
            </a:r>
            <a:r>
              <a:rPr lang="tr-TR" dirty="0" err="1">
                <a:sym typeface="Symbol" pitchFamily="18" charset="2"/>
              </a:rPr>
              <a:t>first</a:t>
            </a:r>
            <a:r>
              <a:rPr lang="tr-TR" dirty="0">
                <a:sym typeface="Symbol" pitchFamily="18" charset="2"/>
              </a:rPr>
              <a:t>?</a:t>
            </a:r>
            <a:endParaRPr lang="en-US" dirty="0">
              <a:sym typeface="Symbol" pitchFamily="18" charset="2"/>
            </a:endParaRPr>
          </a:p>
        </p:txBody>
      </p:sp>
      <p:pic>
        <p:nvPicPr>
          <p:cNvPr id="3" name="Graphic 2" descr="Clock">
            <a:extLst>
              <a:ext uri="{FF2B5EF4-FFF2-40B4-BE49-F238E27FC236}">
                <a16:creationId xmlns:a16="http://schemas.microsoft.com/office/drawing/2014/main" id="{576BEDC8-1208-490A-8F1E-B8088F974F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10200" y="3810000"/>
            <a:ext cx="914400" cy="914400"/>
          </a:xfrm>
          <a:prstGeom prst="rect">
            <a:avLst/>
          </a:prstGeom>
        </p:spPr>
      </p:pic>
      <p:pic>
        <p:nvPicPr>
          <p:cNvPr id="7" name="Graphic 6" descr="Clock">
            <a:extLst>
              <a:ext uri="{FF2B5EF4-FFF2-40B4-BE49-F238E27FC236}">
                <a16:creationId xmlns:a16="http://schemas.microsoft.com/office/drawing/2014/main" id="{F3CAEF00-4DDC-49E4-A666-A96FE235DCA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62700" y="38100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78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78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78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7811">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7811">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7811">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7811">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78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1"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5"/>
          <p:cNvSpPr>
            <a:spLocks noGrp="1"/>
          </p:cNvSpPr>
          <p:nvPr>
            <p:ph type="sldNum" sz="quarter" idx="12"/>
          </p:nvPr>
        </p:nvSpPr>
        <p:spPr>
          <a:noFill/>
        </p:spPr>
        <p:txBody>
          <a:bodyPr/>
          <a:lstStyle/>
          <a:p>
            <a:fld id="{BCF4A85C-1AA8-4AF5-B098-D532CB005CC0}" type="slidenum">
              <a:rPr lang="en-US" smtClean="0"/>
              <a:pPr/>
              <a:t>13</a:t>
            </a:fld>
            <a:endParaRPr lang="en-US"/>
          </a:p>
        </p:txBody>
      </p:sp>
      <p:sp>
        <p:nvSpPr>
          <p:cNvPr id="86019" name="Rectangle 2"/>
          <p:cNvSpPr>
            <a:spLocks noGrp="1" noChangeArrowheads="1"/>
          </p:cNvSpPr>
          <p:nvPr>
            <p:ph type="title"/>
          </p:nvPr>
        </p:nvSpPr>
        <p:spPr/>
        <p:txBody>
          <a:bodyPr/>
          <a:lstStyle/>
          <a:p>
            <a:r>
              <a:rPr lang="en-US" sz="4000"/>
              <a:t>Continuous Time Markov Chains</a:t>
            </a:r>
          </a:p>
        </p:txBody>
      </p:sp>
      <p:sp>
        <p:nvSpPr>
          <p:cNvPr id="86020" name="Rectangle 3"/>
          <p:cNvSpPr>
            <a:spLocks noGrp="1" noChangeArrowheads="1"/>
          </p:cNvSpPr>
          <p:nvPr>
            <p:ph type="body" idx="1"/>
          </p:nvPr>
        </p:nvSpPr>
        <p:spPr>
          <a:xfrm>
            <a:off x="457200" y="1600200"/>
            <a:ext cx="8534400" cy="4525963"/>
          </a:xfrm>
        </p:spPr>
        <p:txBody>
          <a:bodyPr/>
          <a:lstStyle/>
          <a:p>
            <a:r>
              <a:rPr lang="en-US" dirty="0"/>
              <a:t>BEWARE: This time we are dealing with two components.</a:t>
            </a:r>
          </a:p>
          <a:p>
            <a:pPr lvl="1"/>
            <a:r>
              <a:rPr lang="en-US" dirty="0"/>
              <a:t>The </a:t>
            </a:r>
            <a:r>
              <a:rPr lang="tr-TR" dirty="0"/>
              <a:t>t</a:t>
            </a:r>
            <a:r>
              <a:rPr lang="en-US" dirty="0" err="1"/>
              <a:t>ime</a:t>
            </a:r>
            <a:r>
              <a:rPr lang="en-US" dirty="0"/>
              <a:t> spent in state </a:t>
            </a:r>
            <a:r>
              <a:rPr lang="en-US" dirty="0" err="1"/>
              <a:t>i</a:t>
            </a:r>
            <a:r>
              <a:rPr lang="en-US" dirty="0"/>
              <a:t> before transitioning into another state.</a:t>
            </a:r>
          </a:p>
          <a:p>
            <a:pPr lvl="2"/>
            <a:r>
              <a:rPr lang="en-US" dirty="0"/>
              <a:t>This does not take into account the probability of transitioning into state j.</a:t>
            </a:r>
          </a:p>
          <a:p>
            <a:pPr lvl="1"/>
            <a:r>
              <a:rPr lang="en-US" dirty="0"/>
              <a:t>The probabilities of transitioning into different states.</a:t>
            </a:r>
          </a:p>
          <a:p>
            <a:pPr lvl="2"/>
            <a:r>
              <a:rPr lang="en-US" dirty="0"/>
              <a:t>This does not take into account the rates at which the transitions occur.</a:t>
            </a:r>
            <a:endParaRPr lang="tr-TR" dirty="0"/>
          </a:p>
          <a:p>
            <a:r>
              <a:rPr lang="tr-TR" dirty="0" err="1"/>
              <a:t>Hence</a:t>
            </a:r>
            <a:r>
              <a:rPr lang="tr-TR" dirty="0"/>
              <a:t> </a:t>
            </a:r>
            <a:r>
              <a:rPr lang="tr-TR" dirty="0" err="1"/>
              <a:t>transition</a:t>
            </a:r>
            <a:r>
              <a:rPr lang="tr-TR" dirty="0"/>
              <a:t> </a:t>
            </a:r>
            <a:r>
              <a:rPr lang="tr-TR" dirty="0" err="1"/>
              <a:t>rates</a:t>
            </a:r>
            <a:endParaRPr lang="en-US" dirty="0"/>
          </a:p>
        </p:txBody>
      </p:sp>
    </p:spTree>
    <p:extLst>
      <p:ext uri="{BB962C8B-B14F-4D97-AF65-F5344CB8AC3E}">
        <p14:creationId xmlns:p14="http://schemas.microsoft.com/office/powerpoint/2010/main" val="4231184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0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02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0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602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602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Number Placeholder 6"/>
          <p:cNvSpPr>
            <a:spLocks noGrp="1"/>
          </p:cNvSpPr>
          <p:nvPr>
            <p:ph type="sldNum" sz="quarter" idx="12"/>
          </p:nvPr>
        </p:nvSpPr>
        <p:spPr>
          <a:noFill/>
        </p:spPr>
        <p:txBody>
          <a:bodyPr/>
          <a:lstStyle/>
          <a:p>
            <a:fld id="{3E8A2BD9-ED89-40A4-BEDC-F02CBE701B5D}" type="slidenum">
              <a:rPr lang="en-US" smtClean="0"/>
              <a:pPr/>
              <a:t>14</a:t>
            </a:fld>
            <a:endParaRPr lang="en-US"/>
          </a:p>
        </p:txBody>
      </p:sp>
      <p:pic>
        <p:nvPicPr>
          <p:cNvPr id="249871" name="Picture 15" descr="txp_fig"/>
          <p:cNvPicPr>
            <a:picLocks noChangeAspect="1" noChangeArrowheads="1"/>
          </p:cNvPicPr>
          <p:nvPr>
            <p:custDataLst>
              <p:tags r:id="rId1"/>
            </p:custDataLst>
          </p:nvPr>
        </p:nvPicPr>
        <p:blipFill>
          <a:blip r:embed="rId5" cstate="print"/>
          <a:srcRect/>
          <a:stretch>
            <a:fillRect/>
          </a:stretch>
        </p:blipFill>
        <p:spPr bwMode="auto">
          <a:xfrm>
            <a:off x="914400" y="4849813"/>
            <a:ext cx="4856163" cy="636587"/>
          </a:xfrm>
          <a:prstGeom prst="rect">
            <a:avLst/>
          </a:prstGeom>
          <a:noFill/>
          <a:ln w="9525">
            <a:noFill/>
            <a:miter lim="800000"/>
            <a:headEnd/>
            <a:tailEnd/>
          </a:ln>
        </p:spPr>
      </p:pic>
      <p:sp>
        <p:nvSpPr>
          <p:cNvPr id="88068" name="Rectangle 2"/>
          <p:cNvSpPr>
            <a:spLocks noGrp="1" noChangeArrowheads="1"/>
          </p:cNvSpPr>
          <p:nvPr>
            <p:ph type="title"/>
          </p:nvPr>
        </p:nvSpPr>
        <p:spPr/>
        <p:txBody>
          <a:bodyPr/>
          <a:lstStyle/>
          <a:p>
            <a:r>
              <a:rPr lang="en-US"/>
              <a:t>Transition Rates</a:t>
            </a:r>
          </a:p>
        </p:txBody>
      </p:sp>
      <p:sp>
        <p:nvSpPr>
          <p:cNvPr id="249859" name="Rectangle 3"/>
          <p:cNvSpPr>
            <a:spLocks noGrp="1" noChangeArrowheads="1"/>
          </p:cNvSpPr>
          <p:nvPr>
            <p:ph type="body" sz="half" idx="1"/>
          </p:nvPr>
        </p:nvSpPr>
        <p:spPr>
          <a:xfrm>
            <a:off x="457200" y="1600200"/>
            <a:ext cx="8305800" cy="4525963"/>
          </a:xfrm>
        </p:spPr>
        <p:txBody>
          <a:bodyPr/>
          <a:lstStyle/>
          <a:p>
            <a:r>
              <a:rPr lang="en-US" i="1"/>
              <a:t>q</a:t>
            </a:r>
            <a:r>
              <a:rPr lang="en-US" i="1" baseline="-25000"/>
              <a:t>i</a:t>
            </a:r>
            <a:r>
              <a:rPr lang="en-US"/>
              <a:t>, i.e., the rate of the exponential distribution </a:t>
            </a:r>
            <a:r>
              <a:rPr lang="en-US" i="1"/>
              <a:t>T</a:t>
            </a:r>
            <a:r>
              <a:rPr lang="en-US" i="1" baseline="-25000"/>
              <a:t>i</a:t>
            </a:r>
            <a:r>
              <a:rPr lang="en-US"/>
              <a:t>, is the rate of transition </a:t>
            </a:r>
            <a:r>
              <a:rPr lang="en-US" b="1" i="1"/>
              <a:t>out of state </a:t>
            </a:r>
            <a:r>
              <a:rPr lang="en-US" i="1"/>
              <a:t>i</a:t>
            </a:r>
            <a:r>
              <a:rPr lang="en-US"/>
              <a:t>.</a:t>
            </a:r>
          </a:p>
          <a:p>
            <a:r>
              <a:rPr lang="en-US" i="1"/>
              <a:t>q</a:t>
            </a:r>
            <a:r>
              <a:rPr lang="en-US" i="1" baseline="-25000"/>
              <a:t>ij</a:t>
            </a:r>
            <a:r>
              <a:rPr lang="en-US" i="1"/>
              <a:t>=q</a:t>
            </a:r>
            <a:r>
              <a:rPr lang="en-US" i="1" baseline="-25000"/>
              <a:t>i</a:t>
            </a:r>
            <a:r>
              <a:rPr lang="en-US"/>
              <a:t>*</a:t>
            </a:r>
            <a:r>
              <a:rPr lang="en-US" i="1"/>
              <a:t>P</a:t>
            </a:r>
            <a:r>
              <a:rPr lang="en-US" i="1" baseline="-25000"/>
              <a:t>ij</a:t>
            </a:r>
            <a:r>
              <a:rPr lang="en-US"/>
              <a:t> is the rate of transition </a:t>
            </a:r>
            <a:r>
              <a:rPr lang="en-US" b="1" i="1"/>
              <a:t>into state</a:t>
            </a:r>
            <a:r>
              <a:rPr lang="en-US"/>
              <a:t> </a:t>
            </a:r>
            <a:r>
              <a:rPr lang="en-US" i="1"/>
              <a:t>j </a:t>
            </a:r>
            <a:r>
              <a:rPr lang="en-US" b="1" i="1"/>
              <a:t>from state</a:t>
            </a:r>
            <a:r>
              <a:rPr lang="en-US"/>
              <a:t> </a:t>
            </a:r>
            <a:r>
              <a:rPr lang="en-US" i="1"/>
              <a:t>i</a:t>
            </a:r>
            <a:r>
              <a:rPr lang="en-US"/>
              <a:t>.</a:t>
            </a:r>
          </a:p>
          <a:p>
            <a:r>
              <a:rPr lang="en-US"/>
              <a:t>We also have</a:t>
            </a:r>
          </a:p>
          <a:p>
            <a:endParaRPr lang="en-US"/>
          </a:p>
        </p:txBody>
      </p:sp>
      <p:sp>
        <p:nvSpPr>
          <p:cNvPr id="249865" name="Rectangle 9"/>
          <p:cNvSpPr>
            <a:spLocks noChangeArrowheads="1"/>
          </p:cNvSpPr>
          <p:nvPr/>
        </p:nvSpPr>
        <p:spPr bwMode="auto">
          <a:xfrm>
            <a:off x="1600200" y="4800600"/>
            <a:ext cx="6477000" cy="1066800"/>
          </a:xfrm>
          <a:prstGeom prst="rect">
            <a:avLst/>
          </a:prstGeom>
          <a:solidFill>
            <a:schemeClr val="bg1"/>
          </a:solidFill>
          <a:ln w="9525">
            <a:noFill/>
            <a:miter lim="800000"/>
            <a:headEnd/>
            <a:tailEnd/>
          </a:ln>
        </p:spPr>
        <p:txBody>
          <a:bodyPr wrap="none" anchor="ctr"/>
          <a:lstStyle/>
          <a:p>
            <a:endParaRPr lang="en-US"/>
          </a:p>
        </p:txBody>
      </p:sp>
      <p:grpSp>
        <p:nvGrpSpPr>
          <p:cNvPr id="2" name="Group 21"/>
          <p:cNvGrpSpPr>
            <a:grpSpLocks/>
          </p:cNvGrpSpPr>
          <p:nvPr/>
        </p:nvGrpSpPr>
        <p:grpSpPr bwMode="auto">
          <a:xfrm>
            <a:off x="876300" y="5410200"/>
            <a:ext cx="4638675" cy="1416050"/>
            <a:chOff x="552" y="3408"/>
            <a:chExt cx="2922" cy="892"/>
          </a:xfrm>
        </p:grpSpPr>
        <p:sp>
          <p:nvSpPr>
            <p:cNvPr id="88072" name="Line 16"/>
            <p:cNvSpPr>
              <a:spLocks noChangeShapeType="1"/>
            </p:cNvSpPr>
            <p:nvPr/>
          </p:nvSpPr>
          <p:spPr bwMode="auto">
            <a:xfrm flipV="1">
              <a:off x="1536" y="3408"/>
              <a:ext cx="0" cy="432"/>
            </a:xfrm>
            <a:prstGeom prst="line">
              <a:avLst/>
            </a:prstGeom>
            <a:noFill/>
            <a:ln w="9525">
              <a:solidFill>
                <a:schemeClr val="tx1"/>
              </a:solidFill>
              <a:round/>
              <a:headEnd/>
              <a:tailEnd type="triangle" w="med" len="med"/>
            </a:ln>
          </p:spPr>
          <p:txBody>
            <a:bodyPr/>
            <a:lstStyle/>
            <a:p>
              <a:endParaRPr lang="en-US"/>
            </a:p>
          </p:txBody>
        </p:sp>
        <p:pic>
          <p:nvPicPr>
            <p:cNvPr id="88073" name="Picture 20" descr="txp_fig"/>
            <p:cNvPicPr>
              <a:picLocks noChangeAspect="1" noChangeArrowheads="1"/>
            </p:cNvPicPr>
            <p:nvPr>
              <p:custDataLst>
                <p:tags r:id="rId2"/>
              </p:custDataLst>
            </p:nvPr>
          </p:nvPicPr>
          <p:blipFill>
            <a:blip r:embed="rId6" cstate="print"/>
            <a:srcRect/>
            <a:stretch>
              <a:fillRect/>
            </a:stretch>
          </p:blipFill>
          <p:spPr bwMode="auto">
            <a:xfrm>
              <a:off x="552" y="3761"/>
              <a:ext cx="2922" cy="539"/>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98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98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98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24986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build="p"/>
      <p:bldP spid="24986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Number Placeholder 5"/>
          <p:cNvSpPr>
            <a:spLocks noGrp="1"/>
          </p:cNvSpPr>
          <p:nvPr>
            <p:ph type="sldNum" sz="quarter" idx="12"/>
          </p:nvPr>
        </p:nvSpPr>
        <p:spPr>
          <a:noFill/>
        </p:spPr>
        <p:txBody>
          <a:bodyPr/>
          <a:lstStyle/>
          <a:p>
            <a:fld id="{DD9C4C84-C766-456D-A4C6-9ADD3716D5FF}" type="slidenum">
              <a:rPr lang="en-US" smtClean="0"/>
              <a:pPr/>
              <a:t>15</a:t>
            </a:fld>
            <a:endParaRPr lang="en-US"/>
          </a:p>
        </p:txBody>
      </p:sp>
      <p:sp>
        <p:nvSpPr>
          <p:cNvPr id="89091" name="Rectangle 2"/>
          <p:cNvSpPr>
            <a:spLocks noGrp="1" noChangeArrowheads="1"/>
          </p:cNvSpPr>
          <p:nvPr>
            <p:ph type="title"/>
          </p:nvPr>
        </p:nvSpPr>
        <p:spPr/>
        <p:txBody>
          <a:bodyPr/>
          <a:lstStyle/>
          <a:p>
            <a:r>
              <a:rPr lang="en-US"/>
              <a:t>Example</a:t>
            </a:r>
          </a:p>
        </p:txBody>
      </p:sp>
      <p:sp>
        <p:nvSpPr>
          <p:cNvPr id="89092" name="Rectangle 3"/>
          <p:cNvSpPr>
            <a:spLocks noGrp="1" noChangeArrowheads="1"/>
          </p:cNvSpPr>
          <p:nvPr>
            <p:ph type="body" idx="1"/>
          </p:nvPr>
        </p:nvSpPr>
        <p:spPr/>
        <p:txBody>
          <a:bodyPr/>
          <a:lstStyle/>
          <a:p>
            <a:r>
              <a:rPr lang="en-US" dirty="0"/>
              <a:t>A machine shop has two identical </a:t>
            </a:r>
            <a:r>
              <a:rPr lang="en-US" dirty="0" err="1"/>
              <a:t>machin</a:t>
            </a:r>
            <a:r>
              <a:rPr lang="tr-TR" dirty="0"/>
              <a:t>es </a:t>
            </a:r>
            <a:r>
              <a:rPr lang="tr-TR" dirty="0" err="1"/>
              <a:t>and</a:t>
            </a:r>
            <a:r>
              <a:rPr lang="tr-TR" dirty="0"/>
              <a:t> a </a:t>
            </a:r>
            <a:r>
              <a:rPr lang="tr-TR" dirty="0" err="1"/>
              <a:t>single</a:t>
            </a:r>
            <a:r>
              <a:rPr lang="tr-TR" dirty="0"/>
              <a:t> </a:t>
            </a:r>
            <a:r>
              <a:rPr lang="tr-TR" dirty="0" err="1"/>
              <a:t>repair</a:t>
            </a:r>
            <a:r>
              <a:rPr lang="tr-TR" dirty="0"/>
              <a:t> </a:t>
            </a:r>
            <a:r>
              <a:rPr lang="tr-TR" dirty="0" err="1"/>
              <a:t>person</a:t>
            </a:r>
            <a:endParaRPr lang="tr-TR" dirty="0"/>
          </a:p>
          <a:p>
            <a:r>
              <a:rPr lang="tr-TR" dirty="0"/>
              <a:t>Time </a:t>
            </a:r>
            <a:r>
              <a:rPr lang="tr-TR" dirty="0" err="1"/>
              <a:t>until</a:t>
            </a:r>
            <a:r>
              <a:rPr lang="tr-TR" dirty="0"/>
              <a:t> </a:t>
            </a:r>
            <a:r>
              <a:rPr lang="tr-TR" dirty="0" err="1"/>
              <a:t>the</a:t>
            </a:r>
            <a:r>
              <a:rPr lang="tr-TR" dirty="0"/>
              <a:t> </a:t>
            </a:r>
            <a:r>
              <a:rPr lang="tr-TR" dirty="0" err="1"/>
              <a:t>next</a:t>
            </a:r>
            <a:r>
              <a:rPr lang="tr-TR" dirty="0"/>
              <a:t> </a:t>
            </a:r>
            <a:r>
              <a:rPr lang="tr-TR" dirty="0" err="1"/>
              <a:t>breakdown</a:t>
            </a:r>
            <a:r>
              <a:rPr lang="tr-TR" dirty="0"/>
              <a:t> is </a:t>
            </a:r>
            <a:r>
              <a:rPr lang="tr-TR" dirty="0" err="1"/>
              <a:t>exponentially</a:t>
            </a:r>
            <a:r>
              <a:rPr lang="tr-TR" dirty="0"/>
              <a:t> </a:t>
            </a:r>
            <a:r>
              <a:rPr lang="tr-TR" dirty="0" err="1"/>
              <a:t>distributed</a:t>
            </a:r>
            <a:r>
              <a:rPr lang="tr-TR" dirty="0"/>
              <a:t> </a:t>
            </a:r>
            <a:r>
              <a:rPr lang="tr-TR" dirty="0" err="1"/>
              <a:t>with</a:t>
            </a:r>
            <a:r>
              <a:rPr lang="tr-TR" dirty="0"/>
              <a:t> a </a:t>
            </a:r>
            <a:r>
              <a:rPr lang="tr-TR" dirty="0" err="1"/>
              <a:t>mean</a:t>
            </a:r>
            <a:r>
              <a:rPr lang="tr-TR" dirty="0"/>
              <a:t> of 1 </a:t>
            </a:r>
            <a:r>
              <a:rPr lang="tr-TR" dirty="0" err="1"/>
              <a:t>day</a:t>
            </a:r>
            <a:r>
              <a:rPr lang="tr-TR" dirty="0"/>
              <a:t> (</a:t>
            </a:r>
            <a:r>
              <a:rPr lang="tr-TR" dirty="0" err="1"/>
              <a:t>for</a:t>
            </a:r>
            <a:r>
              <a:rPr lang="tr-TR" dirty="0"/>
              <a:t> </a:t>
            </a:r>
            <a:r>
              <a:rPr lang="tr-TR" dirty="0" err="1"/>
              <a:t>each</a:t>
            </a:r>
            <a:r>
              <a:rPr lang="tr-TR" dirty="0"/>
              <a:t> </a:t>
            </a:r>
            <a:r>
              <a:rPr lang="tr-TR" dirty="0" err="1"/>
              <a:t>machine</a:t>
            </a:r>
            <a:r>
              <a:rPr lang="tr-TR" dirty="0"/>
              <a:t>)</a:t>
            </a:r>
          </a:p>
          <a:p>
            <a:r>
              <a:rPr lang="tr-TR" dirty="0"/>
              <a:t>Time </a:t>
            </a:r>
            <a:r>
              <a:rPr lang="tr-TR" dirty="0" err="1"/>
              <a:t>required</a:t>
            </a:r>
            <a:r>
              <a:rPr lang="tr-TR" dirty="0"/>
              <a:t> </a:t>
            </a:r>
            <a:r>
              <a:rPr lang="tr-TR" dirty="0" err="1"/>
              <a:t>for</a:t>
            </a:r>
            <a:r>
              <a:rPr lang="tr-TR" dirty="0"/>
              <a:t> </a:t>
            </a:r>
            <a:r>
              <a:rPr lang="tr-TR" dirty="0" err="1"/>
              <a:t>repair</a:t>
            </a:r>
            <a:r>
              <a:rPr lang="tr-TR" dirty="0"/>
              <a:t> is </a:t>
            </a:r>
            <a:r>
              <a:rPr lang="tr-TR" dirty="0" err="1"/>
              <a:t>exponentially</a:t>
            </a:r>
            <a:r>
              <a:rPr lang="tr-TR" dirty="0"/>
              <a:t> </a:t>
            </a:r>
            <a:r>
              <a:rPr lang="tr-TR" dirty="0" err="1"/>
              <a:t>distributed</a:t>
            </a:r>
            <a:r>
              <a:rPr lang="tr-TR" dirty="0"/>
              <a:t> </a:t>
            </a:r>
            <a:r>
              <a:rPr lang="tr-TR" dirty="0" err="1"/>
              <a:t>with</a:t>
            </a:r>
            <a:r>
              <a:rPr lang="tr-TR" dirty="0"/>
              <a:t> a </a:t>
            </a:r>
            <a:r>
              <a:rPr lang="tr-TR" dirty="0" err="1"/>
              <a:t>mean</a:t>
            </a:r>
            <a:r>
              <a:rPr lang="tr-TR" dirty="0"/>
              <a:t> of ½ </a:t>
            </a:r>
            <a:r>
              <a:rPr lang="tr-TR" dirty="0" err="1"/>
              <a:t>days</a:t>
            </a:r>
            <a:endParaRPr lang="en-US"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5"/>
          <p:cNvSpPr>
            <a:spLocks noGrp="1"/>
          </p:cNvSpPr>
          <p:nvPr>
            <p:ph type="sldNum" sz="quarter" idx="12"/>
          </p:nvPr>
        </p:nvSpPr>
        <p:spPr>
          <a:noFill/>
        </p:spPr>
        <p:txBody>
          <a:bodyPr/>
          <a:lstStyle/>
          <a:p>
            <a:fld id="{5362DC34-B63C-4AF9-9B64-8610E419982A}" type="slidenum">
              <a:rPr lang="en-US" smtClean="0"/>
              <a:pPr/>
              <a:t>16</a:t>
            </a:fld>
            <a:endParaRPr lang="en-US"/>
          </a:p>
        </p:txBody>
      </p:sp>
      <p:sp>
        <p:nvSpPr>
          <p:cNvPr id="90115" name="Rectangle 2"/>
          <p:cNvSpPr>
            <a:spLocks noGrp="1" noChangeArrowheads="1"/>
          </p:cNvSpPr>
          <p:nvPr>
            <p:ph type="title"/>
          </p:nvPr>
        </p:nvSpPr>
        <p:spPr/>
        <p:txBody>
          <a:bodyPr/>
          <a:lstStyle/>
          <a:p>
            <a:r>
              <a:rPr lang="en-US"/>
              <a:t>Steady-State Probabilities</a:t>
            </a:r>
          </a:p>
        </p:txBody>
      </p:sp>
      <p:sp>
        <p:nvSpPr>
          <p:cNvPr id="263173" name="Rectangle 5"/>
          <p:cNvSpPr>
            <a:spLocks noGrp="1" noChangeArrowheads="1"/>
          </p:cNvSpPr>
          <p:nvPr>
            <p:ph type="body" idx="1"/>
          </p:nvPr>
        </p:nvSpPr>
        <p:spPr>
          <a:xfrm>
            <a:off x="457200" y="1295400"/>
            <a:ext cx="8458200" cy="3048000"/>
          </a:xfrm>
          <a:noFill/>
        </p:spPr>
        <p:txBody>
          <a:bodyPr/>
          <a:lstStyle/>
          <a:p>
            <a:r>
              <a:rPr lang="en-US"/>
              <a:t>For any </a:t>
            </a:r>
            <a:r>
              <a:rPr lang="en-US" b="1" i="1"/>
              <a:t>irreducible finite-state </a:t>
            </a:r>
            <a:r>
              <a:rPr lang="en-US"/>
              <a:t>continuous time</a:t>
            </a:r>
            <a:r>
              <a:rPr lang="en-US" b="1" i="1"/>
              <a:t> </a:t>
            </a:r>
            <a:r>
              <a:rPr lang="en-US"/>
              <a:t>Markov chain (periodicity and therefore ergodicity does not apply to continuous time Markov chains),       		exists and is independent of </a:t>
            </a:r>
            <a:r>
              <a:rPr lang="en-US" i="1"/>
              <a:t>i. </a:t>
            </a:r>
            <a:r>
              <a:rPr lang="en-US"/>
              <a:t>Furthermore, </a:t>
            </a:r>
            <a:r>
              <a:rPr lang="en-US" i="1">
                <a:sym typeface="Symbol" pitchFamily="18" charset="2"/>
              </a:rPr>
              <a:t></a:t>
            </a:r>
            <a:r>
              <a:rPr lang="en-US" i="1" baseline="-25000">
                <a:sym typeface="Symbol" pitchFamily="18" charset="2"/>
              </a:rPr>
              <a:t>j</a:t>
            </a:r>
            <a:r>
              <a:rPr lang="en-US"/>
              <a:t>’s </a:t>
            </a:r>
            <a:r>
              <a:rPr lang="en-US" b="1" i="1"/>
              <a:t>uniquely</a:t>
            </a:r>
            <a:r>
              <a:rPr lang="en-US"/>
              <a:t> satisfy the following equations:</a:t>
            </a:r>
          </a:p>
        </p:txBody>
      </p:sp>
      <p:pic>
        <p:nvPicPr>
          <p:cNvPr id="263180" name="Picture 12" descr="txp_fig"/>
          <p:cNvPicPr>
            <a:picLocks noChangeAspect="1" noChangeArrowheads="1"/>
          </p:cNvPicPr>
          <p:nvPr>
            <p:custDataLst>
              <p:tags r:id="rId1"/>
            </p:custDataLst>
          </p:nvPr>
        </p:nvPicPr>
        <p:blipFill>
          <a:blip r:embed="rId5" cstate="print"/>
          <a:srcRect/>
          <a:stretch>
            <a:fillRect/>
          </a:stretch>
        </p:blipFill>
        <p:spPr bwMode="auto">
          <a:xfrm>
            <a:off x="911225" y="4495800"/>
            <a:ext cx="5946775" cy="1752600"/>
          </a:xfrm>
          <a:prstGeom prst="rect">
            <a:avLst/>
          </a:prstGeom>
          <a:noFill/>
          <a:ln w="9525">
            <a:noFill/>
            <a:miter lim="800000"/>
            <a:headEnd/>
            <a:tailEnd/>
          </a:ln>
        </p:spPr>
      </p:pic>
      <p:pic>
        <p:nvPicPr>
          <p:cNvPr id="263182" name="Picture 14" descr="txp_fig"/>
          <p:cNvPicPr>
            <a:picLocks noChangeAspect="1" noChangeArrowheads="1"/>
          </p:cNvPicPr>
          <p:nvPr>
            <p:custDataLst>
              <p:tags r:id="rId2"/>
            </p:custDataLst>
          </p:nvPr>
        </p:nvPicPr>
        <p:blipFill>
          <a:blip r:embed="rId6" cstate="print"/>
          <a:srcRect/>
          <a:stretch>
            <a:fillRect/>
          </a:stretch>
        </p:blipFill>
        <p:spPr bwMode="auto">
          <a:xfrm>
            <a:off x="3810000" y="2895600"/>
            <a:ext cx="2098675" cy="431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317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318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3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Number Placeholder 5"/>
          <p:cNvSpPr>
            <a:spLocks noGrp="1"/>
          </p:cNvSpPr>
          <p:nvPr>
            <p:ph type="sldNum" sz="quarter" idx="12"/>
          </p:nvPr>
        </p:nvSpPr>
        <p:spPr>
          <a:noFill/>
        </p:spPr>
        <p:txBody>
          <a:bodyPr/>
          <a:lstStyle/>
          <a:p>
            <a:fld id="{7D9A9E4F-930A-46F8-BCFB-2B90A2FF1C90}" type="slidenum">
              <a:rPr lang="en-US" smtClean="0"/>
              <a:pPr/>
              <a:t>17</a:t>
            </a:fld>
            <a:endParaRPr lang="en-US"/>
          </a:p>
        </p:txBody>
      </p:sp>
      <p:sp>
        <p:nvSpPr>
          <p:cNvPr id="91139" name="Rectangle 2"/>
          <p:cNvSpPr>
            <a:spLocks noGrp="1" noChangeArrowheads="1"/>
          </p:cNvSpPr>
          <p:nvPr>
            <p:ph type="title"/>
          </p:nvPr>
        </p:nvSpPr>
        <p:spPr/>
        <p:txBody>
          <a:bodyPr/>
          <a:lstStyle/>
          <a:p>
            <a:r>
              <a:rPr lang="en-US"/>
              <a:t>Steady-State Probabilities</a:t>
            </a:r>
          </a:p>
        </p:txBody>
      </p:sp>
      <p:sp>
        <p:nvSpPr>
          <p:cNvPr id="91140" name="Rectangle 3"/>
          <p:cNvSpPr>
            <a:spLocks noGrp="1" noChangeArrowheads="1"/>
          </p:cNvSpPr>
          <p:nvPr>
            <p:ph type="body" idx="1"/>
          </p:nvPr>
        </p:nvSpPr>
        <p:spPr>
          <a:xfrm>
            <a:off x="457200" y="1600200"/>
            <a:ext cx="8229600" cy="2362200"/>
          </a:xfrm>
        </p:spPr>
        <p:txBody>
          <a:bodyPr/>
          <a:lstStyle/>
          <a:p>
            <a:r>
              <a:rPr lang="en-US"/>
              <a:t>However, a more useful system of equations for obtaining the steady-state probabilities is based on the rates of transition.</a:t>
            </a:r>
          </a:p>
        </p:txBody>
      </p:sp>
      <p:pic>
        <p:nvPicPr>
          <p:cNvPr id="264198" name="Picture 6" descr="txp_fig"/>
          <p:cNvPicPr>
            <a:picLocks noChangeAspect="1" noChangeArrowheads="1"/>
          </p:cNvPicPr>
          <p:nvPr>
            <p:custDataLst>
              <p:tags r:id="rId1"/>
            </p:custDataLst>
          </p:nvPr>
        </p:nvPicPr>
        <p:blipFill>
          <a:blip r:embed="rId4" cstate="print"/>
          <a:srcRect/>
          <a:stretch>
            <a:fillRect/>
          </a:stretch>
        </p:blipFill>
        <p:spPr bwMode="auto">
          <a:xfrm>
            <a:off x="914400" y="4038600"/>
            <a:ext cx="4572000" cy="15462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41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Number Placeholder 5"/>
          <p:cNvSpPr>
            <a:spLocks noGrp="1"/>
          </p:cNvSpPr>
          <p:nvPr>
            <p:ph type="sldNum" sz="quarter" idx="12"/>
          </p:nvPr>
        </p:nvSpPr>
        <p:spPr>
          <a:noFill/>
        </p:spPr>
        <p:txBody>
          <a:bodyPr/>
          <a:lstStyle/>
          <a:p>
            <a:fld id="{DEACDCC1-08ED-4256-9916-44CB7D52A095}" type="slidenum">
              <a:rPr lang="en-US" smtClean="0"/>
              <a:pPr/>
              <a:t>18</a:t>
            </a:fld>
            <a:endParaRPr lang="en-US"/>
          </a:p>
        </p:txBody>
      </p:sp>
      <p:sp>
        <p:nvSpPr>
          <p:cNvPr id="92163" name="Rectangle 2"/>
          <p:cNvSpPr>
            <a:spLocks noGrp="1" noChangeArrowheads="1"/>
          </p:cNvSpPr>
          <p:nvPr>
            <p:ph type="title"/>
          </p:nvPr>
        </p:nvSpPr>
        <p:spPr>
          <a:xfrm>
            <a:off x="457200" y="274638"/>
            <a:ext cx="8229600" cy="868362"/>
          </a:xfrm>
        </p:spPr>
        <p:txBody>
          <a:bodyPr/>
          <a:lstStyle/>
          <a:p>
            <a:r>
              <a:rPr lang="en-US"/>
              <a:t>Steady-State Probabilities</a:t>
            </a:r>
          </a:p>
        </p:txBody>
      </p:sp>
      <p:sp>
        <p:nvSpPr>
          <p:cNvPr id="92164" name="Oval 4"/>
          <p:cNvSpPr>
            <a:spLocks noChangeArrowheads="1"/>
          </p:cNvSpPr>
          <p:nvPr/>
        </p:nvSpPr>
        <p:spPr bwMode="auto">
          <a:xfrm>
            <a:off x="4191000" y="1949450"/>
            <a:ext cx="533400" cy="533400"/>
          </a:xfrm>
          <a:prstGeom prst="ellipse">
            <a:avLst/>
          </a:prstGeom>
          <a:noFill/>
          <a:ln w="9525">
            <a:solidFill>
              <a:schemeClr val="tx1"/>
            </a:solidFill>
            <a:round/>
            <a:headEnd/>
            <a:tailEnd/>
          </a:ln>
        </p:spPr>
        <p:txBody>
          <a:bodyPr wrap="none" anchor="ctr"/>
          <a:lstStyle/>
          <a:p>
            <a:pPr algn="ctr"/>
            <a:r>
              <a:rPr lang="en-US" i="1" baseline="0"/>
              <a:t>j</a:t>
            </a:r>
          </a:p>
        </p:txBody>
      </p:sp>
      <p:sp>
        <p:nvSpPr>
          <p:cNvPr id="92165" name="Line 5"/>
          <p:cNvSpPr>
            <a:spLocks noChangeShapeType="1"/>
          </p:cNvSpPr>
          <p:nvPr/>
        </p:nvSpPr>
        <p:spPr bwMode="auto">
          <a:xfrm>
            <a:off x="2667000" y="2178050"/>
            <a:ext cx="1524000" cy="0"/>
          </a:xfrm>
          <a:prstGeom prst="line">
            <a:avLst/>
          </a:prstGeom>
          <a:noFill/>
          <a:ln w="9525">
            <a:solidFill>
              <a:schemeClr val="tx1"/>
            </a:solidFill>
            <a:round/>
            <a:headEnd/>
            <a:tailEnd type="triangle" w="med" len="med"/>
          </a:ln>
        </p:spPr>
        <p:txBody>
          <a:bodyPr/>
          <a:lstStyle/>
          <a:p>
            <a:endParaRPr lang="en-US"/>
          </a:p>
        </p:txBody>
      </p:sp>
      <p:sp>
        <p:nvSpPr>
          <p:cNvPr id="92166" name="Line 6"/>
          <p:cNvSpPr>
            <a:spLocks noChangeShapeType="1"/>
          </p:cNvSpPr>
          <p:nvPr/>
        </p:nvSpPr>
        <p:spPr bwMode="auto">
          <a:xfrm>
            <a:off x="4724400" y="2178050"/>
            <a:ext cx="1524000" cy="0"/>
          </a:xfrm>
          <a:prstGeom prst="line">
            <a:avLst/>
          </a:prstGeom>
          <a:noFill/>
          <a:ln w="9525">
            <a:solidFill>
              <a:schemeClr val="tx1"/>
            </a:solidFill>
            <a:round/>
            <a:headEnd/>
            <a:tailEnd type="triangle" w="med" len="med"/>
          </a:ln>
        </p:spPr>
        <p:txBody>
          <a:bodyPr/>
          <a:lstStyle/>
          <a:p>
            <a:endParaRPr lang="en-US"/>
          </a:p>
        </p:txBody>
      </p:sp>
      <p:sp>
        <p:nvSpPr>
          <p:cNvPr id="92167" name="Text Box 8"/>
          <p:cNvSpPr txBox="1">
            <a:spLocks noChangeArrowheads="1"/>
          </p:cNvSpPr>
          <p:nvPr/>
        </p:nvSpPr>
        <p:spPr bwMode="auto">
          <a:xfrm>
            <a:off x="3886200" y="1524000"/>
            <a:ext cx="1066800" cy="396875"/>
          </a:xfrm>
          <a:prstGeom prst="rect">
            <a:avLst/>
          </a:prstGeom>
          <a:noFill/>
          <a:ln w="9525">
            <a:noFill/>
            <a:miter lim="800000"/>
            <a:headEnd/>
            <a:tailEnd/>
          </a:ln>
        </p:spPr>
        <p:txBody>
          <a:bodyPr>
            <a:spAutoFit/>
          </a:bodyPr>
          <a:lstStyle/>
          <a:p>
            <a:pPr algn="ctr">
              <a:spcBef>
                <a:spcPct val="50000"/>
              </a:spcBef>
            </a:pPr>
            <a:r>
              <a:rPr lang="en-US" sz="2000" baseline="0"/>
              <a:t>=</a:t>
            </a:r>
          </a:p>
        </p:txBody>
      </p:sp>
      <p:sp>
        <p:nvSpPr>
          <p:cNvPr id="92168" name="Text Box 9"/>
          <p:cNvSpPr txBox="1">
            <a:spLocks noChangeArrowheads="1"/>
          </p:cNvSpPr>
          <p:nvPr/>
        </p:nvSpPr>
        <p:spPr bwMode="auto">
          <a:xfrm>
            <a:off x="3886200" y="2651125"/>
            <a:ext cx="1066800" cy="396875"/>
          </a:xfrm>
          <a:prstGeom prst="rect">
            <a:avLst/>
          </a:prstGeom>
          <a:noFill/>
          <a:ln w="9525">
            <a:noFill/>
            <a:miter lim="800000"/>
            <a:headEnd/>
            <a:tailEnd/>
          </a:ln>
        </p:spPr>
        <p:txBody>
          <a:bodyPr>
            <a:spAutoFit/>
          </a:bodyPr>
          <a:lstStyle/>
          <a:p>
            <a:pPr algn="ctr">
              <a:spcBef>
                <a:spcPct val="50000"/>
              </a:spcBef>
            </a:pPr>
            <a:r>
              <a:rPr lang="en-US" sz="2000" baseline="0"/>
              <a:t>=</a:t>
            </a:r>
          </a:p>
        </p:txBody>
      </p:sp>
      <p:sp>
        <p:nvSpPr>
          <p:cNvPr id="265232" name="Text Box 16"/>
          <p:cNvSpPr txBox="1">
            <a:spLocks noChangeArrowheads="1"/>
          </p:cNvSpPr>
          <p:nvPr/>
        </p:nvSpPr>
        <p:spPr bwMode="auto">
          <a:xfrm>
            <a:off x="1905000" y="1447800"/>
            <a:ext cx="2057400" cy="641350"/>
          </a:xfrm>
          <a:prstGeom prst="rect">
            <a:avLst/>
          </a:prstGeom>
          <a:noFill/>
          <a:ln w="9525">
            <a:noFill/>
            <a:miter lim="800000"/>
            <a:headEnd/>
            <a:tailEnd/>
          </a:ln>
        </p:spPr>
        <p:txBody>
          <a:bodyPr>
            <a:spAutoFit/>
          </a:bodyPr>
          <a:lstStyle/>
          <a:p>
            <a:pPr>
              <a:spcBef>
                <a:spcPct val="50000"/>
              </a:spcBef>
            </a:pPr>
            <a:r>
              <a:rPr lang="en-US" baseline="0"/>
              <a:t>Rate of transition into state </a:t>
            </a:r>
            <a:r>
              <a:rPr lang="en-US" i="1" baseline="0"/>
              <a:t>j</a:t>
            </a:r>
          </a:p>
        </p:txBody>
      </p:sp>
      <p:sp>
        <p:nvSpPr>
          <p:cNvPr id="265233" name="Text Box 17"/>
          <p:cNvSpPr txBox="1">
            <a:spLocks noChangeArrowheads="1"/>
          </p:cNvSpPr>
          <p:nvPr/>
        </p:nvSpPr>
        <p:spPr bwMode="auto">
          <a:xfrm>
            <a:off x="5029200" y="1447800"/>
            <a:ext cx="2209800" cy="641350"/>
          </a:xfrm>
          <a:prstGeom prst="rect">
            <a:avLst/>
          </a:prstGeom>
          <a:noFill/>
          <a:ln w="9525">
            <a:noFill/>
            <a:miter lim="800000"/>
            <a:headEnd/>
            <a:tailEnd/>
          </a:ln>
        </p:spPr>
        <p:txBody>
          <a:bodyPr>
            <a:spAutoFit/>
          </a:bodyPr>
          <a:lstStyle/>
          <a:p>
            <a:pPr>
              <a:spcBef>
                <a:spcPct val="50000"/>
              </a:spcBef>
            </a:pPr>
            <a:r>
              <a:rPr lang="en-US" baseline="0"/>
              <a:t>Rate of transition out of state </a:t>
            </a:r>
            <a:r>
              <a:rPr lang="en-US" i="1" baseline="0"/>
              <a:t>j</a:t>
            </a:r>
          </a:p>
        </p:txBody>
      </p:sp>
      <p:pic>
        <p:nvPicPr>
          <p:cNvPr id="265235" name="Picture 19" descr="txp_fig"/>
          <p:cNvPicPr>
            <a:picLocks noChangeAspect="1" noChangeArrowheads="1"/>
          </p:cNvPicPr>
          <p:nvPr>
            <p:custDataLst>
              <p:tags r:id="rId1"/>
            </p:custDataLst>
          </p:nvPr>
        </p:nvPicPr>
        <p:blipFill>
          <a:blip r:embed="rId5" cstate="print"/>
          <a:srcRect/>
          <a:stretch>
            <a:fillRect/>
          </a:stretch>
        </p:blipFill>
        <p:spPr bwMode="auto">
          <a:xfrm>
            <a:off x="4648200" y="2743200"/>
            <a:ext cx="585788" cy="246063"/>
          </a:xfrm>
          <a:prstGeom prst="rect">
            <a:avLst/>
          </a:prstGeom>
          <a:noFill/>
          <a:ln w="9525">
            <a:noFill/>
            <a:miter lim="800000"/>
            <a:headEnd/>
            <a:tailEnd/>
          </a:ln>
        </p:spPr>
      </p:pic>
      <p:pic>
        <p:nvPicPr>
          <p:cNvPr id="265237" name="Picture 21" descr="txp_fig"/>
          <p:cNvPicPr>
            <a:picLocks noChangeAspect="1" noChangeArrowheads="1"/>
          </p:cNvPicPr>
          <p:nvPr>
            <p:custDataLst>
              <p:tags r:id="rId2"/>
            </p:custDataLst>
          </p:nvPr>
        </p:nvPicPr>
        <p:blipFill>
          <a:blip r:embed="rId6" cstate="print"/>
          <a:srcRect/>
          <a:stretch>
            <a:fillRect/>
          </a:stretch>
        </p:blipFill>
        <p:spPr bwMode="auto">
          <a:xfrm>
            <a:off x="3041650" y="2641600"/>
            <a:ext cx="1149350" cy="641350"/>
          </a:xfrm>
          <a:prstGeom prst="rect">
            <a:avLst/>
          </a:prstGeom>
          <a:noFill/>
          <a:ln w="9525">
            <a:noFill/>
            <a:miter lim="800000"/>
            <a:headEnd/>
            <a:tailEnd/>
          </a:ln>
        </p:spPr>
      </p:pic>
      <p:sp>
        <p:nvSpPr>
          <p:cNvPr id="265243" name="Rectangle 27"/>
          <p:cNvSpPr>
            <a:spLocks noGrp="1" noChangeArrowheads="1"/>
          </p:cNvSpPr>
          <p:nvPr>
            <p:ph type="body" idx="1"/>
          </p:nvPr>
        </p:nvSpPr>
        <p:spPr>
          <a:xfrm>
            <a:off x="457200" y="3962400"/>
            <a:ext cx="8229600" cy="2743200"/>
          </a:xfrm>
        </p:spPr>
        <p:txBody>
          <a:bodyPr/>
          <a:lstStyle/>
          <a:p>
            <a:r>
              <a:rPr lang="en-US"/>
              <a:t> </a:t>
            </a:r>
            <a:r>
              <a:rPr lang="en-US" i="1">
                <a:latin typeface="Symbol" pitchFamily="18" charset="2"/>
                <a:sym typeface="Symbol" pitchFamily="18" charset="2"/>
              </a:rPr>
              <a:t></a:t>
            </a:r>
            <a:r>
              <a:rPr lang="en-US" i="1" baseline="-25000">
                <a:sym typeface="Symbol" pitchFamily="18" charset="2"/>
              </a:rPr>
              <a:t>j</a:t>
            </a:r>
            <a:r>
              <a:rPr lang="en-US">
                <a:sym typeface="Symbol" pitchFamily="18" charset="2"/>
              </a:rPr>
              <a:t>’s</a:t>
            </a:r>
            <a:r>
              <a:rPr lang="en-US"/>
              <a:t> have three interpretations as before</a:t>
            </a:r>
          </a:p>
          <a:p>
            <a:pPr lvl="1"/>
            <a:r>
              <a:rPr lang="en-US"/>
              <a:t>Limiting probabilities.</a:t>
            </a:r>
          </a:p>
          <a:p>
            <a:pPr lvl="1"/>
            <a:r>
              <a:rPr lang="en-US"/>
              <a:t>Steady state probabilities. </a:t>
            </a:r>
          </a:p>
          <a:p>
            <a:pPr lvl="2"/>
            <a:r>
              <a:rPr lang="en-US"/>
              <a:t>Long term proportion of time spent in state </a:t>
            </a:r>
            <a:r>
              <a:rPr lang="en-US" i="1"/>
              <a:t>j</a:t>
            </a:r>
            <a:r>
              <a:rPr lang="en-US"/>
              <a:t> is </a:t>
            </a:r>
            <a:r>
              <a:rPr lang="en-US" i="1">
                <a:latin typeface="Symbol" pitchFamily="18" charset="2"/>
                <a:sym typeface="Symbol" pitchFamily="18" charset="2"/>
              </a:rPr>
              <a:t></a:t>
            </a:r>
            <a:r>
              <a:rPr lang="en-US" i="1" baseline="-25000">
                <a:sym typeface="Symbol" pitchFamily="18" charset="2"/>
              </a:rPr>
              <a:t>j</a:t>
            </a:r>
            <a:r>
              <a:rPr lang="en-US"/>
              <a:t>.</a:t>
            </a:r>
          </a:p>
          <a:p>
            <a:pPr lvl="1"/>
            <a:r>
              <a:rPr lang="en-US"/>
              <a:t>Stationary probabilities.</a:t>
            </a:r>
          </a:p>
        </p:txBody>
      </p:sp>
      <p:sp>
        <p:nvSpPr>
          <p:cNvPr id="265244" name="Text Box 28"/>
          <p:cNvSpPr txBox="1">
            <a:spLocks noChangeArrowheads="1"/>
          </p:cNvSpPr>
          <p:nvPr/>
        </p:nvSpPr>
        <p:spPr bwMode="auto">
          <a:xfrm>
            <a:off x="3200400" y="3336925"/>
            <a:ext cx="2438400" cy="396875"/>
          </a:xfrm>
          <a:prstGeom prst="rect">
            <a:avLst/>
          </a:prstGeom>
          <a:noFill/>
          <a:ln w="9525">
            <a:noFill/>
            <a:miter lim="800000"/>
            <a:headEnd/>
            <a:tailEnd/>
          </a:ln>
        </p:spPr>
        <p:txBody>
          <a:bodyPr>
            <a:spAutoFit/>
          </a:bodyPr>
          <a:lstStyle/>
          <a:p>
            <a:pPr>
              <a:spcBef>
                <a:spcPct val="50000"/>
              </a:spcBef>
            </a:pPr>
            <a:r>
              <a:rPr lang="en-US" sz="2000" b="1" baseline="0"/>
              <a:t>Balance Equation</a:t>
            </a:r>
            <a:endParaRPr lang="en-US" sz="2000" b="1" i="1" baseline="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52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52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52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52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52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524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5243">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5243">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5243">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52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32" grpId="0"/>
      <p:bldP spid="265233" grpId="0"/>
      <p:bldP spid="265243" grpId="0" build="p"/>
      <p:bldP spid="26524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Number Placeholder 5"/>
          <p:cNvSpPr>
            <a:spLocks noGrp="1"/>
          </p:cNvSpPr>
          <p:nvPr>
            <p:ph type="sldNum" sz="quarter" idx="12"/>
          </p:nvPr>
        </p:nvSpPr>
        <p:spPr>
          <a:noFill/>
        </p:spPr>
        <p:txBody>
          <a:bodyPr/>
          <a:lstStyle/>
          <a:p>
            <a:fld id="{BCE06F9E-F49A-4DB9-AA83-3E810CDC5888}" type="slidenum">
              <a:rPr lang="en-US" smtClean="0"/>
              <a:pPr/>
              <a:t>19</a:t>
            </a:fld>
            <a:endParaRPr lang="en-US"/>
          </a:p>
        </p:txBody>
      </p:sp>
      <p:sp>
        <p:nvSpPr>
          <p:cNvPr id="93187" name="Rectangle 2"/>
          <p:cNvSpPr>
            <a:spLocks noGrp="1" noChangeArrowheads="1"/>
          </p:cNvSpPr>
          <p:nvPr>
            <p:ph type="title"/>
          </p:nvPr>
        </p:nvSpPr>
        <p:spPr/>
        <p:txBody>
          <a:bodyPr/>
          <a:lstStyle/>
          <a:p>
            <a:r>
              <a:rPr lang="en-US"/>
              <a:t>Example</a:t>
            </a:r>
          </a:p>
        </p:txBody>
      </p:sp>
      <p:sp>
        <p:nvSpPr>
          <p:cNvPr id="93188" name="Rectangle 3"/>
          <p:cNvSpPr>
            <a:spLocks noGrp="1" noChangeArrowheads="1"/>
          </p:cNvSpPr>
          <p:nvPr>
            <p:ph type="body" idx="1"/>
          </p:nvPr>
        </p:nvSpPr>
        <p:spPr/>
        <p:txBody>
          <a:bodyPr/>
          <a:lstStyle/>
          <a:p>
            <a:r>
              <a:rPr lang="en-US"/>
              <a:t>Continue with the machine shop example.</a:t>
            </a:r>
          </a:p>
          <a:p>
            <a:pPr>
              <a:buFontTx/>
              <a:buNone/>
            </a:pP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Number Placeholder 5"/>
          <p:cNvSpPr>
            <a:spLocks noGrp="1"/>
          </p:cNvSpPr>
          <p:nvPr>
            <p:ph type="sldNum" sz="quarter" idx="12"/>
          </p:nvPr>
        </p:nvSpPr>
        <p:spPr>
          <a:noFill/>
        </p:spPr>
        <p:txBody>
          <a:bodyPr/>
          <a:lstStyle/>
          <a:p>
            <a:fld id="{477AD1E5-702D-47A4-AC49-418F9D9EF0D3}" type="slidenum">
              <a:rPr lang="en-US" smtClean="0"/>
              <a:pPr/>
              <a:t>20</a:t>
            </a:fld>
            <a:endParaRPr lang="en-US"/>
          </a:p>
        </p:txBody>
      </p:sp>
      <p:sp>
        <p:nvSpPr>
          <p:cNvPr id="94211" name="Rectangle 2"/>
          <p:cNvSpPr>
            <a:spLocks noGrp="1" noChangeArrowheads="1"/>
          </p:cNvSpPr>
          <p:nvPr>
            <p:ph type="title"/>
          </p:nvPr>
        </p:nvSpPr>
        <p:spPr/>
        <p:txBody>
          <a:bodyPr/>
          <a:lstStyle/>
          <a:p>
            <a:pPr eaLnBrk="1" hangingPunct="1"/>
            <a:r>
              <a:rPr lang="en-US" sz="4000"/>
              <a:t>Queueing Models Based on </a:t>
            </a:r>
            <a:br>
              <a:rPr lang="en-US" sz="4000"/>
            </a:br>
            <a:r>
              <a:rPr lang="en-US" sz="4000"/>
              <a:t>Continuous Time Markov Chains</a:t>
            </a:r>
          </a:p>
        </p:txBody>
      </p:sp>
      <p:sp>
        <p:nvSpPr>
          <p:cNvPr id="386051" name="Rectangle 3"/>
          <p:cNvSpPr>
            <a:spLocks noGrp="1" noChangeArrowheads="1"/>
          </p:cNvSpPr>
          <p:nvPr>
            <p:ph type="body" idx="1"/>
          </p:nvPr>
        </p:nvSpPr>
        <p:spPr>
          <a:xfrm>
            <a:off x="457200" y="1600200"/>
            <a:ext cx="8458200" cy="5029200"/>
          </a:xfrm>
        </p:spPr>
        <p:txBody>
          <a:bodyPr/>
          <a:lstStyle/>
          <a:p>
            <a:pPr eaLnBrk="1" hangingPunct="1">
              <a:lnSpc>
                <a:spcPct val="90000"/>
              </a:lnSpc>
            </a:pPr>
            <a:r>
              <a:rPr lang="en-US" sz="2800"/>
              <a:t>Most widely used models in queueing theory are based on a special type of continuous time Markov chain referred to as the </a:t>
            </a:r>
            <a:r>
              <a:rPr lang="en-US" sz="2800" i="1"/>
              <a:t>birth-and-death process</a:t>
            </a:r>
            <a:r>
              <a:rPr lang="en-US" sz="2800"/>
              <a:t>.</a:t>
            </a:r>
          </a:p>
          <a:p>
            <a:pPr eaLnBrk="1" hangingPunct="1">
              <a:lnSpc>
                <a:spcPct val="90000"/>
              </a:lnSpc>
            </a:pPr>
            <a:r>
              <a:rPr lang="en-US" sz="2800"/>
              <a:t>In this framework, the interarrival times of the customers and the service times are exponentially distributed.</a:t>
            </a:r>
          </a:p>
          <a:p>
            <a:pPr lvl="1" eaLnBrk="1" hangingPunct="1">
              <a:lnSpc>
                <a:spcPct val="90000"/>
              </a:lnSpc>
            </a:pPr>
            <a:r>
              <a:rPr lang="en-US" sz="2400"/>
              <a:t>These interarrival and service times are all independent from each other.</a:t>
            </a:r>
          </a:p>
          <a:p>
            <a:pPr lvl="1" eaLnBrk="1" hangingPunct="1">
              <a:lnSpc>
                <a:spcPct val="90000"/>
              </a:lnSpc>
            </a:pPr>
            <a:r>
              <a:rPr lang="en-US" sz="2400"/>
              <a:t>We frequently also assume that the service time distributions as well as the interarrival time distributions are identical. This is generally not a required assumption.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6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605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605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60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Number Placeholder 5"/>
          <p:cNvSpPr>
            <a:spLocks noGrp="1"/>
          </p:cNvSpPr>
          <p:nvPr>
            <p:ph type="sldNum" sz="quarter" idx="12"/>
          </p:nvPr>
        </p:nvSpPr>
        <p:spPr>
          <a:noFill/>
        </p:spPr>
        <p:txBody>
          <a:bodyPr/>
          <a:lstStyle/>
          <a:p>
            <a:fld id="{5C337D97-CE0B-4A2B-99D3-4E6EF3A6EBE7}" type="slidenum">
              <a:rPr lang="en-US" smtClean="0"/>
              <a:pPr/>
              <a:t>21</a:t>
            </a:fld>
            <a:endParaRPr lang="en-US"/>
          </a:p>
        </p:txBody>
      </p:sp>
      <p:sp>
        <p:nvSpPr>
          <p:cNvPr id="95235" name="Rectangle 2"/>
          <p:cNvSpPr>
            <a:spLocks noGrp="1" noChangeArrowheads="1"/>
          </p:cNvSpPr>
          <p:nvPr>
            <p:ph type="title"/>
          </p:nvPr>
        </p:nvSpPr>
        <p:spPr/>
        <p:txBody>
          <a:bodyPr/>
          <a:lstStyle/>
          <a:p>
            <a:pPr eaLnBrk="1" hangingPunct="1"/>
            <a:r>
              <a:rPr lang="en-US" sz="4000"/>
              <a:t>An Elementary Queueing Process</a:t>
            </a:r>
          </a:p>
        </p:txBody>
      </p:sp>
      <p:sp>
        <p:nvSpPr>
          <p:cNvPr id="95236" name="Rectangle 3"/>
          <p:cNvSpPr>
            <a:spLocks noGrp="1" noChangeArrowheads="1"/>
          </p:cNvSpPr>
          <p:nvPr>
            <p:ph type="body" idx="1"/>
          </p:nvPr>
        </p:nvSpPr>
        <p:spPr>
          <a:xfrm>
            <a:off x="457200" y="1371600"/>
            <a:ext cx="8229600" cy="1143000"/>
          </a:xfrm>
        </p:spPr>
        <p:txBody>
          <a:bodyPr/>
          <a:lstStyle/>
          <a:p>
            <a:pPr eaLnBrk="1" hangingPunct="1">
              <a:lnSpc>
                <a:spcPct val="90000"/>
              </a:lnSpc>
            </a:pPr>
            <a:r>
              <a:rPr lang="en-US" sz="2800"/>
              <a:t>We restrict our attention to the type of system below.</a:t>
            </a:r>
            <a:endParaRPr lang="en-US" sz="2400"/>
          </a:p>
        </p:txBody>
      </p:sp>
      <p:pic>
        <p:nvPicPr>
          <p:cNvPr id="95237" name="Picture 4" descr="hil21695_1702 [Converted]"/>
          <p:cNvPicPr>
            <a:picLocks noChangeAspect="1" noChangeArrowheads="1"/>
          </p:cNvPicPr>
          <p:nvPr/>
        </p:nvPicPr>
        <p:blipFill>
          <a:blip r:embed="rId3" cstate="print"/>
          <a:srcRect/>
          <a:stretch>
            <a:fillRect/>
          </a:stretch>
        </p:blipFill>
        <p:spPr bwMode="auto">
          <a:xfrm>
            <a:off x="1752600" y="2528888"/>
            <a:ext cx="5405438" cy="2957512"/>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Number Placeholder 5"/>
          <p:cNvSpPr>
            <a:spLocks noGrp="1"/>
          </p:cNvSpPr>
          <p:nvPr>
            <p:ph type="sldNum" sz="quarter" idx="12"/>
          </p:nvPr>
        </p:nvSpPr>
        <p:spPr>
          <a:noFill/>
        </p:spPr>
        <p:txBody>
          <a:bodyPr/>
          <a:lstStyle/>
          <a:p>
            <a:fld id="{21ABAF29-71BF-40A1-9FA1-541B9CD774E5}" type="slidenum">
              <a:rPr lang="en-US" smtClean="0"/>
              <a:pPr/>
              <a:t>22</a:t>
            </a:fld>
            <a:endParaRPr lang="en-US"/>
          </a:p>
        </p:txBody>
      </p:sp>
      <p:sp>
        <p:nvSpPr>
          <p:cNvPr id="96259" name="Rectangle 2"/>
          <p:cNvSpPr>
            <a:spLocks noGrp="1" noChangeArrowheads="1"/>
          </p:cNvSpPr>
          <p:nvPr>
            <p:ph type="title"/>
          </p:nvPr>
        </p:nvSpPr>
        <p:spPr>
          <a:xfrm>
            <a:off x="457200" y="152400"/>
            <a:ext cx="8229600" cy="838200"/>
          </a:xfrm>
        </p:spPr>
        <p:txBody>
          <a:bodyPr/>
          <a:lstStyle/>
          <a:p>
            <a:pPr eaLnBrk="1" hangingPunct="1"/>
            <a:r>
              <a:rPr lang="en-US"/>
              <a:t>The </a:t>
            </a:r>
            <a:r>
              <a:rPr lang="en-US" i="1"/>
              <a:t>M</a:t>
            </a:r>
            <a:r>
              <a:rPr lang="en-US"/>
              <a:t>/</a:t>
            </a:r>
            <a:r>
              <a:rPr lang="en-US" i="1"/>
              <a:t>M</a:t>
            </a:r>
            <a:r>
              <a:rPr lang="en-US"/>
              <a:t>/</a:t>
            </a:r>
            <a:r>
              <a:rPr lang="en-US" i="1"/>
              <a:t>s</a:t>
            </a:r>
            <a:r>
              <a:rPr lang="en-US"/>
              <a:t> Model</a:t>
            </a:r>
          </a:p>
        </p:txBody>
      </p:sp>
      <p:sp>
        <p:nvSpPr>
          <p:cNvPr id="387075" name="Rectangle 3"/>
          <p:cNvSpPr>
            <a:spLocks noGrp="1" noChangeArrowheads="1"/>
          </p:cNvSpPr>
          <p:nvPr>
            <p:ph type="body" idx="1"/>
          </p:nvPr>
        </p:nvSpPr>
        <p:spPr>
          <a:xfrm>
            <a:off x="457200" y="990600"/>
            <a:ext cx="8382000" cy="4724400"/>
          </a:xfrm>
        </p:spPr>
        <p:txBody>
          <a:bodyPr/>
          <a:lstStyle/>
          <a:p>
            <a:pPr eaLnBrk="1" hangingPunct="1"/>
            <a:r>
              <a:rPr lang="en-US"/>
              <a:t>Independent and identically distributed exponential interarrival and service times.</a:t>
            </a:r>
          </a:p>
          <a:p>
            <a:pPr lvl="1" eaLnBrk="1" hangingPunct="1"/>
            <a:r>
              <a:rPr lang="en-US"/>
              <a:t>The rate of the interarrival time distribution is </a:t>
            </a:r>
            <a:r>
              <a:rPr lang="en-US">
                <a:sym typeface="Symbol" pitchFamily="18" charset="2"/>
              </a:rPr>
              <a:t></a:t>
            </a:r>
            <a:r>
              <a:rPr lang="en-US"/>
              <a:t>.</a:t>
            </a:r>
          </a:p>
          <a:p>
            <a:pPr lvl="1" eaLnBrk="1" hangingPunct="1"/>
            <a:r>
              <a:rPr lang="en-US"/>
              <a:t>The rate of the service time distribution is</a:t>
            </a:r>
            <a:r>
              <a:rPr lang="en-US" i="1"/>
              <a:t> </a:t>
            </a:r>
            <a:r>
              <a:rPr lang="en-US" i="1">
                <a:sym typeface="Symbol" pitchFamily="18" charset="2"/>
              </a:rPr>
              <a:t></a:t>
            </a:r>
            <a:r>
              <a:rPr lang="en-US"/>
              <a:t>.</a:t>
            </a:r>
          </a:p>
          <a:p>
            <a:pPr lvl="1" eaLnBrk="1" hangingPunct="1"/>
            <a:r>
              <a:rPr lang="en-US" i="1"/>
              <a:t>M </a:t>
            </a:r>
            <a:r>
              <a:rPr lang="en-US"/>
              <a:t>in the notation stands for Markovian. Recall that the exponential distribution is memoryless.</a:t>
            </a:r>
          </a:p>
          <a:p>
            <a:pPr eaLnBrk="1" hangingPunct="1"/>
            <a:r>
              <a:rPr lang="en-US"/>
              <a:t>The number of parallel servers is </a:t>
            </a:r>
            <a:r>
              <a:rPr lang="en-US" i="1"/>
              <a:t>s</a:t>
            </a:r>
            <a:r>
              <a:rPr lang="en-US"/>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70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70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707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707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70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Number Placeholder 5"/>
          <p:cNvSpPr>
            <a:spLocks noGrp="1"/>
          </p:cNvSpPr>
          <p:nvPr>
            <p:ph type="sldNum" sz="quarter" idx="12"/>
          </p:nvPr>
        </p:nvSpPr>
        <p:spPr>
          <a:noFill/>
        </p:spPr>
        <p:txBody>
          <a:bodyPr/>
          <a:lstStyle/>
          <a:p>
            <a:fld id="{543798DB-20B4-4A20-BEE5-5AED5F23BDC4}" type="slidenum">
              <a:rPr lang="en-US" smtClean="0"/>
              <a:pPr/>
              <a:t>23</a:t>
            </a:fld>
            <a:endParaRPr lang="en-US"/>
          </a:p>
        </p:txBody>
      </p:sp>
      <p:sp>
        <p:nvSpPr>
          <p:cNvPr id="97283" name="Rectangle 2"/>
          <p:cNvSpPr>
            <a:spLocks noGrp="1" noChangeArrowheads="1"/>
          </p:cNvSpPr>
          <p:nvPr>
            <p:ph type="title"/>
          </p:nvPr>
        </p:nvSpPr>
        <p:spPr/>
        <p:txBody>
          <a:bodyPr/>
          <a:lstStyle/>
          <a:p>
            <a:pPr eaLnBrk="1" hangingPunct="1"/>
            <a:r>
              <a:rPr lang="en-US"/>
              <a:t>The </a:t>
            </a:r>
            <a:r>
              <a:rPr lang="en-US" i="1"/>
              <a:t>M</a:t>
            </a:r>
            <a:r>
              <a:rPr lang="en-US"/>
              <a:t>/</a:t>
            </a:r>
            <a:r>
              <a:rPr lang="en-US" i="1"/>
              <a:t>M</a:t>
            </a:r>
            <a:r>
              <a:rPr lang="en-US"/>
              <a:t>/</a:t>
            </a:r>
            <a:r>
              <a:rPr lang="en-US" i="1"/>
              <a:t>s</a:t>
            </a:r>
            <a:r>
              <a:rPr lang="en-US"/>
              <a:t> Model</a:t>
            </a:r>
          </a:p>
        </p:txBody>
      </p:sp>
      <p:sp>
        <p:nvSpPr>
          <p:cNvPr id="97284" name="Rectangle 3"/>
          <p:cNvSpPr>
            <a:spLocks noGrp="1" noChangeArrowheads="1"/>
          </p:cNvSpPr>
          <p:nvPr>
            <p:ph type="body" idx="1"/>
          </p:nvPr>
        </p:nvSpPr>
        <p:spPr>
          <a:xfrm>
            <a:off x="457200" y="1600200"/>
            <a:ext cx="8229600" cy="1143000"/>
          </a:xfrm>
        </p:spPr>
        <p:txBody>
          <a:bodyPr/>
          <a:lstStyle/>
          <a:p>
            <a:pPr eaLnBrk="1" hangingPunct="1"/>
            <a:r>
              <a:rPr lang="en-US"/>
              <a:t>The transition rate diagram of the resulting Markov chain is:</a:t>
            </a:r>
          </a:p>
        </p:txBody>
      </p:sp>
      <p:grpSp>
        <p:nvGrpSpPr>
          <p:cNvPr id="2" name="Group 49"/>
          <p:cNvGrpSpPr>
            <a:grpSpLocks/>
          </p:cNvGrpSpPr>
          <p:nvPr/>
        </p:nvGrpSpPr>
        <p:grpSpPr bwMode="auto">
          <a:xfrm>
            <a:off x="609600" y="4800600"/>
            <a:ext cx="8458200" cy="1752600"/>
            <a:chOff x="384" y="3024"/>
            <a:chExt cx="5328" cy="1104"/>
          </a:xfrm>
        </p:grpSpPr>
        <p:sp>
          <p:nvSpPr>
            <p:cNvPr id="97323" name="Text Box 13"/>
            <p:cNvSpPr txBox="1">
              <a:spLocks noChangeArrowheads="1"/>
            </p:cNvSpPr>
            <p:nvPr/>
          </p:nvSpPr>
          <p:spPr bwMode="auto">
            <a:xfrm>
              <a:off x="5280" y="3408"/>
              <a:ext cx="432" cy="327"/>
            </a:xfrm>
            <a:prstGeom prst="rect">
              <a:avLst/>
            </a:prstGeom>
            <a:noFill/>
            <a:ln w="9525">
              <a:noFill/>
              <a:miter lim="800000"/>
              <a:headEnd/>
              <a:tailEnd/>
            </a:ln>
          </p:spPr>
          <p:txBody>
            <a:bodyPr>
              <a:spAutoFit/>
            </a:bodyPr>
            <a:lstStyle/>
            <a:p>
              <a:pPr algn="ctr">
                <a:spcBef>
                  <a:spcPct val="50000"/>
                </a:spcBef>
              </a:pPr>
              <a:r>
                <a:rPr lang="en-US" sz="2800"/>
                <a:t>…</a:t>
              </a:r>
            </a:p>
          </p:txBody>
        </p:sp>
        <p:sp>
          <p:nvSpPr>
            <p:cNvPr id="97324" name="Oval 14"/>
            <p:cNvSpPr>
              <a:spLocks noChangeArrowheads="1"/>
            </p:cNvSpPr>
            <p:nvPr/>
          </p:nvSpPr>
          <p:spPr bwMode="auto">
            <a:xfrm>
              <a:off x="384" y="3456"/>
              <a:ext cx="288" cy="288"/>
            </a:xfrm>
            <a:prstGeom prst="ellipse">
              <a:avLst/>
            </a:prstGeom>
            <a:solidFill>
              <a:schemeClr val="accent1"/>
            </a:solidFill>
            <a:ln w="9525">
              <a:solidFill>
                <a:schemeClr val="tx1"/>
              </a:solidFill>
              <a:round/>
              <a:headEnd/>
              <a:tailEnd/>
            </a:ln>
          </p:spPr>
          <p:txBody>
            <a:bodyPr wrap="none" anchor="ctr"/>
            <a:lstStyle/>
            <a:p>
              <a:pPr algn="ctr"/>
              <a:r>
                <a:rPr lang="en-US"/>
                <a:t>0</a:t>
              </a:r>
            </a:p>
          </p:txBody>
        </p:sp>
        <p:sp>
          <p:nvSpPr>
            <p:cNvPr id="97325" name="Oval 15"/>
            <p:cNvSpPr>
              <a:spLocks noChangeArrowheads="1"/>
            </p:cNvSpPr>
            <p:nvPr/>
          </p:nvSpPr>
          <p:spPr bwMode="auto">
            <a:xfrm>
              <a:off x="960" y="3456"/>
              <a:ext cx="288" cy="288"/>
            </a:xfrm>
            <a:prstGeom prst="ellipse">
              <a:avLst/>
            </a:prstGeom>
            <a:solidFill>
              <a:schemeClr val="accent1"/>
            </a:solidFill>
            <a:ln w="9525">
              <a:solidFill>
                <a:schemeClr val="tx1"/>
              </a:solidFill>
              <a:round/>
              <a:headEnd/>
              <a:tailEnd/>
            </a:ln>
          </p:spPr>
          <p:txBody>
            <a:bodyPr wrap="none" anchor="ctr"/>
            <a:lstStyle/>
            <a:p>
              <a:pPr algn="ctr"/>
              <a:r>
                <a:rPr lang="en-US"/>
                <a:t>1</a:t>
              </a:r>
            </a:p>
          </p:txBody>
        </p:sp>
        <p:sp>
          <p:nvSpPr>
            <p:cNvPr id="97326" name="Oval 16"/>
            <p:cNvSpPr>
              <a:spLocks noChangeArrowheads="1"/>
            </p:cNvSpPr>
            <p:nvPr/>
          </p:nvSpPr>
          <p:spPr bwMode="auto">
            <a:xfrm>
              <a:off x="1536" y="3456"/>
              <a:ext cx="288" cy="288"/>
            </a:xfrm>
            <a:prstGeom prst="ellipse">
              <a:avLst/>
            </a:prstGeom>
            <a:solidFill>
              <a:schemeClr val="accent1"/>
            </a:solidFill>
            <a:ln w="9525">
              <a:solidFill>
                <a:schemeClr val="tx1"/>
              </a:solidFill>
              <a:round/>
              <a:headEnd/>
              <a:tailEnd/>
            </a:ln>
          </p:spPr>
          <p:txBody>
            <a:bodyPr wrap="none" anchor="ctr"/>
            <a:lstStyle/>
            <a:p>
              <a:pPr algn="ctr"/>
              <a:r>
                <a:rPr lang="en-US"/>
                <a:t>2</a:t>
              </a:r>
            </a:p>
          </p:txBody>
        </p:sp>
        <p:sp>
          <p:nvSpPr>
            <p:cNvPr id="97327" name="Oval 17"/>
            <p:cNvSpPr>
              <a:spLocks noChangeArrowheads="1"/>
            </p:cNvSpPr>
            <p:nvPr/>
          </p:nvSpPr>
          <p:spPr bwMode="auto">
            <a:xfrm>
              <a:off x="2112" y="3456"/>
              <a:ext cx="288" cy="288"/>
            </a:xfrm>
            <a:prstGeom prst="ellipse">
              <a:avLst/>
            </a:prstGeom>
            <a:solidFill>
              <a:schemeClr val="accent1"/>
            </a:solidFill>
            <a:ln w="9525">
              <a:solidFill>
                <a:schemeClr val="tx1"/>
              </a:solidFill>
              <a:round/>
              <a:headEnd/>
              <a:tailEnd/>
            </a:ln>
          </p:spPr>
          <p:txBody>
            <a:bodyPr wrap="none" anchor="ctr"/>
            <a:lstStyle/>
            <a:p>
              <a:pPr algn="ctr"/>
              <a:r>
                <a:rPr lang="en-US"/>
                <a:t>3</a:t>
              </a:r>
            </a:p>
          </p:txBody>
        </p:sp>
        <p:sp>
          <p:nvSpPr>
            <p:cNvPr id="97328" name="Oval 18"/>
            <p:cNvSpPr>
              <a:spLocks noChangeArrowheads="1"/>
            </p:cNvSpPr>
            <p:nvPr/>
          </p:nvSpPr>
          <p:spPr bwMode="auto">
            <a:xfrm>
              <a:off x="3312"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s-</a:t>
              </a:r>
              <a:r>
                <a:rPr lang="en-US"/>
                <a:t>2</a:t>
              </a:r>
            </a:p>
          </p:txBody>
        </p:sp>
        <p:sp>
          <p:nvSpPr>
            <p:cNvPr id="97329" name="Oval 19"/>
            <p:cNvSpPr>
              <a:spLocks noChangeArrowheads="1"/>
            </p:cNvSpPr>
            <p:nvPr/>
          </p:nvSpPr>
          <p:spPr bwMode="auto">
            <a:xfrm>
              <a:off x="3888"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s-</a:t>
              </a:r>
              <a:r>
                <a:rPr lang="en-US"/>
                <a:t>1</a:t>
              </a:r>
            </a:p>
          </p:txBody>
        </p:sp>
        <p:sp>
          <p:nvSpPr>
            <p:cNvPr id="97330" name="Oval 20"/>
            <p:cNvSpPr>
              <a:spLocks noChangeArrowheads="1"/>
            </p:cNvSpPr>
            <p:nvPr/>
          </p:nvSpPr>
          <p:spPr bwMode="auto">
            <a:xfrm>
              <a:off x="4464"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s</a:t>
              </a:r>
              <a:endParaRPr lang="en-US"/>
            </a:p>
          </p:txBody>
        </p:sp>
        <p:sp>
          <p:nvSpPr>
            <p:cNvPr id="97331" name="Oval 21"/>
            <p:cNvSpPr>
              <a:spLocks noChangeArrowheads="1"/>
            </p:cNvSpPr>
            <p:nvPr/>
          </p:nvSpPr>
          <p:spPr bwMode="auto">
            <a:xfrm>
              <a:off x="5040"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s</a:t>
              </a:r>
              <a:r>
                <a:rPr lang="en-US"/>
                <a:t>+1</a:t>
              </a:r>
              <a:endParaRPr lang="en-US" i="1"/>
            </a:p>
          </p:txBody>
        </p:sp>
        <p:cxnSp>
          <p:nvCxnSpPr>
            <p:cNvPr id="97332" name="AutoShape 22"/>
            <p:cNvCxnSpPr>
              <a:cxnSpLocks noChangeShapeType="1"/>
              <a:stCxn id="97324" idx="0"/>
              <a:endCxn id="97325" idx="0"/>
            </p:cNvCxnSpPr>
            <p:nvPr/>
          </p:nvCxnSpPr>
          <p:spPr bwMode="auto">
            <a:xfrm rot="5400000" flipV="1">
              <a:off x="815" y="3169"/>
              <a:ext cx="1" cy="576"/>
            </a:xfrm>
            <a:prstGeom prst="curvedConnector3">
              <a:avLst>
                <a:gd name="adj1" fmla="val -14400005"/>
              </a:avLst>
            </a:prstGeom>
            <a:noFill/>
            <a:ln w="9525">
              <a:solidFill>
                <a:schemeClr val="tx1"/>
              </a:solidFill>
              <a:round/>
              <a:headEnd/>
              <a:tailEnd type="triangle" w="med" len="med"/>
            </a:ln>
          </p:spPr>
        </p:cxnSp>
        <p:cxnSp>
          <p:nvCxnSpPr>
            <p:cNvPr id="97333" name="AutoShape 23"/>
            <p:cNvCxnSpPr>
              <a:cxnSpLocks noChangeShapeType="1"/>
            </p:cNvCxnSpPr>
            <p:nvPr/>
          </p:nvCxnSpPr>
          <p:spPr bwMode="auto">
            <a:xfrm rot="5400000" flipV="1">
              <a:off x="1391" y="3169"/>
              <a:ext cx="1" cy="576"/>
            </a:xfrm>
            <a:prstGeom prst="curvedConnector3">
              <a:avLst>
                <a:gd name="adj1" fmla="val -14400005"/>
              </a:avLst>
            </a:prstGeom>
            <a:noFill/>
            <a:ln w="9525">
              <a:solidFill>
                <a:schemeClr val="tx1"/>
              </a:solidFill>
              <a:round/>
              <a:headEnd/>
              <a:tailEnd type="triangle" w="med" len="med"/>
            </a:ln>
          </p:spPr>
        </p:cxnSp>
        <p:cxnSp>
          <p:nvCxnSpPr>
            <p:cNvPr id="97334" name="AutoShape 24"/>
            <p:cNvCxnSpPr>
              <a:cxnSpLocks noChangeShapeType="1"/>
            </p:cNvCxnSpPr>
            <p:nvPr/>
          </p:nvCxnSpPr>
          <p:spPr bwMode="auto">
            <a:xfrm rot="5400000" flipV="1">
              <a:off x="1967" y="3168"/>
              <a:ext cx="1" cy="576"/>
            </a:xfrm>
            <a:prstGeom prst="curvedConnector3">
              <a:avLst>
                <a:gd name="adj1" fmla="val -14400005"/>
              </a:avLst>
            </a:prstGeom>
            <a:noFill/>
            <a:ln w="9525">
              <a:solidFill>
                <a:schemeClr val="tx1"/>
              </a:solidFill>
              <a:round/>
              <a:headEnd/>
              <a:tailEnd type="triangle" w="med" len="med"/>
            </a:ln>
          </p:spPr>
        </p:cxnSp>
        <p:cxnSp>
          <p:nvCxnSpPr>
            <p:cNvPr id="97335" name="AutoShape 25"/>
            <p:cNvCxnSpPr>
              <a:cxnSpLocks noChangeShapeType="1"/>
            </p:cNvCxnSpPr>
            <p:nvPr/>
          </p:nvCxnSpPr>
          <p:spPr bwMode="auto">
            <a:xfrm rot="5400000" flipV="1">
              <a:off x="3743" y="3170"/>
              <a:ext cx="1" cy="576"/>
            </a:xfrm>
            <a:prstGeom prst="curvedConnector3">
              <a:avLst>
                <a:gd name="adj1" fmla="val -14400005"/>
              </a:avLst>
            </a:prstGeom>
            <a:noFill/>
            <a:ln w="9525">
              <a:solidFill>
                <a:schemeClr val="tx1"/>
              </a:solidFill>
              <a:round/>
              <a:headEnd/>
              <a:tailEnd type="triangle" w="med" len="med"/>
            </a:ln>
          </p:spPr>
        </p:cxnSp>
        <p:cxnSp>
          <p:nvCxnSpPr>
            <p:cNvPr id="97336" name="AutoShape 26"/>
            <p:cNvCxnSpPr>
              <a:cxnSpLocks noChangeShapeType="1"/>
            </p:cNvCxnSpPr>
            <p:nvPr/>
          </p:nvCxnSpPr>
          <p:spPr bwMode="auto">
            <a:xfrm rot="5400000" flipV="1">
              <a:off x="4319" y="3170"/>
              <a:ext cx="1" cy="576"/>
            </a:xfrm>
            <a:prstGeom prst="curvedConnector3">
              <a:avLst>
                <a:gd name="adj1" fmla="val -14400005"/>
              </a:avLst>
            </a:prstGeom>
            <a:noFill/>
            <a:ln w="9525">
              <a:solidFill>
                <a:schemeClr val="tx1"/>
              </a:solidFill>
              <a:round/>
              <a:headEnd/>
              <a:tailEnd type="triangle" w="med" len="med"/>
            </a:ln>
          </p:spPr>
        </p:cxnSp>
        <p:cxnSp>
          <p:nvCxnSpPr>
            <p:cNvPr id="97337" name="AutoShape 27"/>
            <p:cNvCxnSpPr>
              <a:cxnSpLocks noChangeShapeType="1"/>
            </p:cNvCxnSpPr>
            <p:nvPr/>
          </p:nvCxnSpPr>
          <p:spPr bwMode="auto">
            <a:xfrm rot="5400000" flipV="1">
              <a:off x="4895" y="3169"/>
              <a:ext cx="1" cy="576"/>
            </a:xfrm>
            <a:prstGeom prst="curvedConnector3">
              <a:avLst>
                <a:gd name="adj1" fmla="val -14400005"/>
              </a:avLst>
            </a:prstGeom>
            <a:noFill/>
            <a:ln w="9525">
              <a:solidFill>
                <a:schemeClr val="tx1"/>
              </a:solidFill>
              <a:round/>
              <a:headEnd/>
              <a:tailEnd type="triangle" w="med" len="med"/>
            </a:ln>
          </p:spPr>
        </p:cxnSp>
        <p:cxnSp>
          <p:nvCxnSpPr>
            <p:cNvPr id="97338" name="AutoShape 28"/>
            <p:cNvCxnSpPr>
              <a:cxnSpLocks noChangeShapeType="1"/>
              <a:stCxn id="97331" idx="4"/>
              <a:endCxn id="97330" idx="4"/>
            </p:cNvCxnSpPr>
            <p:nvPr/>
          </p:nvCxnSpPr>
          <p:spPr bwMode="auto">
            <a:xfrm rot="5400000">
              <a:off x="4895" y="3457"/>
              <a:ext cx="1" cy="576"/>
            </a:xfrm>
            <a:prstGeom prst="curvedConnector3">
              <a:avLst>
                <a:gd name="adj1" fmla="val 14400005"/>
              </a:avLst>
            </a:prstGeom>
            <a:noFill/>
            <a:ln w="9525">
              <a:solidFill>
                <a:schemeClr val="tx1"/>
              </a:solidFill>
              <a:round/>
              <a:headEnd/>
              <a:tailEnd type="triangle" w="med" len="med"/>
            </a:ln>
          </p:spPr>
        </p:cxnSp>
        <p:cxnSp>
          <p:nvCxnSpPr>
            <p:cNvPr id="97339" name="AutoShape 29"/>
            <p:cNvCxnSpPr>
              <a:cxnSpLocks noChangeShapeType="1"/>
            </p:cNvCxnSpPr>
            <p:nvPr/>
          </p:nvCxnSpPr>
          <p:spPr bwMode="auto">
            <a:xfrm rot="5400000">
              <a:off x="4319" y="3457"/>
              <a:ext cx="1" cy="576"/>
            </a:xfrm>
            <a:prstGeom prst="curvedConnector3">
              <a:avLst>
                <a:gd name="adj1" fmla="val 14400005"/>
              </a:avLst>
            </a:prstGeom>
            <a:noFill/>
            <a:ln w="9525">
              <a:solidFill>
                <a:schemeClr val="tx1"/>
              </a:solidFill>
              <a:round/>
              <a:headEnd/>
              <a:tailEnd type="triangle" w="med" len="med"/>
            </a:ln>
          </p:spPr>
        </p:cxnSp>
        <p:cxnSp>
          <p:nvCxnSpPr>
            <p:cNvPr id="97340" name="AutoShape 30"/>
            <p:cNvCxnSpPr>
              <a:cxnSpLocks noChangeShapeType="1"/>
            </p:cNvCxnSpPr>
            <p:nvPr/>
          </p:nvCxnSpPr>
          <p:spPr bwMode="auto">
            <a:xfrm rot="5400000">
              <a:off x="3743" y="3457"/>
              <a:ext cx="1" cy="576"/>
            </a:xfrm>
            <a:prstGeom prst="curvedConnector3">
              <a:avLst>
                <a:gd name="adj1" fmla="val 14400005"/>
              </a:avLst>
            </a:prstGeom>
            <a:noFill/>
            <a:ln w="9525">
              <a:solidFill>
                <a:schemeClr val="tx1"/>
              </a:solidFill>
              <a:round/>
              <a:headEnd/>
              <a:tailEnd type="triangle" w="med" len="med"/>
            </a:ln>
          </p:spPr>
        </p:cxnSp>
        <p:cxnSp>
          <p:nvCxnSpPr>
            <p:cNvPr id="97341" name="AutoShape 31"/>
            <p:cNvCxnSpPr>
              <a:cxnSpLocks noChangeShapeType="1"/>
            </p:cNvCxnSpPr>
            <p:nvPr/>
          </p:nvCxnSpPr>
          <p:spPr bwMode="auto">
            <a:xfrm rot="5400000">
              <a:off x="1967" y="3457"/>
              <a:ext cx="1" cy="576"/>
            </a:xfrm>
            <a:prstGeom prst="curvedConnector3">
              <a:avLst>
                <a:gd name="adj1" fmla="val 14400005"/>
              </a:avLst>
            </a:prstGeom>
            <a:noFill/>
            <a:ln w="9525">
              <a:solidFill>
                <a:schemeClr val="tx1"/>
              </a:solidFill>
              <a:round/>
              <a:headEnd/>
              <a:tailEnd type="triangle" w="med" len="med"/>
            </a:ln>
          </p:spPr>
        </p:cxnSp>
        <p:cxnSp>
          <p:nvCxnSpPr>
            <p:cNvPr id="97342" name="AutoShape 32"/>
            <p:cNvCxnSpPr>
              <a:cxnSpLocks noChangeShapeType="1"/>
            </p:cNvCxnSpPr>
            <p:nvPr/>
          </p:nvCxnSpPr>
          <p:spPr bwMode="auto">
            <a:xfrm rot="5400000">
              <a:off x="1391" y="3457"/>
              <a:ext cx="1" cy="576"/>
            </a:xfrm>
            <a:prstGeom prst="curvedConnector3">
              <a:avLst>
                <a:gd name="adj1" fmla="val 14400005"/>
              </a:avLst>
            </a:prstGeom>
            <a:noFill/>
            <a:ln w="9525">
              <a:solidFill>
                <a:schemeClr val="tx1"/>
              </a:solidFill>
              <a:round/>
              <a:headEnd/>
              <a:tailEnd type="triangle" w="med" len="med"/>
            </a:ln>
          </p:spPr>
        </p:cxnSp>
        <p:cxnSp>
          <p:nvCxnSpPr>
            <p:cNvPr id="97343" name="AutoShape 33"/>
            <p:cNvCxnSpPr>
              <a:cxnSpLocks noChangeShapeType="1"/>
            </p:cNvCxnSpPr>
            <p:nvPr/>
          </p:nvCxnSpPr>
          <p:spPr bwMode="auto">
            <a:xfrm rot="5400000">
              <a:off x="815" y="3457"/>
              <a:ext cx="1" cy="576"/>
            </a:xfrm>
            <a:prstGeom prst="curvedConnector3">
              <a:avLst>
                <a:gd name="adj1" fmla="val 14400005"/>
              </a:avLst>
            </a:prstGeom>
            <a:noFill/>
            <a:ln w="9525">
              <a:solidFill>
                <a:schemeClr val="tx1"/>
              </a:solidFill>
              <a:round/>
              <a:headEnd/>
              <a:tailEnd type="triangle" w="med" len="med"/>
            </a:ln>
          </p:spPr>
        </p:cxnSp>
        <p:sp>
          <p:nvSpPr>
            <p:cNvPr id="97344" name="Text Box 34"/>
            <p:cNvSpPr txBox="1">
              <a:spLocks noChangeArrowheads="1"/>
            </p:cNvSpPr>
            <p:nvPr/>
          </p:nvSpPr>
          <p:spPr bwMode="auto">
            <a:xfrm>
              <a:off x="720" y="3024"/>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7345" name="Text Box 35"/>
            <p:cNvSpPr txBox="1">
              <a:spLocks noChangeArrowheads="1"/>
            </p:cNvSpPr>
            <p:nvPr/>
          </p:nvSpPr>
          <p:spPr bwMode="auto">
            <a:xfrm>
              <a:off x="1296" y="3024"/>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latin typeface="Symbol" pitchFamily="18" charset="2"/>
              </a:endParaRPr>
            </a:p>
          </p:txBody>
        </p:sp>
        <p:sp>
          <p:nvSpPr>
            <p:cNvPr id="97346" name="Text Box 36"/>
            <p:cNvSpPr txBox="1">
              <a:spLocks noChangeArrowheads="1"/>
            </p:cNvSpPr>
            <p:nvPr/>
          </p:nvSpPr>
          <p:spPr bwMode="auto">
            <a:xfrm>
              <a:off x="1872" y="3024"/>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7347" name="Text Box 37"/>
            <p:cNvSpPr txBox="1">
              <a:spLocks noChangeArrowheads="1"/>
            </p:cNvSpPr>
            <p:nvPr/>
          </p:nvSpPr>
          <p:spPr bwMode="auto">
            <a:xfrm>
              <a:off x="4128" y="3024"/>
              <a:ext cx="480"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7348" name="Text Box 38"/>
            <p:cNvSpPr txBox="1">
              <a:spLocks noChangeArrowheads="1"/>
            </p:cNvSpPr>
            <p:nvPr/>
          </p:nvSpPr>
          <p:spPr bwMode="auto">
            <a:xfrm>
              <a:off x="4752" y="3024"/>
              <a:ext cx="480"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7349" name="Text Box 39"/>
            <p:cNvSpPr txBox="1">
              <a:spLocks noChangeArrowheads="1"/>
            </p:cNvSpPr>
            <p:nvPr/>
          </p:nvSpPr>
          <p:spPr bwMode="auto">
            <a:xfrm>
              <a:off x="3552" y="3024"/>
              <a:ext cx="480"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7350" name="Text Box 40"/>
            <p:cNvSpPr txBox="1">
              <a:spLocks noChangeArrowheads="1"/>
            </p:cNvSpPr>
            <p:nvPr/>
          </p:nvSpPr>
          <p:spPr bwMode="auto">
            <a:xfrm>
              <a:off x="2640" y="3408"/>
              <a:ext cx="432" cy="327"/>
            </a:xfrm>
            <a:prstGeom prst="rect">
              <a:avLst/>
            </a:prstGeom>
            <a:noFill/>
            <a:ln w="9525">
              <a:noFill/>
              <a:miter lim="800000"/>
              <a:headEnd/>
              <a:tailEnd/>
            </a:ln>
          </p:spPr>
          <p:txBody>
            <a:bodyPr>
              <a:spAutoFit/>
            </a:bodyPr>
            <a:lstStyle/>
            <a:p>
              <a:pPr algn="ctr">
                <a:spcBef>
                  <a:spcPct val="50000"/>
                </a:spcBef>
              </a:pPr>
              <a:r>
                <a:rPr lang="en-US" sz="2800"/>
                <a:t>…</a:t>
              </a:r>
            </a:p>
          </p:txBody>
        </p:sp>
        <p:sp>
          <p:nvSpPr>
            <p:cNvPr id="97351" name="Text Box 41"/>
            <p:cNvSpPr txBox="1">
              <a:spLocks noChangeArrowheads="1"/>
            </p:cNvSpPr>
            <p:nvPr/>
          </p:nvSpPr>
          <p:spPr bwMode="auto">
            <a:xfrm>
              <a:off x="1872" y="3840"/>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3</a:t>
              </a:r>
              <a:r>
                <a:rPr lang="en-US" sz="2400" i="1">
                  <a:latin typeface="Symbol" pitchFamily="18" charset="2"/>
                  <a:sym typeface="Symbol" pitchFamily="18" charset="2"/>
                </a:rPr>
                <a:t>m</a:t>
              </a:r>
              <a:endParaRPr lang="en-US" sz="2400" i="1"/>
            </a:p>
          </p:txBody>
        </p:sp>
        <p:sp>
          <p:nvSpPr>
            <p:cNvPr id="97352" name="Text Box 42"/>
            <p:cNvSpPr txBox="1">
              <a:spLocks noChangeArrowheads="1"/>
            </p:cNvSpPr>
            <p:nvPr/>
          </p:nvSpPr>
          <p:spPr bwMode="auto">
            <a:xfrm>
              <a:off x="1248" y="3840"/>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2</a:t>
              </a:r>
              <a:r>
                <a:rPr lang="en-US" sz="2400" i="1">
                  <a:latin typeface="Symbol" pitchFamily="18" charset="2"/>
                  <a:sym typeface="Symbol" pitchFamily="18" charset="2"/>
                </a:rPr>
                <a:t>m</a:t>
              </a:r>
              <a:endParaRPr lang="en-US" sz="2400" i="1"/>
            </a:p>
          </p:txBody>
        </p:sp>
        <p:sp>
          <p:nvSpPr>
            <p:cNvPr id="97353" name="Text Box 43"/>
            <p:cNvSpPr txBox="1">
              <a:spLocks noChangeArrowheads="1"/>
            </p:cNvSpPr>
            <p:nvPr/>
          </p:nvSpPr>
          <p:spPr bwMode="auto">
            <a:xfrm>
              <a:off x="672" y="3840"/>
              <a:ext cx="336"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7354" name="Text Box 44"/>
            <p:cNvSpPr txBox="1">
              <a:spLocks noChangeArrowheads="1"/>
            </p:cNvSpPr>
            <p:nvPr/>
          </p:nvSpPr>
          <p:spPr bwMode="auto">
            <a:xfrm>
              <a:off x="3504" y="3850"/>
              <a:ext cx="528" cy="230"/>
            </a:xfrm>
            <a:prstGeom prst="rect">
              <a:avLst/>
            </a:prstGeom>
            <a:noFill/>
            <a:ln w="9525">
              <a:noFill/>
              <a:miter lim="800000"/>
              <a:headEnd/>
              <a:tailEnd/>
            </a:ln>
          </p:spPr>
          <p:txBody>
            <a:bodyPr lIns="0" tIns="0" rIns="0" bIns="0">
              <a:spAutoFit/>
            </a:bodyPr>
            <a:lstStyle/>
            <a:p>
              <a:pPr>
                <a:spcBef>
                  <a:spcPct val="50000"/>
                </a:spcBef>
              </a:pPr>
              <a:r>
                <a:rPr lang="en-US" sz="2400">
                  <a:sym typeface="Symbol" pitchFamily="18" charset="2"/>
                </a:rPr>
                <a:t>(</a:t>
              </a:r>
              <a:r>
                <a:rPr lang="en-US" sz="2400" i="1">
                  <a:sym typeface="Symbol" pitchFamily="18" charset="2"/>
                </a:rPr>
                <a:t>s</a:t>
              </a:r>
              <a:r>
                <a:rPr lang="en-US" sz="2400">
                  <a:sym typeface="Symbol" pitchFamily="18" charset="2"/>
                </a:rPr>
                <a:t>-1)</a:t>
              </a:r>
              <a:r>
                <a:rPr lang="en-US" sz="2400" i="1">
                  <a:latin typeface="Symbol" pitchFamily="18" charset="2"/>
                  <a:sym typeface="Symbol" pitchFamily="18" charset="2"/>
                </a:rPr>
                <a:t>m</a:t>
              </a:r>
              <a:endParaRPr lang="en-US" sz="2400" i="1"/>
            </a:p>
          </p:txBody>
        </p:sp>
        <p:sp>
          <p:nvSpPr>
            <p:cNvPr id="97355" name="Text Box 47"/>
            <p:cNvSpPr txBox="1">
              <a:spLocks noChangeArrowheads="1"/>
            </p:cNvSpPr>
            <p:nvPr/>
          </p:nvSpPr>
          <p:spPr bwMode="auto">
            <a:xfrm>
              <a:off x="4224" y="3840"/>
              <a:ext cx="288" cy="230"/>
            </a:xfrm>
            <a:prstGeom prst="rect">
              <a:avLst/>
            </a:prstGeom>
            <a:noFill/>
            <a:ln w="9525">
              <a:noFill/>
              <a:miter lim="800000"/>
              <a:headEnd/>
              <a:tailEnd/>
            </a:ln>
          </p:spPr>
          <p:txBody>
            <a:bodyPr lIns="0" tIns="0" rIns="0" bIns="0">
              <a:spAutoFit/>
            </a:bodyPr>
            <a:lstStyle/>
            <a:p>
              <a:pPr>
                <a:spcBef>
                  <a:spcPct val="50000"/>
                </a:spcBef>
              </a:pPr>
              <a:r>
                <a:rPr lang="en-US" sz="2400" i="1">
                  <a:sym typeface="Symbol" pitchFamily="18" charset="2"/>
                </a:rPr>
                <a:t>s</a:t>
              </a:r>
              <a:r>
                <a:rPr lang="en-US" sz="2400" i="1">
                  <a:latin typeface="Symbol" pitchFamily="18" charset="2"/>
                  <a:sym typeface="Symbol" pitchFamily="18" charset="2"/>
                </a:rPr>
                <a:t>m</a:t>
              </a:r>
              <a:endParaRPr lang="en-US" sz="2400" i="1"/>
            </a:p>
          </p:txBody>
        </p:sp>
        <p:sp>
          <p:nvSpPr>
            <p:cNvPr id="97356" name="Text Box 48"/>
            <p:cNvSpPr txBox="1">
              <a:spLocks noChangeArrowheads="1"/>
            </p:cNvSpPr>
            <p:nvPr/>
          </p:nvSpPr>
          <p:spPr bwMode="auto">
            <a:xfrm>
              <a:off x="4800" y="3840"/>
              <a:ext cx="288" cy="230"/>
            </a:xfrm>
            <a:prstGeom prst="rect">
              <a:avLst/>
            </a:prstGeom>
            <a:noFill/>
            <a:ln w="9525">
              <a:noFill/>
              <a:miter lim="800000"/>
              <a:headEnd/>
              <a:tailEnd/>
            </a:ln>
          </p:spPr>
          <p:txBody>
            <a:bodyPr lIns="0" tIns="0" rIns="0" bIns="0">
              <a:spAutoFit/>
            </a:bodyPr>
            <a:lstStyle/>
            <a:p>
              <a:pPr>
                <a:spcBef>
                  <a:spcPct val="50000"/>
                </a:spcBef>
              </a:pPr>
              <a:r>
                <a:rPr lang="en-US" sz="2400" i="1">
                  <a:sym typeface="Symbol" pitchFamily="18" charset="2"/>
                </a:rPr>
                <a:t>s</a:t>
              </a:r>
              <a:r>
                <a:rPr lang="en-US" sz="2400" i="1">
                  <a:latin typeface="Symbol" pitchFamily="18" charset="2"/>
                  <a:sym typeface="Symbol" pitchFamily="18" charset="2"/>
                </a:rPr>
                <a:t>m</a:t>
              </a:r>
              <a:endParaRPr lang="en-US" sz="2400" i="1"/>
            </a:p>
          </p:txBody>
        </p:sp>
      </p:grpSp>
      <p:sp>
        <p:nvSpPr>
          <p:cNvPr id="97286" name="TextBox 43"/>
          <p:cNvSpPr txBox="1">
            <a:spLocks noChangeArrowheads="1"/>
          </p:cNvSpPr>
          <p:nvPr/>
        </p:nvSpPr>
        <p:spPr bwMode="auto">
          <a:xfrm>
            <a:off x="4114800" y="2667000"/>
            <a:ext cx="914400" cy="420688"/>
          </a:xfrm>
          <a:prstGeom prst="rect">
            <a:avLst/>
          </a:prstGeom>
          <a:noFill/>
          <a:ln w="9525">
            <a:noFill/>
            <a:miter lim="800000"/>
            <a:headEnd/>
            <a:tailEnd/>
          </a:ln>
        </p:spPr>
        <p:txBody>
          <a:bodyPr>
            <a:spAutoFit/>
          </a:bodyPr>
          <a:lstStyle/>
          <a:p>
            <a:r>
              <a:rPr lang="en-US" sz="3200" i="1"/>
              <a:t>s</a:t>
            </a:r>
            <a:r>
              <a:rPr lang="en-US" sz="3200"/>
              <a:t> = 1</a:t>
            </a:r>
          </a:p>
        </p:txBody>
      </p:sp>
      <p:sp>
        <p:nvSpPr>
          <p:cNvPr id="97287" name="TextBox 44"/>
          <p:cNvSpPr txBox="1">
            <a:spLocks noChangeArrowheads="1"/>
          </p:cNvSpPr>
          <p:nvPr/>
        </p:nvSpPr>
        <p:spPr bwMode="auto">
          <a:xfrm>
            <a:off x="4114800" y="4456113"/>
            <a:ext cx="914400" cy="420687"/>
          </a:xfrm>
          <a:prstGeom prst="rect">
            <a:avLst/>
          </a:prstGeom>
          <a:noFill/>
          <a:ln w="9525">
            <a:noFill/>
            <a:miter lim="800000"/>
            <a:headEnd/>
            <a:tailEnd/>
          </a:ln>
        </p:spPr>
        <p:txBody>
          <a:bodyPr>
            <a:spAutoFit/>
          </a:bodyPr>
          <a:lstStyle/>
          <a:p>
            <a:r>
              <a:rPr lang="en-US" sz="3200" i="1"/>
              <a:t>s</a:t>
            </a:r>
            <a:r>
              <a:rPr lang="en-US" sz="3200"/>
              <a:t> &gt; 1</a:t>
            </a:r>
          </a:p>
        </p:txBody>
      </p:sp>
      <p:grpSp>
        <p:nvGrpSpPr>
          <p:cNvPr id="3" name="Group 40"/>
          <p:cNvGrpSpPr>
            <a:grpSpLocks/>
          </p:cNvGrpSpPr>
          <p:nvPr/>
        </p:nvGrpSpPr>
        <p:grpSpPr bwMode="auto">
          <a:xfrm>
            <a:off x="609600" y="2819400"/>
            <a:ext cx="8458200" cy="1752600"/>
            <a:chOff x="384" y="3024"/>
            <a:chExt cx="5328" cy="1104"/>
          </a:xfrm>
        </p:grpSpPr>
        <p:sp>
          <p:nvSpPr>
            <p:cNvPr id="97289" name="Text Box 32"/>
            <p:cNvSpPr txBox="1">
              <a:spLocks noChangeArrowheads="1"/>
            </p:cNvSpPr>
            <p:nvPr/>
          </p:nvSpPr>
          <p:spPr bwMode="auto">
            <a:xfrm>
              <a:off x="5280" y="3408"/>
              <a:ext cx="432" cy="327"/>
            </a:xfrm>
            <a:prstGeom prst="rect">
              <a:avLst/>
            </a:prstGeom>
            <a:noFill/>
            <a:ln w="9525">
              <a:noFill/>
              <a:miter lim="800000"/>
              <a:headEnd/>
              <a:tailEnd/>
            </a:ln>
          </p:spPr>
          <p:txBody>
            <a:bodyPr>
              <a:spAutoFit/>
            </a:bodyPr>
            <a:lstStyle/>
            <a:p>
              <a:pPr algn="ctr">
                <a:spcBef>
                  <a:spcPct val="50000"/>
                </a:spcBef>
              </a:pPr>
              <a:r>
                <a:rPr lang="en-US" sz="2800"/>
                <a:t>…</a:t>
              </a:r>
            </a:p>
          </p:txBody>
        </p:sp>
        <p:sp>
          <p:nvSpPr>
            <p:cNvPr id="97290" name="Oval 5"/>
            <p:cNvSpPr>
              <a:spLocks noChangeArrowheads="1"/>
            </p:cNvSpPr>
            <p:nvPr/>
          </p:nvSpPr>
          <p:spPr bwMode="auto">
            <a:xfrm>
              <a:off x="384" y="3456"/>
              <a:ext cx="288" cy="288"/>
            </a:xfrm>
            <a:prstGeom prst="ellipse">
              <a:avLst/>
            </a:prstGeom>
            <a:solidFill>
              <a:schemeClr val="accent1"/>
            </a:solidFill>
            <a:ln w="9525">
              <a:solidFill>
                <a:schemeClr val="tx1"/>
              </a:solidFill>
              <a:round/>
              <a:headEnd/>
              <a:tailEnd/>
            </a:ln>
          </p:spPr>
          <p:txBody>
            <a:bodyPr wrap="none" anchor="ctr"/>
            <a:lstStyle/>
            <a:p>
              <a:pPr algn="ctr"/>
              <a:r>
                <a:rPr lang="en-US"/>
                <a:t>0</a:t>
              </a:r>
            </a:p>
          </p:txBody>
        </p:sp>
        <p:sp>
          <p:nvSpPr>
            <p:cNvPr id="97291" name="Oval 6"/>
            <p:cNvSpPr>
              <a:spLocks noChangeArrowheads="1"/>
            </p:cNvSpPr>
            <p:nvPr/>
          </p:nvSpPr>
          <p:spPr bwMode="auto">
            <a:xfrm>
              <a:off x="960" y="3456"/>
              <a:ext cx="288" cy="288"/>
            </a:xfrm>
            <a:prstGeom prst="ellipse">
              <a:avLst/>
            </a:prstGeom>
            <a:solidFill>
              <a:schemeClr val="accent1"/>
            </a:solidFill>
            <a:ln w="9525">
              <a:solidFill>
                <a:schemeClr val="tx1"/>
              </a:solidFill>
              <a:round/>
              <a:headEnd/>
              <a:tailEnd/>
            </a:ln>
          </p:spPr>
          <p:txBody>
            <a:bodyPr wrap="none" anchor="ctr"/>
            <a:lstStyle/>
            <a:p>
              <a:pPr algn="ctr"/>
              <a:r>
                <a:rPr lang="en-US"/>
                <a:t>1</a:t>
              </a:r>
            </a:p>
          </p:txBody>
        </p:sp>
        <p:sp>
          <p:nvSpPr>
            <p:cNvPr id="97292" name="Oval 7"/>
            <p:cNvSpPr>
              <a:spLocks noChangeArrowheads="1"/>
            </p:cNvSpPr>
            <p:nvPr/>
          </p:nvSpPr>
          <p:spPr bwMode="auto">
            <a:xfrm>
              <a:off x="1536" y="3456"/>
              <a:ext cx="288" cy="288"/>
            </a:xfrm>
            <a:prstGeom prst="ellipse">
              <a:avLst/>
            </a:prstGeom>
            <a:solidFill>
              <a:schemeClr val="accent1"/>
            </a:solidFill>
            <a:ln w="9525">
              <a:solidFill>
                <a:schemeClr val="tx1"/>
              </a:solidFill>
              <a:round/>
              <a:headEnd/>
              <a:tailEnd/>
            </a:ln>
          </p:spPr>
          <p:txBody>
            <a:bodyPr wrap="none" anchor="ctr"/>
            <a:lstStyle/>
            <a:p>
              <a:pPr algn="ctr"/>
              <a:r>
                <a:rPr lang="en-US"/>
                <a:t>2</a:t>
              </a:r>
            </a:p>
          </p:txBody>
        </p:sp>
        <p:sp>
          <p:nvSpPr>
            <p:cNvPr id="97293" name="Oval 8"/>
            <p:cNvSpPr>
              <a:spLocks noChangeArrowheads="1"/>
            </p:cNvSpPr>
            <p:nvPr/>
          </p:nvSpPr>
          <p:spPr bwMode="auto">
            <a:xfrm>
              <a:off x="2112" y="3456"/>
              <a:ext cx="288" cy="288"/>
            </a:xfrm>
            <a:prstGeom prst="ellipse">
              <a:avLst/>
            </a:prstGeom>
            <a:solidFill>
              <a:schemeClr val="accent1"/>
            </a:solidFill>
            <a:ln w="9525">
              <a:solidFill>
                <a:schemeClr val="tx1"/>
              </a:solidFill>
              <a:round/>
              <a:headEnd/>
              <a:tailEnd/>
            </a:ln>
          </p:spPr>
          <p:txBody>
            <a:bodyPr wrap="none" anchor="ctr"/>
            <a:lstStyle/>
            <a:p>
              <a:pPr algn="ctr"/>
              <a:r>
                <a:rPr lang="en-US"/>
                <a:t>3</a:t>
              </a:r>
            </a:p>
          </p:txBody>
        </p:sp>
        <p:sp>
          <p:nvSpPr>
            <p:cNvPr id="97294" name="Oval 9"/>
            <p:cNvSpPr>
              <a:spLocks noChangeArrowheads="1"/>
            </p:cNvSpPr>
            <p:nvPr/>
          </p:nvSpPr>
          <p:spPr bwMode="auto">
            <a:xfrm>
              <a:off x="3312"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r>
                <a:rPr lang="en-US"/>
                <a:t>3</a:t>
              </a:r>
            </a:p>
          </p:txBody>
        </p:sp>
        <p:sp>
          <p:nvSpPr>
            <p:cNvPr id="97295" name="Oval 10"/>
            <p:cNvSpPr>
              <a:spLocks noChangeArrowheads="1"/>
            </p:cNvSpPr>
            <p:nvPr/>
          </p:nvSpPr>
          <p:spPr bwMode="auto">
            <a:xfrm>
              <a:off x="3888"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r>
                <a:rPr lang="en-US"/>
                <a:t>2</a:t>
              </a:r>
            </a:p>
          </p:txBody>
        </p:sp>
        <p:sp>
          <p:nvSpPr>
            <p:cNvPr id="97296" name="Oval 11"/>
            <p:cNvSpPr>
              <a:spLocks noChangeArrowheads="1"/>
            </p:cNvSpPr>
            <p:nvPr/>
          </p:nvSpPr>
          <p:spPr bwMode="auto">
            <a:xfrm>
              <a:off x="4464"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r>
                <a:rPr lang="en-US"/>
                <a:t>1</a:t>
              </a:r>
            </a:p>
          </p:txBody>
        </p:sp>
        <p:sp>
          <p:nvSpPr>
            <p:cNvPr id="97297" name="Oval 12"/>
            <p:cNvSpPr>
              <a:spLocks noChangeArrowheads="1"/>
            </p:cNvSpPr>
            <p:nvPr/>
          </p:nvSpPr>
          <p:spPr bwMode="auto">
            <a:xfrm>
              <a:off x="5040"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p>
          </p:txBody>
        </p:sp>
        <p:cxnSp>
          <p:nvCxnSpPr>
            <p:cNvPr id="97298" name="AutoShape 13"/>
            <p:cNvCxnSpPr>
              <a:cxnSpLocks noChangeShapeType="1"/>
              <a:stCxn id="97290" idx="0"/>
              <a:endCxn id="97291" idx="0"/>
            </p:cNvCxnSpPr>
            <p:nvPr/>
          </p:nvCxnSpPr>
          <p:spPr bwMode="auto">
            <a:xfrm rot="5400000" flipV="1">
              <a:off x="815" y="3169"/>
              <a:ext cx="1" cy="576"/>
            </a:xfrm>
            <a:prstGeom prst="curvedConnector3">
              <a:avLst>
                <a:gd name="adj1" fmla="val -14400005"/>
              </a:avLst>
            </a:prstGeom>
            <a:noFill/>
            <a:ln w="9525">
              <a:solidFill>
                <a:schemeClr val="tx1"/>
              </a:solidFill>
              <a:round/>
              <a:headEnd/>
              <a:tailEnd type="triangle" w="med" len="med"/>
            </a:ln>
          </p:spPr>
        </p:cxnSp>
        <p:cxnSp>
          <p:nvCxnSpPr>
            <p:cNvPr id="97299" name="AutoShape 14"/>
            <p:cNvCxnSpPr>
              <a:cxnSpLocks noChangeShapeType="1"/>
            </p:cNvCxnSpPr>
            <p:nvPr/>
          </p:nvCxnSpPr>
          <p:spPr bwMode="auto">
            <a:xfrm rot="5400000" flipV="1">
              <a:off x="1391" y="3169"/>
              <a:ext cx="1" cy="576"/>
            </a:xfrm>
            <a:prstGeom prst="curvedConnector3">
              <a:avLst>
                <a:gd name="adj1" fmla="val -14400005"/>
              </a:avLst>
            </a:prstGeom>
            <a:noFill/>
            <a:ln w="9525">
              <a:solidFill>
                <a:schemeClr val="tx1"/>
              </a:solidFill>
              <a:round/>
              <a:headEnd/>
              <a:tailEnd type="triangle" w="med" len="med"/>
            </a:ln>
          </p:spPr>
        </p:cxnSp>
        <p:cxnSp>
          <p:nvCxnSpPr>
            <p:cNvPr id="97300" name="AutoShape 15"/>
            <p:cNvCxnSpPr>
              <a:cxnSpLocks noChangeShapeType="1"/>
            </p:cNvCxnSpPr>
            <p:nvPr/>
          </p:nvCxnSpPr>
          <p:spPr bwMode="auto">
            <a:xfrm rot="5400000" flipV="1">
              <a:off x="1967" y="3168"/>
              <a:ext cx="1" cy="576"/>
            </a:xfrm>
            <a:prstGeom prst="curvedConnector3">
              <a:avLst>
                <a:gd name="adj1" fmla="val -14400005"/>
              </a:avLst>
            </a:prstGeom>
            <a:noFill/>
            <a:ln w="9525">
              <a:solidFill>
                <a:schemeClr val="tx1"/>
              </a:solidFill>
              <a:round/>
              <a:headEnd/>
              <a:tailEnd type="triangle" w="med" len="med"/>
            </a:ln>
          </p:spPr>
        </p:cxnSp>
        <p:cxnSp>
          <p:nvCxnSpPr>
            <p:cNvPr id="97301" name="AutoShape 16"/>
            <p:cNvCxnSpPr>
              <a:cxnSpLocks noChangeShapeType="1"/>
            </p:cNvCxnSpPr>
            <p:nvPr/>
          </p:nvCxnSpPr>
          <p:spPr bwMode="auto">
            <a:xfrm rot="5400000" flipV="1">
              <a:off x="3743" y="3170"/>
              <a:ext cx="1" cy="576"/>
            </a:xfrm>
            <a:prstGeom prst="curvedConnector3">
              <a:avLst>
                <a:gd name="adj1" fmla="val -14400005"/>
              </a:avLst>
            </a:prstGeom>
            <a:noFill/>
            <a:ln w="9525">
              <a:solidFill>
                <a:schemeClr val="tx1"/>
              </a:solidFill>
              <a:round/>
              <a:headEnd/>
              <a:tailEnd type="triangle" w="med" len="med"/>
            </a:ln>
          </p:spPr>
        </p:cxnSp>
        <p:cxnSp>
          <p:nvCxnSpPr>
            <p:cNvPr id="97302" name="AutoShape 17"/>
            <p:cNvCxnSpPr>
              <a:cxnSpLocks noChangeShapeType="1"/>
            </p:cNvCxnSpPr>
            <p:nvPr/>
          </p:nvCxnSpPr>
          <p:spPr bwMode="auto">
            <a:xfrm rot="5400000" flipV="1">
              <a:off x="4319" y="3170"/>
              <a:ext cx="1" cy="576"/>
            </a:xfrm>
            <a:prstGeom prst="curvedConnector3">
              <a:avLst>
                <a:gd name="adj1" fmla="val -14400005"/>
              </a:avLst>
            </a:prstGeom>
            <a:noFill/>
            <a:ln w="9525">
              <a:solidFill>
                <a:schemeClr val="tx1"/>
              </a:solidFill>
              <a:round/>
              <a:headEnd/>
              <a:tailEnd type="triangle" w="med" len="med"/>
            </a:ln>
          </p:spPr>
        </p:cxnSp>
        <p:cxnSp>
          <p:nvCxnSpPr>
            <p:cNvPr id="97303" name="AutoShape 18"/>
            <p:cNvCxnSpPr>
              <a:cxnSpLocks noChangeShapeType="1"/>
            </p:cNvCxnSpPr>
            <p:nvPr/>
          </p:nvCxnSpPr>
          <p:spPr bwMode="auto">
            <a:xfrm rot="5400000" flipV="1">
              <a:off x="4895" y="3169"/>
              <a:ext cx="1" cy="576"/>
            </a:xfrm>
            <a:prstGeom prst="curvedConnector3">
              <a:avLst>
                <a:gd name="adj1" fmla="val -14400005"/>
              </a:avLst>
            </a:prstGeom>
            <a:noFill/>
            <a:ln w="9525">
              <a:solidFill>
                <a:schemeClr val="tx1"/>
              </a:solidFill>
              <a:round/>
              <a:headEnd/>
              <a:tailEnd type="triangle" w="med" len="med"/>
            </a:ln>
          </p:spPr>
        </p:cxnSp>
        <p:cxnSp>
          <p:nvCxnSpPr>
            <p:cNvPr id="97304" name="AutoShape 19"/>
            <p:cNvCxnSpPr>
              <a:cxnSpLocks noChangeShapeType="1"/>
              <a:stCxn id="97297" idx="4"/>
              <a:endCxn id="97296" idx="4"/>
            </p:cNvCxnSpPr>
            <p:nvPr/>
          </p:nvCxnSpPr>
          <p:spPr bwMode="auto">
            <a:xfrm rot="5400000">
              <a:off x="4895" y="3457"/>
              <a:ext cx="1" cy="576"/>
            </a:xfrm>
            <a:prstGeom prst="curvedConnector3">
              <a:avLst>
                <a:gd name="adj1" fmla="val 14400005"/>
              </a:avLst>
            </a:prstGeom>
            <a:noFill/>
            <a:ln w="9525">
              <a:solidFill>
                <a:schemeClr val="tx1"/>
              </a:solidFill>
              <a:round/>
              <a:headEnd/>
              <a:tailEnd type="triangle" w="med" len="med"/>
            </a:ln>
          </p:spPr>
        </p:cxnSp>
        <p:cxnSp>
          <p:nvCxnSpPr>
            <p:cNvPr id="97305" name="AutoShape 20"/>
            <p:cNvCxnSpPr>
              <a:cxnSpLocks noChangeShapeType="1"/>
            </p:cNvCxnSpPr>
            <p:nvPr/>
          </p:nvCxnSpPr>
          <p:spPr bwMode="auto">
            <a:xfrm rot="5400000">
              <a:off x="4319" y="3457"/>
              <a:ext cx="1" cy="576"/>
            </a:xfrm>
            <a:prstGeom prst="curvedConnector3">
              <a:avLst>
                <a:gd name="adj1" fmla="val 14400005"/>
              </a:avLst>
            </a:prstGeom>
            <a:noFill/>
            <a:ln w="9525">
              <a:solidFill>
                <a:schemeClr val="tx1"/>
              </a:solidFill>
              <a:round/>
              <a:headEnd/>
              <a:tailEnd type="triangle" w="med" len="med"/>
            </a:ln>
          </p:spPr>
        </p:cxnSp>
        <p:cxnSp>
          <p:nvCxnSpPr>
            <p:cNvPr id="97306" name="AutoShape 21"/>
            <p:cNvCxnSpPr>
              <a:cxnSpLocks noChangeShapeType="1"/>
            </p:cNvCxnSpPr>
            <p:nvPr/>
          </p:nvCxnSpPr>
          <p:spPr bwMode="auto">
            <a:xfrm rot="5400000">
              <a:off x="3743" y="3457"/>
              <a:ext cx="1" cy="576"/>
            </a:xfrm>
            <a:prstGeom prst="curvedConnector3">
              <a:avLst>
                <a:gd name="adj1" fmla="val 14400005"/>
              </a:avLst>
            </a:prstGeom>
            <a:noFill/>
            <a:ln w="9525">
              <a:solidFill>
                <a:schemeClr val="tx1"/>
              </a:solidFill>
              <a:round/>
              <a:headEnd/>
              <a:tailEnd type="triangle" w="med" len="med"/>
            </a:ln>
          </p:spPr>
        </p:cxnSp>
        <p:cxnSp>
          <p:nvCxnSpPr>
            <p:cNvPr id="97307" name="AutoShape 22"/>
            <p:cNvCxnSpPr>
              <a:cxnSpLocks noChangeShapeType="1"/>
            </p:cNvCxnSpPr>
            <p:nvPr/>
          </p:nvCxnSpPr>
          <p:spPr bwMode="auto">
            <a:xfrm rot="5400000">
              <a:off x="1967" y="3457"/>
              <a:ext cx="1" cy="576"/>
            </a:xfrm>
            <a:prstGeom prst="curvedConnector3">
              <a:avLst>
                <a:gd name="adj1" fmla="val 14400005"/>
              </a:avLst>
            </a:prstGeom>
            <a:noFill/>
            <a:ln w="9525">
              <a:solidFill>
                <a:schemeClr val="tx1"/>
              </a:solidFill>
              <a:round/>
              <a:headEnd/>
              <a:tailEnd type="triangle" w="med" len="med"/>
            </a:ln>
          </p:spPr>
        </p:cxnSp>
        <p:cxnSp>
          <p:nvCxnSpPr>
            <p:cNvPr id="97308" name="AutoShape 23"/>
            <p:cNvCxnSpPr>
              <a:cxnSpLocks noChangeShapeType="1"/>
            </p:cNvCxnSpPr>
            <p:nvPr/>
          </p:nvCxnSpPr>
          <p:spPr bwMode="auto">
            <a:xfrm rot="5400000">
              <a:off x="1391" y="3457"/>
              <a:ext cx="1" cy="576"/>
            </a:xfrm>
            <a:prstGeom prst="curvedConnector3">
              <a:avLst>
                <a:gd name="adj1" fmla="val 14400005"/>
              </a:avLst>
            </a:prstGeom>
            <a:noFill/>
            <a:ln w="9525">
              <a:solidFill>
                <a:schemeClr val="tx1"/>
              </a:solidFill>
              <a:round/>
              <a:headEnd/>
              <a:tailEnd type="triangle" w="med" len="med"/>
            </a:ln>
          </p:spPr>
        </p:cxnSp>
        <p:cxnSp>
          <p:nvCxnSpPr>
            <p:cNvPr id="97309" name="AutoShape 24"/>
            <p:cNvCxnSpPr>
              <a:cxnSpLocks noChangeShapeType="1"/>
            </p:cNvCxnSpPr>
            <p:nvPr/>
          </p:nvCxnSpPr>
          <p:spPr bwMode="auto">
            <a:xfrm rot="5400000">
              <a:off x="815" y="3457"/>
              <a:ext cx="1" cy="576"/>
            </a:xfrm>
            <a:prstGeom prst="curvedConnector3">
              <a:avLst>
                <a:gd name="adj1" fmla="val 14400005"/>
              </a:avLst>
            </a:prstGeom>
            <a:noFill/>
            <a:ln w="9525">
              <a:solidFill>
                <a:schemeClr val="tx1"/>
              </a:solidFill>
              <a:round/>
              <a:headEnd/>
              <a:tailEnd type="triangle" w="med" len="med"/>
            </a:ln>
          </p:spPr>
        </p:cxnSp>
        <p:sp>
          <p:nvSpPr>
            <p:cNvPr id="97310" name="Text Box 25"/>
            <p:cNvSpPr txBox="1">
              <a:spLocks noChangeArrowheads="1"/>
            </p:cNvSpPr>
            <p:nvPr/>
          </p:nvSpPr>
          <p:spPr bwMode="auto">
            <a:xfrm>
              <a:off x="720" y="3024"/>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7311" name="Text Box 26"/>
            <p:cNvSpPr txBox="1">
              <a:spLocks noChangeArrowheads="1"/>
            </p:cNvSpPr>
            <p:nvPr/>
          </p:nvSpPr>
          <p:spPr bwMode="auto">
            <a:xfrm>
              <a:off x="1296" y="3024"/>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latin typeface="Symbol" pitchFamily="18" charset="2"/>
              </a:endParaRPr>
            </a:p>
          </p:txBody>
        </p:sp>
        <p:sp>
          <p:nvSpPr>
            <p:cNvPr id="97312" name="Text Box 27"/>
            <p:cNvSpPr txBox="1">
              <a:spLocks noChangeArrowheads="1"/>
            </p:cNvSpPr>
            <p:nvPr/>
          </p:nvSpPr>
          <p:spPr bwMode="auto">
            <a:xfrm>
              <a:off x="1872" y="3024"/>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7313" name="Text Box 28"/>
            <p:cNvSpPr txBox="1">
              <a:spLocks noChangeArrowheads="1"/>
            </p:cNvSpPr>
            <p:nvPr/>
          </p:nvSpPr>
          <p:spPr bwMode="auto">
            <a:xfrm>
              <a:off x="4128" y="3024"/>
              <a:ext cx="480"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7314" name="Text Box 29"/>
            <p:cNvSpPr txBox="1">
              <a:spLocks noChangeArrowheads="1"/>
            </p:cNvSpPr>
            <p:nvPr/>
          </p:nvSpPr>
          <p:spPr bwMode="auto">
            <a:xfrm>
              <a:off x="4752" y="3024"/>
              <a:ext cx="480"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7315" name="Text Box 30"/>
            <p:cNvSpPr txBox="1">
              <a:spLocks noChangeArrowheads="1"/>
            </p:cNvSpPr>
            <p:nvPr/>
          </p:nvSpPr>
          <p:spPr bwMode="auto">
            <a:xfrm>
              <a:off x="3552" y="3024"/>
              <a:ext cx="480"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7316" name="Text Box 31"/>
            <p:cNvSpPr txBox="1">
              <a:spLocks noChangeArrowheads="1"/>
            </p:cNvSpPr>
            <p:nvPr/>
          </p:nvSpPr>
          <p:spPr bwMode="auto">
            <a:xfrm>
              <a:off x="2640" y="3408"/>
              <a:ext cx="432" cy="327"/>
            </a:xfrm>
            <a:prstGeom prst="rect">
              <a:avLst/>
            </a:prstGeom>
            <a:noFill/>
            <a:ln w="9525">
              <a:noFill/>
              <a:miter lim="800000"/>
              <a:headEnd/>
              <a:tailEnd/>
            </a:ln>
          </p:spPr>
          <p:txBody>
            <a:bodyPr>
              <a:spAutoFit/>
            </a:bodyPr>
            <a:lstStyle/>
            <a:p>
              <a:pPr algn="ctr">
                <a:spcBef>
                  <a:spcPct val="50000"/>
                </a:spcBef>
              </a:pPr>
              <a:r>
                <a:rPr lang="en-US" sz="2800"/>
                <a:t>…</a:t>
              </a:r>
            </a:p>
          </p:txBody>
        </p:sp>
        <p:sp>
          <p:nvSpPr>
            <p:cNvPr id="97317" name="Text Box 33"/>
            <p:cNvSpPr txBox="1">
              <a:spLocks noChangeArrowheads="1"/>
            </p:cNvSpPr>
            <p:nvPr/>
          </p:nvSpPr>
          <p:spPr bwMode="auto">
            <a:xfrm>
              <a:off x="1872" y="3840"/>
              <a:ext cx="336"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7318" name="Text Box 34"/>
            <p:cNvSpPr txBox="1">
              <a:spLocks noChangeArrowheads="1"/>
            </p:cNvSpPr>
            <p:nvPr/>
          </p:nvSpPr>
          <p:spPr bwMode="auto">
            <a:xfrm>
              <a:off x="1248" y="3840"/>
              <a:ext cx="336"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7319" name="Text Box 35"/>
            <p:cNvSpPr txBox="1">
              <a:spLocks noChangeArrowheads="1"/>
            </p:cNvSpPr>
            <p:nvPr/>
          </p:nvSpPr>
          <p:spPr bwMode="auto">
            <a:xfrm>
              <a:off x="672" y="3840"/>
              <a:ext cx="336"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7320" name="Text Box 36"/>
            <p:cNvSpPr txBox="1">
              <a:spLocks noChangeArrowheads="1"/>
            </p:cNvSpPr>
            <p:nvPr/>
          </p:nvSpPr>
          <p:spPr bwMode="auto">
            <a:xfrm>
              <a:off x="3552" y="3840"/>
              <a:ext cx="528"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7321" name="Text Box 37"/>
            <p:cNvSpPr txBox="1">
              <a:spLocks noChangeArrowheads="1"/>
            </p:cNvSpPr>
            <p:nvPr/>
          </p:nvSpPr>
          <p:spPr bwMode="auto">
            <a:xfrm>
              <a:off x="4176" y="3840"/>
              <a:ext cx="528"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7322" name="Text Box 38"/>
            <p:cNvSpPr txBox="1">
              <a:spLocks noChangeArrowheads="1"/>
            </p:cNvSpPr>
            <p:nvPr/>
          </p:nvSpPr>
          <p:spPr bwMode="auto">
            <a:xfrm>
              <a:off x="4752" y="3840"/>
              <a:ext cx="528"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grpSp>
      <p:sp>
        <p:nvSpPr>
          <p:cNvPr id="4" name="TextBox 3">
            <a:extLst>
              <a:ext uri="{FF2B5EF4-FFF2-40B4-BE49-F238E27FC236}">
                <a16:creationId xmlns:a16="http://schemas.microsoft.com/office/drawing/2014/main" id="{BF7BFCF8-F36B-4015-844A-6BD2527E6740}"/>
              </a:ext>
            </a:extLst>
          </p:cNvPr>
          <p:cNvSpPr txBox="1"/>
          <p:nvPr/>
        </p:nvSpPr>
        <p:spPr>
          <a:xfrm>
            <a:off x="7924800" y="4572000"/>
            <a:ext cx="1066800" cy="666849"/>
          </a:xfrm>
          <a:prstGeom prst="rect">
            <a:avLst/>
          </a:prstGeom>
          <a:noFill/>
        </p:spPr>
        <p:txBody>
          <a:bodyPr wrap="square" rtlCol="0">
            <a:spAutoFit/>
          </a:bodyPr>
          <a:lstStyle/>
          <a:p>
            <a:r>
              <a:rPr lang="tr-TR" sz="2800" dirty="0"/>
              <a:t>Queue </a:t>
            </a:r>
            <a:r>
              <a:rPr lang="tr-TR" sz="2800" dirty="0" err="1"/>
              <a:t>starts</a:t>
            </a:r>
            <a:endParaRPr lang="en-US" sz="2800" dirty="0"/>
          </a:p>
        </p:txBody>
      </p:sp>
      <p:cxnSp>
        <p:nvCxnSpPr>
          <p:cNvPr id="6" name="Straight Arrow Connector 5">
            <a:extLst>
              <a:ext uri="{FF2B5EF4-FFF2-40B4-BE49-F238E27FC236}">
                <a16:creationId xmlns:a16="http://schemas.microsoft.com/office/drawing/2014/main" id="{576ACBA4-7B55-4867-82E7-CF785E7439DC}"/>
              </a:ext>
            </a:extLst>
          </p:cNvPr>
          <p:cNvCxnSpPr>
            <a:stCxn id="4" idx="2"/>
            <a:endCxn id="97331" idx="7"/>
          </p:cNvCxnSpPr>
          <p:nvPr/>
        </p:nvCxnSpPr>
        <p:spPr bwMode="auto">
          <a:xfrm flipH="1">
            <a:off x="8391245" y="5238849"/>
            <a:ext cx="66955" cy="31450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80" name="TextBox 79">
            <a:extLst>
              <a:ext uri="{FF2B5EF4-FFF2-40B4-BE49-F238E27FC236}">
                <a16:creationId xmlns:a16="http://schemas.microsoft.com/office/drawing/2014/main" id="{F1BBBAC8-F44F-4813-95EB-6961BD65099C}"/>
              </a:ext>
            </a:extLst>
          </p:cNvPr>
          <p:cNvSpPr txBox="1"/>
          <p:nvPr/>
        </p:nvSpPr>
        <p:spPr>
          <a:xfrm>
            <a:off x="2274939" y="2451704"/>
            <a:ext cx="1066800" cy="666849"/>
          </a:xfrm>
          <a:prstGeom prst="rect">
            <a:avLst/>
          </a:prstGeom>
          <a:noFill/>
        </p:spPr>
        <p:txBody>
          <a:bodyPr wrap="square" rtlCol="0">
            <a:spAutoFit/>
          </a:bodyPr>
          <a:lstStyle/>
          <a:p>
            <a:r>
              <a:rPr lang="tr-TR" sz="2800" dirty="0"/>
              <a:t>Queue </a:t>
            </a:r>
            <a:r>
              <a:rPr lang="tr-TR" sz="2800" dirty="0" err="1"/>
              <a:t>starts</a:t>
            </a:r>
            <a:endParaRPr lang="en-US" sz="2800" dirty="0"/>
          </a:p>
        </p:txBody>
      </p:sp>
      <p:cxnSp>
        <p:nvCxnSpPr>
          <p:cNvPr id="81" name="Straight Arrow Connector 80">
            <a:extLst>
              <a:ext uri="{FF2B5EF4-FFF2-40B4-BE49-F238E27FC236}">
                <a16:creationId xmlns:a16="http://schemas.microsoft.com/office/drawing/2014/main" id="{4E43B0FB-78C7-4209-8ACD-AE9BED9A5E34}"/>
              </a:ext>
            </a:extLst>
          </p:cNvPr>
          <p:cNvCxnSpPr>
            <a:cxnSpLocks/>
            <a:stCxn id="80" idx="2"/>
            <a:endCxn id="97292" idx="0"/>
          </p:cNvCxnSpPr>
          <p:nvPr/>
        </p:nvCxnSpPr>
        <p:spPr bwMode="auto">
          <a:xfrm flipH="1">
            <a:off x="2667000" y="3118553"/>
            <a:ext cx="141339" cy="38664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Number Placeholder 5"/>
          <p:cNvSpPr>
            <a:spLocks noGrp="1"/>
          </p:cNvSpPr>
          <p:nvPr>
            <p:ph type="sldNum" sz="quarter" idx="12"/>
          </p:nvPr>
        </p:nvSpPr>
        <p:spPr>
          <a:noFill/>
        </p:spPr>
        <p:txBody>
          <a:bodyPr/>
          <a:lstStyle/>
          <a:p>
            <a:fld id="{2936A4C8-58DF-4CE3-A893-6FE2F16C1C0B}" type="slidenum">
              <a:rPr lang="en-US" smtClean="0"/>
              <a:pPr/>
              <a:t>24</a:t>
            </a:fld>
            <a:endParaRPr lang="en-US"/>
          </a:p>
        </p:txBody>
      </p:sp>
      <p:sp>
        <p:nvSpPr>
          <p:cNvPr id="98307" name="Rectangle 2"/>
          <p:cNvSpPr>
            <a:spLocks noGrp="1" noChangeArrowheads="1"/>
          </p:cNvSpPr>
          <p:nvPr>
            <p:ph type="title"/>
          </p:nvPr>
        </p:nvSpPr>
        <p:spPr>
          <a:xfrm>
            <a:off x="457200" y="274638"/>
            <a:ext cx="8394700" cy="1143000"/>
          </a:xfrm>
        </p:spPr>
        <p:txBody>
          <a:bodyPr/>
          <a:lstStyle/>
          <a:p>
            <a:pPr eaLnBrk="1" hangingPunct="1"/>
            <a:r>
              <a:rPr lang="en-US" sz="4000"/>
              <a:t>Steady-State Probabilities for </a:t>
            </a:r>
            <a:r>
              <a:rPr lang="en-US" sz="4000" i="1"/>
              <a:t>M</a:t>
            </a:r>
            <a:r>
              <a:rPr lang="en-US" sz="4000"/>
              <a:t>/</a:t>
            </a:r>
            <a:r>
              <a:rPr lang="en-US" sz="4000" i="1"/>
              <a:t>M</a:t>
            </a:r>
            <a:r>
              <a:rPr lang="en-US" sz="4000"/>
              <a:t>/1</a:t>
            </a:r>
          </a:p>
        </p:txBody>
      </p:sp>
      <p:sp>
        <p:nvSpPr>
          <p:cNvPr id="98308" name="Rectangle 44"/>
          <p:cNvSpPr>
            <a:spLocks noGrp="1" noChangeArrowheads="1"/>
          </p:cNvSpPr>
          <p:nvPr>
            <p:ph type="body" idx="1"/>
          </p:nvPr>
        </p:nvSpPr>
        <p:spPr>
          <a:xfrm>
            <a:off x="457200" y="5410200"/>
            <a:ext cx="8229600" cy="1219200"/>
          </a:xfrm>
        </p:spPr>
        <p:txBody>
          <a:bodyPr/>
          <a:lstStyle/>
          <a:p>
            <a:pPr eaLnBrk="1" hangingPunct="1">
              <a:lnSpc>
                <a:spcPct val="90000"/>
              </a:lnSpc>
            </a:pPr>
            <a:r>
              <a:rPr lang="en-US" sz="2800"/>
              <a:t>Note that we allow for an infinite number of states here.</a:t>
            </a:r>
          </a:p>
        </p:txBody>
      </p:sp>
      <p:pic>
        <p:nvPicPr>
          <p:cNvPr id="98309" name="Picture 4" descr="txp_fig"/>
          <p:cNvPicPr>
            <a:picLocks noGrp="1" noChangeAspect="1" noChangeArrowheads="1"/>
          </p:cNvPicPr>
          <p:nvPr>
            <p:ph idx="4294967295"/>
            <p:custDataLst>
              <p:tags r:id="rId1"/>
            </p:custDataLst>
          </p:nvPr>
        </p:nvPicPr>
        <p:blipFill>
          <a:blip r:embed="rId4" cstate="print"/>
          <a:srcRect/>
          <a:stretch>
            <a:fillRect/>
          </a:stretch>
        </p:blipFill>
        <p:spPr>
          <a:xfrm>
            <a:off x="3200400" y="3433763"/>
            <a:ext cx="4038600" cy="1366837"/>
          </a:xfrm>
          <a:noFill/>
        </p:spPr>
      </p:pic>
      <p:sp>
        <p:nvSpPr>
          <p:cNvPr id="98310" name="Text Box 41"/>
          <p:cNvSpPr txBox="1">
            <a:spLocks noChangeArrowheads="1"/>
          </p:cNvSpPr>
          <p:nvPr/>
        </p:nvSpPr>
        <p:spPr bwMode="auto">
          <a:xfrm>
            <a:off x="762000" y="3509963"/>
            <a:ext cx="2133600" cy="1241425"/>
          </a:xfrm>
          <a:prstGeom prst="rect">
            <a:avLst/>
          </a:prstGeom>
          <a:noFill/>
          <a:ln w="9525">
            <a:noFill/>
            <a:miter lim="800000"/>
            <a:headEnd/>
            <a:tailEnd/>
          </a:ln>
        </p:spPr>
        <p:txBody>
          <a:bodyPr>
            <a:spAutoFit/>
          </a:bodyPr>
          <a:lstStyle/>
          <a:p>
            <a:pPr>
              <a:spcBef>
                <a:spcPct val="50000"/>
              </a:spcBef>
            </a:pPr>
            <a:r>
              <a:rPr lang="en-US" sz="2800"/>
              <a:t>Balance equations for a continuous time Markov chain.</a:t>
            </a:r>
          </a:p>
        </p:txBody>
      </p:sp>
      <p:grpSp>
        <p:nvGrpSpPr>
          <p:cNvPr id="98311" name="Group 40"/>
          <p:cNvGrpSpPr>
            <a:grpSpLocks/>
          </p:cNvGrpSpPr>
          <p:nvPr/>
        </p:nvGrpSpPr>
        <p:grpSpPr bwMode="auto">
          <a:xfrm>
            <a:off x="457200" y="1219200"/>
            <a:ext cx="8458200" cy="1752600"/>
            <a:chOff x="384" y="3024"/>
            <a:chExt cx="5328" cy="1104"/>
          </a:xfrm>
        </p:grpSpPr>
        <p:sp>
          <p:nvSpPr>
            <p:cNvPr id="98312" name="Text Box 32"/>
            <p:cNvSpPr txBox="1">
              <a:spLocks noChangeArrowheads="1"/>
            </p:cNvSpPr>
            <p:nvPr/>
          </p:nvSpPr>
          <p:spPr bwMode="auto">
            <a:xfrm>
              <a:off x="5280" y="3408"/>
              <a:ext cx="432" cy="327"/>
            </a:xfrm>
            <a:prstGeom prst="rect">
              <a:avLst/>
            </a:prstGeom>
            <a:noFill/>
            <a:ln w="9525">
              <a:noFill/>
              <a:miter lim="800000"/>
              <a:headEnd/>
              <a:tailEnd/>
            </a:ln>
          </p:spPr>
          <p:txBody>
            <a:bodyPr>
              <a:spAutoFit/>
            </a:bodyPr>
            <a:lstStyle/>
            <a:p>
              <a:pPr algn="ctr">
                <a:spcBef>
                  <a:spcPct val="50000"/>
                </a:spcBef>
              </a:pPr>
              <a:r>
                <a:rPr lang="en-US" sz="2800"/>
                <a:t>…</a:t>
              </a:r>
            </a:p>
          </p:txBody>
        </p:sp>
        <p:sp>
          <p:nvSpPr>
            <p:cNvPr id="98313" name="Oval 5"/>
            <p:cNvSpPr>
              <a:spLocks noChangeArrowheads="1"/>
            </p:cNvSpPr>
            <p:nvPr/>
          </p:nvSpPr>
          <p:spPr bwMode="auto">
            <a:xfrm>
              <a:off x="384" y="3456"/>
              <a:ext cx="288" cy="288"/>
            </a:xfrm>
            <a:prstGeom prst="ellipse">
              <a:avLst/>
            </a:prstGeom>
            <a:solidFill>
              <a:schemeClr val="accent1"/>
            </a:solidFill>
            <a:ln w="9525">
              <a:solidFill>
                <a:schemeClr val="tx1"/>
              </a:solidFill>
              <a:round/>
              <a:headEnd/>
              <a:tailEnd/>
            </a:ln>
          </p:spPr>
          <p:txBody>
            <a:bodyPr wrap="none" anchor="ctr"/>
            <a:lstStyle/>
            <a:p>
              <a:pPr algn="ctr"/>
              <a:r>
                <a:rPr lang="en-US"/>
                <a:t>0</a:t>
              </a:r>
            </a:p>
          </p:txBody>
        </p:sp>
        <p:sp>
          <p:nvSpPr>
            <p:cNvPr id="98314" name="Oval 6"/>
            <p:cNvSpPr>
              <a:spLocks noChangeArrowheads="1"/>
            </p:cNvSpPr>
            <p:nvPr/>
          </p:nvSpPr>
          <p:spPr bwMode="auto">
            <a:xfrm>
              <a:off x="960" y="3456"/>
              <a:ext cx="288" cy="288"/>
            </a:xfrm>
            <a:prstGeom prst="ellipse">
              <a:avLst/>
            </a:prstGeom>
            <a:solidFill>
              <a:schemeClr val="accent1"/>
            </a:solidFill>
            <a:ln w="9525">
              <a:solidFill>
                <a:schemeClr val="tx1"/>
              </a:solidFill>
              <a:round/>
              <a:headEnd/>
              <a:tailEnd/>
            </a:ln>
          </p:spPr>
          <p:txBody>
            <a:bodyPr wrap="none" anchor="ctr"/>
            <a:lstStyle/>
            <a:p>
              <a:pPr algn="ctr"/>
              <a:r>
                <a:rPr lang="en-US"/>
                <a:t>1</a:t>
              </a:r>
            </a:p>
          </p:txBody>
        </p:sp>
        <p:sp>
          <p:nvSpPr>
            <p:cNvPr id="98315" name="Oval 7"/>
            <p:cNvSpPr>
              <a:spLocks noChangeArrowheads="1"/>
            </p:cNvSpPr>
            <p:nvPr/>
          </p:nvSpPr>
          <p:spPr bwMode="auto">
            <a:xfrm>
              <a:off x="1536" y="3456"/>
              <a:ext cx="288" cy="288"/>
            </a:xfrm>
            <a:prstGeom prst="ellipse">
              <a:avLst/>
            </a:prstGeom>
            <a:solidFill>
              <a:schemeClr val="accent1"/>
            </a:solidFill>
            <a:ln w="9525">
              <a:solidFill>
                <a:schemeClr val="tx1"/>
              </a:solidFill>
              <a:round/>
              <a:headEnd/>
              <a:tailEnd/>
            </a:ln>
          </p:spPr>
          <p:txBody>
            <a:bodyPr wrap="none" anchor="ctr"/>
            <a:lstStyle/>
            <a:p>
              <a:pPr algn="ctr"/>
              <a:r>
                <a:rPr lang="en-US"/>
                <a:t>2</a:t>
              </a:r>
            </a:p>
          </p:txBody>
        </p:sp>
        <p:sp>
          <p:nvSpPr>
            <p:cNvPr id="98316" name="Oval 8"/>
            <p:cNvSpPr>
              <a:spLocks noChangeArrowheads="1"/>
            </p:cNvSpPr>
            <p:nvPr/>
          </p:nvSpPr>
          <p:spPr bwMode="auto">
            <a:xfrm>
              <a:off x="2112" y="3456"/>
              <a:ext cx="288" cy="288"/>
            </a:xfrm>
            <a:prstGeom prst="ellipse">
              <a:avLst/>
            </a:prstGeom>
            <a:solidFill>
              <a:schemeClr val="accent1"/>
            </a:solidFill>
            <a:ln w="9525">
              <a:solidFill>
                <a:schemeClr val="tx1"/>
              </a:solidFill>
              <a:round/>
              <a:headEnd/>
              <a:tailEnd/>
            </a:ln>
          </p:spPr>
          <p:txBody>
            <a:bodyPr wrap="none" anchor="ctr"/>
            <a:lstStyle/>
            <a:p>
              <a:pPr algn="ctr"/>
              <a:r>
                <a:rPr lang="en-US"/>
                <a:t>3</a:t>
              </a:r>
            </a:p>
          </p:txBody>
        </p:sp>
        <p:sp>
          <p:nvSpPr>
            <p:cNvPr id="98317" name="Oval 9"/>
            <p:cNvSpPr>
              <a:spLocks noChangeArrowheads="1"/>
            </p:cNvSpPr>
            <p:nvPr/>
          </p:nvSpPr>
          <p:spPr bwMode="auto">
            <a:xfrm>
              <a:off x="3312"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r>
                <a:rPr lang="en-US"/>
                <a:t>3</a:t>
              </a:r>
            </a:p>
          </p:txBody>
        </p:sp>
        <p:sp>
          <p:nvSpPr>
            <p:cNvPr id="98318" name="Oval 10"/>
            <p:cNvSpPr>
              <a:spLocks noChangeArrowheads="1"/>
            </p:cNvSpPr>
            <p:nvPr/>
          </p:nvSpPr>
          <p:spPr bwMode="auto">
            <a:xfrm>
              <a:off x="3888"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r>
                <a:rPr lang="en-US"/>
                <a:t>2</a:t>
              </a:r>
            </a:p>
          </p:txBody>
        </p:sp>
        <p:sp>
          <p:nvSpPr>
            <p:cNvPr id="98319" name="Oval 11"/>
            <p:cNvSpPr>
              <a:spLocks noChangeArrowheads="1"/>
            </p:cNvSpPr>
            <p:nvPr/>
          </p:nvSpPr>
          <p:spPr bwMode="auto">
            <a:xfrm>
              <a:off x="4464"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r>
                <a:rPr lang="en-US"/>
                <a:t>1</a:t>
              </a:r>
            </a:p>
          </p:txBody>
        </p:sp>
        <p:sp>
          <p:nvSpPr>
            <p:cNvPr id="98320" name="Oval 12"/>
            <p:cNvSpPr>
              <a:spLocks noChangeArrowheads="1"/>
            </p:cNvSpPr>
            <p:nvPr/>
          </p:nvSpPr>
          <p:spPr bwMode="auto">
            <a:xfrm>
              <a:off x="5040"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p>
          </p:txBody>
        </p:sp>
        <p:cxnSp>
          <p:nvCxnSpPr>
            <p:cNvPr id="98321" name="AutoShape 13"/>
            <p:cNvCxnSpPr>
              <a:cxnSpLocks noChangeShapeType="1"/>
              <a:stCxn id="98313" idx="0"/>
              <a:endCxn id="98314" idx="0"/>
            </p:cNvCxnSpPr>
            <p:nvPr/>
          </p:nvCxnSpPr>
          <p:spPr bwMode="auto">
            <a:xfrm rot="5400000" flipV="1">
              <a:off x="815" y="3169"/>
              <a:ext cx="1" cy="576"/>
            </a:xfrm>
            <a:prstGeom prst="curvedConnector3">
              <a:avLst>
                <a:gd name="adj1" fmla="val -14400005"/>
              </a:avLst>
            </a:prstGeom>
            <a:noFill/>
            <a:ln w="9525">
              <a:solidFill>
                <a:schemeClr val="tx1"/>
              </a:solidFill>
              <a:round/>
              <a:headEnd/>
              <a:tailEnd type="triangle" w="med" len="med"/>
            </a:ln>
          </p:spPr>
        </p:cxnSp>
        <p:cxnSp>
          <p:nvCxnSpPr>
            <p:cNvPr id="98322" name="AutoShape 14"/>
            <p:cNvCxnSpPr>
              <a:cxnSpLocks noChangeShapeType="1"/>
            </p:cNvCxnSpPr>
            <p:nvPr/>
          </p:nvCxnSpPr>
          <p:spPr bwMode="auto">
            <a:xfrm rot="5400000" flipV="1">
              <a:off x="1391" y="3169"/>
              <a:ext cx="1" cy="576"/>
            </a:xfrm>
            <a:prstGeom prst="curvedConnector3">
              <a:avLst>
                <a:gd name="adj1" fmla="val -14400005"/>
              </a:avLst>
            </a:prstGeom>
            <a:noFill/>
            <a:ln w="9525">
              <a:solidFill>
                <a:schemeClr val="tx1"/>
              </a:solidFill>
              <a:round/>
              <a:headEnd/>
              <a:tailEnd type="triangle" w="med" len="med"/>
            </a:ln>
          </p:spPr>
        </p:cxnSp>
        <p:cxnSp>
          <p:nvCxnSpPr>
            <p:cNvPr id="98323" name="AutoShape 15"/>
            <p:cNvCxnSpPr>
              <a:cxnSpLocks noChangeShapeType="1"/>
            </p:cNvCxnSpPr>
            <p:nvPr/>
          </p:nvCxnSpPr>
          <p:spPr bwMode="auto">
            <a:xfrm rot="5400000" flipV="1">
              <a:off x="1967" y="3168"/>
              <a:ext cx="1" cy="576"/>
            </a:xfrm>
            <a:prstGeom prst="curvedConnector3">
              <a:avLst>
                <a:gd name="adj1" fmla="val -14400005"/>
              </a:avLst>
            </a:prstGeom>
            <a:noFill/>
            <a:ln w="9525">
              <a:solidFill>
                <a:schemeClr val="tx1"/>
              </a:solidFill>
              <a:round/>
              <a:headEnd/>
              <a:tailEnd type="triangle" w="med" len="med"/>
            </a:ln>
          </p:spPr>
        </p:cxnSp>
        <p:cxnSp>
          <p:nvCxnSpPr>
            <p:cNvPr id="98324" name="AutoShape 16"/>
            <p:cNvCxnSpPr>
              <a:cxnSpLocks noChangeShapeType="1"/>
            </p:cNvCxnSpPr>
            <p:nvPr/>
          </p:nvCxnSpPr>
          <p:spPr bwMode="auto">
            <a:xfrm rot="5400000" flipV="1">
              <a:off x="3743" y="3170"/>
              <a:ext cx="1" cy="576"/>
            </a:xfrm>
            <a:prstGeom prst="curvedConnector3">
              <a:avLst>
                <a:gd name="adj1" fmla="val -14400005"/>
              </a:avLst>
            </a:prstGeom>
            <a:noFill/>
            <a:ln w="9525">
              <a:solidFill>
                <a:schemeClr val="tx1"/>
              </a:solidFill>
              <a:round/>
              <a:headEnd/>
              <a:tailEnd type="triangle" w="med" len="med"/>
            </a:ln>
          </p:spPr>
        </p:cxnSp>
        <p:cxnSp>
          <p:nvCxnSpPr>
            <p:cNvPr id="98325" name="AutoShape 17"/>
            <p:cNvCxnSpPr>
              <a:cxnSpLocks noChangeShapeType="1"/>
            </p:cNvCxnSpPr>
            <p:nvPr/>
          </p:nvCxnSpPr>
          <p:spPr bwMode="auto">
            <a:xfrm rot="5400000" flipV="1">
              <a:off x="4319" y="3170"/>
              <a:ext cx="1" cy="576"/>
            </a:xfrm>
            <a:prstGeom prst="curvedConnector3">
              <a:avLst>
                <a:gd name="adj1" fmla="val -14400005"/>
              </a:avLst>
            </a:prstGeom>
            <a:noFill/>
            <a:ln w="9525">
              <a:solidFill>
                <a:schemeClr val="tx1"/>
              </a:solidFill>
              <a:round/>
              <a:headEnd/>
              <a:tailEnd type="triangle" w="med" len="med"/>
            </a:ln>
          </p:spPr>
        </p:cxnSp>
        <p:cxnSp>
          <p:nvCxnSpPr>
            <p:cNvPr id="98326" name="AutoShape 18"/>
            <p:cNvCxnSpPr>
              <a:cxnSpLocks noChangeShapeType="1"/>
            </p:cNvCxnSpPr>
            <p:nvPr/>
          </p:nvCxnSpPr>
          <p:spPr bwMode="auto">
            <a:xfrm rot="5400000" flipV="1">
              <a:off x="4895" y="3169"/>
              <a:ext cx="1" cy="576"/>
            </a:xfrm>
            <a:prstGeom prst="curvedConnector3">
              <a:avLst>
                <a:gd name="adj1" fmla="val -14400005"/>
              </a:avLst>
            </a:prstGeom>
            <a:noFill/>
            <a:ln w="9525">
              <a:solidFill>
                <a:schemeClr val="tx1"/>
              </a:solidFill>
              <a:round/>
              <a:headEnd/>
              <a:tailEnd type="triangle" w="med" len="med"/>
            </a:ln>
          </p:spPr>
        </p:cxnSp>
        <p:cxnSp>
          <p:nvCxnSpPr>
            <p:cNvPr id="98327" name="AutoShape 19"/>
            <p:cNvCxnSpPr>
              <a:cxnSpLocks noChangeShapeType="1"/>
              <a:stCxn id="98320" idx="4"/>
              <a:endCxn id="98319" idx="4"/>
            </p:cNvCxnSpPr>
            <p:nvPr/>
          </p:nvCxnSpPr>
          <p:spPr bwMode="auto">
            <a:xfrm rot="5400000">
              <a:off x="4895" y="3457"/>
              <a:ext cx="1" cy="576"/>
            </a:xfrm>
            <a:prstGeom prst="curvedConnector3">
              <a:avLst>
                <a:gd name="adj1" fmla="val 14400005"/>
              </a:avLst>
            </a:prstGeom>
            <a:noFill/>
            <a:ln w="9525">
              <a:solidFill>
                <a:schemeClr val="tx1"/>
              </a:solidFill>
              <a:round/>
              <a:headEnd/>
              <a:tailEnd type="triangle" w="med" len="med"/>
            </a:ln>
          </p:spPr>
        </p:cxnSp>
        <p:cxnSp>
          <p:nvCxnSpPr>
            <p:cNvPr id="98328" name="AutoShape 20"/>
            <p:cNvCxnSpPr>
              <a:cxnSpLocks noChangeShapeType="1"/>
            </p:cNvCxnSpPr>
            <p:nvPr/>
          </p:nvCxnSpPr>
          <p:spPr bwMode="auto">
            <a:xfrm rot="5400000">
              <a:off x="4319" y="3457"/>
              <a:ext cx="1" cy="576"/>
            </a:xfrm>
            <a:prstGeom prst="curvedConnector3">
              <a:avLst>
                <a:gd name="adj1" fmla="val 14400005"/>
              </a:avLst>
            </a:prstGeom>
            <a:noFill/>
            <a:ln w="9525">
              <a:solidFill>
                <a:schemeClr val="tx1"/>
              </a:solidFill>
              <a:round/>
              <a:headEnd/>
              <a:tailEnd type="triangle" w="med" len="med"/>
            </a:ln>
          </p:spPr>
        </p:cxnSp>
        <p:cxnSp>
          <p:nvCxnSpPr>
            <p:cNvPr id="98329" name="AutoShape 21"/>
            <p:cNvCxnSpPr>
              <a:cxnSpLocks noChangeShapeType="1"/>
            </p:cNvCxnSpPr>
            <p:nvPr/>
          </p:nvCxnSpPr>
          <p:spPr bwMode="auto">
            <a:xfrm rot="5400000">
              <a:off x="3743" y="3457"/>
              <a:ext cx="1" cy="576"/>
            </a:xfrm>
            <a:prstGeom prst="curvedConnector3">
              <a:avLst>
                <a:gd name="adj1" fmla="val 14400005"/>
              </a:avLst>
            </a:prstGeom>
            <a:noFill/>
            <a:ln w="9525">
              <a:solidFill>
                <a:schemeClr val="tx1"/>
              </a:solidFill>
              <a:round/>
              <a:headEnd/>
              <a:tailEnd type="triangle" w="med" len="med"/>
            </a:ln>
          </p:spPr>
        </p:cxnSp>
        <p:cxnSp>
          <p:nvCxnSpPr>
            <p:cNvPr id="98330" name="AutoShape 22"/>
            <p:cNvCxnSpPr>
              <a:cxnSpLocks noChangeShapeType="1"/>
            </p:cNvCxnSpPr>
            <p:nvPr/>
          </p:nvCxnSpPr>
          <p:spPr bwMode="auto">
            <a:xfrm rot="5400000">
              <a:off x="1967" y="3457"/>
              <a:ext cx="1" cy="576"/>
            </a:xfrm>
            <a:prstGeom prst="curvedConnector3">
              <a:avLst>
                <a:gd name="adj1" fmla="val 14400005"/>
              </a:avLst>
            </a:prstGeom>
            <a:noFill/>
            <a:ln w="9525">
              <a:solidFill>
                <a:schemeClr val="tx1"/>
              </a:solidFill>
              <a:round/>
              <a:headEnd/>
              <a:tailEnd type="triangle" w="med" len="med"/>
            </a:ln>
          </p:spPr>
        </p:cxnSp>
        <p:cxnSp>
          <p:nvCxnSpPr>
            <p:cNvPr id="98331" name="AutoShape 23"/>
            <p:cNvCxnSpPr>
              <a:cxnSpLocks noChangeShapeType="1"/>
            </p:cNvCxnSpPr>
            <p:nvPr/>
          </p:nvCxnSpPr>
          <p:spPr bwMode="auto">
            <a:xfrm rot="5400000">
              <a:off x="1391" y="3457"/>
              <a:ext cx="1" cy="576"/>
            </a:xfrm>
            <a:prstGeom prst="curvedConnector3">
              <a:avLst>
                <a:gd name="adj1" fmla="val 14400005"/>
              </a:avLst>
            </a:prstGeom>
            <a:noFill/>
            <a:ln w="9525">
              <a:solidFill>
                <a:schemeClr val="tx1"/>
              </a:solidFill>
              <a:round/>
              <a:headEnd/>
              <a:tailEnd type="triangle" w="med" len="med"/>
            </a:ln>
          </p:spPr>
        </p:cxnSp>
        <p:cxnSp>
          <p:nvCxnSpPr>
            <p:cNvPr id="98332" name="AutoShape 24"/>
            <p:cNvCxnSpPr>
              <a:cxnSpLocks noChangeShapeType="1"/>
            </p:cNvCxnSpPr>
            <p:nvPr/>
          </p:nvCxnSpPr>
          <p:spPr bwMode="auto">
            <a:xfrm rot="5400000">
              <a:off x="815" y="3457"/>
              <a:ext cx="1" cy="576"/>
            </a:xfrm>
            <a:prstGeom prst="curvedConnector3">
              <a:avLst>
                <a:gd name="adj1" fmla="val 14400005"/>
              </a:avLst>
            </a:prstGeom>
            <a:noFill/>
            <a:ln w="9525">
              <a:solidFill>
                <a:schemeClr val="tx1"/>
              </a:solidFill>
              <a:round/>
              <a:headEnd/>
              <a:tailEnd type="triangle" w="med" len="med"/>
            </a:ln>
          </p:spPr>
        </p:cxnSp>
        <p:sp>
          <p:nvSpPr>
            <p:cNvPr id="98333" name="Text Box 25"/>
            <p:cNvSpPr txBox="1">
              <a:spLocks noChangeArrowheads="1"/>
            </p:cNvSpPr>
            <p:nvPr/>
          </p:nvSpPr>
          <p:spPr bwMode="auto">
            <a:xfrm>
              <a:off x="720" y="3024"/>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8334" name="Text Box 26"/>
            <p:cNvSpPr txBox="1">
              <a:spLocks noChangeArrowheads="1"/>
            </p:cNvSpPr>
            <p:nvPr/>
          </p:nvSpPr>
          <p:spPr bwMode="auto">
            <a:xfrm>
              <a:off x="1296" y="3024"/>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latin typeface="Symbol" pitchFamily="18" charset="2"/>
              </a:endParaRPr>
            </a:p>
          </p:txBody>
        </p:sp>
        <p:sp>
          <p:nvSpPr>
            <p:cNvPr id="98335" name="Text Box 27"/>
            <p:cNvSpPr txBox="1">
              <a:spLocks noChangeArrowheads="1"/>
            </p:cNvSpPr>
            <p:nvPr/>
          </p:nvSpPr>
          <p:spPr bwMode="auto">
            <a:xfrm>
              <a:off x="1872" y="3024"/>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8336" name="Text Box 28"/>
            <p:cNvSpPr txBox="1">
              <a:spLocks noChangeArrowheads="1"/>
            </p:cNvSpPr>
            <p:nvPr/>
          </p:nvSpPr>
          <p:spPr bwMode="auto">
            <a:xfrm>
              <a:off x="4128" y="3024"/>
              <a:ext cx="480"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8337" name="Text Box 29"/>
            <p:cNvSpPr txBox="1">
              <a:spLocks noChangeArrowheads="1"/>
            </p:cNvSpPr>
            <p:nvPr/>
          </p:nvSpPr>
          <p:spPr bwMode="auto">
            <a:xfrm>
              <a:off x="4752" y="3024"/>
              <a:ext cx="480"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8338" name="Text Box 30"/>
            <p:cNvSpPr txBox="1">
              <a:spLocks noChangeArrowheads="1"/>
            </p:cNvSpPr>
            <p:nvPr/>
          </p:nvSpPr>
          <p:spPr bwMode="auto">
            <a:xfrm>
              <a:off x="3552" y="3024"/>
              <a:ext cx="480"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8339" name="Text Box 31"/>
            <p:cNvSpPr txBox="1">
              <a:spLocks noChangeArrowheads="1"/>
            </p:cNvSpPr>
            <p:nvPr/>
          </p:nvSpPr>
          <p:spPr bwMode="auto">
            <a:xfrm>
              <a:off x="2640" y="3408"/>
              <a:ext cx="432" cy="327"/>
            </a:xfrm>
            <a:prstGeom prst="rect">
              <a:avLst/>
            </a:prstGeom>
            <a:noFill/>
            <a:ln w="9525">
              <a:noFill/>
              <a:miter lim="800000"/>
              <a:headEnd/>
              <a:tailEnd/>
            </a:ln>
          </p:spPr>
          <p:txBody>
            <a:bodyPr>
              <a:spAutoFit/>
            </a:bodyPr>
            <a:lstStyle/>
            <a:p>
              <a:pPr algn="ctr">
                <a:spcBef>
                  <a:spcPct val="50000"/>
                </a:spcBef>
              </a:pPr>
              <a:r>
                <a:rPr lang="en-US" sz="2800"/>
                <a:t>…</a:t>
              </a:r>
            </a:p>
          </p:txBody>
        </p:sp>
        <p:sp>
          <p:nvSpPr>
            <p:cNvPr id="98340" name="Text Box 33"/>
            <p:cNvSpPr txBox="1">
              <a:spLocks noChangeArrowheads="1"/>
            </p:cNvSpPr>
            <p:nvPr/>
          </p:nvSpPr>
          <p:spPr bwMode="auto">
            <a:xfrm>
              <a:off x="1872" y="3840"/>
              <a:ext cx="336"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8341" name="Text Box 34"/>
            <p:cNvSpPr txBox="1">
              <a:spLocks noChangeArrowheads="1"/>
            </p:cNvSpPr>
            <p:nvPr/>
          </p:nvSpPr>
          <p:spPr bwMode="auto">
            <a:xfrm>
              <a:off x="1248" y="3840"/>
              <a:ext cx="336"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8342" name="Text Box 35"/>
            <p:cNvSpPr txBox="1">
              <a:spLocks noChangeArrowheads="1"/>
            </p:cNvSpPr>
            <p:nvPr/>
          </p:nvSpPr>
          <p:spPr bwMode="auto">
            <a:xfrm>
              <a:off x="672" y="3840"/>
              <a:ext cx="336"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8343" name="Text Box 36"/>
            <p:cNvSpPr txBox="1">
              <a:spLocks noChangeArrowheads="1"/>
            </p:cNvSpPr>
            <p:nvPr/>
          </p:nvSpPr>
          <p:spPr bwMode="auto">
            <a:xfrm>
              <a:off x="3552" y="3840"/>
              <a:ext cx="528"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8344" name="Text Box 37"/>
            <p:cNvSpPr txBox="1">
              <a:spLocks noChangeArrowheads="1"/>
            </p:cNvSpPr>
            <p:nvPr/>
          </p:nvSpPr>
          <p:spPr bwMode="auto">
            <a:xfrm>
              <a:off x="4176" y="3840"/>
              <a:ext cx="528"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8345" name="Text Box 38"/>
            <p:cNvSpPr txBox="1">
              <a:spLocks noChangeArrowheads="1"/>
            </p:cNvSpPr>
            <p:nvPr/>
          </p:nvSpPr>
          <p:spPr bwMode="auto">
            <a:xfrm>
              <a:off x="4752" y="3840"/>
              <a:ext cx="528"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Number Placeholder 5"/>
          <p:cNvSpPr>
            <a:spLocks noGrp="1"/>
          </p:cNvSpPr>
          <p:nvPr>
            <p:ph type="sldNum" sz="quarter" idx="12"/>
          </p:nvPr>
        </p:nvSpPr>
        <p:spPr>
          <a:noFill/>
        </p:spPr>
        <p:txBody>
          <a:bodyPr/>
          <a:lstStyle/>
          <a:p>
            <a:fld id="{C5D652AA-F558-49BC-825A-CDE3C2CBB56D}" type="slidenum">
              <a:rPr lang="en-US" smtClean="0"/>
              <a:pPr/>
              <a:t>25</a:t>
            </a:fld>
            <a:endParaRPr lang="en-US"/>
          </a:p>
        </p:txBody>
      </p:sp>
      <p:sp>
        <p:nvSpPr>
          <p:cNvPr id="99331" name="Rectangle 2"/>
          <p:cNvSpPr>
            <a:spLocks noGrp="1" noChangeArrowheads="1"/>
          </p:cNvSpPr>
          <p:nvPr>
            <p:ph type="title"/>
          </p:nvPr>
        </p:nvSpPr>
        <p:spPr>
          <a:xfrm>
            <a:off x="457200" y="274638"/>
            <a:ext cx="8458200" cy="1143000"/>
          </a:xfrm>
        </p:spPr>
        <p:txBody>
          <a:bodyPr/>
          <a:lstStyle/>
          <a:p>
            <a:pPr eaLnBrk="1" hangingPunct="1"/>
            <a:r>
              <a:rPr lang="en-US" sz="4000"/>
              <a:t>Steady-State Probabilities for </a:t>
            </a:r>
            <a:r>
              <a:rPr lang="en-US" sz="4000" i="1"/>
              <a:t>M</a:t>
            </a:r>
            <a:r>
              <a:rPr lang="en-US" sz="4000"/>
              <a:t>/</a:t>
            </a:r>
            <a:r>
              <a:rPr lang="en-US" sz="4000" i="1"/>
              <a:t>M</a:t>
            </a:r>
            <a:r>
              <a:rPr lang="en-US" sz="4000"/>
              <a:t>/1</a:t>
            </a:r>
          </a:p>
        </p:txBody>
      </p:sp>
      <p:grpSp>
        <p:nvGrpSpPr>
          <p:cNvPr id="2" name="Group 51"/>
          <p:cNvGrpSpPr>
            <a:grpSpLocks/>
          </p:cNvGrpSpPr>
          <p:nvPr/>
        </p:nvGrpSpPr>
        <p:grpSpPr bwMode="auto">
          <a:xfrm>
            <a:off x="6934200" y="3048000"/>
            <a:ext cx="2133600" cy="2590800"/>
            <a:chOff x="4368" y="1920"/>
            <a:chExt cx="1344" cy="1632"/>
          </a:xfrm>
        </p:grpSpPr>
        <p:sp>
          <p:nvSpPr>
            <p:cNvPr id="99373" name="Text Box 44"/>
            <p:cNvSpPr txBox="1">
              <a:spLocks noChangeArrowheads="1"/>
            </p:cNvSpPr>
            <p:nvPr/>
          </p:nvSpPr>
          <p:spPr bwMode="auto">
            <a:xfrm>
              <a:off x="4464" y="2447"/>
              <a:ext cx="1248" cy="750"/>
            </a:xfrm>
            <a:prstGeom prst="rect">
              <a:avLst/>
            </a:prstGeom>
            <a:noFill/>
            <a:ln w="9525">
              <a:noFill/>
              <a:miter lim="800000"/>
              <a:headEnd/>
              <a:tailEnd/>
            </a:ln>
          </p:spPr>
          <p:txBody>
            <a:bodyPr>
              <a:spAutoFit/>
            </a:bodyPr>
            <a:lstStyle/>
            <a:p>
              <a:pPr>
                <a:spcBef>
                  <a:spcPct val="50000"/>
                </a:spcBef>
              </a:pPr>
              <a:r>
                <a:rPr lang="en-US"/>
                <a:t>Always one more variable than the number of constraints.</a:t>
              </a:r>
            </a:p>
          </p:txBody>
        </p:sp>
        <p:sp>
          <p:nvSpPr>
            <p:cNvPr id="99374" name="AutoShape 45"/>
            <p:cNvSpPr>
              <a:spLocks/>
            </p:cNvSpPr>
            <p:nvPr/>
          </p:nvSpPr>
          <p:spPr bwMode="auto">
            <a:xfrm>
              <a:off x="4368" y="1920"/>
              <a:ext cx="96" cy="1632"/>
            </a:xfrm>
            <a:prstGeom prst="rightBrace">
              <a:avLst>
                <a:gd name="adj1" fmla="val 141667"/>
                <a:gd name="adj2" fmla="val 50000"/>
              </a:avLst>
            </a:prstGeom>
            <a:noFill/>
            <a:ln w="9525">
              <a:solidFill>
                <a:schemeClr val="tx1"/>
              </a:solidFill>
              <a:round/>
              <a:headEnd/>
              <a:tailEnd/>
            </a:ln>
          </p:spPr>
          <p:txBody>
            <a:bodyPr wrap="none" anchor="ctr"/>
            <a:lstStyle/>
            <a:p>
              <a:endParaRPr lang="en-US"/>
            </a:p>
          </p:txBody>
        </p:sp>
      </p:grpSp>
      <p:sp>
        <p:nvSpPr>
          <p:cNvPr id="370735" name="Rectangle 47"/>
          <p:cNvSpPr>
            <a:spLocks noGrp="1" noChangeArrowheads="1"/>
          </p:cNvSpPr>
          <p:nvPr>
            <p:ph type="body" idx="1"/>
          </p:nvPr>
        </p:nvSpPr>
        <p:spPr>
          <a:xfrm>
            <a:off x="457200" y="5562600"/>
            <a:ext cx="8229600" cy="1066800"/>
          </a:xfrm>
        </p:spPr>
        <p:txBody>
          <a:bodyPr/>
          <a:lstStyle/>
          <a:p>
            <a:pPr eaLnBrk="1" hangingPunct="1"/>
            <a:r>
              <a:rPr lang="en-US"/>
              <a:t>So, we solve for all </a:t>
            </a:r>
            <a:r>
              <a:rPr lang="en-US" i="1">
                <a:latin typeface="Symbol" pitchFamily="18" charset="2"/>
              </a:rPr>
              <a:t>p</a:t>
            </a:r>
            <a:r>
              <a:rPr lang="en-US" i="1" baseline="-25000"/>
              <a:t>j</a:t>
            </a:r>
            <a:r>
              <a:rPr lang="en-US"/>
              <a:t>’s in terms of </a:t>
            </a:r>
            <a:r>
              <a:rPr lang="en-US" i="1">
                <a:latin typeface="Symbol" pitchFamily="18" charset="2"/>
              </a:rPr>
              <a:t>p</a:t>
            </a:r>
            <a:r>
              <a:rPr lang="en-US" baseline="-25000"/>
              <a:t>0</a:t>
            </a:r>
            <a:r>
              <a:rPr lang="en-US"/>
              <a:t>, and then use </a:t>
            </a:r>
            <a:r>
              <a:rPr lang="en-US">
                <a:latin typeface="Symbol" pitchFamily="18" charset="2"/>
                <a:sym typeface="Symbol" pitchFamily="18" charset="2"/>
              </a:rPr>
              <a:t></a:t>
            </a:r>
            <a:r>
              <a:rPr lang="en-US"/>
              <a:t> </a:t>
            </a:r>
            <a:r>
              <a:rPr lang="en-US" i="1">
                <a:latin typeface="Symbol" pitchFamily="18" charset="2"/>
              </a:rPr>
              <a:t>p</a:t>
            </a:r>
            <a:r>
              <a:rPr lang="en-US" i="1" baseline="-25000"/>
              <a:t>j</a:t>
            </a:r>
            <a:r>
              <a:rPr lang="en-US"/>
              <a:t> = 1 to obtain </a:t>
            </a:r>
            <a:r>
              <a:rPr lang="en-US" i="1">
                <a:latin typeface="Symbol" pitchFamily="18" charset="2"/>
              </a:rPr>
              <a:t>p</a:t>
            </a:r>
            <a:r>
              <a:rPr lang="en-US" baseline="-25000"/>
              <a:t>0</a:t>
            </a:r>
            <a:r>
              <a:rPr lang="en-US"/>
              <a:t> first.</a:t>
            </a:r>
          </a:p>
        </p:txBody>
      </p:sp>
      <p:grpSp>
        <p:nvGrpSpPr>
          <p:cNvPr id="99334" name="Group 40"/>
          <p:cNvGrpSpPr>
            <a:grpSpLocks/>
          </p:cNvGrpSpPr>
          <p:nvPr/>
        </p:nvGrpSpPr>
        <p:grpSpPr bwMode="auto">
          <a:xfrm>
            <a:off x="457200" y="1219200"/>
            <a:ext cx="8458200" cy="1752600"/>
            <a:chOff x="384" y="3024"/>
            <a:chExt cx="5328" cy="1104"/>
          </a:xfrm>
        </p:grpSpPr>
        <p:sp>
          <p:nvSpPr>
            <p:cNvPr id="99339" name="Text Box 32"/>
            <p:cNvSpPr txBox="1">
              <a:spLocks noChangeArrowheads="1"/>
            </p:cNvSpPr>
            <p:nvPr/>
          </p:nvSpPr>
          <p:spPr bwMode="auto">
            <a:xfrm>
              <a:off x="5280" y="3408"/>
              <a:ext cx="432" cy="327"/>
            </a:xfrm>
            <a:prstGeom prst="rect">
              <a:avLst/>
            </a:prstGeom>
            <a:noFill/>
            <a:ln w="9525">
              <a:noFill/>
              <a:miter lim="800000"/>
              <a:headEnd/>
              <a:tailEnd/>
            </a:ln>
          </p:spPr>
          <p:txBody>
            <a:bodyPr>
              <a:spAutoFit/>
            </a:bodyPr>
            <a:lstStyle/>
            <a:p>
              <a:pPr algn="ctr">
                <a:spcBef>
                  <a:spcPct val="50000"/>
                </a:spcBef>
              </a:pPr>
              <a:r>
                <a:rPr lang="en-US" sz="2800"/>
                <a:t>…</a:t>
              </a:r>
            </a:p>
          </p:txBody>
        </p:sp>
        <p:sp>
          <p:nvSpPr>
            <p:cNvPr id="99340" name="Oval 5"/>
            <p:cNvSpPr>
              <a:spLocks noChangeArrowheads="1"/>
            </p:cNvSpPr>
            <p:nvPr/>
          </p:nvSpPr>
          <p:spPr bwMode="auto">
            <a:xfrm>
              <a:off x="384" y="3456"/>
              <a:ext cx="288" cy="288"/>
            </a:xfrm>
            <a:prstGeom prst="ellipse">
              <a:avLst/>
            </a:prstGeom>
            <a:solidFill>
              <a:schemeClr val="accent1"/>
            </a:solidFill>
            <a:ln w="9525">
              <a:solidFill>
                <a:schemeClr val="tx1"/>
              </a:solidFill>
              <a:round/>
              <a:headEnd/>
              <a:tailEnd/>
            </a:ln>
          </p:spPr>
          <p:txBody>
            <a:bodyPr wrap="none" anchor="ctr"/>
            <a:lstStyle/>
            <a:p>
              <a:pPr algn="ctr"/>
              <a:r>
                <a:rPr lang="en-US"/>
                <a:t>0</a:t>
              </a:r>
            </a:p>
          </p:txBody>
        </p:sp>
        <p:sp>
          <p:nvSpPr>
            <p:cNvPr id="99341" name="Oval 6"/>
            <p:cNvSpPr>
              <a:spLocks noChangeArrowheads="1"/>
            </p:cNvSpPr>
            <p:nvPr/>
          </p:nvSpPr>
          <p:spPr bwMode="auto">
            <a:xfrm>
              <a:off x="960" y="3456"/>
              <a:ext cx="288" cy="288"/>
            </a:xfrm>
            <a:prstGeom prst="ellipse">
              <a:avLst/>
            </a:prstGeom>
            <a:solidFill>
              <a:schemeClr val="accent1"/>
            </a:solidFill>
            <a:ln w="9525">
              <a:solidFill>
                <a:schemeClr val="tx1"/>
              </a:solidFill>
              <a:round/>
              <a:headEnd/>
              <a:tailEnd/>
            </a:ln>
          </p:spPr>
          <p:txBody>
            <a:bodyPr wrap="none" anchor="ctr"/>
            <a:lstStyle/>
            <a:p>
              <a:pPr algn="ctr"/>
              <a:r>
                <a:rPr lang="en-US"/>
                <a:t>1</a:t>
              </a:r>
            </a:p>
          </p:txBody>
        </p:sp>
        <p:sp>
          <p:nvSpPr>
            <p:cNvPr id="99342" name="Oval 7"/>
            <p:cNvSpPr>
              <a:spLocks noChangeArrowheads="1"/>
            </p:cNvSpPr>
            <p:nvPr/>
          </p:nvSpPr>
          <p:spPr bwMode="auto">
            <a:xfrm>
              <a:off x="1536" y="3456"/>
              <a:ext cx="288" cy="288"/>
            </a:xfrm>
            <a:prstGeom prst="ellipse">
              <a:avLst/>
            </a:prstGeom>
            <a:solidFill>
              <a:schemeClr val="accent1"/>
            </a:solidFill>
            <a:ln w="9525">
              <a:solidFill>
                <a:schemeClr val="tx1"/>
              </a:solidFill>
              <a:round/>
              <a:headEnd/>
              <a:tailEnd/>
            </a:ln>
          </p:spPr>
          <p:txBody>
            <a:bodyPr wrap="none" anchor="ctr"/>
            <a:lstStyle/>
            <a:p>
              <a:pPr algn="ctr"/>
              <a:r>
                <a:rPr lang="en-US"/>
                <a:t>2</a:t>
              </a:r>
            </a:p>
          </p:txBody>
        </p:sp>
        <p:sp>
          <p:nvSpPr>
            <p:cNvPr id="99343" name="Oval 8"/>
            <p:cNvSpPr>
              <a:spLocks noChangeArrowheads="1"/>
            </p:cNvSpPr>
            <p:nvPr/>
          </p:nvSpPr>
          <p:spPr bwMode="auto">
            <a:xfrm>
              <a:off x="2112" y="3456"/>
              <a:ext cx="288" cy="288"/>
            </a:xfrm>
            <a:prstGeom prst="ellipse">
              <a:avLst/>
            </a:prstGeom>
            <a:solidFill>
              <a:schemeClr val="accent1"/>
            </a:solidFill>
            <a:ln w="9525">
              <a:solidFill>
                <a:schemeClr val="tx1"/>
              </a:solidFill>
              <a:round/>
              <a:headEnd/>
              <a:tailEnd/>
            </a:ln>
          </p:spPr>
          <p:txBody>
            <a:bodyPr wrap="none" anchor="ctr"/>
            <a:lstStyle/>
            <a:p>
              <a:pPr algn="ctr"/>
              <a:r>
                <a:rPr lang="en-US"/>
                <a:t>3</a:t>
              </a:r>
            </a:p>
          </p:txBody>
        </p:sp>
        <p:sp>
          <p:nvSpPr>
            <p:cNvPr id="99344" name="Oval 9"/>
            <p:cNvSpPr>
              <a:spLocks noChangeArrowheads="1"/>
            </p:cNvSpPr>
            <p:nvPr/>
          </p:nvSpPr>
          <p:spPr bwMode="auto">
            <a:xfrm>
              <a:off x="3312"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r>
                <a:rPr lang="en-US"/>
                <a:t>3</a:t>
              </a:r>
            </a:p>
          </p:txBody>
        </p:sp>
        <p:sp>
          <p:nvSpPr>
            <p:cNvPr id="99345" name="Oval 10"/>
            <p:cNvSpPr>
              <a:spLocks noChangeArrowheads="1"/>
            </p:cNvSpPr>
            <p:nvPr/>
          </p:nvSpPr>
          <p:spPr bwMode="auto">
            <a:xfrm>
              <a:off x="3888"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r>
                <a:rPr lang="en-US"/>
                <a:t>2</a:t>
              </a:r>
            </a:p>
          </p:txBody>
        </p:sp>
        <p:sp>
          <p:nvSpPr>
            <p:cNvPr id="99346" name="Oval 11"/>
            <p:cNvSpPr>
              <a:spLocks noChangeArrowheads="1"/>
            </p:cNvSpPr>
            <p:nvPr/>
          </p:nvSpPr>
          <p:spPr bwMode="auto">
            <a:xfrm>
              <a:off x="4464"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r>
                <a:rPr lang="en-US"/>
                <a:t>1</a:t>
              </a:r>
            </a:p>
          </p:txBody>
        </p:sp>
        <p:sp>
          <p:nvSpPr>
            <p:cNvPr id="99347" name="Oval 12"/>
            <p:cNvSpPr>
              <a:spLocks noChangeArrowheads="1"/>
            </p:cNvSpPr>
            <p:nvPr/>
          </p:nvSpPr>
          <p:spPr bwMode="auto">
            <a:xfrm>
              <a:off x="5040"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p>
          </p:txBody>
        </p:sp>
        <p:cxnSp>
          <p:nvCxnSpPr>
            <p:cNvPr id="99348" name="AutoShape 13"/>
            <p:cNvCxnSpPr>
              <a:cxnSpLocks noChangeShapeType="1"/>
              <a:stCxn id="99340" idx="0"/>
              <a:endCxn id="99341" idx="0"/>
            </p:cNvCxnSpPr>
            <p:nvPr/>
          </p:nvCxnSpPr>
          <p:spPr bwMode="auto">
            <a:xfrm rot="5400000" flipV="1">
              <a:off x="815" y="3169"/>
              <a:ext cx="1" cy="576"/>
            </a:xfrm>
            <a:prstGeom prst="curvedConnector3">
              <a:avLst>
                <a:gd name="adj1" fmla="val -14400005"/>
              </a:avLst>
            </a:prstGeom>
            <a:noFill/>
            <a:ln w="9525">
              <a:solidFill>
                <a:schemeClr val="tx1"/>
              </a:solidFill>
              <a:round/>
              <a:headEnd/>
              <a:tailEnd type="triangle" w="med" len="med"/>
            </a:ln>
          </p:spPr>
        </p:cxnSp>
        <p:cxnSp>
          <p:nvCxnSpPr>
            <p:cNvPr id="99349" name="AutoShape 14"/>
            <p:cNvCxnSpPr>
              <a:cxnSpLocks noChangeShapeType="1"/>
            </p:cNvCxnSpPr>
            <p:nvPr/>
          </p:nvCxnSpPr>
          <p:spPr bwMode="auto">
            <a:xfrm rot="5400000" flipV="1">
              <a:off x="1391" y="3169"/>
              <a:ext cx="1" cy="576"/>
            </a:xfrm>
            <a:prstGeom prst="curvedConnector3">
              <a:avLst>
                <a:gd name="adj1" fmla="val -14400005"/>
              </a:avLst>
            </a:prstGeom>
            <a:noFill/>
            <a:ln w="9525">
              <a:solidFill>
                <a:schemeClr val="tx1"/>
              </a:solidFill>
              <a:round/>
              <a:headEnd/>
              <a:tailEnd type="triangle" w="med" len="med"/>
            </a:ln>
          </p:spPr>
        </p:cxnSp>
        <p:cxnSp>
          <p:nvCxnSpPr>
            <p:cNvPr id="99350" name="AutoShape 15"/>
            <p:cNvCxnSpPr>
              <a:cxnSpLocks noChangeShapeType="1"/>
            </p:cNvCxnSpPr>
            <p:nvPr/>
          </p:nvCxnSpPr>
          <p:spPr bwMode="auto">
            <a:xfrm rot="5400000" flipV="1">
              <a:off x="1967" y="3168"/>
              <a:ext cx="1" cy="576"/>
            </a:xfrm>
            <a:prstGeom prst="curvedConnector3">
              <a:avLst>
                <a:gd name="adj1" fmla="val -14400005"/>
              </a:avLst>
            </a:prstGeom>
            <a:noFill/>
            <a:ln w="9525">
              <a:solidFill>
                <a:schemeClr val="tx1"/>
              </a:solidFill>
              <a:round/>
              <a:headEnd/>
              <a:tailEnd type="triangle" w="med" len="med"/>
            </a:ln>
          </p:spPr>
        </p:cxnSp>
        <p:cxnSp>
          <p:nvCxnSpPr>
            <p:cNvPr id="99351" name="AutoShape 16"/>
            <p:cNvCxnSpPr>
              <a:cxnSpLocks noChangeShapeType="1"/>
            </p:cNvCxnSpPr>
            <p:nvPr/>
          </p:nvCxnSpPr>
          <p:spPr bwMode="auto">
            <a:xfrm rot="5400000" flipV="1">
              <a:off x="3743" y="3170"/>
              <a:ext cx="1" cy="576"/>
            </a:xfrm>
            <a:prstGeom prst="curvedConnector3">
              <a:avLst>
                <a:gd name="adj1" fmla="val -14400005"/>
              </a:avLst>
            </a:prstGeom>
            <a:noFill/>
            <a:ln w="9525">
              <a:solidFill>
                <a:schemeClr val="tx1"/>
              </a:solidFill>
              <a:round/>
              <a:headEnd/>
              <a:tailEnd type="triangle" w="med" len="med"/>
            </a:ln>
          </p:spPr>
        </p:cxnSp>
        <p:cxnSp>
          <p:nvCxnSpPr>
            <p:cNvPr id="99352" name="AutoShape 17"/>
            <p:cNvCxnSpPr>
              <a:cxnSpLocks noChangeShapeType="1"/>
            </p:cNvCxnSpPr>
            <p:nvPr/>
          </p:nvCxnSpPr>
          <p:spPr bwMode="auto">
            <a:xfrm rot="5400000" flipV="1">
              <a:off x="4319" y="3170"/>
              <a:ext cx="1" cy="576"/>
            </a:xfrm>
            <a:prstGeom prst="curvedConnector3">
              <a:avLst>
                <a:gd name="adj1" fmla="val -14400005"/>
              </a:avLst>
            </a:prstGeom>
            <a:noFill/>
            <a:ln w="9525">
              <a:solidFill>
                <a:schemeClr val="tx1"/>
              </a:solidFill>
              <a:round/>
              <a:headEnd/>
              <a:tailEnd type="triangle" w="med" len="med"/>
            </a:ln>
          </p:spPr>
        </p:cxnSp>
        <p:cxnSp>
          <p:nvCxnSpPr>
            <p:cNvPr id="99353" name="AutoShape 18"/>
            <p:cNvCxnSpPr>
              <a:cxnSpLocks noChangeShapeType="1"/>
            </p:cNvCxnSpPr>
            <p:nvPr/>
          </p:nvCxnSpPr>
          <p:spPr bwMode="auto">
            <a:xfrm rot="5400000" flipV="1">
              <a:off x="4895" y="3169"/>
              <a:ext cx="1" cy="576"/>
            </a:xfrm>
            <a:prstGeom prst="curvedConnector3">
              <a:avLst>
                <a:gd name="adj1" fmla="val -14400005"/>
              </a:avLst>
            </a:prstGeom>
            <a:noFill/>
            <a:ln w="9525">
              <a:solidFill>
                <a:schemeClr val="tx1"/>
              </a:solidFill>
              <a:round/>
              <a:headEnd/>
              <a:tailEnd type="triangle" w="med" len="med"/>
            </a:ln>
          </p:spPr>
        </p:cxnSp>
        <p:cxnSp>
          <p:nvCxnSpPr>
            <p:cNvPr id="99354" name="AutoShape 19"/>
            <p:cNvCxnSpPr>
              <a:cxnSpLocks noChangeShapeType="1"/>
              <a:stCxn id="99347" idx="4"/>
              <a:endCxn id="99346" idx="4"/>
            </p:cNvCxnSpPr>
            <p:nvPr/>
          </p:nvCxnSpPr>
          <p:spPr bwMode="auto">
            <a:xfrm rot="5400000">
              <a:off x="4895" y="3457"/>
              <a:ext cx="1" cy="576"/>
            </a:xfrm>
            <a:prstGeom prst="curvedConnector3">
              <a:avLst>
                <a:gd name="adj1" fmla="val 14400005"/>
              </a:avLst>
            </a:prstGeom>
            <a:noFill/>
            <a:ln w="9525">
              <a:solidFill>
                <a:schemeClr val="tx1"/>
              </a:solidFill>
              <a:round/>
              <a:headEnd/>
              <a:tailEnd type="triangle" w="med" len="med"/>
            </a:ln>
          </p:spPr>
        </p:cxnSp>
        <p:cxnSp>
          <p:nvCxnSpPr>
            <p:cNvPr id="99355" name="AutoShape 20"/>
            <p:cNvCxnSpPr>
              <a:cxnSpLocks noChangeShapeType="1"/>
            </p:cNvCxnSpPr>
            <p:nvPr/>
          </p:nvCxnSpPr>
          <p:spPr bwMode="auto">
            <a:xfrm rot="5400000">
              <a:off x="4319" y="3457"/>
              <a:ext cx="1" cy="576"/>
            </a:xfrm>
            <a:prstGeom prst="curvedConnector3">
              <a:avLst>
                <a:gd name="adj1" fmla="val 14400005"/>
              </a:avLst>
            </a:prstGeom>
            <a:noFill/>
            <a:ln w="9525">
              <a:solidFill>
                <a:schemeClr val="tx1"/>
              </a:solidFill>
              <a:round/>
              <a:headEnd/>
              <a:tailEnd type="triangle" w="med" len="med"/>
            </a:ln>
          </p:spPr>
        </p:cxnSp>
        <p:cxnSp>
          <p:nvCxnSpPr>
            <p:cNvPr id="99356" name="AutoShape 21"/>
            <p:cNvCxnSpPr>
              <a:cxnSpLocks noChangeShapeType="1"/>
            </p:cNvCxnSpPr>
            <p:nvPr/>
          </p:nvCxnSpPr>
          <p:spPr bwMode="auto">
            <a:xfrm rot="5400000">
              <a:off x="3743" y="3457"/>
              <a:ext cx="1" cy="576"/>
            </a:xfrm>
            <a:prstGeom prst="curvedConnector3">
              <a:avLst>
                <a:gd name="adj1" fmla="val 14400005"/>
              </a:avLst>
            </a:prstGeom>
            <a:noFill/>
            <a:ln w="9525">
              <a:solidFill>
                <a:schemeClr val="tx1"/>
              </a:solidFill>
              <a:round/>
              <a:headEnd/>
              <a:tailEnd type="triangle" w="med" len="med"/>
            </a:ln>
          </p:spPr>
        </p:cxnSp>
        <p:cxnSp>
          <p:nvCxnSpPr>
            <p:cNvPr id="99357" name="AutoShape 22"/>
            <p:cNvCxnSpPr>
              <a:cxnSpLocks noChangeShapeType="1"/>
            </p:cNvCxnSpPr>
            <p:nvPr/>
          </p:nvCxnSpPr>
          <p:spPr bwMode="auto">
            <a:xfrm rot="5400000">
              <a:off x="1967" y="3457"/>
              <a:ext cx="1" cy="576"/>
            </a:xfrm>
            <a:prstGeom prst="curvedConnector3">
              <a:avLst>
                <a:gd name="adj1" fmla="val 14400005"/>
              </a:avLst>
            </a:prstGeom>
            <a:noFill/>
            <a:ln w="9525">
              <a:solidFill>
                <a:schemeClr val="tx1"/>
              </a:solidFill>
              <a:round/>
              <a:headEnd/>
              <a:tailEnd type="triangle" w="med" len="med"/>
            </a:ln>
          </p:spPr>
        </p:cxnSp>
        <p:cxnSp>
          <p:nvCxnSpPr>
            <p:cNvPr id="99358" name="AutoShape 23"/>
            <p:cNvCxnSpPr>
              <a:cxnSpLocks noChangeShapeType="1"/>
            </p:cNvCxnSpPr>
            <p:nvPr/>
          </p:nvCxnSpPr>
          <p:spPr bwMode="auto">
            <a:xfrm rot="5400000">
              <a:off x="1391" y="3457"/>
              <a:ext cx="1" cy="576"/>
            </a:xfrm>
            <a:prstGeom prst="curvedConnector3">
              <a:avLst>
                <a:gd name="adj1" fmla="val 14400005"/>
              </a:avLst>
            </a:prstGeom>
            <a:noFill/>
            <a:ln w="9525">
              <a:solidFill>
                <a:schemeClr val="tx1"/>
              </a:solidFill>
              <a:round/>
              <a:headEnd/>
              <a:tailEnd type="triangle" w="med" len="med"/>
            </a:ln>
          </p:spPr>
        </p:cxnSp>
        <p:cxnSp>
          <p:nvCxnSpPr>
            <p:cNvPr id="99359" name="AutoShape 24"/>
            <p:cNvCxnSpPr>
              <a:cxnSpLocks noChangeShapeType="1"/>
            </p:cNvCxnSpPr>
            <p:nvPr/>
          </p:nvCxnSpPr>
          <p:spPr bwMode="auto">
            <a:xfrm rot="5400000">
              <a:off x="815" y="3457"/>
              <a:ext cx="1" cy="576"/>
            </a:xfrm>
            <a:prstGeom prst="curvedConnector3">
              <a:avLst>
                <a:gd name="adj1" fmla="val 14400005"/>
              </a:avLst>
            </a:prstGeom>
            <a:noFill/>
            <a:ln w="9525">
              <a:solidFill>
                <a:schemeClr val="tx1"/>
              </a:solidFill>
              <a:round/>
              <a:headEnd/>
              <a:tailEnd type="triangle" w="med" len="med"/>
            </a:ln>
          </p:spPr>
        </p:cxnSp>
        <p:sp>
          <p:nvSpPr>
            <p:cNvPr id="99360" name="Text Box 25"/>
            <p:cNvSpPr txBox="1">
              <a:spLocks noChangeArrowheads="1"/>
            </p:cNvSpPr>
            <p:nvPr/>
          </p:nvSpPr>
          <p:spPr bwMode="auto">
            <a:xfrm>
              <a:off x="720" y="3024"/>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9361" name="Text Box 26"/>
            <p:cNvSpPr txBox="1">
              <a:spLocks noChangeArrowheads="1"/>
            </p:cNvSpPr>
            <p:nvPr/>
          </p:nvSpPr>
          <p:spPr bwMode="auto">
            <a:xfrm>
              <a:off x="1296" y="3024"/>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latin typeface="Symbol" pitchFamily="18" charset="2"/>
              </a:endParaRPr>
            </a:p>
          </p:txBody>
        </p:sp>
        <p:sp>
          <p:nvSpPr>
            <p:cNvPr id="99362" name="Text Box 27"/>
            <p:cNvSpPr txBox="1">
              <a:spLocks noChangeArrowheads="1"/>
            </p:cNvSpPr>
            <p:nvPr/>
          </p:nvSpPr>
          <p:spPr bwMode="auto">
            <a:xfrm>
              <a:off x="1872" y="3024"/>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9363" name="Text Box 28"/>
            <p:cNvSpPr txBox="1">
              <a:spLocks noChangeArrowheads="1"/>
            </p:cNvSpPr>
            <p:nvPr/>
          </p:nvSpPr>
          <p:spPr bwMode="auto">
            <a:xfrm>
              <a:off x="4128" y="3024"/>
              <a:ext cx="480"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9364" name="Text Box 29"/>
            <p:cNvSpPr txBox="1">
              <a:spLocks noChangeArrowheads="1"/>
            </p:cNvSpPr>
            <p:nvPr/>
          </p:nvSpPr>
          <p:spPr bwMode="auto">
            <a:xfrm>
              <a:off x="4752" y="3024"/>
              <a:ext cx="480"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9365" name="Text Box 30"/>
            <p:cNvSpPr txBox="1">
              <a:spLocks noChangeArrowheads="1"/>
            </p:cNvSpPr>
            <p:nvPr/>
          </p:nvSpPr>
          <p:spPr bwMode="auto">
            <a:xfrm>
              <a:off x="3552" y="3024"/>
              <a:ext cx="480"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99366" name="Text Box 31"/>
            <p:cNvSpPr txBox="1">
              <a:spLocks noChangeArrowheads="1"/>
            </p:cNvSpPr>
            <p:nvPr/>
          </p:nvSpPr>
          <p:spPr bwMode="auto">
            <a:xfrm>
              <a:off x="2640" y="3408"/>
              <a:ext cx="432" cy="327"/>
            </a:xfrm>
            <a:prstGeom prst="rect">
              <a:avLst/>
            </a:prstGeom>
            <a:noFill/>
            <a:ln w="9525">
              <a:noFill/>
              <a:miter lim="800000"/>
              <a:headEnd/>
              <a:tailEnd/>
            </a:ln>
          </p:spPr>
          <p:txBody>
            <a:bodyPr>
              <a:spAutoFit/>
            </a:bodyPr>
            <a:lstStyle/>
            <a:p>
              <a:pPr algn="ctr">
                <a:spcBef>
                  <a:spcPct val="50000"/>
                </a:spcBef>
              </a:pPr>
              <a:r>
                <a:rPr lang="en-US" sz="2800"/>
                <a:t>…</a:t>
              </a:r>
            </a:p>
          </p:txBody>
        </p:sp>
        <p:sp>
          <p:nvSpPr>
            <p:cNvPr id="99367" name="Text Box 33"/>
            <p:cNvSpPr txBox="1">
              <a:spLocks noChangeArrowheads="1"/>
            </p:cNvSpPr>
            <p:nvPr/>
          </p:nvSpPr>
          <p:spPr bwMode="auto">
            <a:xfrm>
              <a:off x="1872" y="3840"/>
              <a:ext cx="336"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9368" name="Text Box 34"/>
            <p:cNvSpPr txBox="1">
              <a:spLocks noChangeArrowheads="1"/>
            </p:cNvSpPr>
            <p:nvPr/>
          </p:nvSpPr>
          <p:spPr bwMode="auto">
            <a:xfrm>
              <a:off x="1248" y="3840"/>
              <a:ext cx="336"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9369" name="Text Box 35"/>
            <p:cNvSpPr txBox="1">
              <a:spLocks noChangeArrowheads="1"/>
            </p:cNvSpPr>
            <p:nvPr/>
          </p:nvSpPr>
          <p:spPr bwMode="auto">
            <a:xfrm>
              <a:off x="672" y="3840"/>
              <a:ext cx="336"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9370" name="Text Box 36"/>
            <p:cNvSpPr txBox="1">
              <a:spLocks noChangeArrowheads="1"/>
            </p:cNvSpPr>
            <p:nvPr/>
          </p:nvSpPr>
          <p:spPr bwMode="auto">
            <a:xfrm>
              <a:off x="3552" y="3840"/>
              <a:ext cx="528"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9371" name="Text Box 37"/>
            <p:cNvSpPr txBox="1">
              <a:spLocks noChangeArrowheads="1"/>
            </p:cNvSpPr>
            <p:nvPr/>
          </p:nvSpPr>
          <p:spPr bwMode="auto">
            <a:xfrm>
              <a:off x="4176" y="3840"/>
              <a:ext cx="528"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99372" name="Text Box 38"/>
            <p:cNvSpPr txBox="1">
              <a:spLocks noChangeArrowheads="1"/>
            </p:cNvSpPr>
            <p:nvPr/>
          </p:nvSpPr>
          <p:spPr bwMode="auto">
            <a:xfrm>
              <a:off x="4752" y="3840"/>
              <a:ext cx="528"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grpSp>
      <p:pic>
        <p:nvPicPr>
          <p:cNvPr id="99335" name="Picture 82" descr="txp_fig.png"/>
          <p:cNvPicPr>
            <a:picLocks noChangeAspect="1"/>
          </p:cNvPicPr>
          <p:nvPr>
            <p:custDataLst>
              <p:tags r:id="rId1"/>
            </p:custDataLst>
          </p:nvPr>
        </p:nvPicPr>
        <p:blipFill>
          <a:blip r:embed="rId4" cstate="print"/>
          <a:srcRect/>
          <a:stretch>
            <a:fillRect/>
          </a:stretch>
        </p:blipFill>
        <p:spPr bwMode="auto">
          <a:xfrm>
            <a:off x="838200" y="3189288"/>
            <a:ext cx="4821238" cy="2060575"/>
          </a:xfrm>
          <a:prstGeom prst="rect">
            <a:avLst/>
          </a:prstGeom>
          <a:noFill/>
          <a:ln w="9525">
            <a:noFill/>
            <a:miter lim="800000"/>
            <a:headEnd/>
            <a:tailEnd/>
          </a:ln>
        </p:spPr>
      </p:pic>
      <p:sp>
        <p:nvSpPr>
          <p:cNvPr id="84" name="Rectangle 41"/>
          <p:cNvSpPr>
            <a:spLocks noChangeArrowheads="1"/>
          </p:cNvSpPr>
          <p:nvPr/>
        </p:nvSpPr>
        <p:spPr bwMode="auto">
          <a:xfrm>
            <a:off x="152400" y="3200400"/>
            <a:ext cx="6553200" cy="381000"/>
          </a:xfrm>
          <a:prstGeom prst="rect">
            <a:avLst/>
          </a:prstGeom>
          <a:solidFill>
            <a:schemeClr val="bg1"/>
          </a:solidFill>
          <a:ln w="9525">
            <a:noFill/>
            <a:miter lim="800000"/>
            <a:headEnd/>
            <a:tailEnd/>
          </a:ln>
        </p:spPr>
        <p:txBody>
          <a:bodyPr wrap="none" anchor="ctr"/>
          <a:lstStyle/>
          <a:p>
            <a:endParaRPr lang="en-US"/>
          </a:p>
        </p:txBody>
      </p:sp>
      <p:sp>
        <p:nvSpPr>
          <p:cNvPr id="85" name="Rectangle 42"/>
          <p:cNvSpPr>
            <a:spLocks noChangeArrowheads="1"/>
          </p:cNvSpPr>
          <p:nvPr/>
        </p:nvSpPr>
        <p:spPr bwMode="auto">
          <a:xfrm>
            <a:off x="152400" y="3581400"/>
            <a:ext cx="6553200" cy="685800"/>
          </a:xfrm>
          <a:prstGeom prst="rect">
            <a:avLst/>
          </a:prstGeom>
          <a:solidFill>
            <a:schemeClr val="bg1"/>
          </a:solidFill>
          <a:ln w="9525">
            <a:noFill/>
            <a:miter lim="800000"/>
            <a:headEnd/>
            <a:tailEnd/>
          </a:ln>
        </p:spPr>
        <p:txBody>
          <a:bodyPr wrap="none" anchor="ctr"/>
          <a:lstStyle/>
          <a:p>
            <a:endParaRPr lang="en-US"/>
          </a:p>
        </p:txBody>
      </p:sp>
      <p:sp>
        <p:nvSpPr>
          <p:cNvPr id="86" name="Rectangle 43"/>
          <p:cNvSpPr>
            <a:spLocks noChangeArrowheads="1"/>
          </p:cNvSpPr>
          <p:nvPr/>
        </p:nvSpPr>
        <p:spPr bwMode="auto">
          <a:xfrm>
            <a:off x="152400" y="4267200"/>
            <a:ext cx="6858000" cy="990600"/>
          </a:xfrm>
          <a:prstGeom prst="rect">
            <a:avLst/>
          </a:prstGeom>
          <a:solidFill>
            <a:schemeClr val="bg1"/>
          </a:solidFill>
          <a:ln w="9525">
            <a:noFill/>
            <a:miter lim="800000"/>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8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073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735" grpId="0" build="p"/>
      <p:bldP spid="84" grpId="0" animBg="1"/>
      <p:bldP spid="85" grpId="0" animBg="1"/>
      <p:bldP spid="8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50" descr="txp_fig.png"/>
          <p:cNvPicPr>
            <a:picLocks noChangeAspect="1"/>
          </p:cNvPicPr>
          <p:nvPr>
            <p:custDataLst>
              <p:tags r:id="rId1"/>
            </p:custDataLst>
          </p:nvPr>
        </p:nvPicPr>
        <p:blipFill>
          <a:blip r:embed="rId5" cstate="print"/>
          <a:srcRect/>
          <a:stretch>
            <a:fillRect/>
          </a:stretch>
        </p:blipFill>
        <p:spPr bwMode="auto">
          <a:xfrm>
            <a:off x="304800" y="4921250"/>
            <a:ext cx="6113463" cy="1504950"/>
          </a:xfrm>
          <a:prstGeom prst="rect">
            <a:avLst/>
          </a:prstGeom>
          <a:noFill/>
          <a:ln w="9525">
            <a:noFill/>
            <a:miter lim="800000"/>
            <a:headEnd/>
            <a:tailEnd/>
          </a:ln>
        </p:spPr>
      </p:pic>
      <p:sp>
        <p:nvSpPr>
          <p:cNvPr id="100355" name="Slide Number Placeholder 5"/>
          <p:cNvSpPr>
            <a:spLocks noGrp="1"/>
          </p:cNvSpPr>
          <p:nvPr>
            <p:ph type="sldNum" sz="quarter" idx="12"/>
          </p:nvPr>
        </p:nvSpPr>
        <p:spPr>
          <a:noFill/>
        </p:spPr>
        <p:txBody>
          <a:bodyPr/>
          <a:lstStyle/>
          <a:p>
            <a:fld id="{CB8FD648-07FB-422D-84A3-70C263F0C41F}" type="slidenum">
              <a:rPr lang="en-US" smtClean="0"/>
              <a:pPr/>
              <a:t>26</a:t>
            </a:fld>
            <a:endParaRPr lang="en-US"/>
          </a:p>
        </p:txBody>
      </p:sp>
      <p:sp>
        <p:nvSpPr>
          <p:cNvPr id="100356" name="Rectangle 2"/>
          <p:cNvSpPr>
            <a:spLocks noGrp="1" noChangeArrowheads="1"/>
          </p:cNvSpPr>
          <p:nvPr>
            <p:ph type="title"/>
          </p:nvPr>
        </p:nvSpPr>
        <p:spPr>
          <a:xfrm>
            <a:off x="457200" y="274638"/>
            <a:ext cx="8382000" cy="1143000"/>
          </a:xfrm>
        </p:spPr>
        <p:txBody>
          <a:bodyPr/>
          <a:lstStyle/>
          <a:p>
            <a:pPr eaLnBrk="1" hangingPunct="1"/>
            <a:r>
              <a:rPr lang="en-US" sz="4000"/>
              <a:t>Steady-State Probabilities for </a:t>
            </a:r>
            <a:r>
              <a:rPr lang="en-US" sz="4000" i="1"/>
              <a:t>M</a:t>
            </a:r>
            <a:r>
              <a:rPr lang="en-US" sz="4000"/>
              <a:t>/</a:t>
            </a:r>
            <a:r>
              <a:rPr lang="en-US" sz="4000" i="1"/>
              <a:t>M</a:t>
            </a:r>
            <a:r>
              <a:rPr lang="en-US" sz="4000"/>
              <a:t>/1</a:t>
            </a:r>
          </a:p>
        </p:txBody>
      </p:sp>
      <p:sp>
        <p:nvSpPr>
          <p:cNvPr id="100357" name="AutoShape 53"/>
          <p:cNvSpPr>
            <a:spLocks noChangeArrowheads="1"/>
          </p:cNvSpPr>
          <p:nvPr/>
        </p:nvSpPr>
        <p:spPr bwMode="auto">
          <a:xfrm>
            <a:off x="1905000" y="4516438"/>
            <a:ext cx="609600" cy="381000"/>
          </a:xfrm>
          <a:prstGeom prst="leftRightArrow">
            <a:avLst>
              <a:gd name="adj1" fmla="val 50000"/>
              <a:gd name="adj2" fmla="val 32000"/>
            </a:avLst>
          </a:prstGeom>
          <a:noFill/>
          <a:ln w="9525">
            <a:solidFill>
              <a:schemeClr val="tx1"/>
            </a:solidFill>
            <a:miter lim="800000"/>
            <a:headEnd/>
            <a:tailEnd/>
          </a:ln>
        </p:spPr>
        <p:txBody>
          <a:bodyPr wrap="none" anchor="ctr"/>
          <a:lstStyle/>
          <a:p>
            <a:endParaRPr lang="en-US"/>
          </a:p>
        </p:txBody>
      </p:sp>
      <p:pic>
        <p:nvPicPr>
          <p:cNvPr id="100358" name="Picture 48" descr="txp_fig.png"/>
          <p:cNvPicPr>
            <a:picLocks noChangeAspect="1"/>
          </p:cNvPicPr>
          <p:nvPr>
            <p:custDataLst>
              <p:tags r:id="rId2"/>
            </p:custDataLst>
          </p:nvPr>
        </p:nvPicPr>
        <p:blipFill>
          <a:blip r:embed="rId6" cstate="print"/>
          <a:srcRect/>
          <a:stretch>
            <a:fillRect/>
          </a:stretch>
        </p:blipFill>
        <p:spPr bwMode="auto">
          <a:xfrm>
            <a:off x="304800" y="2954338"/>
            <a:ext cx="3427413" cy="1465262"/>
          </a:xfrm>
          <a:prstGeom prst="rect">
            <a:avLst/>
          </a:prstGeom>
          <a:noFill/>
          <a:ln w="9525">
            <a:noFill/>
            <a:miter lim="800000"/>
            <a:headEnd/>
            <a:tailEnd/>
          </a:ln>
        </p:spPr>
      </p:pic>
      <p:sp>
        <p:nvSpPr>
          <p:cNvPr id="52" name="Rectangle 51"/>
          <p:cNvSpPr>
            <a:spLocks noChangeArrowheads="1"/>
          </p:cNvSpPr>
          <p:nvPr/>
        </p:nvSpPr>
        <p:spPr bwMode="auto">
          <a:xfrm>
            <a:off x="1371600" y="4900613"/>
            <a:ext cx="457200" cy="357187"/>
          </a:xfrm>
          <a:prstGeom prst="rect">
            <a:avLst/>
          </a:prstGeom>
          <a:solidFill>
            <a:schemeClr val="bg1"/>
          </a:solidFill>
          <a:ln w="9525" algn="ctr">
            <a:noFill/>
            <a:round/>
            <a:headEnd/>
            <a:tailEnd/>
          </a:ln>
        </p:spPr>
        <p:txBody>
          <a:bodyPr/>
          <a:lstStyle/>
          <a:p>
            <a:endParaRPr lang="en-US"/>
          </a:p>
        </p:txBody>
      </p:sp>
      <p:sp>
        <p:nvSpPr>
          <p:cNvPr id="53" name="Rectangle 52"/>
          <p:cNvSpPr>
            <a:spLocks noChangeArrowheads="1"/>
          </p:cNvSpPr>
          <p:nvPr/>
        </p:nvSpPr>
        <p:spPr bwMode="auto">
          <a:xfrm>
            <a:off x="1371600" y="5267325"/>
            <a:ext cx="2566988" cy="401638"/>
          </a:xfrm>
          <a:prstGeom prst="rect">
            <a:avLst/>
          </a:prstGeom>
          <a:solidFill>
            <a:schemeClr val="bg1"/>
          </a:solidFill>
          <a:ln w="9525" algn="ctr">
            <a:noFill/>
            <a:round/>
            <a:headEnd/>
            <a:tailEnd/>
          </a:ln>
        </p:spPr>
        <p:txBody>
          <a:bodyPr/>
          <a:lstStyle/>
          <a:p>
            <a:endParaRPr lang="en-US"/>
          </a:p>
        </p:txBody>
      </p:sp>
      <p:sp>
        <p:nvSpPr>
          <p:cNvPr id="54" name="Rectangle 53"/>
          <p:cNvSpPr>
            <a:spLocks noChangeArrowheads="1"/>
          </p:cNvSpPr>
          <p:nvPr/>
        </p:nvSpPr>
        <p:spPr bwMode="auto">
          <a:xfrm>
            <a:off x="4705350" y="5264150"/>
            <a:ext cx="452438" cy="381000"/>
          </a:xfrm>
          <a:prstGeom prst="rect">
            <a:avLst/>
          </a:prstGeom>
          <a:solidFill>
            <a:schemeClr val="bg1"/>
          </a:solidFill>
          <a:ln w="9525" algn="ctr">
            <a:noFill/>
            <a:round/>
            <a:headEnd/>
            <a:tailEnd/>
          </a:ln>
        </p:spPr>
        <p:txBody>
          <a:bodyPr/>
          <a:lstStyle/>
          <a:p>
            <a:endParaRPr lang="en-US"/>
          </a:p>
        </p:txBody>
      </p:sp>
      <p:sp>
        <p:nvSpPr>
          <p:cNvPr id="55" name="Rectangle 54"/>
          <p:cNvSpPr>
            <a:spLocks noChangeArrowheads="1"/>
          </p:cNvSpPr>
          <p:nvPr/>
        </p:nvSpPr>
        <p:spPr bwMode="auto">
          <a:xfrm>
            <a:off x="5888038" y="5241925"/>
            <a:ext cx="493712" cy="409575"/>
          </a:xfrm>
          <a:prstGeom prst="rect">
            <a:avLst/>
          </a:prstGeom>
          <a:solidFill>
            <a:schemeClr val="bg1"/>
          </a:solidFill>
          <a:ln w="9525" algn="ctr">
            <a:noFill/>
            <a:round/>
            <a:headEnd/>
            <a:tailEnd/>
          </a:ln>
        </p:spPr>
        <p:txBody>
          <a:bodyPr/>
          <a:lstStyle/>
          <a:p>
            <a:endParaRPr lang="en-US"/>
          </a:p>
        </p:txBody>
      </p:sp>
      <p:sp>
        <p:nvSpPr>
          <p:cNvPr id="56" name="Rectangle 55"/>
          <p:cNvSpPr>
            <a:spLocks noChangeArrowheads="1"/>
          </p:cNvSpPr>
          <p:nvPr/>
        </p:nvSpPr>
        <p:spPr bwMode="auto">
          <a:xfrm>
            <a:off x="1358900" y="5854700"/>
            <a:ext cx="3017838" cy="381000"/>
          </a:xfrm>
          <a:prstGeom prst="rect">
            <a:avLst/>
          </a:prstGeom>
          <a:solidFill>
            <a:schemeClr val="bg1"/>
          </a:solidFill>
          <a:ln w="9525" algn="ctr">
            <a:noFill/>
            <a:round/>
            <a:headEnd/>
            <a:tailEnd/>
          </a:ln>
        </p:spPr>
        <p:txBody>
          <a:bodyPr/>
          <a:lstStyle/>
          <a:p>
            <a:endParaRPr lang="en-US"/>
          </a:p>
        </p:txBody>
      </p:sp>
      <p:sp>
        <p:nvSpPr>
          <p:cNvPr id="57" name="Rectangle 56"/>
          <p:cNvSpPr>
            <a:spLocks noChangeArrowheads="1"/>
          </p:cNvSpPr>
          <p:nvPr/>
        </p:nvSpPr>
        <p:spPr bwMode="auto">
          <a:xfrm>
            <a:off x="4700588" y="5818188"/>
            <a:ext cx="835025" cy="473075"/>
          </a:xfrm>
          <a:prstGeom prst="rect">
            <a:avLst/>
          </a:prstGeom>
          <a:solidFill>
            <a:schemeClr val="bg1"/>
          </a:solidFill>
          <a:ln w="9525" algn="ctr">
            <a:noFill/>
            <a:round/>
            <a:headEnd/>
            <a:tailEnd/>
          </a:ln>
        </p:spPr>
        <p:txBody>
          <a:bodyPr/>
          <a:lstStyle/>
          <a:p>
            <a:endParaRPr lang="en-US"/>
          </a:p>
        </p:txBody>
      </p:sp>
      <p:sp>
        <p:nvSpPr>
          <p:cNvPr id="58" name="Rectangle 57"/>
          <p:cNvSpPr>
            <a:spLocks noChangeArrowheads="1"/>
          </p:cNvSpPr>
          <p:nvPr/>
        </p:nvSpPr>
        <p:spPr bwMode="auto">
          <a:xfrm>
            <a:off x="5894388" y="5821363"/>
            <a:ext cx="592137" cy="407987"/>
          </a:xfrm>
          <a:prstGeom prst="rect">
            <a:avLst/>
          </a:prstGeom>
          <a:solidFill>
            <a:schemeClr val="bg1"/>
          </a:solidFill>
          <a:ln w="9525" algn="ctr">
            <a:noFill/>
            <a:round/>
            <a:headEnd/>
            <a:tailEnd/>
          </a:ln>
        </p:spPr>
        <p:txBody>
          <a:bodyPr/>
          <a:lstStyle/>
          <a:p>
            <a:endParaRPr lang="en-US"/>
          </a:p>
        </p:txBody>
      </p:sp>
      <p:grpSp>
        <p:nvGrpSpPr>
          <p:cNvPr id="100366" name="Group 40"/>
          <p:cNvGrpSpPr>
            <a:grpSpLocks/>
          </p:cNvGrpSpPr>
          <p:nvPr/>
        </p:nvGrpSpPr>
        <p:grpSpPr bwMode="auto">
          <a:xfrm>
            <a:off x="457200" y="1219200"/>
            <a:ext cx="8458200" cy="1752600"/>
            <a:chOff x="384" y="3024"/>
            <a:chExt cx="5328" cy="1104"/>
          </a:xfrm>
        </p:grpSpPr>
        <p:sp>
          <p:nvSpPr>
            <p:cNvPr id="100367" name="Text Box 32"/>
            <p:cNvSpPr txBox="1">
              <a:spLocks noChangeArrowheads="1"/>
            </p:cNvSpPr>
            <p:nvPr/>
          </p:nvSpPr>
          <p:spPr bwMode="auto">
            <a:xfrm>
              <a:off x="5280" y="3408"/>
              <a:ext cx="432" cy="327"/>
            </a:xfrm>
            <a:prstGeom prst="rect">
              <a:avLst/>
            </a:prstGeom>
            <a:noFill/>
            <a:ln w="9525">
              <a:noFill/>
              <a:miter lim="800000"/>
              <a:headEnd/>
              <a:tailEnd/>
            </a:ln>
          </p:spPr>
          <p:txBody>
            <a:bodyPr>
              <a:spAutoFit/>
            </a:bodyPr>
            <a:lstStyle/>
            <a:p>
              <a:pPr algn="ctr">
                <a:spcBef>
                  <a:spcPct val="50000"/>
                </a:spcBef>
              </a:pPr>
              <a:r>
                <a:rPr lang="en-US" sz="2800"/>
                <a:t>…</a:t>
              </a:r>
            </a:p>
          </p:txBody>
        </p:sp>
        <p:sp>
          <p:nvSpPr>
            <p:cNvPr id="100368" name="Oval 5"/>
            <p:cNvSpPr>
              <a:spLocks noChangeArrowheads="1"/>
            </p:cNvSpPr>
            <p:nvPr/>
          </p:nvSpPr>
          <p:spPr bwMode="auto">
            <a:xfrm>
              <a:off x="384" y="3456"/>
              <a:ext cx="288" cy="288"/>
            </a:xfrm>
            <a:prstGeom prst="ellipse">
              <a:avLst/>
            </a:prstGeom>
            <a:solidFill>
              <a:schemeClr val="accent1"/>
            </a:solidFill>
            <a:ln w="9525">
              <a:solidFill>
                <a:schemeClr val="tx1"/>
              </a:solidFill>
              <a:round/>
              <a:headEnd/>
              <a:tailEnd/>
            </a:ln>
          </p:spPr>
          <p:txBody>
            <a:bodyPr wrap="none" anchor="ctr"/>
            <a:lstStyle/>
            <a:p>
              <a:pPr algn="ctr"/>
              <a:r>
                <a:rPr lang="en-US"/>
                <a:t>0</a:t>
              </a:r>
            </a:p>
          </p:txBody>
        </p:sp>
        <p:sp>
          <p:nvSpPr>
            <p:cNvPr id="100369" name="Oval 6"/>
            <p:cNvSpPr>
              <a:spLocks noChangeArrowheads="1"/>
            </p:cNvSpPr>
            <p:nvPr/>
          </p:nvSpPr>
          <p:spPr bwMode="auto">
            <a:xfrm>
              <a:off x="960" y="3456"/>
              <a:ext cx="288" cy="288"/>
            </a:xfrm>
            <a:prstGeom prst="ellipse">
              <a:avLst/>
            </a:prstGeom>
            <a:solidFill>
              <a:schemeClr val="accent1"/>
            </a:solidFill>
            <a:ln w="9525">
              <a:solidFill>
                <a:schemeClr val="tx1"/>
              </a:solidFill>
              <a:round/>
              <a:headEnd/>
              <a:tailEnd/>
            </a:ln>
          </p:spPr>
          <p:txBody>
            <a:bodyPr wrap="none" anchor="ctr"/>
            <a:lstStyle/>
            <a:p>
              <a:pPr algn="ctr"/>
              <a:r>
                <a:rPr lang="en-US"/>
                <a:t>1</a:t>
              </a:r>
            </a:p>
          </p:txBody>
        </p:sp>
        <p:sp>
          <p:nvSpPr>
            <p:cNvPr id="100370" name="Oval 7"/>
            <p:cNvSpPr>
              <a:spLocks noChangeArrowheads="1"/>
            </p:cNvSpPr>
            <p:nvPr/>
          </p:nvSpPr>
          <p:spPr bwMode="auto">
            <a:xfrm>
              <a:off x="1536" y="3456"/>
              <a:ext cx="288" cy="288"/>
            </a:xfrm>
            <a:prstGeom prst="ellipse">
              <a:avLst/>
            </a:prstGeom>
            <a:solidFill>
              <a:schemeClr val="accent1"/>
            </a:solidFill>
            <a:ln w="9525">
              <a:solidFill>
                <a:schemeClr val="tx1"/>
              </a:solidFill>
              <a:round/>
              <a:headEnd/>
              <a:tailEnd/>
            </a:ln>
          </p:spPr>
          <p:txBody>
            <a:bodyPr wrap="none" anchor="ctr"/>
            <a:lstStyle/>
            <a:p>
              <a:pPr algn="ctr"/>
              <a:r>
                <a:rPr lang="en-US"/>
                <a:t>2</a:t>
              </a:r>
            </a:p>
          </p:txBody>
        </p:sp>
        <p:sp>
          <p:nvSpPr>
            <p:cNvPr id="100371" name="Oval 8"/>
            <p:cNvSpPr>
              <a:spLocks noChangeArrowheads="1"/>
            </p:cNvSpPr>
            <p:nvPr/>
          </p:nvSpPr>
          <p:spPr bwMode="auto">
            <a:xfrm>
              <a:off x="2112" y="3456"/>
              <a:ext cx="288" cy="288"/>
            </a:xfrm>
            <a:prstGeom prst="ellipse">
              <a:avLst/>
            </a:prstGeom>
            <a:solidFill>
              <a:schemeClr val="accent1"/>
            </a:solidFill>
            <a:ln w="9525">
              <a:solidFill>
                <a:schemeClr val="tx1"/>
              </a:solidFill>
              <a:round/>
              <a:headEnd/>
              <a:tailEnd/>
            </a:ln>
          </p:spPr>
          <p:txBody>
            <a:bodyPr wrap="none" anchor="ctr"/>
            <a:lstStyle/>
            <a:p>
              <a:pPr algn="ctr"/>
              <a:r>
                <a:rPr lang="en-US"/>
                <a:t>3</a:t>
              </a:r>
            </a:p>
          </p:txBody>
        </p:sp>
        <p:sp>
          <p:nvSpPr>
            <p:cNvPr id="100372" name="Oval 9"/>
            <p:cNvSpPr>
              <a:spLocks noChangeArrowheads="1"/>
            </p:cNvSpPr>
            <p:nvPr/>
          </p:nvSpPr>
          <p:spPr bwMode="auto">
            <a:xfrm>
              <a:off x="3312"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r>
                <a:rPr lang="en-US"/>
                <a:t>3</a:t>
              </a:r>
            </a:p>
          </p:txBody>
        </p:sp>
        <p:sp>
          <p:nvSpPr>
            <p:cNvPr id="100373" name="Oval 10"/>
            <p:cNvSpPr>
              <a:spLocks noChangeArrowheads="1"/>
            </p:cNvSpPr>
            <p:nvPr/>
          </p:nvSpPr>
          <p:spPr bwMode="auto">
            <a:xfrm>
              <a:off x="3888"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r>
                <a:rPr lang="en-US"/>
                <a:t>2</a:t>
              </a:r>
            </a:p>
          </p:txBody>
        </p:sp>
        <p:sp>
          <p:nvSpPr>
            <p:cNvPr id="100374" name="Oval 11"/>
            <p:cNvSpPr>
              <a:spLocks noChangeArrowheads="1"/>
            </p:cNvSpPr>
            <p:nvPr/>
          </p:nvSpPr>
          <p:spPr bwMode="auto">
            <a:xfrm>
              <a:off x="4464"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r>
                <a:rPr lang="en-US"/>
                <a:t>1</a:t>
              </a:r>
            </a:p>
          </p:txBody>
        </p:sp>
        <p:sp>
          <p:nvSpPr>
            <p:cNvPr id="100375" name="Oval 12"/>
            <p:cNvSpPr>
              <a:spLocks noChangeArrowheads="1"/>
            </p:cNvSpPr>
            <p:nvPr/>
          </p:nvSpPr>
          <p:spPr bwMode="auto">
            <a:xfrm>
              <a:off x="5040" y="3456"/>
              <a:ext cx="288" cy="288"/>
            </a:xfrm>
            <a:prstGeom prst="ellipse">
              <a:avLst/>
            </a:prstGeom>
            <a:solidFill>
              <a:schemeClr val="accent1"/>
            </a:solidFill>
            <a:ln w="9525">
              <a:solidFill>
                <a:schemeClr val="tx1"/>
              </a:solidFill>
              <a:round/>
              <a:headEnd/>
              <a:tailEnd/>
            </a:ln>
          </p:spPr>
          <p:txBody>
            <a:bodyPr wrap="none" anchor="ctr"/>
            <a:lstStyle/>
            <a:p>
              <a:pPr algn="ctr"/>
              <a:r>
                <a:rPr lang="en-US" i="1"/>
                <a:t>n</a:t>
              </a:r>
            </a:p>
          </p:txBody>
        </p:sp>
        <p:cxnSp>
          <p:nvCxnSpPr>
            <p:cNvPr id="100376" name="AutoShape 13"/>
            <p:cNvCxnSpPr>
              <a:cxnSpLocks noChangeShapeType="1"/>
              <a:stCxn id="100368" idx="0"/>
              <a:endCxn id="100369" idx="0"/>
            </p:cNvCxnSpPr>
            <p:nvPr/>
          </p:nvCxnSpPr>
          <p:spPr bwMode="auto">
            <a:xfrm rot="5400000" flipV="1">
              <a:off x="815" y="3169"/>
              <a:ext cx="1" cy="576"/>
            </a:xfrm>
            <a:prstGeom prst="curvedConnector3">
              <a:avLst>
                <a:gd name="adj1" fmla="val -14400005"/>
              </a:avLst>
            </a:prstGeom>
            <a:noFill/>
            <a:ln w="9525">
              <a:solidFill>
                <a:schemeClr val="tx1"/>
              </a:solidFill>
              <a:round/>
              <a:headEnd/>
              <a:tailEnd type="triangle" w="med" len="med"/>
            </a:ln>
          </p:spPr>
        </p:cxnSp>
        <p:cxnSp>
          <p:nvCxnSpPr>
            <p:cNvPr id="100377" name="AutoShape 14"/>
            <p:cNvCxnSpPr>
              <a:cxnSpLocks noChangeShapeType="1"/>
            </p:cNvCxnSpPr>
            <p:nvPr/>
          </p:nvCxnSpPr>
          <p:spPr bwMode="auto">
            <a:xfrm rot="5400000" flipV="1">
              <a:off x="1391" y="3169"/>
              <a:ext cx="1" cy="576"/>
            </a:xfrm>
            <a:prstGeom prst="curvedConnector3">
              <a:avLst>
                <a:gd name="adj1" fmla="val -14400005"/>
              </a:avLst>
            </a:prstGeom>
            <a:noFill/>
            <a:ln w="9525">
              <a:solidFill>
                <a:schemeClr val="tx1"/>
              </a:solidFill>
              <a:round/>
              <a:headEnd/>
              <a:tailEnd type="triangle" w="med" len="med"/>
            </a:ln>
          </p:spPr>
        </p:cxnSp>
        <p:cxnSp>
          <p:nvCxnSpPr>
            <p:cNvPr id="100378" name="AutoShape 15"/>
            <p:cNvCxnSpPr>
              <a:cxnSpLocks noChangeShapeType="1"/>
            </p:cNvCxnSpPr>
            <p:nvPr/>
          </p:nvCxnSpPr>
          <p:spPr bwMode="auto">
            <a:xfrm rot="5400000" flipV="1">
              <a:off x="1967" y="3168"/>
              <a:ext cx="1" cy="576"/>
            </a:xfrm>
            <a:prstGeom prst="curvedConnector3">
              <a:avLst>
                <a:gd name="adj1" fmla="val -14400005"/>
              </a:avLst>
            </a:prstGeom>
            <a:noFill/>
            <a:ln w="9525">
              <a:solidFill>
                <a:schemeClr val="tx1"/>
              </a:solidFill>
              <a:round/>
              <a:headEnd/>
              <a:tailEnd type="triangle" w="med" len="med"/>
            </a:ln>
          </p:spPr>
        </p:cxnSp>
        <p:cxnSp>
          <p:nvCxnSpPr>
            <p:cNvPr id="100379" name="AutoShape 16"/>
            <p:cNvCxnSpPr>
              <a:cxnSpLocks noChangeShapeType="1"/>
            </p:cNvCxnSpPr>
            <p:nvPr/>
          </p:nvCxnSpPr>
          <p:spPr bwMode="auto">
            <a:xfrm rot="5400000" flipV="1">
              <a:off x="3743" y="3170"/>
              <a:ext cx="1" cy="576"/>
            </a:xfrm>
            <a:prstGeom prst="curvedConnector3">
              <a:avLst>
                <a:gd name="adj1" fmla="val -14400005"/>
              </a:avLst>
            </a:prstGeom>
            <a:noFill/>
            <a:ln w="9525">
              <a:solidFill>
                <a:schemeClr val="tx1"/>
              </a:solidFill>
              <a:round/>
              <a:headEnd/>
              <a:tailEnd type="triangle" w="med" len="med"/>
            </a:ln>
          </p:spPr>
        </p:cxnSp>
        <p:cxnSp>
          <p:nvCxnSpPr>
            <p:cNvPr id="100380" name="AutoShape 17"/>
            <p:cNvCxnSpPr>
              <a:cxnSpLocks noChangeShapeType="1"/>
            </p:cNvCxnSpPr>
            <p:nvPr/>
          </p:nvCxnSpPr>
          <p:spPr bwMode="auto">
            <a:xfrm rot="5400000" flipV="1">
              <a:off x="4319" y="3170"/>
              <a:ext cx="1" cy="576"/>
            </a:xfrm>
            <a:prstGeom prst="curvedConnector3">
              <a:avLst>
                <a:gd name="adj1" fmla="val -14400005"/>
              </a:avLst>
            </a:prstGeom>
            <a:noFill/>
            <a:ln w="9525">
              <a:solidFill>
                <a:schemeClr val="tx1"/>
              </a:solidFill>
              <a:round/>
              <a:headEnd/>
              <a:tailEnd type="triangle" w="med" len="med"/>
            </a:ln>
          </p:spPr>
        </p:cxnSp>
        <p:cxnSp>
          <p:nvCxnSpPr>
            <p:cNvPr id="100381" name="AutoShape 18"/>
            <p:cNvCxnSpPr>
              <a:cxnSpLocks noChangeShapeType="1"/>
            </p:cNvCxnSpPr>
            <p:nvPr/>
          </p:nvCxnSpPr>
          <p:spPr bwMode="auto">
            <a:xfrm rot="5400000" flipV="1">
              <a:off x="4895" y="3169"/>
              <a:ext cx="1" cy="576"/>
            </a:xfrm>
            <a:prstGeom prst="curvedConnector3">
              <a:avLst>
                <a:gd name="adj1" fmla="val -14400005"/>
              </a:avLst>
            </a:prstGeom>
            <a:noFill/>
            <a:ln w="9525">
              <a:solidFill>
                <a:schemeClr val="tx1"/>
              </a:solidFill>
              <a:round/>
              <a:headEnd/>
              <a:tailEnd type="triangle" w="med" len="med"/>
            </a:ln>
          </p:spPr>
        </p:cxnSp>
        <p:cxnSp>
          <p:nvCxnSpPr>
            <p:cNvPr id="100382" name="AutoShape 19"/>
            <p:cNvCxnSpPr>
              <a:cxnSpLocks noChangeShapeType="1"/>
              <a:stCxn id="100375" idx="4"/>
              <a:endCxn id="100374" idx="4"/>
            </p:cNvCxnSpPr>
            <p:nvPr/>
          </p:nvCxnSpPr>
          <p:spPr bwMode="auto">
            <a:xfrm rot="5400000">
              <a:off x="4895" y="3457"/>
              <a:ext cx="1" cy="576"/>
            </a:xfrm>
            <a:prstGeom prst="curvedConnector3">
              <a:avLst>
                <a:gd name="adj1" fmla="val 14400005"/>
              </a:avLst>
            </a:prstGeom>
            <a:noFill/>
            <a:ln w="9525">
              <a:solidFill>
                <a:schemeClr val="tx1"/>
              </a:solidFill>
              <a:round/>
              <a:headEnd/>
              <a:tailEnd type="triangle" w="med" len="med"/>
            </a:ln>
          </p:spPr>
        </p:cxnSp>
        <p:cxnSp>
          <p:nvCxnSpPr>
            <p:cNvPr id="100383" name="AutoShape 20"/>
            <p:cNvCxnSpPr>
              <a:cxnSpLocks noChangeShapeType="1"/>
            </p:cNvCxnSpPr>
            <p:nvPr/>
          </p:nvCxnSpPr>
          <p:spPr bwMode="auto">
            <a:xfrm rot="5400000">
              <a:off x="4319" y="3457"/>
              <a:ext cx="1" cy="576"/>
            </a:xfrm>
            <a:prstGeom prst="curvedConnector3">
              <a:avLst>
                <a:gd name="adj1" fmla="val 14400005"/>
              </a:avLst>
            </a:prstGeom>
            <a:noFill/>
            <a:ln w="9525">
              <a:solidFill>
                <a:schemeClr val="tx1"/>
              </a:solidFill>
              <a:round/>
              <a:headEnd/>
              <a:tailEnd type="triangle" w="med" len="med"/>
            </a:ln>
          </p:spPr>
        </p:cxnSp>
        <p:cxnSp>
          <p:nvCxnSpPr>
            <p:cNvPr id="100384" name="AutoShape 21"/>
            <p:cNvCxnSpPr>
              <a:cxnSpLocks noChangeShapeType="1"/>
            </p:cNvCxnSpPr>
            <p:nvPr/>
          </p:nvCxnSpPr>
          <p:spPr bwMode="auto">
            <a:xfrm rot="5400000">
              <a:off x="3743" y="3457"/>
              <a:ext cx="1" cy="576"/>
            </a:xfrm>
            <a:prstGeom prst="curvedConnector3">
              <a:avLst>
                <a:gd name="adj1" fmla="val 14400005"/>
              </a:avLst>
            </a:prstGeom>
            <a:noFill/>
            <a:ln w="9525">
              <a:solidFill>
                <a:schemeClr val="tx1"/>
              </a:solidFill>
              <a:round/>
              <a:headEnd/>
              <a:tailEnd type="triangle" w="med" len="med"/>
            </a:ln>
          </p:spPr>
        </p:cxnSp>
        <p:cxnSp>
          <p:nvCxnSpPr>
            <p:cNvPr id="100385" name="AutoShape 22"/>
            <p:cNvCxnSpPr>
              <a:cxnSpLocks noChangeShapeType="1"/>
            </p:cNvCxnSpPr>
            <p:nvPr/>
          </p:nvCxnSpPr>
          <p:spPr bwMode="auto">
            <a:xfrm rot="5400000">
              <a:off x="1967" y="3457"/>
              <a:ext cx="1" cy="576"/>
            </a:xfrm>
            <a:prstGeom prst="curvedConnector3">
              <a:avLst>
                <a:gd name="adj1" fmla="val 14400005"/>
              </a:avLst>
            </a:prstGeom>
            <a:noFill/>
            <a:ln w="9525">
              <a:solidFill>
                <a:schemeClr val="tx1"/>
              </a:solidFill>
              <a:round/>
              <a:headEnd/>
              <a:tailEnd type="triangle" w="med" len="med"/>
            </a:ln>
          </p:spPr>
        </p:cxnSp>
        <p:cxnSp>
          <p:nvCxnSpPr>
            <p:cNvPr id="100386" name="AutoShape 23"/>
            <p:cNvCxnSpPr>
              <a:cxnSpLocks noChangeShapeType="1"/>
            </p:cNvCxnSpPr>
            <p:nvPr/>
          </p:nvCxnSpPr>
          <p:spPr bwMode="auto">
            <a:xfrm rot="5400000">
              <a:off x="1391" y="3457"/>
              <a:ext cx="1" cy="576"/>
            </a:xfrm>
            <a:prstGeom prst="curvedConnector3">
              <a:avLst>
                <a:gd name="adj1" fmla="val 14400005"/>
              </a:avLst>
            </a:prstGeom>
            <a:noFill/>
            <a:ln w="9525">
              <a:solidFill>
                <a:schemeClr val="tx1"/>
              </a:solidFill>
              <a:round/>
              <a:headEnd/>
              <a:tailEnd type="triangle" w="med" len="med"/>
            </a:ln>
          </p:spPr>
        </p:cxnSp>
        <p:cxnSp>
          <p:nvCxnSpPr>
            <p:cNvPr id="100387" name="AutoShape 24"/>
            <p:cNvCxnSpPr>
              <a:cxnSpLocks noChangeShapeType="1"/>
            </p:cNvCxnSpPr>
            <p:nvPr/>
          </p:nvCxnSpPr>
          <p:spPr bwMode="auto">
            <a:xfrm rot="5400000">
              <a:off x="815" y="3457"/>
              <a:ext cx="1" cy="576"/>
            </a:xfrm>
            <a:prstGeom prst="curvedConnector3">
              <a:avLst>
                <a:gd name="adj1" fmla="val 14400005"/>
              </a:avLst>
            </a:prstGeom>
            <a:noFill/>
            <a:ln w="9525">
              <a:solidFill>
                <a:schemeClr val="tx1"/>
              </a:solidFill>
              <a:round/>
              <a:headEnd/>
              <a:tailEnd type="triangle" w="med" len="med"/>
            </a:ln>
          </p:spPr>
        </p:cxnSp>
        <p:sp>
          <p:nvSpPr>
            <p:cNvPr id="100388" name="Text Box 25"/>
            <p:cNvSpPr txBox="1">
              <a:spLocks noChangeArrowheads="1"/>
            </p:cNvSpPr>
            <p:nvPr/>
          </p:nvSpPr>
          <p:spPr bwMode="auto">
            <a:xfrm>
              <a:off x="720" y="3024"/>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100389" name="Text Box 26"/>
            <p:cNvSpPr txBox="1">
              <a:spLocks noChangeArrowheads="1"/>
            </p:cNvSpPr>
            <p:nvPr/>
          </p:nvSpPr>
          <p:spPr bwMode="auto">
            <a:xfrm>
              <a:off x="1296" y="3024"/>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latin typeface="Symbol" pitchFamily="18" charset="2"/>
              </a:endParaRPr>
            </a:p>
          </p:txBody>
        </p:sp>
        <p:sp>
          <p:nvSpPr>
            <p:cNvPr id="100390" name="Text Box 27"/>
            <p:cNvSpPr txBox="1">
              <a:spLocks noChangeArrowheads="1"/>
            </p:cNvSpPr>
            <p:nvPr/>
          </p:nvSpPr>
          <p:spPr bwMode="auto">
            <a:xfrm>
              <a:off x="1872" y="3024"/>
              <a:ext cx="336"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100391" name="Text Box 28"/>
            <p:cNvSpPr txBox="1">
              <a:spLocks noChangeArrowheads="1"/>
            </p:cNvSpPr>
            <p:nvPr/>
          </p:nvSpPr>
          <p:spPr bwMode="auto">
            <a:xfrm>
              <a:off x="4128" y="3024"/>
              <a:ext cx="480"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100392" name="Text Box 29"/>
            <p:cNvSpPr txBox="1">
              <a:spLocks noChangeArrowheads="1"/>
            </p:cNvSpPr>
            <p:nvPr/>
          </p:nvSpPr>
          <p:spPr bwMode="auto">
            <a:xfrm>
              <a:off x="4752" y="3024"/>
              <a:ext cx="480"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100393" name="Text Box 30"/>
            <p:cNvSpPr txBox="1">
              <a:spLocks noChangeArrowheads="1"/>
            </p:cNvSpPr>
            <p:nvPr/>
          </p:nvSpPr>
          <p:spPr bwMode="auto">
            <a:xfrm>
              <a:off x="3552" y="3024"/>
              <a:ext cx="480" cy="288"/>
            </a:xfrm>
            <a:prstGeom prst="rect">
              <a:avLst/>
            </a:prstGeom>
            <a:noFill/>
            <a:ln w="9525">
              <a:noFill/>
              <a:miter lim="800000"/>
              <a:headEnd/>
              <a:tailEnd/>
            </a:ln>
          </p:spPr>
          <p:txBody>
            <a:bodyPr>
              <a:spAutoFit/>
            </a:bodyPr>
            <a:lstStyle/>
            <a:p>
              <a:pPr>
                <a:spcBef>
                  <a:spcPct val="50000"/>
                </a:spcBef>
              </a:pPr>
              <a:r>
                <a:rPr lang="en-US" sz="2400">
                  <a:latin typeface="Symbol" pitchFamily="18" charset="2"/>
                  <a:sym typeface="Symbol" pitchFamily="18" charset="2"/>
                </a:rPr>
                <a:t></a:t>
              </a:r>
              <a:endParaRPr lang="en-US" sz="2400"/>
            </a:p>
          </p:txBody>
        </p:sp>
        <p:sp>
          <p:nvSpPr>
            <p:cNvPr id="100394" name="Text Box 31"/>
            <p:cNvSpPr txBox="1">
              <a:spLocks noChangeArrowheads="1"/>
            </p:cNvSpPr>
            <p:nvPr/>
          </p:nvSpPr>
          <p:spPr bwMode="auto">
            <a:xfrm>
              <a:off x="2640" y="3408"/>
              <a:ext cx="432" cy="327"/>
            </a:xfrm>
            <a:prstGeom prst="rect">
              <a:avLst/>
            </a:prstGeom>
            <a:noFill/>
            <a:ln w="9525">
              <a:noFill/>
              <a:miter lim="800000"/>
              <a:headEnd/>
              <a:tailEnd/>
            </a:ln>
          </p:spPr>
          <p:txBody>
            <a:bodyPr>
              <a:spAutoFit/>
            </a:bodyPr>
            <a:lstStyle/>
            <a:p>
              <a:pPr algn="ctr">
                <a:spcBef>
                  <a:spcPct val="50000"/>
                </a:spcBef>
              </a:pPr>
              <a:r>
                <a:rPr lang="en-US" sz="2800"/>
                <a:t>…</a:t>
              </a:r>
            </a:p>
          </p:txBody>
        </p:sp>
        <p:sp>
          <p:nvSpPr>
            <p:cNvPr id="100395" name="Text Box 33"/>
            <p:cNvSpPr txBox="1">
              <a:spLocks noChangeArrowheads="1"/>
            </p:cNvSpPr>
            <p:nvPr/>
          </p:nvSpPr>
          <p:spPr bwMode="auto">
            <a:xfrm>
              <a:off x="1872" y="3840"/>
              <a:ext cx="336"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100396" name="Text Box 34"/>
            <p:cNvSpPr txBox="1">
              <a:spLocks noChangeArrowheads="1"/>
            </p:cNvSpPr>
            <p:nvPr/>
          </p:nvSpPr>
          <p:spPr bwMode="auto">
            <a:xfrm>
              <a:off x="1248" y="3840"/>
              <a:ext cx="336"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100397" name="Text Box 35"/>
            <p:cNvSpPr txBox="1">
              <a:spLocks noChangeArrowheads="1"/>
            </p:cNvSpPr>
            <p:nvPr/>
          </p:nvSpPr>
          <p:spPr bwMode="auto">
            <a:xfrm>
              <a:off x="672" y="3840"/>
              <a:ext cx="336"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100398" name="Text Box 36"/>
            <p:cNvSpPr txBox="1">
              <a:spLocks noChangeArrowheads="1"/>
            </p:cNvSpPr>
            <p:nvPr/>
          </p:nvSpPr>
          <p:spPr bwMode="auto">
            <a:xfrm>
              <a:off x="3552" y="3840"/>
              <a:ext cx="528"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100399" name="Text Box 37"/>
            <p:cNvSpPr txBox="1">
              <a:spLocks noChangeArrowheads="1"/>
            </p:cNvSpPr>
            <p:nvPr/>
          </p:nvSpPr>
          <p:spPr bwMode="auto">
            <a:xfrm>
              <a:off x="4176" y="3840"/>
              <a:ext cx="528"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sp>
          <p:nvSpPr>
            <p:cNvPr id="100400" name="Text Box 38"/>
            <p:cNvSpPr txBox="1">
              <a:spLocks noChangeArrowheads="1"/>
            </p:cNvSpPr>
            <p:nvPr/>
          </p:nvSpPr>
          <p:spPr bwMode="auto">
            <a:xfrm>
              <a:off x="4752" y="3840"/>
              <a:ext cx="528" cy="288"/>
            </a:xfrm>
            <a:prstGeom prst="rect">
              <a:avLst/>
            </a:prstGeom>
            <a:noFill/>
            <a:ln w="9525">
              <a:noFill/>
              <a:miter lim="800000"/>
              <a:headEnd/>
              <a:tailEnd/>
            </a:ln>
          </p:spPr>
          <p:txBody>
            <a:bodyPr>
              <a:spAutoFit/>
            </a:bodyPr>
            <a:lstStyle/>
            <a:p>
              <a:pPr>
                <a:spcBef>
                  <a:spcPct val="50000"/>
                </a:spcBef>
              </a:pPr>
              <a:r>
                <a:rPr lang="en-US" sz="2400" i="1">
                  <a:latin typeface="Symbol" pitchFamily="18" charset="2"/>
                  <a:sym typeface="Symbol" pitchFamily="18" charset="2"/>
                </a:rPr>
                <a:t>m</a:t>
              </a:r>
              <a:endParaRPr lang="en-US" sz="2400" i="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5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5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5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5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4" grpId="0" animBg="1"/>
      <p:bldP spid="55" grpId="0" animBg="1"/>
      <p:bldP spid="56" grpId="0" animBg="1"/>
      <p:bldP spid="57" grpId="0" animBg="1"/>
      <p:bldP spid="5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5"/>
          <p:cNvSpPr>
            <a:spLocks noGrp="1" noChangeArrowheads="1"/>
          </p:cNvSpPr>
          <p:nvPr>
            <p:ph type="title"/>
          </p:nvPr>
        </p:nvSpPr>
        <p:spPr>
          <a:xfrm>
            <a:off x="457200" y="274638"/>
            <a:ext cx="8458200" cy="1143000"/>
          </a:xfrm>
        </p:spPr>
        <p:txBody>
          <a:bodyPr/>
          <a:lstStyle/>
          <a:p>
            <a:pPr eaLnBrk="1" hangingPunct="1"/>
            <a:r>
              <a:rPr lang="en-US" sz="4000"/>
              <a:t>Steady-State Probabilities for </a:t>
            </a:r>
            <a:r>
              <a:rPr lang="en-US" sz="4000" i="1"/>
              <a:t>M</a:t>
            </a:r>
            <a:r>
              <a:rPr lang="en-US" sz="4000"/>
              <a:t>/</a:t>
            </a:r>
            <a:r>
              <a:rPr lang="en-US" sz="4000" i="1"/>
              <a:t>M</a:t>
            </a:r>
            <a:r>
              <a:rPr lang="en-US" sz="4000"/>
              <a:t>/1</a:t>
            </a:r>
          </a:p>
        </p:txBody>
      </p:sp>
      <p:sp>
        <p:nvSpPr>
          <p:cNvPr id="101379" name="Rectangle 6"/>
          <p:cNvSpPr>
            <a:spLocks noGrp="1" noChangeArrowheads="1"/>
          </p:cNvSpPr>
          <p:nvPr>
            <p:ph type="body" idx="1"/>
          </p:nvPr>
        </p:nvSpPr>
        <p:spPr>
          <a:xfrm>
            <a:off x="381000" y="1716088"/>
            <a:ext cx="8229600" cy="1143000"/>
          </a:xfrm>
        </p:spPr>
        <p:txBody>
          <a:bodyPr/>
          <a:lstStyle/>
          <a:p>
            <a:pPr eaLnBrk="1" hangingPunct="1"/>
            <a:r>
              <a:rPr lang="en-US"/>
              <a:t>If we define          :</a:t>
            </a:r>
          </a:p>
          <a:p>
            <a:pPr eaLnBrk="1" hangingPunct="1"/>
            <a:endParaRPr lang="en-US"/>
          </a:p>
          <a:p>
            <a:pPr eaLnBrk="1" hangingPunct="1"/>
            <a:endParaRPr lang="en-US"/>
          </a:p>
        </p:txBody>
      </p:sp>
      <p:pic>
        <p:nvPicPr>
          <p:cNvPr id="101380" name="Picture 17" descr="txp_fig"/>
          <p:cNvPicPr>
            <a:picLocks noChangeAspect="1" noChangeArrowheads="1"/>
          </p:cNvPicPr>
          <p:nvPr>
            <p:custDataLst>
              <p:tags r:id="rId1"/>
            </p:custDataLst>
          </p:nvPr>
        </p:nvPicPr>
        <p:blipFill>
          <a:blip r:embed="rId10" cstate="print"/>
          <a:srcRect/>
          <a:stretch>
            <a:fillRect/>
          </a:stretch>
        </p:blipFill>
        <p:spPr bwMode="auto">
          <a:xfrm>
            <a:off x="2892425" y="1752600"/>
            <a:ext cx="1058863" cy="569913"/>
          </a:xfrm>
          <a:prstGeom prst="rect">
            <a:avLst/>
          </a:prstGeom>
          <a:noFill/>
          <a:ln w="9525">
            <a:noFill/>
            <a:miter lim="800000"/>
            <a:headEnd/>
            <a:tailEnd/>
          </a:ln>
        </p:spPr>
      </p:pic>
      <p:sp>
        <p:nvSpPr>
          <p:cNvPr id="101381" name="Slide Number Placeholder 5"/>
          <p:cNvSpPr txBox="1">
            <a:spLocks/>
          </p:cNvSpPr>
          <p:nvPr/>
        </p:nvSpPr>
        <p:spPr bwMode="auto">
          <a:xfrm>
            <a:off x="6553200" y="6245225"/>
            <a:ext cx="2133600" cy="476250"/>
          </a:xfrm>
          <a:prstGeom prst="rect">
            <a:avLst/>
          </a:prstGeom>
          <a:noFill/>
          <a:ln w="9525">
            <a:noFill/>
            <a:miter lim="800000"/>
            <a:headEnd/>
            <a:tailEnd/>
          </a:ln>
        </p:spPr>
        <p:txBody>
          <a:bodyPr/>
          <a:lstStyle/>
          <a:p>
            <a:pPr algn="r"/>
            <a:fld id="{87CCF9F2-8659-4801-83C8-AE361309CB5F}" type="slidenum">
              <a:rPr lang="en-US" sz="1400" baseline="0"/>
              <a:pPr algn="r"/>
              <a:t>27</a:t>
            </a:fld>
            <a:endParaRPr lang="en-US" sz="1400" baseline="0"/>
          </a:p>
        </p:txBody>
      </p:sp>
      <p:pic>
        <p:nvPicPr>
          <p:cNvPr id="101382" name="Picture 14" descr="txp_fig.png"/>
          <p:cNvPicPr>
            <a:picLocks noChangeAspect="1"/>
          </p:cNvPicPr>
          <p:nvPr>
            <p:custDataLst>
              <p:tags r:id="rId2"/>
            </p:custDataLst>
          </p:nvPr>
        </p:nvPicPr>
        <p:blipFill>
          <a:blip r:embed="rId11" cstate="print"/>
          <a:srcRect/>
          <a:stretch>
            <a:fillRect/>
          </a:stretch>
        </p:blipFill>
        <p:spPr bwMode="auto">
          <a:xfrm>
            <a:off x="873125" y="2514600"/>
            <a:ext cx="3427413" cy="385763"/>
          </a:xfrm>
          <a:prstGeom prst="rect">
            <a:avLst/>
          </a:prstGeom>
          <a:noFill/>
          <a:ln w="9525">
            <a:noFill/>
            <a:miter lim="800000"/>
            <a:headEnd/>
            <a:tailEnd/>
          </a:ln>
        </p:spPr>
      </p:pic>
      <p:sp>
        <p:nvSpPr>
          <p:cNvPr id="101383" name="AutoShape 55"/>
          <p:cNvSpPr>
            <a:spLocks noChangeArrowheads="1"/>
          </p:cNvSpPr>
          <p:nvPr/>
        </p:nvSpPr>
        <p:spPr bwMode="auto">
          <a:xfrm>
            <a:off x="3073400" y="3313113"/>
            <a:ext cx="609600" cy="381000"/>
          </a:xfrm>
          <a:prstGeom prst="leftRightArrow">
            <a:avLst>
              <a:gd name="adj1" fmla="val 50000"/>
              <a:gd name="adj2" fmla="val 32000"/>
            </a:avLst>
          </a:prstGeom>
          <a:noFill/>
          <a:ln w="9525">
            <a:solidFill>
              <a:schemeClr val="tx1"/>
            </a:solidFill>
            <a:miter lim="800000"/>
            <a:headEnd/>
            <a:tailEnd/>
          </a:ln>
        </p:spPr>
        <p:txBody>
          <a:bodyPr wrap="none" anchor="ctr"/>
          <a:lstStyle/>
          <a:p>
            <a:endParaRPr lang="en-US"/>
          </a:p>
        </p:txBody>
      </p:sp>
      <p:sp>
        <p:nvSpPr>
          <p:cNvPr id="101384" name="AutoShape 56"/>
          <p:cNvSpPr>
            <a:spLocks noChangeArrowheads="1"/>
          </p:cNvSpPr>
          <p:nvPr/>
        </p:nvSpPr>
        <p:spPr bwMode="auto">
          <a:xfrm>
            <a:off x="3073400" y="4379913"/>
            <a:ext cx="609600" cy="381000"/>
          </a:xfrm>
          <a:prstGeom prst="leftRightArrow">
            <a:avLst>
              <a:gd name="adj1" fmla="val 50000"/>
              <a:gd name="adj2" fmla="val 32000"/>
            </a:avLst>
          </a:prstGeom>
          <a:noFill/>
          <a:ln w="9525">
            <a:solidFill>
              <a:schemeClr val="tx1"/>
            </a:solidFill>
            <a:miter lim="800000"/>
            <a:headEnd/>
            <a:tailEnd/>
          </a:ln>
        </p:spPr>
        <p:txBody>
          <a:bodyPr wrap="none" anchor="ctr"/>
          <a:lstStyle/>
          <a:p>
            <a:endParaRPr lang="en-US"/>
          </a:p>
        </p:txBody>
      </p:sp>
      <p:pic>
        <p:nvPicPr>
          <p:cNvPr id="101385" name="Picture 20" descr="txp_fig.png"/>
          <p:cNvPicPr>
            <a:picLocks noChangeAspect="1"/>
          </p:cNvPicPr>
          <p:nvPr>
            <p:custDataLst>
              <p:tags r:id="rId3"/>
            </p:custDataLst>
          </p:nvPr>
        </p:nvPicPr>
        <p:blipFill>
          <a:blip r:embed="rId12" cstate="print"/>
          <a:srcRect/>
          <a:stretch>
            <a:fillRect/>
          </a:stretch>
        </p:blipFill>
        <p:spPr bwMode="auto">
          <a:xfrm>
            <a:off x="4111625" y="3125788"/>
            <a:ext cx="2343150" cy="835025"/>
          </a:xfrm>
          <a:prstGeom prst="rect">
            <a:avLst/>
          </a:prstGeom>
          <a:noFill/>
          <a:ln w="9525">
            <a:noFill/>
            <a:miter lim="800000"/>
            <a:headEnd/>
            <a:tailEnd/>
          </a:ln>
        </p:spPr>
      </p:pic>
      <p:pic>
        <p:nvPicPr>
          <p:cNvPr id="101386" name="Picture 21" descr="txp_fig.png"/>
          <p:cNvPicPr>
            <a:picLocks noChangeAspect="1"/>
          </p:cNvPicPr>
          <p:nvPr>
            <p:custDataLst>
              <p:tags r:id="rId4"/>
            </p:custDataLst>
          </p:nvPr>
        </p:nvPicPr>
        <p:blipFill>
          <a:blip r:embed="rId13" cstate="print"/>
          <a:srcRect/>
          <a:stretch>
            <a:fillRect/>
          </a:stretch>
        </p:blipFill>
        <p:spPr bwMode="auto">
          <a:xfrm>
            <a:off x="4102100" y="4151313"/>
            <a:ext cx="2397125" cy="850900"/>
          </a:xfrm>
          <a:prstGeom prst="rect">
            <a:avLst/>
          </a:prstGeom>
          <a:noFill/>
          <a:ln w="9525">
            <a:noFill/>
            <a:miter lim="800000"/>
            <a:headEnd/>
            <a:tailEnd/>
          </a:ln>
        </p:spPr>
      </p:pic>
      <p:pic>
        <p:nvPicPr>
          <p:cNvPr id="101387" name="Picture 23" descr="txp_fig.png"/>
          <p:cNvPicPr>
            <a:picLocks noChangeAspect="1"/>
          </p:cNvPicPr>
          <p:nvPr>
            <p:custDataLst>
              <p:tags r:id="rId5"/>
            </p:custDataLst>
          </p:nvPr>
        </p:nvPicPr>
        <p:blipFill>
          <a:blip r:embed="rId14" cstate="print"/>
          <a:srcRect/>
          <a:stretch>
            <a:fillRect/>
          </a:stretch>
        </p:blipFill>
        <p:spPr bwMode="auto">
          <a:xfrm>
            <a:off x="4495800" y="5184775"/>
            <a:ext cx="3070225" cy="758825"/>
          </a:xfrm>
          <a:prstGeom prst="rect">
            <a:avLst/>
          </a:prstGeom>
          <a:noFill/>
          <a:ln w="9525">
            <a:noFill/>
            <a:miter lim="800000"/>
            <a:headEnd/>
            <a:tailEnd/>
          </a:ln>
        </p:spPr>
      </p:pic>
      <p:sp>
        <p:nvSpPr>
          <p:cNvPr id="25" name="Rectangle 24"/>
          <p:cNvSpPr>
            <a:spLocks noChangeArrowheads="1"/>
          </p:cNvSpPr>
          <p:nvPr/>
        </p:nvSpPr>
        <p:spPr bwMode="auto">
          <a:xfrm>
            <a:off x="4876800" y="5181600"/>
            <a:ext cx="2819400" cy="914400"/>
          </a:xfrm>
          <a:prstGeom prst="rect">
            <a:avLst/>
          </a:prstGeom>
          <a:solidFill>
            <a:schemeClr val="bg1"/>
          </a:solidFill>
          <a:ln w="9525" algn="ctr">
            <a:noFill/>
            <a:round/>
            <a:headEnd/>
            <a:tailEnd/>
          </a:ln>
        </p:spPr>
        <p:txBody>
          <a:bodyPr/>
          <a:lstStyle/>
          <a:p>
            <a:endParaRPr lang="en-US"/>
          </a:p>
        </p:txBody>
      </p:sp>
      <p:pic>
        <p:nvPicPr>
          <p:cNvPr id="101389" name="Picture 25" descr="txp_fig.png"/>
          <p:cNvPicPr>
            <a:picLocks noChangeAspect="1"/>
          </p:cNvPicPr>
          <p:nvPr>
            <p:custDataLst>
              <p:tags r:id="rId6"/>
            </p:custDataLst>
          </p:nvPr>
        </p:nvPicPr>
        <p:blipFill>
          <a:blip r:embed="rId15" cstate="print"/>
          <a:srcRect/>
          <a:stretch>
            <a:fillRect/>
          </a:stretch>
        </p:blipFill>
        <p:spPr bwMode="auto">
          <a:xfrm>
            <a:off x="839788" y="3125788"/>
            <a:ext cx="1825625" cy="911225"/>
          </a:xfrm>
          <a:prstGeom prst="rect">
            <a:avLst/>
          </a:prstGeom>
          <a:noFill/>
          <a:ln w="9525">
            <a:noFill/>
            <a:miter lim="800000"/>
            <a:headEnd/>
            <a:tailEnd/>
          </a:ln>
        </p:spPr>
      </p:pic>
      <p:pic>
        <p:nvPicPr>
          <p:cNvPr id="28" name="Picture 27" descr="txp_fig.png"/>
          <p:cNvPicPr>
            <a:picLocks noChangeAspect="1"/>
          </p:cNvPicPr>
          <p:nvPr>
            <p:custDataLst>
              <p:tags r:id="rId7"/>
            </p:custDataLst>
          </p:nvPr>
        </p:nvPicPr>
        <p:blipFill>
          <a:blip r:embed="rId16" cstate="print"/>
          <a:srcRect/>
          <a:stretch>
            <a:fillRect/>
          </a:stretch>
        </p:blipFill>
        <p:spPr bwMode="auto">
          <a:xfrm>
            <a:off x="4038600" y="6053138"/>
            <a:ext cx="3160713" cy="347662"/>
          </a:xfrm>
          <a:prstGeom prst="rect">
            <a:avLst/>
          </a:prstGeom>
          <a:noFill/>
          <a:ln w="9525">
            <a:noFill/>
            <a:miter lim="800000"/>
            <a:headEnd/>
            <a:tailEnd/>
          </a:ln>
        </p:spPr>
      </p:pic>
      <p:sp>
        <p:nvSpPr>
          <p:cNvPr id="30" name="TextBox 29"/>
          <p:cNvSpPr txBox="1">
            <a:spLocks noChangeArrowheads="1"/>
          </p:cNvSpPr>
          <p:nvPr/>
        </p:nvSpPr>
        <p:spPr bwMode="auto">
          <a:xfrm>
            <a:off x="6400800" y="4495800"/>
            <a:ext cx="1981200" cy="369888"/>
          </a:xfrm>
          <a:prstGeom prst="rect">
            <a:avLst/>
          </a:prstGeom>
          <a:noFill/>
          <a:ln w="9525">
            <a:noFill/>
            <a:miter lim="800000"/>
            <a:headEnd/>
            <a:tailEnd/>
          </a:ln>
        </p:spPr>
        <p:txBody>
          <a:bodyPr>
            <a:spAutoFit/>
          </a:bodyPr>
          <a:lstStyle/>
          <a:p>
            <a:r>
              <a:rPr lang="en-US" baseline="0"/>
              <a:t>Valid only if </a:t>
            </a:r>
            <a:r>
              <a:rPr lang="en-US" i="1" baseline="0">
                <a:latin typeface="Symbol" pitchFamily="18" charset="2"/>
              </a:rPr>
              <a:t>r</a:t>
            </a:r>
            <a:r>
              <a:rPr lang="en-US" baseline="0"/>
              <a:t> &lt; 1</a:t>
            </a:r>
          </a:p>
        </p:txBody>
      </p:sp>
      <p:cxnSp>
        <p:nvCxnSpPr>
          <p:cNvPr id="32" name="Straight Arrow Connector 31"/>
          <p:cNvCxnSpPr>
            <a:cxnSpLocks noChangeShapeType="1"/>
            <a:stCxn id="30" idx="2"/>
          </p:cNvCxnSpPr>
          <p:nvPr/>
        </p:nvCxnSpPr>
        <p:spPr bwMode="auto">
          <a:xfrm flipH="1">
            <a:off x="6400800" y="4865688"/>
            <a:ext cx="990600" cy="315912"/>
          </a:xfrm>
          <a:prstGeom prst="straightConnector1">
            <a:avLst/>
          </a:prstGeom>
          <a:noFill/>
          <a:ln w="9525" algn="ctr">
            <a:solidFill>
              <a:schemeClr val="tx1"/>
            </a:solidFill>
            <a:round/>
            <a:headEn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Number Placeholder 5"/>
          <p:cNvSpPr>
            <a:spLocks noGrp="1"/>
          </p:cNvSpPr>
          <p:nvPr>
            <p:ph type="sldNum" sz="quarter" idx="12"/>
          </p:nvPr>
        </p:nvSpPr>
        <p:spPr>
          <a:noFill/>
        </p:spPr>
        <p:txBody>
          <a:bodyPr/>
          <a:lstStyle/>
          <a:p>
            <a:fld id="{4F3C912A-4A3A-42CB-94CA-3007077A3874}" type="slidenum">
              <a:rPr lang="en-US" smtClean="0"/>
              <a:pPr/>
              <a:t>28</a:t>
            </a:fld>
            <a:endParaRPr lang="en-US"/>
          </a:p>
        </p:txBody>
      </p:sp>
      <p:sp>
        <p:nvSpPr>
          <p:cNvPr id="102403" name="Rectangle 2"/>
          <p:cNvSpPr>
            <a:spLocks noGrp="1" noChangeArrowheads="1"/>
          </p:cNvSpPr>
          <p:nvPr>
            <p:ph type="title"/>
          </p:nvPr>
        </p:nvSpPr>
        <p:spPr/>
        <p:txBody>
          <a:bodyPr/>
          <a:lstStyle/>
          <a:p>
            <a:pPr eaLnBrk="1" hangingPunct="1"/>
            <a:r>
              <a:rPr lang="en-US"/>
              <a:t>Server Utilization</a:t>
            </a:r>
          </a:p>
        </p:txBody>
      </p:sp>
      <p:sp>
        <p:nvSpPr>
          <p:cNvPr id="300035" name="Rectangle 3"/>
          <p:cNvSpPr>
            <a:spLocks noGrp="1" noChangeArrowheads="1"/>
          </p:cNvSpPr>
          <p:nvPr>
            <p:ph type="body" idx="1"/>
          </p:nvPr>
        </p:nvSpPr>
        <p:spPr>
          <a:xfrm>
            <a:off x="457200" y="1219200"/>
            <a:ext cx="8534400" cy="5029200"/>
          </a:xfrm>
        </p:spPr>
        <p:txBody>
          <a:bodyPr/>
          <a:lstStyle/>
          <a:p>
            <a:pPr eaLnBrk="1" hangingPunct="1"/>
            <a:r>
              <a:rPr lang="en-US">
                <a:sym typeface="Symbol" pitchFamily="18" charset="2"/>
              </a:rPr>
              <a:t>For a queueing system with </a:t>
            </a:r>
            <a:r>
              <a:rPr lang="en-US" i="1">
                <a:sym typeface="Symbol" pitchFamily="18" charset="2"/>
              </a:rPr>
              <a:t>s</a:t>
            </a:r>
            <a:r>
              <a:rPr lang="en-US">
                <a:sym typeface="Symbol" pitchFamily="18" charset="2"/>
              </a:rPr>
              <a:t> identical parallel servers with a service rate of </a:t>
            </a:r>
            <a:r>
              <a:rPr lang="en-US" i="1">
                <a:latin typeface="Symbol" pitchFamily="18" charset="2"/>
                <a:sym typeface="Symbol" pitchFamily="18" charset="2"/>
              </a:rPr>
              <a:t>m </a:t>
            </a:r>
            <a:r>
              <a:rPr lang="en-US">
                <a:sym typeface="Symbol" pitchFamily="18" charset="2"/>
              </a:rPr>
              <a:t>per server and an arrival rate </a:t>
            </a:r>
            <a:r>
              <a:rPr lang="en-US" i="1">
                <a:latin typeface="Symbol" pitchFamily="18" charset="2"/>
                <a:sym typeface="Symbol" pitchFamily="18" charset="2"/>
              </a:rPr>
              <a:t>l</a:t>
            </a:r>
            <a:r>
              <a:rPr lang="en-US" i="1">
                <a:sym typeface="Symbol" pitchFamily="18" charset="2"/>
              </a:rPr>
              <a:t> </a:t>
            </a:r>
            <a:r>
              <a:rPr lang="en-US">
                <a:sym typeface="Symbol" pitchFamily="18" charset="2"/>
              </a:rPr>
              <a:t>of customers, the </a:t>
            </a:r>
            <a:r>
              <a:rPr lang="en-US" i="1">
                <a:sym typeface="Symbol" pitchFamily="18" charset="2"/>
              </a:rPr>
              <a:t>utilization factor</a:t>
            </a:r>
            <a:r>
              <a:rPr lang="en-US">
                <a:sym typeface="Symbol" pitchFamily="18" charset="2"/>
              </a:rPr>
              <a:t> </a:t>
            </a:r>
            <a:r>
              <a:rPr lang="en-US" i="1">
                <a:latin typeface="Symbol" pitchFamily="18" charset="2"/>
                <a:sym typeface="Symbol" pitchFamily="18" charset="2"/>
              </a:rPr>
              <a:t></a:t>
            </a:r>
            <a:r>
              <a:rPr lang="en-US">
                <a:sym typeface="Symbol" pitchFamily="18" charset="2"/>
              </a:rPr>
              <a:t> of the system is given by </a:t>
            </a:r>
            <a:r>
              <a:rPr lang="en-US" i="1">
                <a:latin typeface="Symbol" pitchFamily="18" charset="2"/>
                <a:sym typeface="Symbol" pitchFamily="18" charset="2"/>
              </a:rPr>
              <a:t></a:t>
            </a:r>
            <a:r>
              <a:rPr lang="en-US">
                <a:sym typeface="Symbol" pitchFamily="18" charset="2"/>
              </a:rPr>
              <a:t> =</a:t>
            </a:r>
            <a:r>
              <a:rPr lang="en-US" i="1">
                <a:latin typeface="Symbol" pitchFamily="18" charset="2"/>
                <a:sym typeface="Symbol" pitchFamily="18" charset="2"/>
              </a:rPr>
              <a:t></a:t>
            </a:r>
            <a:r>
              <a:rPr lang="en-US">
                <a:sym typeface="Symbol" pitchFamily="18" charset="2"/>
              </a:rPr>
              <a:t> / (</a:t>
            </a:r>
            <a:r>
              <a:rPr lang="en-US" i="1">
                <a:sym typeface="Symbol" pitchFamily="18" charset="2"/>
              </a:rPr>
              <a:t>s</a:t>
            </a:r>
            <a:r>
              <a:rPr lang="en-US" i="1">
                <a:latin typeface="Symbol" pitchFamily="18" charset="2"/>
                <a:sym typeface="Symbol" pitchFamily="18" charset="2"/>
              </a:rPr>
              <a:t></a:t>
            </a:r>
            <a:r>
              <a:rPr lang="en-US">
                <a:sym typeface="Symbol" pitchFamily="18" charset="2"/>
              </a:rPr>
              <a:t>).</a:t>
            </a:r>
            <a:endParaRPr lang="en-US"/>
          </a:p>
          <a:p>
            <a:pPr eaLnBrk="1" hangingPunct="1"/>
            <a:r>
              <a:rPr lang="en-US"/>
              <a:t>The utilization factor represents the expected proportion of time an individual server is busy.</a:t>
            </a:r>
          </a:p>
          <a:p>
            <a:pPr eaLnBrk="1" hangingPunct="1"/>
            <a:r>
              <a:rPr lang="en-US"/>
              <a:t>Note that </a:t>
            </a:r>
            <a:r>
              <a:rPr lang="en-US" i="1">
                <a:latin typeface="Symbol" pitchFamily="18" charset="2"/>
                <a:sym typeface="Symbol" pitchFamily="18" charset="2"/>
              </a:rPr>
              <a:t></a:t>
            </a:r>
            <a:r>
              <a:rPr lang="en-US">
                <a:sym typeface="Symbol" pitchFamily="18" charset="2"/>
              </a:rPr>
              <a:t> / (</a:t>
            </a:r>
            <a:r>
              <a:rPr lang="en-US" i="1">
                <a:sym typeface="Symbol" pitchFamily="18" charset="2"/>
              </a:rPr>
              <a:t>s</a:t>
            </a:r>
            <a:r>
              <a:rPr lang="en-US" i="1">
                <a:latin typeface="Symbol" pitchFamily="18" charset="2"/>
                <a:sym typeface="Symbol" pitchFamily="18" charset="2"/>
              </a:rPr>
              <a:t></a:t>
            </a:r>
            <a:r>
              <a:rPr lang="en-US">
                <a:sym typeface="Symbol" pitchFamily="18" charset="2"/>
              </a:rPr>
              <a:t>) can be interpreted as the fraction of service capacity </a:t>
            </a:r>
            <a:r>
              <a:rPr lang="en-US" i="1">
                <a:sym typeface="Symbol" pitchFamily="18" charset="2"/>
              </a:rPr>
              <a:t>s</a:t>
            </a:r>
            <a:r>
              <a:rPr lang="en-US" i="1">
                <a:latin typeface="Symbol" pitchFamily="18" charset="2"/>
                <a:sym typeface="Symbol" pitchFamily="18" charset="2"/>
              </a:rPr>
              <a:t></a:t>
            </a:r>
            <a:r>
              <a:rPr lang="en-US">
                <a:sym typeface="Symbol" pitchFamily="18" charset="2"/>
              </a:rPr>
              <a:t> that is being </a:t>
            </a:r>
            <a:r>
              <a:rPr lang="en-US" i="1">
                <a:sym typeface="Symbol" pitchFamily="18" charset="2"/>
              </a:rPr>
              <a:t>utilized</a:t>
            </a:r>
            <a:r>
              <a:rPr lang="en-US">
                <a:sym typeface="Symbol" pitchFamily="18" charset="2"/>
              </a:rPr>
              <a:t> on average by arriving customers.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00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00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00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Number Placeholder 5"/>
          <p:cNvSpPr>
            <a:spLocks noGrp="1"/>
          </p:cNvSpPr>
          <p:nvPr>
            <p:ph type="sldNum" sz="quarter" idx="12"/>
          </p:nvPr>
        </p:nvSpPr>
        <p:spPr>
          <a:noFill/>
        </p:spPr>
        <p:txBody>
          <a:bodyPr/>
          <a:lstStyle/>
          <a:p>
            <a:fld id="{A8C55CFA-D3C1-4B5F-A80B-FFB38EF2379E}" type="slidenum">
              <a:rPr lang="en-US" smtClean="0"/>
              <a:pPr/>
              <a:t>29</a:t>
            </a:fld>
            <a:endParaRPr lang="en-US"/>
          </a:p>
        </p:txBody>
      </p:sp>
      <p:sp>
        <p:nvSpPr>
          <p:cNvPr id="103427" name="Rectangle 2"/>
          <p:cNvSpPr>
            <a:spLocks noGrp="1" noChangeArrowheads="1"/>
          </p:cNvSpPr>
          <p:nvPr>
            <p:ph type="title"/>
          </p:nvPr>
        </p:nvSpPr>
        <p:spPr/>
        <p:txBody>
          <a:bodyPr/>
          <a:lstStyle/>
          <a:p>
            <a:pPr eaLnBrk="1" hangingPunct="1"/>
            <a:r>
              <a:rPr lang="en-US" sz="4000"/>
              <a:t>Existence of a </a:t>
            </a:r>
            <a:br>
              <a:rPr lang="en-US" sz="4000"/>
            </a:br>
            <a:r>
              <a:rPr lang="en-US" sz="4000"/>
              <a:t>Steady-State for </a:t>
            </a:r>
            <a:r>
              <a:rPr lang="en-US" sz="4000" i="1"/>
              <a:t>M</a:t>
            </a:r>
            <a:r>
              <a:rPr lang="en-US" sz="4000"/>
              <a:t>/</a:t>
            </a:r>
            <a:r>
              <a:rPr lang="en-US" sz="4000" i="1"/>
              <a:t>M</a:t>
            </a:r>
            <a:r>
              <a:rPr lang="en-US" sz="4000"/>
              <a:t>/1</a:t>
            </a:r>
          </a:p>
        </p:txBody>
      </p:sp>
      <p:sp>
        <p:nvSpPr>
          <p:cNvPr id="300035" name="Rectangle 3"/>
          <p:cNvSpPr>
            <a:spLocks noGrp="1" noChangeArrowheads="1"/>
          </p:cNvSpPr>
          <p:nvPr>
            <p:ph type="body" idx="1"/>
          </p:nvPr>
        </p:nvSpPr>
        <p:spPr>
          <a:xfrm>
            <a:off x="457200" y="2819400"/>
            <a:ext cx="8534400" cy="3352800"/>
          </a:xfrm>
        </p:spPr>
        <p:txBody>
          <a:bodyPr/>
          <a:lstStyle/>
          <a:p>
            <a:pPr eaLnBrk="1" hangingPunct="1"/>
            <a:r>
              <a:rPr lang="en-US">
                <a:sym typeface="Symbol" pitchFamily="18" charset="2"/>
              </a:rPr>
              <a:t>The steady-state distribution does only exist if </a:t>
            </a:r>
          </a:p>
          <a:p>
            <a:pPr eaLnBrk="1" hangingPunct="1"/>
            <a:r>
              <a:rPr lang="en-US">
                <a:sym typeface="Symbol" pitchFamily="18" charset="2"/>
              </a:rPr>
              <a:t>This makes a lot of sense! </a:t>
            </a:r>
            <a:r>
              <a:rPr lang="en-US" i="1">
                <a:latin typeface="Symbol" pitchFamily="18" charset="2"/>
                <a:sym typeface="Symbol" pitchFamily="18" charset="2"/>
              </a:rPr>
              <a:t>r</a:t>
            </a:r>
            <a:r>
              <a:rPr lang="en-US">
                <a:sym typeface="Symbol" pitchFamily="18" charset="2"/>
              </a:rPr>
              <a:t> is the server utilization, and no steady-state exists if the server cannot keep up with the arrival of the customers.</a:t>
            </a:r>
          </a:p>
          <a:p>
            <a:pPr lvl="1" eaLnBrk="1" hangingPunct="1"/>
            <a:r>
              <a:rPr lang="en-US">
                <a:sym typeface="Symbol" pitchFamily="18" charset="2"/>
              </a:rPr>
              <a:t>What happens to the queue length in this case?</a:t>
            </a:r>
          </a:p>
        </p:txBody>
      </p:sp>
      <p:pic>
        <p:nvPicPr>
          <p:cNvPr id="103429" name="Picture 4" descr="txp_fig.png"/>
          <p:cNvPicPr>
            <a:picLocks noChangeAspect="1"/>
          </p:cNvPicPr>
          <p:nvPr>
            <p:custDataLst>
              <p:tags r:id="rId1"/>
            </p:custDataLst>
          </p:nvPr>
        </p:nvPicPr>
        <p:blipFill>
          <a:blip r:embed="rId7" cstate="print"/>
          <a:srcRect/>
          <a:stretch>
            <a:fillRect/>
          </a:stretch>
        </p:blipFill>
        <p:spPr bwMode="auto">
          <a:xfrm>
            <a:off x="1130300" y="1433513"/>
            <a:ext cx="2397125" cy="852487"/>
          </a:xfrm>
          <a:prstGeom prst="rect">
            <a:avLst/>
          </a:prstGeom>
          <a:noFill/>
          <a:ln w="9525">
            <a:noFill/>
            <a:miter lim="800000"/>
            <a:headEnd/>
            <a:tailEnd/>
          </a:ln>
        </p:spPr>
      </p:pic>
      <p:pic>
        <p:nvPicPr>
          <p:cNvPr id="103430" name="Picture 6" descr="txp_fig.png"/>
          <p:cNvPicPr>
            <a:picLocks noChangeAspect="1"/>
          </p:cNvPicPr>
          <p:nvPr>
            <p:custDataLst>
              <p:tags r:id="rId2"/>
            </p:custDataLst>
          </p:nvPr>
        </p:nvPicPr>
        <p:blipFill>
          <a:blip r:embed="rId8" cstate="print"/>
          <a:srcRect/>
          <a:stretch>
            <a:fillRect/>
          </a:stretch>
        </p:blipFill>
        <p:spPr bwMode="auto">
          <a:xfrm>
            <a:off x="1182688" y="2471738"/>
            <a:ext cx="3160712" cy="347662"/>
          </a:xfrm>
          <a:prstGeom prst="rect">
            <a:avLst/>
          </a:prstGeom>
          <a:noFill/>
          <a:ln w="9525">
            <a:noFill/>
            <a:miter lim="800000"/>
            <a:headEnd/>
            <a:tailEnd/>
          </a:ln>
        </p:spPr>
      </p:pic>
      <p:pic>
        <p:nvPicPr>
          <p:cNvPr id="103431" name="Picture 7" descr="txp_fig.png"/>
          <p:cNvPicPr>
            <a:picLocks noChangeAspect="1"/>
          </p:cNvPicPr>
          <p:nvPr>
            <p:custDataLst>
              <p:tags r:id="rId3"/>
            </p:custDataLst>
          </p:nvPr>
        </p:nvPicPr>
        <p:blipFill>
          <a:blip r:embed="rId9" cstate="print"/>
          <a:srcRect/>
          <a:stretch>
            <a:fillRect/>
          </a:stretch>
        </p:blipFill>
        <p:spPr bwMode="auto">
          <a:xfrm>
            <a:off x="3559175" y="1509713"/>
            <a:ext cx="3070225" cy="758825"/>
          </a:xfrm>
          <a:prstGeom prst="rect">
            <a:avLst/>
          </a:prstGeom>
          <a:noFill/>
          <a:ln w="9525">
            <a:noFill/>
            <a:miter lim="800000"/>
            <a:headEnd/>
            <a:tailEnd/>
          </a:ln>
        </p:spPr>
      </p:pic>
      <p:pic>
        <p:nvPicPr>
          <p:cNvPr id="103432" name="Picture 9" descr="txp_fig.png"/>
          <p:cNvPicPr>
            <a:picLocks noChangeAspect="1"/>
          </p:cNvPicPr>
          <p:nvPr>
            <p:custDataLst>
              <p:tags r:id="rId4"/>
            </p:custDataLst>
          </p:nvPr>
        </p:nvPicPr>
        <p:blipFill>
          <a:blip r:embed="rId10" cstate="print"/>
          <a:srcRect/>
          <a:stretch>
            <a:fillRect/>
          </a:stretch>
        </p:blipFill>
        <p:spPr bwMode="auto">
          <a:xfrm>
            <a:off x="1295400" y="3316288"/>
            <a:ext cx="1792288" cy="56991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003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00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Number Placeholder 5"/>
          <p:cNvSpPr>
            <a:spLocks noGrp="1"/>
          </p:cNvSpPr>
          <p:nvPr>
            <p:ph type="sldNum" sz="quarter" idx="12"/>
          </p:nvPr>
        </p:nvSpPr>
        <p:spPr>
          <a:noFill/>
        </p:spPr>
        <p:txBody>
          <a:bodyPr/>
          <a:lstStyle/>
          <a:p>
            <a:fld id="{586E1D21-8EA7-498C-953C-426FA586DCD0}" type="slidenum">
              <a:rPr lang="en-US" smtClean="0"/>
              <a:pPr/>
              <a:t>30</a:t>
            </a:fld>
            <a:endParaRPr lang="en-US"/>
          </a:p>
        </p:txBody>
      </p:sp>
      <p:sp>
        <p:nvSpPr>
          <p:cNvPr id="104451" name="Rectangle 2"/>
          <p:cNvSpPr>
            <a:spLocks noGrp="1" noChangeArrowheads="1"/>
          </p:cNvSpPr>
          <p:nvPr>
            <p:ph type="title"/>
          </p:nvPr>
        </p:nvSpPr>
        <p:spPr>
          <a:xfrm>
            <a:off x="457200" y="274638"/>
            <a:ext cx="8382000" cy="1143000"/>
          </a:xfrm>
        </p:spPr>
        <p:txBody>
          <a:bodyPr/>
          <a:lstStyle/>
          <a:p>
            <a:pPr eaLnBrk="1" hangingPunct="1"/>
            <a:r>
              <a:rPr lang="en-US" sz="4000"/>
              <a:t>Steady-State Probabilities for </a:t>
            </a:r>
            <a:r>
              <a:rPr lang="en-US" sz="4000" i="1"/>
              <a:t>M</a:t>
            </a:r>
            <a:r>
              <a:rPr lang="en-US" sz="4000"/>
              <a:t>/</a:t>
            </a:r>
            <a:r>
              <a:rPr lang="en-US" sz="4000" i="1"/>
              <a:t>M</a:t>
            </a:r>
            <a:r>
              <a:rPr lang="en-US" sz="4000"/>
              <a:t>/1</a:t>
            </a:r>
          </a:p>
        </p:txBody>
      </p:sp>
      <p:sp>
        <p:nvSpPr>
          <p:cNvPr id="390147" name="Rectangle 3"/>
          <p:cNvSpPr>
            <a:spLocks noGrp="1" noChangeArrowheads="1"/>
          </p:cNvSpPr>
          <p:nvPr>
            <p:ph type="body" idx="1"/>
          </p:nvPr>
        </p:nvSpPr>
        <p:spPr>
          <a:xfrm>
            <a:off x="457200" y="2514600"/>
            <a:ext cx="8458200" cy="4343400"/>
          </a:xfrm>
        </p:spPr>
        <p:txBody>
          <a:bodyPr/>
          <a:lstStyle/>
          <a:p>
            <a:pPr eaLnBrk="1" hangingPunct="1"/>
            <a:r>
              <a:rPr lang="en-US" dirty="0"/>
              <a:t>Why does this formula make sense? </a:t>
            </a:r>
          </a:p>
          <a:p>
            <a:pPr eaLnBrk="1" hangingPunct="1"/>
            <a:r>
              <a:rPr lang="en-US" dirty="0"/>
              <a:t>What is </a:t>
            </a:r>
            <a:r>
              <a:rPr lang="en-US" i="1" dirty="0">
                <a:latin typeface="Symbol" pitchFamily="18" charset="2"/>
                <a:sym typeface="Symbol" pitchFamily="18" charset="2"/>
              </a:rPr>
              <a:t></a:t>
            </a:r>
            <a:r>
              <a:rPr lang="en-US" dirty="0"/>
              <a:t>?</a:t>
            </a:r>
          </a:p>
          <a:p>
            <a:pPr lvl="1" eaLnBrk="1" hangingPunct="1"/>
            <a:r>
              <a:rPr lang="en-US" dirty="0"/>
              <a:t>Utilization of the server.</a:t>
            </a:r>
          </a:p>
          <a:p>
            <a:pPr lvl="1" eaLnBrk="1" hangingPunct="1"/>
            <a:r>
              <a:rPr lang="en-US" dirty="0"/>
              <a:t>Utilization is the long run proportion of time the server is busy.</a:t>
            </a:r>
          </a:p>
          <a:p>
            <a:pPr lvl="1" eaLnBrk="1" hangingPunct="1"/>
            <a:r>
              <a:rPr lang="en-US" dirty="0"/>
              <a:t>The server is busy whenever </a:t>
            </a:r>
            <a:r>
              <a:rPr lang="en-US" i="1" dirty="0"/>
              <a:t>n</a:t>
            </a:r>
            <a:r>
              <a:rPr lang="en-US" dirty="0"/>
              <a:t> </a:t>
            </a:r>
            <a:r>
              <a:rPr lang="en-US" dirty="0">
                <a:latin typeface="cmsy10" pitchFamily="34" charset="0"/>
                <a:cs typeface="Arial"/>
              </a:rPr>
              <a:t>≥</a:t>
            </a:r>
            <a:r>
              <a:rPr lang="en-US" dirty="0"/>
              <a:t> 1.</a:t>
            </a:r>
          </a:p>
          <a:p>
            <a:pPr lvl="1" eaLnBrk="1" hangingPunct="1"/>
            <a:r>
              <a:rPr lang="en-US" dirty="0"/>
              <a:t>So, there is nobody in the system only when the server is idle.</a:t>
            </a:r>
          </a:p>
        </p:txBody>
      </p:sp>
      <p:pic>
        <p:nvPicPr>
          <p:cNvPr id="104453" name="Picture 5" descr="txp_fig.png"/>
          <p:cNvPicPr>
            <a:picLocks noChangeAspect="1"/>
          </p:cNvPicPr>
          <p:nvPr>
            <p:custDataLst>
              <p:tags r:id="rId1"/>
            </p:custDataLst>
          </p:nvPr>
        </p:nvPicPr>
        <p:blipFill>
          <a:blip r:embed="rId4" cstate="print"/>
          <a:srcRect/>
          <a:stretch>
            <a:fillRect/>
          </a:stretch>
        </p:blipFill>
        <p:spPr bwMode="auto">
          <a:xfrm>
            <a:off x="839788" y="1622425"/>
            <a:ext cx="2155825" cy="4127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0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0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0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0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01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01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7" name="Rectangle 3"/>
          <p:cNvSpPr>
            <a:spLocks noGrp="1" noChangeArrowheads="1"/>
          </p:cNvSpPr>
          <p:nvPr>
            <p:ph type="body" idx="1"/>
          </p:nvPr>
        </p:nvSpPr>
        <p:spPr>
          <a:xfrm>
            <a:off x="457200" y="1600200"/>
            <a:ext cx="8686800" cy="5029200"/>
          </a:xfrm>
        </p:spPr>
        <p:txBody>
          <a:bodyPr/>
          <a:lstStyle/>
          <a:p>
            <a:pPr eaLnBrk="1" hangingPunct="1"/>
            <a:r>
              <a:rPr lang="en-US"/>
              <a:t>In a steady-state condition</a:t>
            </a:r>
          </a:p>
          <a:p>
            <a:pPr lvl="1" eaLnBrk="1" hangingPunct="1"/>
            <a:r>
              <a:rPr lang="en-US" i="1"/>
              <a:t> </a:t>
            </a:r>
            <a:r>
              <a:rPr lang="en-US" i="1">
                <a:latin typeface="Symbol" pitchFamily="18" charset="2"/>
              </a:rPr>
              <a:t>p</a:t>
            </a:r>
            <a:r>
              <a:rPr lang="en-US" i="1" baseline="-25000"/>
              <a:t>n</a:t>
            </a:r>
            <a:r>
              <a:rPr lang="en-US"/>
              <a:t> = probability of having exactly </a:t>
            </a:r>
            <a:r>
              <a:rPr lang="en-US" i="1"/>
              <a:t>n</a:t>
            </a:r>
            <a:r>
              <a:rPr lang="en-US"/>
              <a:t> customers in the system.</a:t>
            </a:r>
          </a:p>
          <a:p>
            <a:pPr lvl="1" eaLnBrk="1" hangingPunct="1"/>
            <a:r>
              <a:rPr lang="en-US" i="1"/>
              <a:t>L</a:t>
            </a:r>
            <a:r>
              <a:rPr lang="en-US"/>
              <a:t> = expected number of customers in the system = </a:t>
            </a:r>
          </a:p>
          <a:p>
            <a:pPr lvl="1" eaLnBrk="1" hangingPunct="1"/>
            <a:endParaRPr lang="en-US"/>
          </a:p>
          <a:p>
            <a:pPr lvl="1" eaLnBrk="1" hangingPunct="1"/>
            <a:r>
              <a:rPr lang="en-US" i="1"/>
              <a:t>L</a:t>
            </a:r>
            <a:r>
              <a:rPr lang="en-US" i="1" baseline="-25000"/>
              <a:t>q</a:t>
            </a:r>
            <a:r>
              <a:rPr lang="en-US"/>
              <a:t> = expected queue length =  </a:t>
            </a:r>
          </a:p>
          <a:p>
            <a:pPr lvl="1" eaLnBrk="1" hangingPunct="1"/>
            <a:r>
              <a:rPr lang="en-US"/>
              <a:t>E(time in the system for each customer) = </a:t>
            </a:r>
            <a:r>
              <a:rPr lang="en-US" i="1"/>
              <a:t>W</a:t>
            </a:r>
          </a:p>
          <a:p>
            <a:pPr lvl="1" eaLnBrk="1" hangingPunct="1"/>
            <a:r>
              <a:rPr lang="en-US"/>
              <a:t>E(time in the queue for each customer) = </a:t>
            </a:r>
            <a:r>
              <a:rPr lang="en-US" i="1"/>
              <a:t>W</a:t>
            </a:r>
            <a:r>
              <a:rPr lang="en-US" i="1" baseline="-25000"/>
              <a:t>q</a:t>
            </a:r>
          </a:p>
        </p:txBody>
      </p:sp>
      <p:sp>
        <p:nvSpPr>
          <p:cNvPr id="105475" name="Slide Number Placeholder 5"/>
          <p:cNvSpPr>
            <a:spLocks noGrp="1"/>
          </p:cNvSpPr>
          <p:nvPr>
            <p:ph type="sldNum" sz="quarter" idx="12"/>
          </p:nvPr>
        </p:nvSpPr>
        <p:spPr>
          <a:noFill/>
        </p:spPr>
        <p:txBody>
          <a:bodyPr/>
          <a:lstStyle/>
          <a:p>
            <a:fld id="{BB5F954D-B51A-4C17-8FEE-474F35791496}" type="slidenum">
              <a:rPr lang="en-US" smtClean="0"/>
              <a:pPr/>
              <a:t>31</a:t>
            </a:fld>
            <a:endParaRPr lang="en-US"/>
          </a:p>
        </p:txBody>
      </p:sp>
      <p:sp>
        <p:nvSpPr>
          <p:cNvPr id="105476" name="Rectangle 2"/>
          <p:cNvSpPr>
            <a:spLocks noGrp="1" noChangeArrowheads="1"/>
          </p:cNvSpPr>
          <p:nvPr>
            <p:ph type="title"/>
          </p:nvPr>
        </p:nvSpPr>
        <p:spPr/>
        <p:txBody>
          <a:bodyPr/>
          <a:lstStyle/>
          <a:p>
            <a:pPr eaLnBrk="1" hangingPunct="1"/>
            <a:r>
              <a:rPr lang="en-US"/>
              <a:t>Steady-State Condition</a:t>
            </a:r>
          </a:p>
        </p:txBody>
      </p:sp>
      <p:pic>
        <p:nvPicPr>
          <p:cNvPr id="7" name="Picture 6" descr="txp_fig.png"/>
          <p:cNvPicPr>
            <a:picLocks noChangeAspect="1"/>
          </p:cNvPicPr>
          <p:nvPr>
            <p:custDataLst>
              <p:tags r:id="rId1"/>
            </p:custDataLst>
          </p:nvPr>
        </p:nvPicPr>
        <p:blipFill>
          <a:blip r:embed="rId5" cstate="print"/>
          <a:srcRect/>
          <a:stretch>
            <a:fillRect/>
          </a:stretch>
        </p:blipFill>
        <p:spPr bwMode="auto">
          <a:xfrm>
            <a:off x="1676400" y="3602038"/>
            <a:ext cx="1143000" cy="771525"/>
          </a:xfrm>
          <a:prstGeom prst="rect">
            <a:avLst/>
          </a:prstGeom>
          <a:noFill/>
          <a:ln w="9525">
            <a:noFill/>
            <a:miter lim="800000"/>
            <a:headEnd/>
            <a:tailEnd/>
          </a:ln>
        </p:spPr>
      </p:pic>
      <p:pic>
        <p:nvPicPr>
          <p:cNvPr id="8" name="Picture 7" descr="txp_fig.png"/>
          <p:cNvPicPr>
            <a:picLocks noChangeAspect="1"/>
          </p:cNvPicPr>
          <p:nvPr>
            <p:custDataLst>
              <p:tags r:id="rId2"/>
            </p:custDataLst>
          </p:nvPr>
        </p:nvPicPr>
        <p:blipFill>
          <a:blip r:embed="rId6" cstate="print"/>
          <a:srcRect/>
          <a:stretch>
            <a:fillRect/>
          </a:stretch>
        </p:blipFill>
        <p:spPr bwMode="auto">
          <a:xfrm>
            <a:off x="6013450" y="4418013"/>
            <a:ext cx="1917700" cy="739775"/>
          </a:xfrm>
          <a:prstGeom prst="rect">
            <a:avLst/>
          </a:prstGeom>
          <a:noFill/>
          <a:ln w="9525">
            <a:noFill/>
            <a:miter lim="800000"/>
            <a:headEnd/>
            <a:tailEnd/>
          </a:ln>
        </p:spPr>
      </p:pic>
      <p:sp>
        <p:nvSpPr>
          <p:cNvPr id="9" name="TextBox 8"/>
          <p:cNvSpPr txBox="1">
            <a:spLocks noChangeArrowheads="1"/>
          </p:cNvSpPr>
          <p:nvPr/>
        </p:nvSpPr>
        <p:spPr bwMode="auto">
          <a:xfrm>
            <a:off x="533400" y="5903893"/>
            <a:ext cx="8077200" cy="954107"/>
          </a:xfrm>
          <a:prstGeom prst="rect">
            <a:avLst/>
          </a:prstGeom>
          <a:noFill/>
          <a:ln w="9525">
            <a:noFill/>
            <a:miter lim="800000"/>
            <a:headEnd/>
            <a:tailEnd/>
          </a:ln>
        </p:spPr>
        <p:txBody>
          <a:bodyPr wrap="square">
            <a:spAutoFit/>
          </a:bodyPr>
          <a:lstStyle/>
          <a:p>
            <a:pPr algn="ctr"/>
            <a:r>
              <a:rPr lang="en-US" sz="4200" dirty="0">
                <a:solidFill>
                  <a:srgbClr val="FF0000"/>
                </a:solidFill>
              </a:rPr>
              <a:t>The four quantities </a:t>
            </a:r>
            <a:r>
              <a:rPr lang="en-US" sz="4200" i="1" dirty="0">
                <a:solidFill>
                  <a:srgbClr val="FF0000"/>
                </a:solidFill>
              </a:rPr>
              <a:t>L</a:t>
            </a:r>
            <a:r>
              <a:rPr lang="en-US" sz="4200" dirty="0">
                <a:solidFill>
                  <a:srgbClr val="FF0000"/>
                </a:solidFill>
              </a:rPr>
              <a:t>, </a:t>
            </a:r>
            <a:r>
              <a:rPr lang="en-US" sz="4200" i="1" dirty="0" err="1">
                <a:solidFill>
                  <a:srgbClr val="FF0000"/>
                </a:solidFill>
              </a:rPr>
              <a:t>L</a:t>
            </a:r>
            <a:r>
              <a:rPr lang="en-US" sz="4200" i="1" baseline="-50000" dirty="0" err="1">
                <a:solidFill>
                  <a:srgbClr val="FF0000"/>
                </a:solidFill>
              </a:rPr>
              <a:t>q</a:t>
            </a:r>
            <a:r>
              <a:rPr lang="en-US" sz="4200" dirty="0">
                <a:solidFill>
                  <a:srgbClr val="FF0000"/>
                </a:solidFill>
              </a:rPr>
              <a:t>, </a:t>
            </a:r>
            <a:r>
              <a:rPr lang="en-US" sz="4200" i="1" dirty="0">
                <a:solidFill>
                  <a:srgbClr val="FF0000"/>
                </a:solidFill>
              </a:rPr>
              <a:t>W</a:t>
            </a:r>
            <a:r>
              <a:rPr lang="en-US" sz="4200" dirty="0">
                <a:solidFill>
                  <a:srgbClr val="FF0000"/>
                </a:solidFill>
              </a:rPr>
              <a:t>, </a:t>
            </a:r>
            <a:r>
              <a:rPr lang="en-US" sz="4200" i="1" dirty="0" err="1">
                <a:solidFill>
                  <a:srgbClr val="FF0000"/>
                </a:solidFill>
              </a:rPr>
              <a:t>W</a:t>
            </a:r>
            <a:r>
              <a:rPr lang="en-US" sz="4200" i="1" baseline="-50000" dirty="0" err="1">
                <a:solidFill>
                  <a:srgbClr val="FF0000"/>
                </a:solidFill>
              </a:rPr>
              <a:t>q</a:t>
            </a:r>
            <a:r>
              <a:rPr lang="en-US" sz="4200" dirty="0">
                <a:solidFill>
                  <a:srgbClr val="FF0000"/>
                </a:solidFill>
              </a:rPr>
              <a:t> are fundamental in the analysis of </a:t>
            </a:r>
            <a:r>
              <a:rPr lang="en-US" sz="4200" dirty="0" err="1">
                <a:solidFill>
                  <a:srgbClr val="FF0000"/>
                </a:solidFill>
              </a:rPr>
              <a:t>queueing</a:t>
            </a:r>
            <a:r>
              <a:rPr lang="en-US" sz="4200" dirty="0">
                <a:solidFill>
                  <a:srgbClr val="FF0000"/>
                </a:solidFill>
              </a:rPr>
              <a:t> systems.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822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822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822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822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7" grpId="0" uiExpand="1" build="p"/>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Number Placeholder 5"/>
          <p:cNvSpPr>
            <a:spLocks noGrp="1"/>
          </p:cNvSpPr>
          <p:nvPr>
            <p:ph type="sldNum" sz="quarter" idx="12"/>
          </p:nvPr>
        </p:nvSpPr>
        <p:spPr>
          <a:noFill/>
        </p:spPr>
        <p:txBody>
          <a:bodyPr/>
          <a:lstStyle/>
          <a:p>
            <a:fld id="{ABC7E222-6A21-4E67-931F-E32B59F386B8}" type="slidenum">
              <a:rPr lang="en-US" smtClean="0"/>
              <a:pPr/>
              <a:t>32</a:t>
            </a:fld>
            <a:endParaRPr lang="en-US"/>
          </a:p>
        </p:txBody>
      </p:sp>
      <p:sp>
        <p:nvSpPr>
          <p:cNvPr id="106499" name="Rectangle 2"/>
          <p:cNvSpPr>
            <a:spLocks noGrp="1" noChangeArrowheads="1"/>
          </p:cNvSpPr>
          <p:nvPr>
            <p:ph type="title"/>
          </p:nvPr>
        </p:nvSpPr>
        <p:spPr/>
        <p:txBody>
          <a:bodyPr/>
          <a:lstStyle/>
          <a:p>
            <a:pPr eaLnBrk="1" hangingPunct="1"/>
            <a:r>
              <a:rPr lang="en-US"/>
              <a:t>Little’s Law</a:t>
            </a:r>
          </a:p>
        </p:txBody>
      </p:sp>
      <p:sp>
        <p:nvSpPr>
          <p:cNvPr id="309251" name="Rectangle 3"/>
          <p:cNvSpPr>
            <a:spLocks noGrp="1" noChangeArrowheads="1"/>
          </p:cNvSpPr>
          <p:nvPr>
            <p:ph type="body" idx="1"/>
          </p:nvPr>
        </p:nvSpPr>
        <p:spPr>
          <a:xfrm>
            <a:off x="457200" y="1600200"/>
            <a:ext cx="8229600" cy="4953000"/>
          </a:xfrm>
        </p:spPr>
        <p:txBody>
          <a:bodyPr/>
          <a:lstStyle/>
          <a:p>
            <a:pPr eaLnBrk="1" hangingPunct="1"/>
            <a:r>
              <a:rPr lang="en-US" i="1"/>
              <a:t>L</a:t>
            </a:r>
            <a:r>
              <a:rPr lang="en-US"/>
              <a:t> = </a:t>
            </a:r>
            <a:r>
              <a:rPr lang="en-US" i="1">
                <a:latin typeface="Symbol" pitchFamily="18" charset="2"/>
                <a:sym typeface="Symbol" pitchFamily="18" charset="2"/>
              </a:rPr>
              <a:t></a:t>
            </a:r>
            <a:r>
              <a:rPr lang="en-US" i="1"/>
              <a:t>W</a:t>
            </a:r>
          </a:p>
          <a:p>
            <a:pPr eaLnBrk="1" hangingPunct="1"/>
            <a:r>
              <a:rPr lang="en-US"/>
              <a:t>In other words, the expected number of customers in the system is the product of their mean arrival rate and the expected time a customer spends in the system.</a:t>
            </a:r>
          </a:p>
          <a:p>
            <a:pPr eaLnBrk="1" hangingPunct="1"/>
            <a:r>
              <a:rPr lang="en-US"/>
              <a:t>Little’s formula does also apply to the queue.</a:t>
            </a:r>
          </a:p>
          <a:p>
            <a:pPr lvl="1" eaLnBrk="1" hangingPunct="1"/>
            <a:r>
              <a:rPr lang="en-US" i="1"/>
              <a:t>L</a:t>
            </a:r>
            <a:r>
              <a:rPr lang="en-US" i="1" baseline="-25000"/>
              <a:t>q</a:t>
            </a:r>
            <a:r>
              <a:rPr lang="en-US"/>
              <a:t> = </a:t>
            </a:r>
            <a:r>
              <a:rPr lang="en-US" i="1">
                <a:latin typeface="Symbol" pitchFamily="18" charset="2"/>
                <a:sym typeface="Symbol" pitchFamily="18" charset="2"/>
              </a:rPr>
              <a:t></a:t>
            </a:r>
            <a:r>
              <a:rPr lang="en-US" i="1"/>
              <a:t>W</a:t>
            </a:r>
            <a:r>
              <a:rPr lang="en-US" i="1" baseline="-25000"/>
              <a:t>q</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9251">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92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Number Placeholder 5"/>
          <p:cNvSpPr>
            <a:spLocks noGrp="1"/>
          </p:cNvSpPr>
          <p:nvPr>
            <p:ph type="sldNum" sz="quarter" idx="12"/>
          </p:nvPr>
        </p:nvSpPr>
        <p:spPr>
          <a:noFill/>
        </p:spPr>
        <p:txBody>
          <a:bodyPr/>
          <a:lstStyle/>
          <a:p>
            <a:fld id="{211B6916-D296-445E-B972-1A624F0BBE9F}" type="slidenum">
              <a:rPr lang="en-US" smtClean="0"/>
              <a:pPr/>
              <a:t>33</a:t>
            </a:fld>
            <a:endParaRPr lang="en-US"/>
          </a:p>
        </p:txBody>
      </p:sp>
      <p:sp>
        <p:nvSpPr>
          <p:cNvPr id="107523" name="Rectangle 2"/>
          <p:cNvSpPr>
            <a:spLocks noGrp="1" noChangeArrowheads="1"/>
          </p:cNvSpPr>
          <p:nvPr>
            <p:ph type="title"/>
          </p:nvPr>
        </p:nvSpPr>
        <p:spPr/>
        <p:txBody>
          <a:bodyPr/>
          <a:lstStyle/>
          <a:p>
            <a:pPr eaLnBrk="1" hangingPunct="1"/>
            <a:r>
              <a:rPr lang="en-US"/>
              <a:t>Little’s Law</a:t>
            </a:r>
          </a:p>
        </p:txBody>
      </p:sp>
      <p:sp>
        <p:nvSpPr>
          <p:cNvPr id="311299" name="Rectangle 3"/>
          <p:cNvSpPr>
            <a:spLocks noGrp="1" noChangeArrowheads="1"/>
          </p:cNvSpPr>
          <p:nvPr>
            <p:ph type="body" idx="1"/>
          </p:nvPr>
        </p:nvSpPr>
        <p:spPr>
          <a:xfrm>
            <a:off x="457200" y="1600200"/>
            <a:ext cx="8229600" cy="5029200"/>
          </a:xfrm>
        </p:spPr>
        <p:txBody>
          <a:bodyPr/>
          <a:lstStyle/>
          <a:p>
            <a:pPr eaLnBrk="1" hangingPunct="1"/>
            <a:r>
              <a:rPr lang="en-US"/>
              <a:t>Little’s law is very powerful, and it applies to almost all queueing models regardless of the arrival process, the number of servers or the queue discipline.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129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9"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Number Placeholder 5"/>
          <p:cNvSpPr>
            <a:spLocks noGrp="1"/>
          </p:cNvSpPr>
          <p:nvPr>
            <p:ph type="sldNum" sz="quarter" idx="12"/>
          </p:nvPr>
        </p:nvSpPr>
        <p:spPr>
          <a:noFill/>
        </p:spPr>
        <p:txBody>
          <a:bodyPr/>
          <a:lstStyle/>
          <a:p>
            <a:fld id="{1E13D49A-CF1E-415F-980C-2EF590A7C79C}" type="slidenum">
              <a:rPr lang="en-US" smtClean="0"/>
              <a:pPr/>
              <a:t>34</a:t>
            </a:fld>
            <a:endParaRPr lang="en-US"/>
          </a:p>
        </p:txBody>
      </p:sp>
      <p:sp>
        <p:nvSpPr>
          <p:cNvPr id="108547" name="Rectangle 2"/>
          <p:cNvSpPr>
            <a:spLocks noGrp="1" noChangeArrowheads="1"/>
          </p:cNvSpPr>
          <p:nvPr>
            <p:ph type="title"/>
          </p:nvPr>
        </p:nvSpPr>
        <p:spPr/>
        <p:txBody>
          <a:bodyPr/>
          <a:lstStyle/>
          <a:p>
            <a:pPr eaLnBrk="1" hangingPunct="1"/>
            <a:r>
              <a:rPr lang="en-US"/>
              <a:t>Expected Time in Queue</a:t>
            </a:r>
          </a:p>
        </p:txBody>
      </p:sp>
      <p:sp>
        <p:nvSpPr>
          <p:cNvPr id="312323" name="Rectangle 3"/>
          <p:cNvSpPr>
            <a:spLocks noGrp="1" noChangeArrowheads="1"/>
          </p:cNvSpPr>
          <p:nvPr>
            <p:ph type="body" idx="1"/>
          </p:nvPr>
        </p:nvSpPr>
        <p:spPr>
          <a:xfrm>
            <a:off x="457200" y="1600200"/>
            <a:ext cx="8229600" cy="4800600"/>
          </a:xfrm>
        </p:spPr>
        <p:txBody>
          <a:bodyPr/>
          <a:lstStyle/>
          <a:p>
            <a:pPr eaLnBrk="1" hangingPunct="1"/>
            <a:r>
              <a:rPr lang="en-US"/>
              <a:t>What is the relationship between the expected time </a:t>
            </a:r>
            <a:r>
              <a:rPr lang="en-US" i="1"/>
              <a:t>W</a:t>
            </a:r>
            <a:r>
              <a:rPr lang="en-US"/>
              <a:t> in the system, the mean service time 1 / </a:t>
            </a:r>
            <a:r>
              <a:rPr lang="en-US" i="1">
                <a:latin typeface="Symbol" pitchFamily="18" charset="2"/>
                <a:sym typeface="Symbol" pitchFamily="18" charset="2"/>
              </a:rPr>
              <a:t></a:t>
            </a:r>
            <a:r>
              <a:rPr lang="en-US"/>
              <a:t> and the expected time </a:t>
            </a:r>
            <a:r>
              <a:rPr lang="en-US" i="1"/>
              <a:t>W</a:t>
            </a:r>
            <a:r>
              <a:rPr lang="en-US" i="1" baseline="-25000"/>
              <a:t>q</a:t>
            </a:r>
            <a:r>
              <a:rPr lang="en-US"/>
              <a:t> in the queue?</a:t>
            </a:r>
          </a:p>
          <a:p>
            <a:pPr lvl="1" eaLnBrk="1" hangingPunct="1"/>
            <a:r>
              <a:rPr lang="en-US" i="1"/>
              <a:t>W</a:t>
            </a:r>
            <a:r>
              <a:rPr lang="en-US"/>
              <a:t> = </a:t>
            </a:r>
            <a:r>
              <a:rPr lang="en-US" i="1"/>
              <a:t>W</a:t>
            </a:r>
            <a:r>
              <a:rPr lang="en-US" i="1" baseline="-25000"/>
              <a:t>q</a:t>
            </a:r>
            <a:r>
              <a:rPr lang="en-US"/>
              <a:t> + 1/</a:t>
            </a:r>
            <a:r>
              <a:rPr lang="en-US" i="1">
                <a:latin typeface="Symbol" pitchFamily="18" charset="2"/>
                <a:sym typeface="Symbol"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23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232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Number Placeholder 5"/>
          <p:cNvSpPr>
            <a:spLocks noGrp="1"/>
          </p:cNvSpPr>
          <p:nvPr>
            <p:ph type="sldNum" sz="quarter" idx="12"/>
          </p:nvPr>
        </p:nvSpPr>
        <p:spPr>
          <a:noFill/>
        </p:spPr>
        <p:txBody>
          <a:bodyPr/>
          <a:lstStyle/>
          <a:p>
            <a:fld id="{0E4F405E-3407-4F77-9FAC-051A3AF5535F}" type="slidenum">
              <a:rPr lang="en-US" smtClean="0"/>
              <a:pPr/>
              <a:t>35</a:t>
            </a:fld>
            <a:endParaRPr lang="en-US"/>
          </a:p>
        </p:txBody>
      </p:sp>
      <p:sp>
        <p:nvSpPr>
          <p:cNvPr id="109571" name="Rectangle 2"/>
          <p:cNvSpPr>
            <a:spLocks noGrp="1" noChangeArrowheads="1"/>
          </p:cNvSpPr>
          <p:nvPr>
            <p:ph type="title"/>
          </p:nvPr>
        </p:nvSpPr>
        <p:spPr/>
        <p:txBody>
          <a:bodyPr/>
          <a:lstStyle/>
          <a:p>
            <a:pPr eaLnBrk="1" hangingPunct="1"/>
            <a:r>
              <a:rPr lang="en-US" sz="4000"/>
              <a:t>Fundamental </a:t>
            </a:r>
            <a:br>
              <a:rPr lang="en-US" sz="4000"/>
            </a:br>
            <a:r>
              <a:rPr lang="en-US" sz="4000"/>
              <a:t>Performance Measures</a:t>
            </a:r>
          </a:p>
        </p:txBody>
      </p:sp>
      <p:sp>
        <p:nvSpPr>
          <p:cNvPr id="313347" name="Rectangle 3"/>
          <p:cNvSpPr>
            <a:spLocks noGrp="1" noChangeArrowheads="1"/>
          </p:cNvSpPr>
          <p:nvPr>
            <p:ph type="body" idx="1"/>
          </p:nvPr>
        </p:nvSpPr>
        <p:spPr/>
        <p:txBody>
          <a:bodyPr/>
          <a:lstStyle/>
          <a:p>
            <a:pPr eaLnBrk="1" hangingPunct="1"/>
            <a:r>
              <a:rPr lang="en-US"/>
              <a:t>We can determine all of the fundamental performance measures </a:t>
            </a:r>
            <a:r>
              <a:rPr lang="en-US" i="1"/>
              <a:t>L, L</a:t>
            </a:r>
            <a:r>
              <a:rPr lang="en-US" i="1" baseline="-25000"/>
              <a:t>q</a:t>
            </a:r>
            <a:r>
              <a:rPr lang="en-US" i="1"/>
              <a:t>, W, W</a:t>
            </a:r>
            <a:r>
              <a:rPr lang="en-US" i="1" baseline="-25000"/>
              <a:t>q </a:t>
            </a:r>
            <a:r>
              <a:rPr lang="en-US"/>
              <a:t>by applying the formulas below as soon as one of the four quantities is determined.</a:t>
            </a:r>
          </a:p>
          <a:p>
            <a:pPr lvl="1" eaLnBrk="1" hangingPunct="1"/>
            <a:r>
              <a:rPr lang="en-US" i="1"/>
              <a:t>L</a:t>
            </a:r>
            <a:r>
              <a:rPr lang="en-US"/>
              <a:t> = </a:t>
            </a:r>
            <a:r>
              <a:rPr lang="en-US" i="1">
                <a:latin typeface="Symbol" pitchFamily="18" charset="2"/>
                <a:sym typeface="Symbol" pitchFamily="18" charset="2"/>
              </a:rPr>
              <a:t></a:t>
            </a:r>
            <a:r>
              <a:rPr lang="en-US" i="1"/>
              <a:t>W</a:t>
            </a:r>
          </a:p>
          <a:p>
            <a:pPr lvl="1" eaLnBrk="1" hangingPunct="1"/>
            <a:r>
              <a:rPr lang="en-US" i="1"/>
              <a:t>L</a:t>
            </a:r>
            <a:r>
              <a:rPr lang="en-US" i="1" baseline="-25000"/>
              <a:t>q</a:t>
            </a:r>
            <a:r>
              <a:rPr lang="en-US"/>
              <a:t> = </a:t>
            </a:r>
            <a:r>
              <a:rPr lang="en-US" i="1">
                <a:latin typeface="Symbol" pitchFamily="18" charset="2"/>
                <a:sym typeface="Symbol" pitchFamily="18" charset="2"/>
              </a:rPr>
              <a:t></a:t>
            </a:r>
            <a:r>
              <a:rPr lang="en-US" i="1"/>
              <a:t>W</a:t>
            </a:r>
            <a:r>
              <a:rPr lang="en-US" i="1" baseline="-25000"/>
              <a:t>q</a:t>
            </a:r>
          </a:p>
          <a:p>
            <a:pPr lvl="1" eaLnBrk="1" hangingPunct="1"/>
            <a:r>
              <a:rPr lang="en-US" i="1"/>
              <a:t>W</a:t>
            </a:r>
            <a:r>
              <a:rPr lang="en-US"/>
              <a:t> = </a:t>
            </a:r>
            <a:r>
              <a:rPr lang="en-US" i="1"/>
              <a:t>W</a:t>
            </a:r>
            <a:r>
              <a:rPr lang="en-US" i="1" baseline="-25000"/>
              <a:t>q</a:t>
            </a:r>
            <a:r>
              <a:rPr lang="en-US"/>
              <a:t> + 1/</a:t>
            </a:r>
            <a:r>
              <a:rPr lang="en-US" i="1">
                <a:latin typeface="Symbol" pitchFamily="18" charset="2"/>
                <a:sym typeface="Symbol" pitchFamily="18" charset="2"/>
              </a:rPr>
              <a:t></a:t>
            </a:r>
            <a:endParaRPr lang="en-US" i="1" baseline="-25000"/>
          </a:p>
          <a:p>
            <a:pPr lvl="1" eaLnBrk="1" hangingPunct="1"/>
            <a:endParaRPr lang="en-US" i="1"/>
          </a:p>
          <a:p>
            <a:pPr lvl="1" eaLnBrk="1" hangingPunct="1"/>
            <a:endParaRPr lang="en-US"/>
          </a:p>
          <a:p>
            <a:pPr eaLnBrk="1" hangingPunct="1"/>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3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33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33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33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7"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Number Placeholder 5"/>
          <p:cNvSpPr>
            <a:spLocks noGrp="1"/>
          </p:cNvSpPr>
          <p:nvPr>
            <p:ph type="sldNum" sz="quarter" idx="12"/>
          </p:nvPr>
        </p:nvSpPr>
        <p:spPr>
          <a:noFill/>
        </p:spPr>
        <p:txBody>
          <a:bodyPr/>
          <a:lstStyle/>
          <a:p>
            <a:fld id="{0C9774A6-69D8-4CE4-ABAE-C02665D187D1}" type="slidenum">
              <a:rPr lang="en-US" smtClean="0"/>
              <a:pPr/>
              <a:t>36</a:t>
            </a:fld>
            <a:endParaRPr lang="en-US"/>
          </a:p>
        </p:txBody>
      </p:sp>
      <p:pic>
        <p:nvPicPr>
          <p:cNvPr id="110595" name="Picture 34" descr="txp_fig"/>
          <p:cNvPicPr>
            <a:picLocks noChangeAspect="1" noChangeArrowheads="1"/>
          </p:cNvPicPr>
          <p:nvPr>
            <p:custDataLst>
              <p:tags r:id="rId1"/>
            </p:custDataLst>
          </p:nvPr>
        </p:nvPicPr>
        <p:blipFill>
          <a:blip r:embed="rId5" cstate="print"/>
          <a:srcRect/>
          <a:stretch>
            <a:fillRect/>
          </a:stretch>
        </p:blipFill>
        <p:spPr bwMode="auto">
          <a:xfrm>
            <a:off x="752475" y="2130425"/>
            <a:ext cx="3771900" cy="4400550"/>
          </a:xfrm>
          <a:prstGeom prst="rect">
            <a:avLst/>
          </a:prstGeom>
          <a:noFill/>
          <a:ln w="9525">
            <a:noFill/>
            <a:miter lim="800000"/>
            <a:headEnd/>
            <a:tailEnd/>
          </a:ln>
        </p:spPr>
      </p:pic>
      <p:sp>
        <p:nvSpPr>
          <p:cNvPr id="110596" name="Rectangle 2"/>
          <p:cNvSpPr>
            <a:spLocks noGrp="1" noChangeArrowheads="1"/>
          </p:cNvSpPr>
          <p:nvPr>
            <p:ph type="title"/>
          </p:nvPr>
        </p:nvSpPr>
        <p:spPr>
          <a:xfrm>
            <a:off x="457200" y="274638"/>
            <a:ext cx="8362950" cy="890587"/>
          </a:xfrm>
        </p:spPr>
        <p:txBody>
          <a:bodyPr/>
          <a:lstStyle/>
          <a:p>
            <a:pPr eaLnBrk="1" hangingPunct="1"/>
            <a:r>
              <a:rPr lang="en-US" sz="4000"/>
              <a:t>The </a:t>
            </a:r>
            <a:r>
              <a:rPr lang="en-US" sz="4000" i="1"/>
              <a:t>M</a:t>
            </a:r>
            <a:r>
              <a:rPr lang="en-US" sz="4000"/>
              <a:t>/</a:t>
            </a:r>
            <a:r>
              <a:rPr lang="en-US" sz="4000" i="1"/>
              <a:t>M</a:t>
            </a:r>
            <a:r>
              <a:rPr lang="en-US" sz="4000"/>
              <a:t>/1 Model</a:t>
            </a:r>
            <a:br>
              <a:rPr lang="en-US" sz="4000"/>
            </a:br>
            <a:r>
              <a:rPr lang="en-US" sz="4000"/>
              <a:t>Expected # of Customers in System</a:t>
            </a:r>
          </a:p>
        </p:txBody>
      </p:sp>
      <p:grpSp>
        <p:nvGrpSpPr>
          <p:cNvPr id="2" name="Group 20"/>
          <p:cNvGrpSpPr>
            <a:grpSpLocks/>
          </p:cNvGrpSpPr>
          <p:nvPr/>
        </p:nvGrpSpPr>
        <p:grpSpPr bwMode="auto">
          <a:xfrm>
            <a:off x="4513263" y="3201988"/>
            <a:ext cx="2209800" cy="762000"/>
            <a:chOff x="2832" y="1968"/>
            <a:chExt cx="1392" cy="480"/>
          </a:xfrm>
        </p:grpSpPr>
        <p:sp>
          <p:nvSpPr>
            <p:cNvPr id="110611" name="Freeform 14"/>
            <p:cNvSpPr>
              <a:spLocks/>
            </p:cNvSpPr>
            <p:nvPr/>
          </p:nvSpPr>
          <p:spPr bwMode="auto">
            <a:xfrm>
              <a:off x="2832" y="1968"/>
              <a:ext cx="200" cy="480"/>
            </a:xfrm>
            <a:custGeom>
              <a:avLst/>
              <a:gdLst>
                <a:gd name="T0" fmla="*/ 0 w 200"/>
                <a:gd name="T1" fmla="*/ 0 h 672"/>
                <a:gd name="T2" fmla="*/ 192 w 200"/>
                <a:gd name="T3" fmla="*/ 122 h 672"/>
                <a:gd name="T4" fmla="*/ 48 w 200"/>
                <a:gd name="T5" fmla="*/ 245 h 672"/>
                <a:gd name="T6" fmla="*/ 0 60000 65536"/>
                <a:gd name="T7" fmla="*/ 0 60000 65536"/>
                <a:gd name="T8" fmla="*/ 0 60000 65536"/>
                <a:gd name="T9" fmla="*/ 0 w 200"/>
                <a:gd name="T10" fmla="*/ 0 h 672"/>
                <a:gd name="T11" fmla="*/ 200 w 200"/>
                <a:gd name="T12" fmla="*/ 672 h 672"/>
              </a:gdLst>
              <a:ahLst/>
              <a:cxnLst>
                <a:cxn ang="T6">
                  <a:pos x="T0" y="T1"/>
                </a:cxn>
                <a:cxn ang="T7">
                  <a:pos x="T2" y="T3"/>
                </a:cxn>
                <a:cxn ang="T8">
                  <a:pos x="T4" y="T5"/>
                </a:cxn>
              </a:cxnLst>
              <a:rect l="T9" t="T10" r="T11" b="T12"/>
              <a:pathLst>
                <a:path w="200" h="672">
                  <a:moveTo>
                    <a:pt x="0" y="0"/>
                  </a:moveTo>
                  <a:cubicBezTo>
                    <a:pt x="92" y="112"/>
                    <a:pt x="184" y="224"/>
                    <a:pt x="192" y="336"/>
                  </a:cubicBezTo>
                  <a:cubicBezTo>
                    <a:pt x="200" y="448"/>
                    <a:pt x="72" y="616"/>
                    <a:pt x="48" y="672"/>
                  </a:cubicBezTo>
                </a:path>
              </a:pathLst>
            </a:custGeom>
            <a:noFill/>
            <a:ln w="9525">
              <a:solidFill>
                <a:schemeClr val="tx1"/>
              </a:solidFill>
              <a:round/>
              <a:headEnd type="triangle" w="med" len="med"/>
              <a:tailEnd type="triangle" w="med" len="med"/>
            </a:ln>
          </p:spPr>
          <p:txBody>
            <a:bodyPr/>
            <a:lstStyle/>
            <a:p>
              <a:endParaRPr lang="en-US"/>
            </a:p>
          </p:txBody>
        </p:sp>
        <p:pic>
          <p:nvPicPr>
            <p:cNvPr id="110612" name="Picture 15" descr="txp_fig"/>
            <p:cNvPicPr>
              <a:picLocks noChangeAspect="1" noChangeArrowheads="1"/>
            </p:cNvPicPr>
            <p:nvPr>
              <p:custDataLst>
                <p:tags r:id="rId2"/>
              </p:custDataLst>
            </p:nvPr>
          </p:nvPicPr>
          <p:blipFill>
            <a:blip r:embed="rId6" cstate="print"/>
            <a:srcRect/>
            <a:stretch>
              <a:fillRect/>
            </a:stretch>
          </p:blipFill>
          <p:spPr bwMode="auto">
            <a:xfrm>
              <a:off x="3072" y="2016"/>
              <a:ext cx="1152" cy="293"/>
            </a:xfrm>
            <a:prstGeom prst="rect">
              <a:avLst/>
            </a:prstGeom>
            <a:noFill/>
            <a:ln w="9525">
              <a:noFill/>
              <a:miter lim="800000"/>
              <a:headEnd/>
              <a:tailEnd/>
            </a:ln>
          </p:spPr>
        </p:pic>
      </p:grpSp>
      <p:grpSp>
        <p:nvGrpSpPr>
          <p:cNvPr id="3" name="Group 21"/>
          <p:cNvGrpSpPr>
            <a:grpSpLocks/>
          </p:cNvGrpSpPr>
          <p:nvPr/>
        </p:nvGrpSpPr>
        <p:grpSpPr bwMode="auto">
          <a:xfrm>
            <a:off x="4572000" y="3962400"/>
            <a:ext cx="3276600" cy="762000"/>
            <a:chOff x="2880" y="2496"/>
            <a:chExt cx="2064" cy="480"/>
          </a:xfrm>
        </p:grpSpPr>
        <p:sp>
          <p:nvSpPr>
            <p:cNvPr id="110609" name="Freeform 16"/>
            <p:cNvSpPr>
              <a:spLocks/>
            </p:cNvSpPr>
            <p:nvPr/>
          </p:nvSpPr>
          <p:spPr bwMode="auto">
            <a:xfrm>
              <a:off x="2880" y="2496"/>
              <a:ext cx="200" cy="480"/>
            </a:xfrm>
            <a:custGeom>
              <a:avLst/>
              <a:gdLst>
                <a:gd name="T0" fmla="*/ 0 w 200"/>
                <a:gd name="T1" fmla="*/ 0 h 672"/>
                <a:gd name="T2" fmla="*/ 192 w 200"/>
                <a:gd name="T3" fmla="*/ 122 h 672"/>
                <a:gd name="T4" fmla="*/ 48 w 200"/>
                <a:gd name="T5" fmla="*/ 245 h 672"/>
                <a:gd name="T6" fmla="*/ 0 60000 65536"/>
                <a:gd name="T7" fmla="*/ 0 60000 65536"/>
                <a:gd name="T8" fmla="*/ 0 60000 65536"/>
                <a:gd name="T9" fmla="*/ 0 w 200"/>
                <a:gd name="T10" fmla="*/ 0 h 672"/>
                <a:gd name="T11" fmla="*/ 200 w 200"/>
                <a:gd name="T12" fmla="*/ 672 h 672"/>
              </a:gdLst>
              <a:ahLst/>
              <a:cxnLst>
                <a:cxn ang="T6">
                  <a:pos x="T0" y="T1"/>
                </a:cxn>
                <a:cxn ang="T7">
                  <a:pos x="T2" y="T3"/>
                </a:cxn>
                <a:cxn ang="T8">
                  <a:pos x="T4" y="T5"/>
                </a:cxn>
              </a:cxnLst>
              <a:rect l="T9" t="T10" r="T11" b="T12"/>
              <a:pathLst>
                <a:path w="200" h="672">
                  <a:moveTo>
                    <a:pt x="0" y="0"/>
                  </a:moveTo>
                  <a:cubicBezTo>
                    <a:pt x="92" y="112"/>
                    <a:pt x="184" y="224"/>
                    <a:pt x="192" y="336"/>
                  </a:cubicBezTo>
                  <a:cubicBezTo>
                    <a:pt x="200" y="448"/>
                    <a:pt x="72" y="616"/>
                    <a:pt x="48" y="672"/>
                  </a:cubicBezTo>
                </a:path>
              </a:pathLst>
            </a:custGeom>
            <a:noFill/>
            <a:ln w="9525">
              <a:solidFill>
                <a:schemeClr val="tx1"/>
              </a:solidFill>
              <a:round/>
              <a:headEnd type="triangle" w="med" len="med"/>
              <a:tailEnd type="triangle" w="med" len="med"/>
            </a:ln>
          </p:spPr>
          <p:txBody>
            <a:bodyPr/>
            <a:lstStyle/>
            <a:p>
              <a:endParaRPr lang="en-US"/>
            </a:p>
          </p:txBody>
        </p:sp>
        <p:sp>
          <p:nvSpPr>
            <p:cNvPr id="110610" name="Text Box 17"/>
            <p:cNvSpPr txBox="1">
              <a:spLocks noChangeArrowheads="1"/>
            </p:cNvSpPr>
            <p:nvPr/>
          </p:nvSpPr>
          <p:spPr bwMode="auto">
            <a:xfrm>
              <a:off x="3168" y="2496"/>
              <a:ext cx="1776" cy="420"/>
            </a:xfrm>
            <a:prstGeom prst="rect">
              <a:avLst/>
            </a:prstGeom>
            <a:noFill/>
            <a:ln w="9525">
              <a:noFill/>
              <a:miter lim="800000"/>
              <a:headEnd/>
              <a:tailEnd/>
            </a:ln>
          </p:spPr>
          <p:txBody>
            <a:bodyPr>
              <a:spAutoFit/>
            </a:bodyPr>
            <a:lstStyle/>
            <a:p>
              <a:pPr>
                <a:spcBef>
                  <a:spcPct val="50000"/>
                </a:spcBef>
              </a:pPr>
              <a:r>
                <a:rPr lang="en-US" sz="2800"/>
                <a:t>Sum of derivatives = Derivative of the sum</a:t>
              </a:r>
            </a:p>
          </p:txBody>
        </p:sp>
      </p:grpSp>
      <p:grpSp>
        <p:nvGrpSpPr>
          <p:cNvPr id="4" name="Group 22"/>
          <p:cNvGrpSpPr>
            <a:grpSpLocks/>
          </p:cNvGrpSpPr>
          <p:nvPr/>
        </p:nvGrpSpPr>
        <p:grpSpPr bwMode="auto">
          <a:xfrm>
            <a:off x="4635500" y="4724400"/>
            <a:ext cx="3213100" cy="762000"/>
            <a:chOff x="2920" y="2976"/>
            <a:chExt cx="2024" cy="480"/>
          </a:xfrm>
        </p:grpSpPr>
        <p:sp>
          <p:nvSpPr>
            <p:cNvPr id="110607" name="Text Box 18"/>
            <p:cNvSpPr txBox="1">
              <a:spLocks noChangeArrowheads="1"/>
            </p:cNvSpPr>
            <p:nvPr/>
          </p:nvSpPr>
          <p:spPr bwMode="auto">
            <a:xfrm>
              <a:off x="3168" y="3081"/>
              <a:ext cx="1776" cy="239"/>
            </a:xfrm>
            <a:prstGeom prst="rect">
              <a:avLst/>
            </a:prstGeom>
            <a:noFill/>
            <a:ln w="9525">
              <a:noFill/>
              <a:miter lim="800000"/>
              <a:headEnd/>
              <a:tailEnd/>
            </a:ln>
          </p:spPr>
          <p:txBody>
            <a:bodyPr>
              <a:spAutoFit/>
            </a:bodyPr>
            <a:lstStyle/>
            <a:p>
              <a:pPr>
                <a:spcBef>
                  <a:spcPct val="50000"/>
                </a:spcBef>
              </a:pPr>
              <a:r>
                <a:rPr lang="en-US" sz="2800"/>
                <a:t>Sum of geometric series</a:t>
              </a:r>
            </a:p>
          </p:txBody>
        </p:sp>
        <p:sp>
          <p:nvSpPr>
            <p:cNvPr id="110608" name="Freeform 19"/>
            <p:cNvSpPr>
              <a:spLocks/>
            </p:cNvSpPr>
            <p:nvPr/>
          </p:nvSpPr>
          <p:spPr bwMode="auto">
            <a:xfrm>
              <a:off x="2920" y="2976"/>
              <a:ext cx="200" cy="480"/>
            </a:xfrm>
            <a:custGeom>
              <a:avLst/>
              <a:gdLst>
                <a:gd name="T0" fmla="*/ 0 w 200"/>
                <a:gd name="T1" fmla="*/ 0 h 672"/>
                <a:gd name="T2" fmla="*/ 192 w 200"/>
                <a:gd name="T3" fmla="*/ 122 h 672"/>
                <a:gd name="T4" fmla="*/ 48 w 200"/>
                <a:gd name="T5" fmla="*/ 245 h 672"/>
                <a:gd name="T6" fmla="*/ 0 60000 65536"/>
                <a:gd name="T7" fmla="*/ 0 60000 65536"/>
                <a:gd name="T8" fmla="*/ 0 60000 65536"/>
                <a:gd name="T9" fmla="*/ 0 w 200"/>
                <a:gd name="T10" fmla="*/ 0 h 672"/>
                <a:gd name="T11" fmla="*/ 200 w 200"/>
                <a:gd name="T12" fmla="*/ 672 h 672"/>
              </a:gdLst>
              <a:ahLst/>
              <a:cxnLst>
                <a:cxn ang="T6">
                  <a:pos x="T0" y="T1"/>
                </a:cxn>
                <a:cxn ang="T7">
                  <a:pos x="T2" y="T3"/>
                </a:cxn>
                <a:cxn ang="T8">
                  <a:pos x="T4" y="T5"/>
                </a:cxn>
              </a:cxnLst>
              <a:rect l="T9" t="T10" r="T11" b="T12"/>
              <a:pathLst>
                <a:path w="200" h="672">
                  <a:moveTo>
                    <a:pt x="0" y="0"/>
                  </a:moveTo>
                  <a:cubicBezTo>
                    <a:pt x="92" y="112"/>
                    <a:pt x="184" y="224"/>
                    <a:pt x="192" y="336"/>
                  </a:cubicBezTo>
                  <a:cubicBezTo>
                    <a:pt x="200" y="448"/>
                    <a:pt x="72" y="616"/>
                    <a:pt x="48" y="672"/>
                  </a:cubicBezTo>
                </a:path>
              </a:pathLst>
            </a:custGeom>
            <a:noFill/>
            <a:ln w="9525">
              <a:solidFill>
                <a:schemeClr val="tx1"/>
              </a:solidFill>
              <a:round/>
              <a:headEnd type="triangle" w="med" len="med"/>
              <a:tailEnd type="triangle" w="med" len="med"/>
            </a:ln>
          </p:spPr>
          <p:txBody>
            <a:bodyPr/>
            <a:lstStyle/>
            <a:p>
              <a:endParaRPr lang="en-US"/>
            </a:p>
          </p:txBody>
        </p:sp>
      </p:grpSp>
      <p:sp>
        <p:nvSpPr>
          <p:cNvPr id="393239" name="Rectangle 23"/>
          <p:cNvSpPr>
            <a:spLocks noChangeArrowheads="1"/>
          </p:cNvSpPr>
          <p:nvPr/>
        </p:nvSpPr>
        <p:spPr bwMode="auto">
          <a:xfrm>
            <a:off x="1600200" y="2133600"/>
            <a:ext cx="2895600" cy="708025"/>
          </a:xfrm>
          <a:prstGeom prst="rect">
            <a:avLst/>
          </a:prstGeom>
          <a:solidFill>
            <a:schemeClr val="bg1"/>
          </a:solidFill>
          <a:ln w="9525">
            <a:noFill/>
            <a:miter lim="800000"/>
            <a:headEnd/>
            <a:tailEnd/>
          </a:ln>
        </p:spPr>
        <p:txBody>
          <a:bodyPr wrap="none" anchor="ctr"/>
          <a:lstStyle/>
          <a:p>
            <a:endParaRPr lang="en-US"/>
          </a:p>
        </p:txBody>
      </p:sp>
      <p:sp>
        <p:nvSpPr>
          <p:cNvPr id="393240" name="Rectangle 24"/>
          <p:cNvSpPr>
            <a:spLocks noChangeArrowheads="1"/>
          </p:cNvSpPr>
          <p:nvPr/>
        </p:nvSpPr>
        <p:spPr bwMode="auto">
          <a:xfrm>
            <a:off x="1600200" y="4310063"/>
            <a:ext cx="2895600" cy="719137"/>
          </a:xfrm>
          <a:prstGeom prst="rect">
            <a:avLst/>
          </a:prstGeom>
          <a:solidFill>
            <a:schemeClr val="bg1"/>
          </a:solidFill>
          <a:ln w="9525">
            <a:noFill/>
            <a:miter lim="800000"/>
            <a:headEnd/>
            <a:tailEnd/>
          </a:ln>
        </p:spPr>
        <p:txBody>
          <a:bodyPr wrap="none" anchor="ctr"/>
          <a:lstStyle/>
          <a:p>
            <a:endParaRPr lang="en-US"/>
          </a:p>
        </p:txBody>
      </p:sp>
      <p:sp>
        <p:nvSpPr>
          <p:cNvPr id="393241" name="Rectangle 25"/>
          <p:cNvSpPr>
            <a:spLocks noChangeArrowheads="1"/>
          </p:cNvSpPr>
          <p:nvPr/>
        </p:nvSpPr>
        <p:spPr bwMode="auto">
          <a:xfrm>
            <a:off x="1600200" y="3581400"/>
            <a:ext cx="2895600" cy="752475"/>
          </a:xfrm>
          <a:prstGeom prst="rect">
            <a:avLst/>
          </a:prstGeom>
          <a:solidFill>
            <a:schemeClr val="bg1"/>
          </a:solidFill>
          <a:ln w="9525">
            <a:noFill/>
            <a:miter lim="800000"/>
            <a:headEnd/>
            <a:tailEnd/>
          </a:ln>
        </p:spPr>
        <p:txBody>
          <a:bodyPr wrap="none" anchor="ctr"/>
          <a:lstStyle/>
          <a:p>
            <a:endParaRPr lang="en-US"/>
          </a:p>
        </p:txBody>
      </p:sp>
      <p:sp>
        <p:nvSpPr>
          <p:cNvPr id="393242" name="Rectangle 26"/>
          <p:cNvSpPr>
            <a:spLocks noChangeArrowheads="1"/>
          </p:cNvSpPr>
          <p:nvPr/>
        </p:nvSpPr>
        <p:spPr bwMode="auto">
          <a:xfrm>
            <a:off x="1600200" y="2862263"/>
            <a:ext cx="2895600" cy="735012"/>
          </a:xfrm>
          <a:prstGeom prst="rect">
            <a:avLst/>
          </a:prstGeom>
          <a:solidFill>
            <a:schemeClr val="bg1"/>
          </a:solidFill>
          <a:ln w="9525">
            <a:noFill/>
            <a:miter lim="800000"/>
            <a:headEnd/>
            <a:tailEnd/>
          </a:ln>
        </p:spPr>
        <p:txBody>
          <a:bodyPr wrap="none" anchor="ctr"/>
          <a:lstStyle/>
          <a:p>
            <a:endParaRPr lang="en-US"/>
          </a:p>
        </p:txBody>
      </p:sp>
      <p:sp>
        <p:nvSpPr>
          <p:cNvPr id="393243" name="Rectangle 27"/>
          <p:cNvSpPr>
            <a:spLocks noChangeArrowheads="1"/>
          </p:cNvSpPr>
          <p:nvPr/>
        </p:nvSpPr>
        <p:spPr bwMode="auto">
          <a:xfrm>
            <a:off x="1600200" y="5029200"/>
            <a:ext cx="2895600" cy="533400"/>
          </a:xfrm>
          <a:prstGeom prst="rect">
            <a:avLst/>
          </a:prstGeom>
          <a:solidFill>
            <a:schemeClr val="bg1"/>
          </a:solidFill>
          <a:ln w="9525">
            <a:noFill/>
            <a:miter lim="800000"/>
            <a:headEnd/>
            <a:tailEnd/>
          </a:ln>
        </p:spPr>
        <p:txBody>
          <a:bodyPr wrap="none" anchor="ctr"/>
          <a:lstStyle/>
          <a:p>
            <a:endParaRPr lang="en-US"/>
          </a:p>
        </p:txBody>
      </p:sp>
      <p:sp>
        <p:nvSpPr>
          <p:cNvPr id="393244" name="Rectangle 28"/>
          <p:cNvSpPr>
            <a:spLocks noChangeArrowheads="1"/>
          </p:cNvSpPr>
          <p:nvPr/>
        </p:nvSpPr>
        <p:spPr bwMode="auto">
          <a:xfrm>
            <a:off x="1600200" y="5562600"/>
            <a:ext cx="2895600" cy="503238"/>
          </a:xfrm>
          <a:prstGeom prst="rect">
            <a:avLst/>
          </a:prstGeom>
          <a:solidFill>
            <a:schemeClr val="bg1"/>
          </a:solidFill>
          <a:ln w="9525">
            <a:noFill/>
            <a:miter lim="800000"/>
            <a:headEnd/>
            <a:tailEnd/>
          </a:ln>
        </p:spPr>
        <p:txBody>
          <a:bodyPr wrap="none" anchor="ctr"/>
          <a:lstStyle/>
          <a:p>
            <a:endParaRPr lang="en-US"/>
          </a:p>
        </p:txBody>
      </p:sp>
      <p:sp>
        <p:nvSpPr>
          <p:cNvPr id="393245" name="Rectangle 29"/>
          <p:cNvSpPr>
            <a:spLocks noChangeArrowheads="1"/>
          </p:cNvSpPr>
          <p:nvPr/>
        </p:nvSpPr>
        <p:spPr bwMode="auto">
          <a:xfrm>
            <a:off x="1600200" y="6065838"/>
            <a:ext cx="3001963" cy="487362"/>
          </a:xfrm>
          <a:prstGeom prst="rect">
            <a:avLst/>
          </a:prstGeom>
          <a:solidFill>
            <a:schemeClr val="bg1"/>
          </a:solidFill>
          <a:ln w="9525">
            <a:noFill/>
            <a:miter lim="800000"/>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9323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39324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39324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39324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39324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393244"/>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3932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39" grpId="0" animBg="1"/>
      <p:bldP spid="393240" grpId="0" animBg="1"/>
      <p:bldP spid="393241" grpId="0" animBg="1"/>
      <p:bldP spid="393242" grpId="0" animBg="1"/>
      <p:bldP spid="393243" grpId="0" animBg="1"/>
      <p:bldP spid="393244" grpId="0" animBg="1"/>
      <p:bldP spid="39324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Number Placeholder 5"/>
          <p:cNvSpPr>
            <a:spLocks noGrp="1"/>
          </p:cNvSpPr>
          <p:nvPr>
            <p:ph type="sldNum" sz="quarter" idx="12"/>
          </p:nvPr>
        </p:nvSpPr>
        <p:spPr>
          <a:noFill/>
        </p:spPr>
        <p:txBody>
          <a:bodyPr/>
          <a:lstStyle/>
          <a:p>
            <a:fld id="{58994342-7E97-4AC7-8A28-6A26EDF70B0C}" type="slidenum">
              <a:rPr lang="en-US" smtClean="0"/>
              <a:pPr/>
              <a:t>37</a:t>
            </a:fld>
            <a:endParaRPr lang="en-US"/>
          </a:p>
        </p:txBody>
      </p:sp>
      <p:sp>
        <p:nvSpPr>
          <p:cNvPr id="111619" name="Rectangle 2"/>
          <p:cNvSpPr>
            <a:spLocks noGrp="1" noChangeArrowheads="1"/>
          </p:cNvSpPr>
          <p:nvPr>
            <p:ph type="title"/>
          </p:nvPr>
        </p:nvSpPr>
        <p:spPr>
          <a:xfrm>
            <a:off x="457200" y="274638"/>
            <a:ext cx="8229600" cy="900112"/>
          </a:xfrm>
        </p:spPr>
        <p:txBody>
          <a:bodyPr/>
          <a:lstStyle/>
          <a:p>
            <a:pPr eaLnBrk="1" hangingPunct="1"/>
            <a:r>
              <a:rPr lang="en-US" sz="4000"/>
              <a:t>The </a:t>
            </a:r>
            <a:r>
              <a:rPr lang="en-US" sz="4000" i="1"/>
              <a:t>M</a:t>
            </a:r>
            <a:r>
              <a:rPr lang="en-US" sz="4000"/>
              <a:t>/</a:t>
            </a:r>
            <a:r>
              <a:rPr lang="en-US" sz="4000" i="1"/>
              <a:t>M</a:t>
            </a:r>
            <a:r>
              <a:rPr lang="en-US" sz="4000"/>
              <a:t>/1 Model</a:t>
            </a:r>
            <a:br>
              <a:rPr lang="en-US" sz="4000"/>
            </a:br>
            <a:r>
              <a:rPr lang="en-US" sz="4000"/>
              <a:t>Load On The System</a:t>
            </a:r>
          </a:p>
        </p:txBody>
      </p:sp>
      <p:sp>
        <p:nvSpPr>
          <p:cNvPr id="395267" name="Rectangle 3"/>
          <p:cNvSpPr>
            <a:spLocks noGrp="1" noChangeArrowheads="1"/>
          </p:cNvSpPr>
          <p:nvPr>
            <p:ph type="body" idx="1"/>
          </p:nvPr>
        </p:nvSpPr>
        <p:spPr>
          <a:xfrm>
            <a:off x="457200" y="2286000"/>
            <a:ext cx="8229600" cy="3840163"/>
          </a:xfrm>
        </p:spPr>
        <p:txBody>
          <a:bodyPr/>
          <a:lstStyle/>
          <a:p>
            <a:pPr eaLnBrk="1" hangingPunct="1"/>
            <a:r>
              <a:rPr lang="en-US"/>
              <a:t>What happens to the expected number of customers in the system as the server starts working almost all the time?</a:t>
            </a:r>
          </a:p>
          <a:p>
            <a:pPr lvl="1" eaLnBrk="1" hangingPunct="1"/>
            <a:r>
              <a:rPr lang="en-US" i="1"/>
              <a:t>L</a:t>
            </a:r>
            <a:r>
              <a:rPr lang="en-US"/>
              <a:t> grows rapidly as </a:t>
            </a:r>
            <a:r>
              <a:rPr lang="en-US" i="1">
                <a:latin typeface="Symbol" pitchFamily="18" charset="2"/>
                <a:sym typeface="Symbol" pitchFamily="18" charset="2"/>
              </a:rPr>
              <a:t></a:t>
            </a:r>
            <a:r>
              <a:rPr lang="en-US"/>
              <a:t> = </a:t>
            </a:r>
            <a:r>
              <a:rPr lang="en-US" i="1">
                <a:latin typeface="Symbol" pitchFamily="18" charset="2"/>
                <a:sym typeface="Symbol" pitchFamily="18" charset="2"/>
              </a:rPr>
              <a:t></a:t>
            </a:r>
            <a:r>
              <a:rPr lang="en-US"/>
              <a:t> / </a:t>
            </a:r>
            <a:r>
              <a:rPr lang="en-US" i="1">
                <a:latin typeface="Symbol" pitchFamily="18" charset="2"/>
                <a:sym typeface="Symbol" pitchFamily="18" charset="2"/>
              </a:rPr>
              <a:t></a:t>
            </a:r>
            <a:r>
              <a:rPr lang="en-US"/>
              <a:t> approaches 1.</a:t>
            </a:r>
          </a:p>
          <a:p>
            <a:pPr lvl="1" eaLnBrk="1" hangingPunct="1"/>
            <a:r>
              <a:rPr lang="en-US"/>
              <a:t>Thus, the queue grows without bound in the long run if </a:t>
            </a:r>
            <a:r>
              <a:rPr lang="en-US" i="1">
                <a:latin typeface="Symbol" pitchFamily="18" charset="2"/>
                <a:sym typeface="Symbol" pitchFamily="18" charset="2"/>
              </a:rPr>
              <a:t></a:t>
            </a:r>
            <a:r>
              <a:rPr lang="en-US">
                <a:latin typeface="Symbol" pitchFamily="18" charset="2"/>
                <a:sym typeface="Symbol" pitchFamily="18" charset="2"/>
              </a:rPr>
              <a:t> </a:t>
            </a:r>
            <a:r>
              <a:rPr lang="en-US">
                <a:latin typeface="cmsy10" pitchFamily="34" charset="0"/>
                <a:sym typeface="Symbol" pitchFamily="18" charset="2"/>
              </a:rPr>
              <a:t>¸</a:t>
            </a:r>
            <a:r>
              <a:rPr lang="en-US"/>
              <a:t> </a:t>
            </a:r>
            <a:r>
              <a:rPr lang="en-US" i="1">
                <a:latin typeface="Symbol" pitchFamily="18" charset="2"/>
                <a:sym typeface="Symbol" pitchFamily="18" charset="2"/>
              </a:rPr>
              <a:t></a:t>
            </a:r>
            <a:r>
              <a:rPr lang="en-US" i="1">
                <a:sym typeface="Symbol" pitchFamily="18" charset="2"/>
              </a:rPr>
              <a:t>.</a:t>
            </a:r>
            <a:endParaRPr lang="en-US" i="1">
              <a:latin typeface="Symbol" pitchFamily="18" charset="2"/>
              <a:sym typeface="Symbol" pitchFamily="18" charset="2"/>
            </a:endParaRPr>
          </a:p>
        </p:txBody>
      </p:sp>
      <p:pic>
        <p:nvPicPr>
          <p:cNvPr id="111621" name="Picture 5" descr="txp_fig"/>
          <p:cNvPicPr>
            <a:picLocks noChangeAspect="1" noChangeArrowheads="1"/>
          </p:cNvPicPr>
          <p:nvPr>
            <p:custDataLst>
              <p:tags r:id="rId1"/>
            </p:custDataLst>
          </p:nvPr>
        </p:nvPicPr>
        <p:blipFill>
          <a:blip r:embed="rId4" cstate="print"/>
          <a:srcRect/>
          <a:stretch>
            <a:fillRect/>
          </a:stretch>
        </p:blipFill>
        <p:spPr bwMode="auto">
          <a:xfrm>
            <a:off x="838200" y="1435100"/>
            <a:ext cx="2006600" cy="6223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5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52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Number Placeholder 5"/>
          <p:cNvSpPr>
            <a:spLocks noGrp="1"/>
          </p:cNvSpPr>
          <p:nvPr>
            <p:ph type="sldNum" sz="quarter" idx="12"/>
          </p:nvPr>
        </p:nvSpPr>
        <p:spPr>
          <a:noFill/>
        </p:spPr>
        <p:txBody>
          <a:bodyPr/>
          <a:lstStyle/>
          <a:p>
            <a:fld id="{53D1764F-DBC6-4331-B5B0-9412020488DF}" type="slidenum">
              <a:rPr lang="en-US" smtClean="0"/>
              <a:pPr/>
              <a:t>38</a:t>
            </a:fld>
            <a:endParaRPr lang="en-US"/>
          </a:p>
        </p:txBody>
      </p:sp>
      <p:sp>
        <p:nvSpPr>
          <p:cNvPr id="112643" name="Rectangle 2"/>
          <p:cNvSpPr>
            <a:spLocks noGrp="1" noChangeArrowheads="1"/>
          </p:cNvSpPr>
          <p:nvPr>
            <p:ph type="title"/>
          </p:nvPr>
        </p:nvSpPr>
        <p:spPr>
          <a:xfrm>
            <a:off x="304800" y="274638"/>
            <a:ext cx="8610600" cy="1143000"/>
          </a:xfrm>
        </p:spPr>
        <p:txBody>
          <a:bodyPr/>
          <a:lstStyle/>
          <a:p>
            <a:pPr eaLnBrk="1" hangingPunct="1"/>
            <a:r>
              <a:rPr lang="en-US" sz="4000"/>
              <a:t>The </a:t>
            </a:r>
            <a:r>
              <a:rPr lang="en-US" sz="4000" i="1"/>
              <a:t>M</a:t>
            </a:r>
            <a:r>
              <a:rPr lang="en-US" sz="4000"/>
              <a:t>/</a:t>
            </a:r>
            <a:r>
              <a:rPr lang="en-US" sz="4000" i="1"/>
              <a:t>M</a:t>
            </a:r>
            <a:r>
              <a:rPr lang="en-US" sz="4000"/>
              <a:t>/1 Model</a:t>
            </a:r>
            <a:br>
              <a:rPr lang="en-US" sz="4000"/>
            </a:br>
            <a:r>
              <a:rPr lang="en-US" sz="4000"/>
              <a:t>Fundamental Performance Measures</a:t>
            </a:r>
          </a:p>
        </p:txBody>
      </p:sp>
      <p:sp>
        <p:nvSpPr>
          <p:cNvPr id="15" name="Right Arrow 14"/>
          <p:cNvSpPr>
            <a:spLocks noChangeArrowheads="1"/>
          </p:cNvSpPr>
          <p:nvPr/>
        </p:nvSpPr>
        <p:spPr bwMode="auto">
          <a:xfrm>
            <a:off x="3505200" y="1752600"/>
            <a:ext cx="685800" cy="304800"/>
          </a:xfrm>
          <a:prstGeom prst="rightArrow">
            <a:avLst>
              <a:gd name="adj1" fmla="val 50000"/>
              <a:gd name="adj2" fmla="val 50000"/>
            </a:avLst>
          </a:prstGeom>
          <a:solidFill>
            <a:schemeClr val="bg1"/>
          </a:solidFill>
          <a:ln w="9525" algn="ctr">
            <a:solidFill>
              <a:schemeClr val="tx1"/>
            </a:solidFill>
            <a:round/>
            <a:headEnd/>
            <a:tailEnd/>
          </a:ln>
        </p:spPr>
        <p:txBody>
          <a:bodyPr/>
          <a:lstStyle/>
          <a:p>
            <a:endParaRPr lang="en-US"/>
          </a:p>
        </p:txBody>
      </p:sp>
      <p:pic>
        <p:nvPicPr>
          <p:cNvPr id="112645" name="Picture 16" descr="txp_fig.png"/>
          <p:cNvPicPr>
            <a:picLocks noChangeAspect="1"/>
          </p:cNvPicPr>
          <p:nvPr>
            <p:custDataLst>
              <p:tags r:id="rId1"/>
            </p:custDataLst>
          </p:nvPr>
        </p:nvPicPr>
        <p:blipFill>
          <a:blip r:embed="rId7" cstate="print"/>
          <a:srcRect/>
          <a:stretch>
            <a:fillRect/>
          </a:stretch>
        </p:blipFill>
        <p:spPr bwMode="auto">
          <a:xfrm>
            <a:off x="609600" y="1635125"/>
            <a:ext cx="2101850" cy="666750"/>
          </a:xfrm>
          <a:prstGeom prst="rect">
            <a:avLst/>
          </a:prstGeom>
          <a:noFill/>
          <a:ln w="9525">
            <a:noFill/>
            <a:miter lim="800000"/>
            <a:headEnd/>
            <a:tailEnd/>
          </a:ln>
        </p:spPr>
      </p:pic>
      <p:pic>
        <p:nvPicPr>
          <p:cNvPr id="19" name="Picture 18" descr="txp_fig.png"/>
          <p:cNvPicPr>
            <a:picLocks noChangeAspect="1"/>
          </p:cNvPicPr>
          <p:nvPr>
            <p:custDataLst>
              <p:tags r:id="rId2"/>
            </p:custDataLst>
          </p:nvPr>
        </p:nvPicPr>
        <p:blipFill>
          <a:blip r:embed="rId8" cstate="print"/>
          <a:srcRect/>
          <a:stretch>
            <a:fillRect/>
          </a:stretch>
        </p:blipFill>
        <p:spPr bwMode="auto">
          <a:xfrm>
            <a:off x="4475163" y="1673225"/>
            <a:ext cx="3297237" cy="666750"/>
          </a:xfrm>
          <a:prstGeom prst="rect">
            <a:avLst/>
          </a:prstGeom>
          <a:noFill/>
          <a:ln w="9525">
            <a:noFill/>
            <a:miter lim="800000"/>
            <a:headEnd/>
            <a:tailEnd/>
          </a:ln>
        </p:spPr>
      </p:pic>
      <p:sp>
        <p:nvSpPr>
          <p:cNvPr id="20" name="Down Arrow 19"/>
          <p:cNvSpPr>
            <a:spLocks noChangeArrowheads="1"/>
          </p:cNvSpPr>
          <p:nvPr/>
        </p:nvSpPr>
        <p:spPr bwMode="auto">
          <a:xfrm>
            <a:off x="5638800" y="2514600"/>
            <a:ext cx="381000" cy="685800"/>
          </a:xfrm>
          <a:prstGeom prst="downArrow">
            <a:avLst>
              <a:gd name="adj1" fmla="val 50000"/>
              <a:gd name="adj2" fmla="val 50000"/>
            </a:avLst>
          </a:prstGeom>
          <a:solidFill>
            <a:schemeClr val="bg1"/>
          </a:solidFill>
          <a:ln w="9525" algn="ctr">
            <a:solidFill>
              <a:schemeClr val="tx1"/>
            </a:solidFill>
            <a:round/>
            <a:headEnd/>
            <a:tailEnd/>
          </a:ln>
        </p:spPr>
        <p:txBody>
          <a:bodyPr/>
          <a:lstStyle/>
          <a:p>
            <a:endParaRPr lang="en-US"/>
          </a:p>
        </p:txBody>
      </p:sp>
      <p:pic>
        <p:nvPicPr>
          <p:cNvPr id="22" name="Picture 21" descr="txp_fig.png"/>
          <p:cNvPicPr>
            <a:picLocks noChangeAspect="1"/>
          </p:cNvPicPr>
          <p:nvPr>
            <p:custDataLst>
              <p:tags r:id="rId3"/>
            </p:custDataLst>
          </p:nvPr>
        </p:nvPicPr>
        <p:blipFill>
          <a:blip r:embed="rId9" cstate="print"/>
          <a:srcRect/>
          <a:stretch>
            <a:fillRect/>
          </a:stretch>
        </p:blipFill>
        <p:spPr bwMode="auto">
          <a:xfrm>
            <a:off x="4338638" y="3367088"/>
            <a:ext cx="4729162" cy="668337"/>
          </a:xfrm>
          <a:prstGeom prst="rect">
            <a:avLst/>
          </a:prstGeom>
          <a:noFill/>
          <a:ln w="9525">
            <a:noFill/>
            <a:miter lim="800000"/>
            <a:headEnd/>
            <a:tailEnd/>
          </a:ln>
        </p:spPr>
      </p:pic>
      <p:pic>
        <p:nvPicPr>
          <p:cNvPr id="24" name="Picture 23" descr="txp_fig.png"/>
          <p:cNvPicPr>
            <a:picLocks noChangeAspect="1"/>
          </p:cNvPicPr>
          <p:nvPr>
            <p:custDataLst>
              <p:tags r:id="rId4"/>
            </p:custDataLst>
          </p:nvPr>
        </p:nvPicPr>
        <p:blipFill>
          <a:blip r:embed="rId10" cstate="print"/>
          <a:srcRect/>
          <a:stretch>
            <a:fillRect/>
          </a:stretch>
        </p:blipFill>
        <p:spPr bwMode="auto">
          <a:xfrm>
            <a:off x="4495800" y="5105400"/>
            <a:ext cx="4105275" cy="811213"/>
          </a:xfrm>
          <a:prstGeom prst="rect">
            <a:avLst/>
          </a:prstGeom>
          <a:noFill/>
          <a:ln w="9525">
            <a:noFill/>
            <a:miter lim="800000"/>
            <a:headEnd/>
            <a:tailEnd/>
          </a:ln>
        </p:spPr>
      </p:pic>
      <p:sp>
        <p:nvSpPr>
          <p:cNvPr id="26" name="Down Arrow 25"/>
          <p:cNvSpPr>
            <a:spLocks noChangeArrowheads="1"/>
          </p:cNvSpPr>
          <p:nvPr/>
        </p:nvSpPr>
        <p:spPr bwMode="auto">
          <a:xfrm>
            <a:off x="5638800" y="4191000"/>
            <a:ext cx="381000" cy="685800"/>
          </a:xfrm>
          <a:prstGeom prst="downArrow">
            <a:avLst>
              <a:gd name="adj1" fmla="val 50000"/>
              <a:gd name="adj2" fmla="val 50000"/>
            </a:avLst>
          </a:prstGeom>
          <a:solidFill>
            <a:schemeClr val="bg1"/>
          </a:solidFill>
          <a:ln w="9525" algn="ctr">
            <a:solidFill>
              <a:schemeClr val="tx1"/>
            </a:solidFill>
            <a:round/>
            <a:headEnd/>
            <a:tailEn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0" grpId="0" animBg="1"/>
      <p:bldP spid="26"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EXPOINTINIT" val=""/>
  <p:tag name="USEAMSFONTS" val="Tru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64c"/>
  <p:tag name="DEFAULTBITMAP" val="pngmono"/>
  <p:tag name="DEFAULTBLEND" val="False"/>
  <p:tag name="DEFAULTTRANSPARENT" val="False"/>
  <p:tag name="DEFAULTWORKAROUNDTRANSPARENCYBUG" val="False"/>
  <p:tag name="DEFAULTRESOLUTION" val="1200"/>
  <p:tag name="DEFAULTMAGNIFICATION" val="2"/>
  <p:tag name="DEFAULTFONTSIZE" val="10"/>
  <p:tag name="DEFAULTWIDTH" val="717"/>
  <p:tag name="DEFAULTHEIGHT" val="460"/>
</p:tagLst>
</file>

<file path=ppt/tags/tag2.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begin{array}{ll}&#10;&amp;P(X(s+t) = j /X(s) = i, X(r) = x(r), 0\leq r&lt; s)  \\&#10;=&amp; P(X(s+t) = j /X(s) = i)&#10;\end{array}&#10;$&#10;\end{document}&#10;"/>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234"/>
  <p:tag name="PICTUREFILESIZE" val="14539"/>
</p:tagLst>
</file>

<file path=ppt/tags/tag3.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begin{array}{ll}&#10;P(X(s+t) = j /X(s) = i)\\&#10;\end{array}&#10;$&#10;\end{document}&#10;"/>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113"/>
  <p:tag name="PICTUREFILESIZE" val="5019"/>
</p:tagLst>
</file>

<file path=ppt/tags/tag4.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begin{array}{ll}&#10;&amp;P(X(s+t) = j /X(s) = i)\\&#10;=&amp;P(X(t) = j /X(0) = i) = P_{ij}(t)\quad \forall s\geq 0&#10;\end{array}&#10;$&#10;\end{document}&#10; "/>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191"/>
  <p:tag name="PICTUREFILESIZE" val="12914"/>
</p:tagLst>
</file>

<file path=ppt/tags/tag5.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lim\limits_{t\rightarrow 0}P_{ij}(t)=&#10;\left\{&#10;\begin{array}{ll}&#10;1&amp;\mbox{if } i=j\\&#10;0&amp;\mbox{if } i\neq j\\&#10;\end{array}&#10;\right.&#10;$&#10;&#10;\end{document}&#10;"/>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112"/>
  <p:tag name="PICTUREFILESIZE" val="6113"/>
</p:tagLst>
</file>

<file path=ppt/tags/tag6.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P(T_i &gt; t+s / T_i &gt; s) = P(T_i &gt; t)&#10;$&#10;\end{document}&#10;"/>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145"/>
  <p:tag name="PICTUREFILESIZE" val="5886"/>
</p:tagLst>
</file>

<file path=ppt/tags/tag7.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begin{array}{ll}&#10;P_{ii}=0&amp;\forall i\\&#10;\sum\limits_{j=0}^{M}P_{ij}=1&amp;\forall i&#10;\end{array}&#10;$&#10;\end{document}&#10;"/>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67"/>
  <p:tag name="PICTUREFILESIZE" val="5302"/>
</p:tagLst>
</file>

<file path=ppt/tags/tag8.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q_i = q_i \sum\limits_{j\neq i}P_{ij}= \sum\limits_{j\neq i} q_i P_{ij}=\sum\limits_{j\neq i} q_{ij}\quad&#10;$&#10;&#10;\end{document}&#10;"/>
  <p:tag name="EXTERNALNAME" val="txp_fig"/>
  <p:tag name="BLEND" val="False"/>
  <p:tag name="TRANSPARENT" val="False"/>
  <p:tag name="KEEPFILES" val="False"/>
  <p:tag name="DEBUGPAUSE" val="False"/>
  <p:tag name="RESOLUTION" val="1200"/>
  <p:tag name="TIMEOUT" val="(none)"/>
  <p:tag name="BOXWIDTH" val="650"/>
  <p:tag name="BOXHEIGHT" val="448"/>
  <p:tag name="BOXFONT" val="10"/>
  <p:tag name="BOXWRAP" val="False"/>
  <p:tag name="WORKAROUNDTRANSPARENCYBUG" val="False"/>
  <p:tag name="ALLOWFONTSUBSTITUTION" val="False"/>
  <p:tag name="BITMAPFORMAT" val="pngmono"/>
  <p:tag name="ORIGWIDTH" val="145"/>
  <p:tag name="PICTUREFILESIZE" val="7935"/>
</p:tagLst>
</file>

<file path=ppt/tags/tag9.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because $P_{ii}=0$ and $\sum\limits_{j=0}^{M}P_{ij}=1$.&#10;&#10;\end{document}&#10;"/>
  <p:tag name="EXTERNALNAME" val="txp_fig"/>
  <p:tag name="BLEND" val="False"/>
  <p:tag name="TRANSPARENT" val="False"/>
  <p:tag name="KEEPFILES" val="False"/>
  <p:tag name="DEBUGPAUSE" val="False"/>
  <p:tag name="RESOLUTION" val="1200"/>
  <p:tag name="TIMEOUT" val="(none)"/>
  <p:tag name="BOXWIDTH" val="650"/>
  <p:tag name="BOXHEIGHT" val="448"/>
  <p:tag name="BOXFONT" val="10"/>
  <p:tag name="BOXWRAP" val="False"/>
  <p:tag name="WORKAROUNDTRANSPARENCYBUG" val="False"/>
  <p:tag name="ALLOWFONTSUBSTITUTION" val="False"/>
  <p:tag name="BITMAPFORMAT" val="pngmono"/>
  <p:tag name="ORIGWIDTH" val="141"/>
  <p:tag name="PICTUREFILESIZE" val="6821"/>
</p:tagLst>
</file>

<file path=ppt/tags/tag10.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begin{array}{ll}&#10;\pi_j = \sum\limits_{i=0}^{M} \pi_i P_{ij}(t)&amp;j=0,\ldots,M,\ \forall t\geq 0\\&#10;\sum\limits_{j=0}^{M}  \pi_j =1&#10;\end{array}&#10;$&#10;&#10;\end{document}&#10;"/>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173"/>
  <p:tag name="PICTUREFILESIZE" val="11869"/>
</p:tagLst>
</file>

<file path=ppt/tags/tag11.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lim\limits_{t\rightarrow\infty} P_{ij}(t)=\pi_j&#10;$&#10;&#10;\end{document}&#10;"/>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68"/>
  <p:tag name="PICTUREFILESIZE" val="3188"/>
</p:tagLst>
</file>

<file path=ppt/tags/tag12.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begin{array}{ll}&#10;\pi_jq_j = \sum\limits_{i\neq j} \pi_i q_{ij}&amp;j=0,\ldots,M\\&#10;\sum\limits_{j=0}^{M}  \pi_j =1&#10;\end{array}&#10;$&#10;&#10;\end{document}&#10;"/>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133"/>
  <p:tag name="PICTUREFILESIZE" val="8923"/>
</p:tagLst>
</file>

<file path=ppt/tags/tag13.xml><?xml version="1.0" encoding="utf-8"?>
<p:tagLst xmlns:a="http://schemas.openxmlformats.org/drawingml/2006/main" xmlns:r="http://schemas.openxmlformats.org/officeDocument/2006/relationships" xmlns:p="http://schemas.openxmlformats.org/presentationml/2006/main">
  <p:tag name="SOURCE" val="\documentclass{article}\pagestyle{empty}&#10;\usepackage{amsmath}&#10;&#10;\begin{document}&#10;$&#10;\pi_j q_j&#10;$&#10;&#10;\end{document}&#10;"/>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19"/>
  <p:tag name="PICTUREFILESIZE" val="1012"/>
</p:tagLst>
</file>

<file path=ppt/tags/tag14.xml><?xml version="1.0" encoding="utf-8"?>
<p:tagLst xmlns:a="http://schemas.openxmlformats.org/drawingml/2006/main" xmlns:r="http://schemas.openxmlformats.org/officeDocument/2006/relationships" xmlns:p="http://schemas.openxmlformats.org/presentationml/2006/main">
  <p:tag name="SOURCE" val="\documentclass{article}\pagestyle{empty}&#10;\usepackage{amsmath}&#10;&#10;\begin{document}&#10;$&#10;\sum\limits_{i\neq j} \pi_i q_{ij}&#10;$&#10;&#10;\end{document}&#10;"/>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34"/>
  <p:tag name="PICTUREFILESIZE" val="2597"/>
</p:tagLst>
</file>

<file path=ppt/tags/tag15.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begin{array}{ll}&#10;\pi_jq_j = \sum\limits_{i\neq j} \pi_i q_{ij}&amp;j=0,\ldots,M\\&#10;\sum\limits_{j=0}^{M}  \pi_j =1&#10;\end{array}&#10;$&#10;&#10;\end{document}&#10;"/>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133"/>
  <p:tag name="PICTUREFILESIZE" val="8923"/>
</p:tagLst>
</file>

<file path=ppt/tags/tag16.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begin{array}{ll}&#10;\pi_{0}\lambda&amp;=\pi_{1}\mu\\&#10;\pi_{1}(\mu+\lambda) &amp;= \pi_{0}\lambda + \pi_{2}\mu\\&#10;\ldots\ldots\\&#10;\pi_{n-1}(\mu+\lambda) &amp;= \pi_{n-2}\lambda + \pi_{n}\mu\\&#10;\ldots\ldots\\&#10;\end{array}&#10;$&#10;\end{document}&#10;"/>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130.9802"/>
  <p:tag name="PICTUREFILESIZE" val="12003"/>
</p:tagLst>
</file>

<file path=ppt/tags/tag17.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begin{array}{llll}&#10;\pi_1 &amp;= \frac{\lambda}{\mu}\pi_{0}\\&#10;\pi_2 &amp; =\frac{\lambda}{\mu}\pi_{1}+\frac{1}{\mu}(\mu\pi_1-\lambda\pi_0)&amp;=\frac{\lambda}{\mu}\pi_{1}&amp;=\frac{\lambda^2}{\mu^2}\pi_{0}\\&#10;\ldots\ldots\\&#10;\pi_n &amp; =\frac{\lambda}{\mu}\pi_{n-1}+\frac{1}{\mu}(\mu\pi_{n-1}-\lambda\pi_{n-2})&amp;=\frac{\lambda}{\mu}\pi_{n-1}&amp;=\frac{\lambda^n}{\mu^n}\pi_{0}\\&#10;\ldots\ldots\\&#10;\end{array}&#10;$&#10;\end{document}&#10;"/>
  <p:tag name="EXTERNALNAME" val="txp_fig"/>
  <p:tag name="BLEND" val="False"/>
  <p:tag name="TRANSPARENT" val="False"/>
  <p:tag name="KEEPFILES" val="False"/>
  <p:tag name="DEBUGPAUSE" val="False"/>
  <p:tag name="RESOLUTION" val="1200"/>
  <p:tag name="TIMEOUT" val="(none)"/>
  <p:tag name="BOXWIDTH" val="883"/>
  <p:tag name="BOXHEIGHT" val="508"/>
  <p:tag name="BOXFONT" val="10"/>
  <p:tag name="BOXWRAP" val="False"/>
  <p:tag name="WORKAROUNDTRANSPARENCYBUG" val="False"/>
  <p:tag name="ALLOWFONTSUBSTITUTION" val="False"/>
  <p:tag name="BITMAPFORMAT" val="pngmono"/>
  <p:tag name="ORIGWIDTH" val="259.9806"/>
  <p:tag name="PICTUREFILESIZE" val="19256"/>
</p:tagLst>
</file>

<file path=ppt/tags/tag18.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begin{array}{ll}&#10;\pi_{0}\lambda&amp;=\pi_{1}\mu\\&#10;\pi_{1}(\mu+\lambda) &amp;= \pi_{0}\lambda + \pi_{2}\mu\\&#10;\ldots\ldots\\&#10;\pi_{n-1}(\mu+\lambda) &amp;= \pi_{n-2}\lambda + \pi_{n}\mu\\&#10;\ldots\ldots\\&#10;\end{array}&#10;$&#10;\end{document}&#10;"/>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130.9802"/>
  <p:tag name="PICTUREFILESIZE" val="12003"/>
</p:tagLst>
</file>

<file path=ppt/tags/tag19.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rho=\frac{\lambda}{\mu}&#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26"/>
  <p:tag name="PICTUREFILESIZE" val="1049"/>
</p:tagLst>
</file>

<file path=ppt/tags/tag20.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pi_n=\rho^n\pi_0\quad n\geq 0&#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79.98016"/>
  <p:tag name="PICTUREFILESIZE" val="2849"/>
</p:tagLst>
</file>

<file path=ppt/tags/tag21.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left(\sum\limits_{n=0}^{\infty}\rho_n\right)\pi_0=1&#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69.96016"/>
  <p:tag name="PICTUREFILESIZE" val="4545"/>
</p:tagLst>
</file>

<file path=ppt/tags/tag22.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pi_0=\left(\sum\limits_{n=0}^{\infty}\rho_n\right)^{-1}&#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75.96016"/>
  <p:tag name="PICTUREFILESIZE" val="4793"/>
</p:tagLst>
</file>

<file path=ppt/tags/tag23.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left(\frac{1}{1-\rho}\right)^{-1}=1-\rho&#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84.96016"/>
  <p:tag name="PICTUREFILESIZE" val="2704"/>
</p:tagLst>
</file>

<file path=ppt/tags/tag24.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sum\limits_{n=0}^{\infty}\pi_n=1&#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45.96008"/>
  <p:tag name="PICTUREFILESIZE" val="2479"/>
</p:tagLst>
</file>

<file path=ppt/tags/tag25.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pi_n=\rho^n(1-\rho)\quad n\geq 0&#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99.96024"/>
  <p:tag name="PICTUREFILESIZE" val="3579"/>
</p:tagLst>
</file>

<file path=ppt/tags/tag26.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pi_0=\left(\sum\limits_{n=0}^{\infty}\rho_n\right)^{-1}&#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75.96016"/>
  <p:tag name="PICTUREFILESIZE" val="4793"/>
</p:tagLst>
</file>

<file path=ppt/tags/tag27.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pi_n=\rho^n(1-\rho)\quad n\geq 0&#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99.96024"/>
  <p:tag name="PICTUREFILESIZE" val="3579"/>
</p:tagLst>
</file>

<file path=ppt/tags/tag28.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left(\frac{1}{1-\rho}\right)^{-1}=1-\rho&#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84.96016"/>
  <p:tag name="PICTUREFILESIZE" val="2704"/>
</p:tagLst>
</file>

<file path=ppt/tags/tag29.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rho=\frac{\lambda}{\mu}&lt;1&#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43.98008"/>
  <p:tag name="PICTUREFILESIZE" val="1590"/>
</p:tagLst>
</file>

<file path=ppt/tags/tag30.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pi_0=1-\rho&#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46.98008"/>
  <p:tag name="PICTUREFILESIZE" val="1227"/>
</p:tagLst>
</file>

<file path=ppt/tags/tag31.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sum\limits_{n=0}^{\infty} n\pi_n&#10;$&#10;\end{document}&#10;"/>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33.96008"/>
  <p:tag name="PICTUREFILESIZE" val="2548"/>
</p:tagLst>
</file>

<file path=ppt/tags/tag32.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sum\limits_{n=s}^{\infty} (n - s) \pi_n&#10;$&#10;\end{document}&#10;"/>
  <p:tag name="EXTERNALNAME" val="txp_fig"/>
  <p:tag name="BLEND" val="False"/>
  <p:tag name="TRANSPARENT" val="False"/>
  <p:tag name="KEEPFILES" val="False"/>
  <p:tag name="DEBUGPAUSE" val="False"/>
  <p:tag name="RESOLUTION" val="1200"/>
  <p:tag name="TIMEOUT" val="(none)"/>
  <p:tag name="BOXWIDTH" val="424"/>
  <p:tag name="BOXHEIGHT" val="295"/>
  <p:tag name="BOXFONT" val="10"/>
  <p:tag name="BOXWRAP" val="False"/>
  <p:tag name="WORKAROUNDTRANSPARENCYBUG" val="False"/>
  <p:tag name="ALLOWFONTSUBSTITUTION" val="False"/>
  <p:tag name="BITMAPFORMAT" val="pngmono"/>
  <p:tag name="ORIGWIDTH" val="57.00008"/>
  <p:tag name="PICTUREFILESIZE" val="3554"/>
</p:tagLst>
</file>

<file path=ppt/tags/tag33.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begin{array}{ll}&#10;L&amp;=\sum\limits_{n=0}^{\infty}n(1-\rho)\rho^{n}\\&#10;&amp;=(1-\rho)\rho\sum\limits_{n=0}^{\infty}n\rho^{n-1}\\&#10;&amp;=(1-\rho)\rho\sum\limits_{n=0}^{\infty}\frac{\partial \rho^n}{\partial \rho}\\&#10;&amp;=(1-\rho)\rho\frac{\partial}{\partial \rho}\left(\sum\limits_{n=0}^{\infty}\rho^n\right)\\&#10;&amp;=(1-\rho)\rho\frac{\partial}{\partial \rho}\left(\frac{1}{1-\rho}\right)\\&#10;&amp;=(1-\rho)\rho\frac{1}{(1-\rho)^2}\\&#10;&amp;=\frac{\rho}{(1-\rho)}=\frac{\lambda/\mu}{1-\lambda/\mu}=\frac{\lambda}{\mu-\lambda}\\&#10;\end{array}&#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120"/>
  <p:tag name="PICTUREFILESIZE" val="31837"/>
</p:tagLst>
</file>

<file path=ppt/tags/tag34.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frac{\partial \rho^n}{\partial n}=n\rho^{n-1}&#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55"/>
  <p:tag name="PICTUREFILESIZE" val="2532"/>
</p:tagLst>
</file>

<file path=ppt/tags/tag35.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L=\frac{\rho}{(1-\rho)}&#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42"/>
  <p:tag name="PICTUREFILESIZE" val="1523"/>
</p:tagLst>
</file>

<file path=ppt/tags/tag36.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L=\frac{\lambda}{(\mu - \lambda)}&#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43.98008"/>
  <p:tag name="PICTUREFILESIZE" val="1761"/>
</p:tagLst>
</file>

<file path=ppt/tags/tag37.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W= \frac{L}{\lambda}=\frac{1}{(\mu - \lambda)}&#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69.00016"/>
  <p:tag name="PICTUREFILESIZE" val="2478"/>
</p:tagLst>
</file>

<file path=ppt/tags/tag38.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W_q= W - \frac{1}{\mu}=\frac{\lambda}{\mu(\mu - \lambda)}&#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99.00024"/>
  <p:tag name="PICTUREFILESIZE" val="4025"/>
</p:tagLst>
</file>

<file path=ppt/tags/tag39.xml><?xml version="1.0" encoding="utf-8"?>
<p:tagLst xmlns:a="http://schemas.openxmlformats.org/drawingml/2006/main" xmlns:r="http://schemas.openxmlformats.org/officeDocument/2006/relationships" xmlns:p="http://schemas.openxmlformats.org/presentationml/2006/main">
  <p:tag name="SOURCE" val="\documentclass{article}\pagestyle{empty}&#10;\begin{document}&#10;$&#10;L_q=\lambda W_q= \frac{\lambda^2}{\mu(\mu-\lambda)}\\&#10;$&#10;\end{document}&#10;"/>
  <p:tag name="EXTERNALNAME" val="txp_fig"/>
  <p:tag name="BLEND" val="False"/>
  <p:tag name="TRANSPARENT" val="False"/>
  <p:tag name="KEEPFILES" val="False"/>
  <p:tag name="DEBUGPAUSE" val="False"/>
  <p:tag name="RESOLUTION" val="1200"/>
  <p:tag name="TIMEOUT" val="(none)"/>
  <p:tag name="BOXWIDTH" val="717"/>
  <p:tag name="BOXHEIGHT" val="460"/>
  <p:tag name="BOXFONT" val="10"/>
  <p:tag name="BOXWRAP" val="False"/>
  <p:tag name="WORKAROUNDTRANSPARENCYBUG" val="False"/>
  <p:tag name="ALLOWFONTSUBSTITUTION" val="False"/>
  <p:tag name="BITMAPFORMAT" val="pngmono"/>
  <p:tag name="ORIGWIDTH" val="85.98016"/>
  <p:tag name="PICTUREFILESIZE" val="4105"/>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2500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25000" smtClean="0">
            <a:ln>
              <a:noFill/>
            </a:ln>
            <a:solidFill>
              <a:schemeClr val="tx1"/>
            </a:solidFill>
            <a:effectLst/>
            <a:latin typeface="Arial" charset="0"/>
            <a:cs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isl xmlns:xsd="http://www.w3.org/2001/XMLSchema" xmlns:xsi="http://www.w3.org/2001/XMLSchema-instance" xmlns="http://www.boldonjames.com/2008/01/sie/internal/label" sislVersion="0" policy="416e2cc4-927b-4a48-abf1-08c8b7746fe4" origin="userSelected">
  <element uid="id_classification_generalbusiness" value=""/>
</sisl>
</file>

<file path=customXml/itemProps1.xml><?xml version="1.0" encoding="utf-8"?>
<ds:datastoreItem xmlns:ds="http://schemas.openxmlformats.org/officeDocument/2006/customXml" ds:itemID="{8D085F41-3F2E-4543-8F78-DC547E97A61C}">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otalTime>5883</TotalTime>
  <Words>2086</Words>
  <Application>Microsoft Office PowerPoint</Application>
  <PresentationFormat>On-screen Show (4:3)</PresentationFormat>
  <Paragraphs>360</Paragraphs>
  <Slides>38</Slides>
  <Notes>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cmsy10</vt:lpstr>
      <vt:lpstr>Symbol</vt:lpstr>
      <vt:lpstr>Default Design</vt:lpstr>
      <vt:lpstr>DA 507 modeling and optimization </vt:lpstr>
      <vt:lpstr>Continuous Time Stochastic Processes</vt:lpstr>
      <vt:lpstr>Continuous Time Stochastic Processes</vt:lpstr>
      <vt:lpstr>Markovian Property for  Continuous Time Stochastic Processes</vt:lpstr>
      <vt:lpstr>Stationary Transition Probabilities</vt:lpstr>
      <vt:lpstr>Continuous Time  Transition Probability Function</vt:lpstr>
      <vt:lpstr>Continuous Time Markov Chains</vt:lpstr>
      <vt:lpstr>Some Key Random Variables</vt:lpstr>
      <vt:lpstr>Some Key Random Variables</vt:lpstr>
      <vt:lpstr>Continuous Time Markov Chains</vt:lpstr>
      <vt:lpstr>Continuous Time Markov Chains</vt:lpstr>
      <vt:lpstr>Two Useful Properties of Exponential Distribution</vt:lpstr>
      <vt:lpstr>Continuous Time Markov Chains</vt:lpstr>
      <vt:lpstr>Transition Rates</vt:lpstr>
      <vt:lpstr>Example</vt:lpstr>
      <vt:lpstr>Steady-State Probabilities</vt:lpstr>
      <vt:lpstr>Steady-State Probabilities</vt:lpstr>
      <vt:lpstr>Steady-State Probabilities</vt:lpstr>
      <vt:lpstr>Example</vt:lpstr>
      <vt:lpstr>Queueing Models Based on  Continuous Time Markov Chains</vt:lpstr>
      <vt:lpstr>An Elementary Queueing Process</vt:lpstr>
      <vt:lpstr>The M/M/s Model</vt:lpstr>
      <vt:lpstr>The M/M/s Model</vt:lpstr>
      <vt:lpstr>Steady-State Probabilities for M/M/1</vt:lpstr>
      <vt:lpstr>Steady-State Probabilities for M/M/1</vt:lpstr>
      <vt:lpstr>Steady-State Probabilities for M/M/1</vt:lpstr>
      <vt:lpstr>Steady-State Probabilities for M/M/1</vt:lpstr>
      <vt:lpstr>Server Utilization</vt:lpstr>
      <vt:lpstr>Existence of a  Steady-State for M/M/1</vt:lpstr>
      <vt:lpstr>Steady-State Probabilities for M/M/1</vt:lpstr>
      <vt:lpstr>Steady-State Condition</vt:lpstr>
      <vt:lpstr>Little’s Law</vt:lpstr>
      <vt:lpstr>Little’s Law</vt:lpstr>
      <vt:lpstr>Expected Time in Queue</vt:lpstr>
      <vt:lpstr>Fundamental  Performance Measures</vt:lpstr>
      <vt:lpstr>The M/M/1 Model Expected # of Customers in System</vt:lpstr>
      <vt:lpstr>The M/M/1 Model Load On The System</vt:lpstr>
      <vt:lpstr>The M/M/1 Model Fundamental Performance Measures</vt:lpstr>
    </vt:vector>
  </TitlesOfParts>
  <Company>Sabanci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and Analysis of Large Systems</dc:title>
  <dc:creator>Kerem Bulbul</dc:creator>
  <cp:lastModifiedBy>Birol Yüceoğlu (Migros)</cp:lastModifiedBy>
  <cp:revision>297</cp:revision>
  <dcterms:created xsi:type="dcterms:W3CDTF">2003-10-02T18:57:18Z</dcterms:created>
  <dcterms:modified xsi:type="dcterms:W3CDTF">2020-01-04T05:15:41Z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df011892-a035-4cbd-bad4-a82851822205</vt:lpwstr>
  </property>
  <property fmtid="{D5CDD505-2E9C-101B-9397-08002B2CF9AE}" pid="3" name="bjSaver">
    <vt:lpwstr>GCQzHYWfdzjTrjdlW3avldOuoiAZmI8T</vt:lpwstr>
  </property>
  <property fmtid="{D5CDD505-2E9C-101B-9397-08002B2CF9AE}" pid="4" name="bjDocumentLabelXML">
    <vt:lpwstr>&lt;?xml version="1.0" encoding="us-ascii"?&gt;&lt;sisl xmlns:xsd="http://www.w3.org/2001/XMLSchema" xmlns:xsi="http://www.w3.org/2001/XMLSchema-instance" sislVersion="0" policy="416e2cc4-927b-4a48-abf1-08c8b7746fe4" origin="userSelected" xmlns="http://www.boldonj</vt:lpwstr>
  </property>
  <property fmtid="{D5CDD505-2E9C-101B-9397-08002B2CF9AE}" pid="5" name="bjDocumentLabelXML-0">
    <vt:lpwstr>ames.com/2008/01/sie/internal/label"&gt;&lt;element uid="id_classification_generalbusiness" value="" /&gt;&lt;/sisl&gt;</vt:lpwstr>
  </property>
  <property fmtid="{D5CDD505-2E9C-101B-9397-08002B2CF9AE}" pid="6" name="bjDocumentSecurityLabel">
    <vt:lpwstr>Genel</vt:lpwstr>
  </property>
</Properties>
</file>