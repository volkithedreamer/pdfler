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  <p:sldMasterId id="2147483687" r:id="rId2"/>
    <p:sldMasterId id="2147483688" r:id="rId3"/>
    <p:sldMasterId id="2147483689" r:id="rId4"/>
  </p:sldMasterIdLst>
  <p:notesMasterIdLst>
    <p:notesMasterId r:id="rId7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4"/>
      <p:bold r:id="rId75"/>
      <p:italic r:id="rId76"/>
      <p:boldItalic r:id="rId77"/>
    </p:embeddedFont>
    <p:embeddedFont>
      <p:font typeface="Corbel" panose="020B0503020204020204" pitchFamily="34" charset="0"/>
      <p:regular r:id="rId78"/>
      <p:bold r:id="rId79"/>
      <p:italic r:id="rId80"/>
      <p:boldItalic r:id="rId81"/>
    </p:embeddedFont>
    <p:embeddedFont>
      <p:font typeface="Garamond" panose="02020404030301010803" pitchFamily="18" charset="0"/>
      <p:regular r:id="rId82"/>
      <p:bold r:id="rId83"/>
      <p:italic r:id="rId84"/>
      <p:boldItalic r:id="rId85"/>
    </p:embeddedFont>
    <p:embeddedFont>
      <p:font typeface="Tahoma" panose="020B0604030504040204" pitchFamily="34" charset="0"/>
      <p:regular r:id="rId86"/>
      <p:bold r:id="rId87"/>
    </p:embeddedFont>
    <p:embeddedFont>
      <p:font typeface="Verdana" panose="020B0604030504040204" pitchFamily="34" charset="0"/>
      <p:regular r:id="rId88"/>
      <p:bold r:id="rId89"/>
      <p:italic r:id="rId90"/>
      <p:boldItalic r:id="rId9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79CD6E-6118-4F7F-94F2-F2104336EA04}">
  <a:tblStyle styleId="{7979CD6E-6118-4F7F-94F2-F2104336EA04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59BD3A1-69AB-4F10-83F9-87D5D36145D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1.fntdata"/><Relationship Id="rId89" Type="http://schemas.openxmlformats.org/officeDocument/2006/relationships/font" Target="fonts/font16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1.xml"/><Relationship Id="rId90" Type="http://schemas.openxmlformats.org/officeDocument/2006/relationships/font" Target="fonts/font17.fntdata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font" Target="fonts/font7.fntdata"/><Relationship Id="rId85" Type="http://schemas.openxmlformats.org/officeDocument/2006/relationships/font" Target="fonts/font12.fntdata"/><Relationship Id="rId9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openxmlformats.org/officeDocument/2006/relationships/font" Target="fonts/font15.fntdata"/><Relationship Id="rId91" Type="http://schemas.openxmlformats.org/officeDocument/2006/relationships/font" Target="fonts/font18.fntdata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font" Target="fonts/font13.fntdata"/><Relationship Id="rId9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3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14.fntdata"/><Relationship Id="rId61" Type="http://schemas.openxmlformats.org/officeDocument/2006/relationships/slide" Target="slides/slide57.xml"/><Relationship Id="rId82" Type="http://schemas.openxmlformats.org/officeDocument/2006/relationships/font" Target="fonts/font9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lkan Yurtseven" userId="dba8ffe1f143b8c1" providerId="LiveId" clId="{595FF864-D527-4C84-805E-3DAD1316E417}"/>
    <pc:docChg chg="custSel modSld">
      <pc:chgData name="Volkan Yurtseven" userId="dba8ffe1f143b8c1" providerId="LiveId" clId="{595FF864-D527-4C84-805E-3DAD1316E417}" dt="2022-08-31T14:05:59.705" v="3"/>
      <pc:docMkLst>
        <pc:docMk/>
      </pc:docMkLst>
      <pc:sldChg chg="delSp mod">
        <pc:chgData name="Volkan Yurtseven" userId="dba8ffe1f143b8c1" providerId="LiveId" clId="{595FF864-D527-4C84-805E-3DAD1316E417}" dt="2022-08-27T11:37:54.339" v="1" actId="478"/>
        <pc:sldMkLst>
          <pc:docMk/>
          <pc:sldMk cId="0" sldId="291"/>
        </pc:sldMkLst>
        <pc:spChg chg="del">
          <ac:chgData name="Volkan Yurtseven" userId="dba8ffe1f143b8c1" providerId="LiveId" clId="{595FF864-D527-4C84-805E-3DAD1316E417}" dt="2022-08-27T11:37:50.086" v="0" actId="478"/>
          <ac:spMkLst>
            <pc:docMk/>
            <pc:sldMk cId="0" sldId="291"/>
            <ac:spMk id="539" creationId="{00000000-0000-0000-0000-000000000000}"/>
          </ac:spMkLst>
        </pc:spChg>
        <pc:spChg chg="del">
          <ac:chgData name="Volkan Yurtseven" userId="dba8ffe1f143b8c1" providerId="LiveId" clId="{595FF864-D527-4C84-805E-3DAD1316E417}" dt="2022-08-27T11:37:54.339" v="1" actId="478"/>
          <ac:spMkLst>
            <pc:docMk/>
            <pc:sldMk cId="0" sldId="291"/>
            <ac:spMk id="541" creationId="{00000000-0000-0000-0000-000000000000}"/>
          </ac:spMkLst>
        </pc:spChg>
      </pc:sldChg>
      <pc:sldChg chg="modSp mod">
        <pc:chgData name="Volkan Yurtseven" userId="dba8ffe1f143b8c1" providerId="LiveId" clId="{595FF864-D527-4C84-805E-3DAD1316E417}" dt="2022-08-31T14:05:59.705" v="3"/>
        <pc:sldMkLst>
          <pc:docMk/>
          <pc:sldMk cId="0" sldId="295"/>
        </pc:sldMkLst>
        <pc:spChg chg="mod">
          <ac:chgData name="Volkan Yurtseven" userId="dba8ffe1f143b8c1" providerId="LiveId" clId="{595FF864-D527-4C84-805E-3DAD1316E417}" dt="2022-08-31T14:05:59.705" v="3"/>
          <ac:spMkLst>
            <pc:docMk/>
            <pc:sldMk cId="0" sldId="295"/>
            <ac:spMk id="58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06e74c8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5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5" name="Google Shape;165;g38c06e74c8_2_4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c06e74c8_2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2" name="Google Shape;172;g38c06e74c8_2_9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c06e74c8_2_13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8c06e74c8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c06e74c8_2_140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g38c06e74c8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5" name="Google Shape;195;g38c06e74c8_2_14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c06e74c8_2_169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g38c06e74c8_2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5" name="Google Shape;225;g38c06e74c8_2_16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1988,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a British mountain climber named Joe Simpson wrote a book called 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Touching the Void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harrowing account of near death in the Peruvian Andes. It got good reviews but, only a modest success, it was soon forgotten. Then, a decade later, a strange thing happened. Jon Krakauer wrote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Thin Air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another book about a mountain-climbing tragedy, which became a publishing sensation. Suddenly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Touching the Void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started to sell again.</a:t>
            </a:r>
            <a:endParaRPr sz="1400"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Random House rushed out a new edition to keep up with demand. Booksellers began to promote it next to their 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Thin Air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displays, and sales rose further. A revised paperback edition, which came out in January, spent 14 weeks on the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York Times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bestseller list. That same month, IFC Films released a docudrama of the story to critical acclaim. Now 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Touching the Void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outsells 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Thin Air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more than two to one.</a:t>
            </a:r>
            <a:endParaRPr sz="1400"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400"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happened? In short, Amazon.com recommendations. The online bookseller's software noted patterns in buying behavior and suggested that readers who liked 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Into Thin Air 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would also like </a:t>
            </a:r>
            <a:r>
              <a:rPr lang="en" sz="1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Touching the Void</a:t>
            </a: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People took the suggestion, agreed whole heartedly, wrote rhapsodic reviews. More sales, more algorithm-fueled recommendations, and the positive feedback loop kicked in.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c06e74c8_2_177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8c06e74c8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4" name="Google Shape;234;g38c06e74c8_2_17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c06e74c8_2_18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8c06e74c8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c06e74c8_2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5" name="Google Shape;255;g38c06e74c8_2_19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c06e74c8_2_20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g38c06e74c8_2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4" name="Google Shape;264;g38c06e74c8_2_20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c06e74c8_2_212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8c06e74c8_2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3" name="Google Shape;273;g38c06e74c8_2_21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c06e74c8_2_248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g38c06e74c8_2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2" name="Google Shape;282;g38c06e74c8_2_24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c06e74c8_2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8" name="Google Shape;298;g38c06e74c8_2_22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c06e74c8_2_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5" name="Google Shape;305;g38c06e74c8_2_226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8c06e74c8_2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g38c06e74c8_2_23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c06e74c8_2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1" name="Google Shape;321;g38c06e74c8_2_24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c06e74c8_2_26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0" name="Google Shape;330;g38c06e74c8_2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1" name="Google Shape;331;g38c06e74c8_2_26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c06e74c8_2_272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g38c06e74c8_2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0" name="Google Shape;340;g38c06e74c8_2_27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8c06e74c8_2_280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g38c06e74c8_2_2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9" name="Google Shape;349;g38c06e74c8_2_28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8c06e74c8_2_288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g38c06e74c8_2_2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8" name="Google Shape;358;g38c06e74c8_2_28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c06e74c8_2_296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6" name="Google Shape;366;g38c06e74c8_2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7" name="Google Shape;367;g38c06e74c8_2_296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c06e74c8_2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3" name="Google Shape;393;g38c06e74c8_2_32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c06e74c8_2_329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g38c06e74c8_2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2" name="Google Shape;402;g38c06e74c8_2_32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c06e74c8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0" name="Google Shape;410;g38c06e74c8_2_33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8c06e74c8_2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8" name="Google Shape;418;g38c06e74c8_2_34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8c06e74c8_2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600" y="303213"/>
            <a:ext cx="2052478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6" name="Google Shape;426;g38c06e74c8_2_35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8c06e74c8_2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3" name="Google Shape;443;g38c06e74c8_2_36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8c06e74c8_2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1" name="Google Shape;451;g38c06e74c8_2_37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8c06e74c8_2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9" name="Google Shape;459;g38c06e74c8_2_38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8c06e74c8_2_388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g38c06e74c8_2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8" name="Google Shape;468;g38c06e74c8_2_38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8c06e74c8_2_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9" name="Google Shape;479;g38c06e74c8_2_39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8c06e74c8_2_406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g38c06e74c8_2_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8" name="Google Shape;488;g38c06e74c8_2_406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8c06e74c8_2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6" name="Google Shape;496;g38c06e74c8_2_42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8c06e74c8_2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4" name="Google Shape;504;g38c06e74c8_2_42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8c06e74c8_2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2" name="Google Shape;512;g38c06e74c8_2_43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3" name="Google Shape;513;g38c06e74c8_2_43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34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8c06e74c8_2_442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1" name="Google Shape;521;g38c06e74c8_2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2" name="Google Shape;522;g38c06e74c8_2_44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8c06e74c8_2_450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36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g38c06e74c8_2_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600" y="303213"/>
            <a:ext cx="2052478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1" name="Google Shape;531;g38c06e74c8_2_45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8c06e74c8_2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6" name="Google Shape;546;g38c06e74c8_2_465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8c06e74c8_2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6" name="Google Shape;556;g38c06e74c8_2_47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8c06e74c8_2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5" name="Google Shape;565;g38c06e74c8_2_482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8c06e74c8_2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600" y="303213"/>
            <a:ext cx="2052478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5" name="Google Shape;575;g38c06e74c8_2_49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8c06e74c8_2_4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4" name="Google Shape;584;g38c06e74c8_2_49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8c06e74c8_2_509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42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g38c06e74c8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6" name="Google Shape;596;g38c06e74c8_2_50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-- Jaccard is not appropriate as we want to consider weights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8c06e74c8_2_52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43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g38c06e74c8_2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2" name="Google Shape;612;g38c06e74c8_2_52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8c06e74c8_2_533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g38c06e74c8_2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2" name="Google Shape;622;g38c06e74c8_2_53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8c06e74c8_2_54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g38c06e74c8_2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600" y="303213"/>
            <a:ext cx="2052478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8c06e74c8_2_55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38c06e74c8_2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600" y="303213"/>
            <a:ext cx="2052478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8c06e74c8_2_56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g38c06e74c8_2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8c06e74c8_2_58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g38c06e74c8_2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8c06e74c8_2_59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38c06e74c8_2_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8c06e74c8_2_60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8" name="Google Shape;698;g38c06e74c8_2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9" name="Google Shape;699;g38c06e74c8_2_60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 difference in the typical behavior of users and items, as it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pertains to similarity. Intuitively, items tend to be classifiable in simple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terms. For example, music tends to belong to a single genre. It is impossi-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ble, e.g., for a piece of music to be both 60’s rock and 1700’s baroque. On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hand, there are individuals who like both 60’s rock and 1700’s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baroque, and who buy examples of both types of music. 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consequence is that it is easier to discover items that are similar because they belong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the same genre, than it is to detect that two users are similar because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prefer one genre in common, while each also likes some genres that</a:t>
            </a:r>
            <a:endParaRPr/>
          </a:p>
          <a:p>
            <a:pPr marL="0" marR="0" lvl="0" indent="0" algn="l" rtl="0">
              <a:spcBef>
                <a:spcPts val="330"/>
              </a:spcBef>
              <a:spcAft>
                <a:spcPts val="0"/>
              </a:spcAft>
              <a:buNone/>
            </a:pPr>
            <a:r>
              <a:rPr lang="en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doesn’t care for.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8c06e74c8_2_621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51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g38c06e74c8_2_6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17" name="Google Shape;717;g38c06e74c8_2_62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8c06e74c8_2_629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52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g38c06e74c8_2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26" name="Google Shape;726;g38c06e74c8_2_62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8c06e74c8_2_637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53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4" name="Google Shape;734;g38c06e74c8_2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5" name="Google Shape;735;g38c06e74c8_2_63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8c06e74c8_2_646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g38c06e74c8_2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5" name="Google Shape;745;g38c06e74c8_2_646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8c06e74c8_2_65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g38c06e74c8_2_6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8c06e74c8_2_67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g38c06e74c8_2_6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8c06e74c8_2_68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g38c06e74c8_2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265" y="303213"/>
            <a:ext cx="2117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8c06e74c8_2_694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58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6" name="Google Shape;796;g38c06e74c8_2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7" name="Google Shape;797;g38c06e74c8_2_694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8c06e74c8_2_703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6" name="Google Shape;806;g38c06e74c8_2_7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7" name="Google Shape;807;g38c06e74c8_2_70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c06e74c8_2_711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5" name="Google Shape;815;g38c06e74c8_2_7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16" name="Google Shape;816;g38c06e74c8_2_711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8c06e74c8_2_719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4" name="Google Shape;824;g38c06e74c8_2_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25" name="Google Shape;825;g38c06e74c8_2_719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8c06e74c8_2_727:notes"/>
          <p:cNvSpPr txBox="1">
            <a:spLocks noGrp="1"/>
          </p:cNvSpPr>
          <p:nvPr>
            <p:ph type="sldNum" idx="12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475" tIns="43225" rIns="86475" bIns="432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</a:t>
            </a:fld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g38c06e74c8_2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4" name="Google Shape;834;g38c06e74c8_2_727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8c06e74c8_2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42" name="Google Shape;842;g38c06e74c8_2_735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8c06e74c8_2_7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1" name="Google Shape;851;g38c06e74c8_2_74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8c06e74c8_2_7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9" name="Google Shape;859;g38c06e74c8_2_750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8c06e74c8_2_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8" name="Google Shape;868;g38c06e74c8_2_758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8c06e74c8_2_7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7" name="Google Shape;877;g38c06e74c8_2_766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38c06e74c8_2_7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0261865" y="303213"/>
            <a:ext cx="20525318" cy="115458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85" name="Google Shape;885;g38c06e74c8_2_773:notes"/>
          <p:cNvSpPr txBox="1">
            <a:spLocks noGrp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ustom Layout">
  <p:cSld name="Custom Layou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None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None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671513" y="1429941"/>
            <a:ext cx="7804150" cy="323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None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None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671513" y="1429941"/>
            <a:ext cx="3825875" cy="323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306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96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5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2"/>
          </p:nvPr>
        </p:nvSpPr>
        <p:spPr>
          <a:xfrm>
            <a:off x="4649788" y="1429941"/>
            <a:ext cx="3825875" cy="323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306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96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5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None/>
              <a:defRPr sz="24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None/>
              <a:defRPr sz="20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None/>
              <a:defRPr sz="18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528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2894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None/>
              <a:defRPr sz="24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None/>
              <a:defRPr sz="20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None/>
              <a:defRPr sz="18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528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2894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84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2240"/>
              <a:buFont typeface="Noto Sans Symbols"/>
              <a:buChar char="■"/>
              <a:defRPr sz="3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766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780"/>
              <a:buFont typeface="Noto Sans Symbols"/>
              <a:buNone/>
              <a:defRPr sz="1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650"/>
              <a:buFont typeface="Noto Sans Symbols"/>
              <a:buNone/>
              <a:defRPr sz="1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67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6" name="Google Shape;86;p23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2240"/>
              <a:buFont typeface="Noto Sans Symbols"/>
              <a:buNone/>
              <a:defRPr sz="3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560"/>
              <a:buFont typeface="Noto Sans Symbols"/>
              <a:buNone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780"/>
              <a:buFont typeface="Noto Sans Symbols"/>
              <a:buNone/>
              <a:defRPr sz="1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650"/>
              <a:buFont typeface="Noto Sans Symbols"/>
              <a:buNone/>
              <a:defRPr sz="1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67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1"/>
          </p:nvPr>
        </p:nvSpPr>
        <p:spPr>
          <a:xfrm rot="5400000">
            <a:off x="2955529" y="-854075"/>
            <a:ext cx="3236119" cy="780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 rot="5400000">
            <a:off x="6129139" y="2036961"/>
            <a:ext cx="3237310" cy="202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body" idx="1"/>
          </p:nvPr>
        </p:nvSpPr>
        <p:spPr>
          <a:xfrm rot="5400000">
            <a:off x="2009577" y="90686"/>
            <a:ext cx="3237310" cy="591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28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None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None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9"/>
          <p:cNvSpPr txBox="1">
            <a:spLocks noGrp="1"/>
          </p:cNvSpPr>
          <p:nvPr>
            <p:ph type="title"/>
          </p:nvPr>
        </p:nvSpPr>
        <p:spPr>
          <a:xfrm>
            <a:off x="317500" y="678656"/>
            <a:ext cx="8632825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body" idx="1"/>
          </p:nvPr>
        </p:nvSpPr>
        <p:spPr>
          <a:xfrm>
            <a:off x="328613" y="1456135"/>
            <a:ext cx="8204200" cy="308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30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None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None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1"/>
          <p:cNvSpPr txBox="1">
            <a:spLocks noGrp="1"/>
          </p:cNvSpPr>
          <p:nvPr>
            <p:ph type="title"/>
          </p:nvPr>
        </p:nvSpPr>
        <p:spPr>
          <a:xfrm>
            <a:off x="317500" y="678656"/>
            <a:ext cx="8632825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body" idx="1"/>
          </p:nvPr>
        </p:nvSpPr>
        <p:spPr>
          <a:xfrm>
            <a:off x="328613" y="1456135"/>
            <a:ext cx="4025900" cy="308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306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96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5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body" idx="2"/>
          </p:nvPr>
        </p:nvSpPr>
        <p:spPr>
          <a:xfrm>
            <a:off x="4506913" y="1456135"/>
            <a:ext cx="4025900" cy="308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306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96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115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5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289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6" name="Google Shape;116;p32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None/>
              <a:defRPr sz="24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None/>
              <a:defRPr sz="20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None/>
              <a:defRPr sz="18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32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528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2894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2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None/>
              <a:defRPr sz="24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None/>
              <a:defRPr sz="20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None/>
              <a:defRPr sz="18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None/>
              <a:defRPr sz="1600" b="1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32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3528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115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2894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20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4639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464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3"/>
          <p:cNvSpPr txBox="1">
            <a:spLocks noGrp="1"/>
          </p:cNvSpPr>
          <p:nvPr>
            <p:ph type="title"/>
          </p:nvPr>
        </p:nvSpPr>
        <p:spPr>
          <a:xfrm>
            <a:off x="317500" y="678656"/>
            <a:ext cx="8632825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4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84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2240"/>
              <a:buFont typeface="Noto Sans Symbols"/>
              <a:buChar char="■"/>
              <a:defRPr sz="3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Char char="■"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766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560"/>
              <a:buFont typeface="Noto Sans Symbols"/>
              <a:buChar char="■"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115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5" name="Google Shape;125;p34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780"/>
              <a:buFont typeface="Noto Sans Symbols"/>
              <a:buNone/>
              <a:defRPr sz="1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650"/>
              <a:buFont typeface="Noto Sans Symbols"/>
              <a:buNone/>
              <a:defRPr sz="1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67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8" name="Google Shape;128;p35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2240"/>
              <a:buFont typeface="Noto Sans Symbols"/>
              <a:buNone/>
              <a:defRPr sz="3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560"/>
              <a:buFont typeface="Noto Sans Symbols"/>
              <a:buNone/>
              <a:defRPr sz="2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5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300"/>
              <a:buFont typeface="Noto Sans Symbols"/>
              <a:buNone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35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980"/>
              <a:buFont typeface="Noto Sans Symbols"/>
              <a:buNone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780"/>
              <a:buFont typeface="Noto Sans Symbols"/>
              <a:buNone/>
              <a:defRPr sz="12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650"/>
              <a:buFont typeface="Noto Sans Symbols"/>
              <a:buNone/>
              <a:defRPr sz="1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67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585"/>
              <a:buFont typeface="Noto Sans Symbols"/>
              <a:buNone/>
              <a:defRPr sz="9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 txBox="1">
            <a:spLocks noGrp="1"/>
          </p:cNvSpPr>
          <p:nvPr>
            <p:ph type="title"/>
          </p:nvPr>
        </p:nvSpPr>
        <p:spPr>
          <a:xfrm>
            <a:off x="317500" y="678656"/>
            <a:ext cx="8632825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2" name="Google Shape;132;p36"/>
          <p:cNvSpPr txBox="1">
            <a:spLocks noGrp="1"/>
          </p:cNvSpPr>
          <p:nvPr>
            <p:ph type="body" idx="1"/>
          </p:nvPr>
        </p:nvSpPr>
        <p:spPr>
          <a:xfrm rot="5400000">
            <a:off x="2889449" y="-1104701"/>
            <a:ext cx="3082528" cy="8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7"/>
          <p:cNvSpPr txBox="1">
            <a:spLocks noGrp="1"/>
          </p:cNvSpPr>
          <p:nvPr>
            <p:ph type="title"/>
          </p:nvPr>
        </p:nvSpPr>
        <p:spPr>
          <a:xfrm rot="5400000">
            <a:off x="5941616" y="1529953"/>
            <a:ext cx="3860006" cy="215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5" name="Google Shape;135;p37"/>
          <p:cNvSpPr txBox="1">
            <a:spLocks noGrp="1"/>
          </p:cNvSpPr>
          <p:nvPr>
            <p:ph type="body" idx="1"/>
          </p:nvPr>
        </p:nvSpPr>
        <p:spPr>
          <a:xfrm rot="5400000">
            <a:off x="1549004" y="-552847"/>
            <a:ext cx="3860006" cy="6323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0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7" name="Google Shape;147;p40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911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8" name="Google Shape;148;p40"/>
          <p:cNvSpPr txBox="1">
            <a:spLocks noGrp="1"/>
          </p:cNvSpPr>
          <p:nvPr>
            <p:ph type="dt" idx="10"/>
          </p:nvPr>
        </p:nvSpPr>
        <p:spPr>
          <a:xfrm>
            <a:off x="457200" y="4937760"/>
            <a:ext cx="2133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9" name="Google Shape;149;p40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0" name="Google Shape;150;p40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3" name="Google Shape;153;p41"/>
          <p:cNvSpPr txBox="1">
            <a:spLocks noGrp="1"/>
          </p:cNvSpPr>
          <p:nvPr>
            <p:ph type="dt" idx="10"/>
          </p:nvPr>
        </p:nvSpPr>
        <p:spPr>
          <a:xfrm>
            <a:off x="457200" y="4937760"/>
            <a:ext cx="2133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4" name="Google Shape;154;p41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5" name="Google Shape;155;p41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42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4038600" cy="412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8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◼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9" name="Google Shape;159;p42"/>
          <p:cNvSpPr txBox="1">
            <a:spLocks noGrp="1"/>
          </p:cNvSpPr>
          <p:nvPr>
            <p:ph type="body" idx="2"/>
          </p:nvPr>
        </p:nvSpPr>
        <p:spPr>
          <a:xfrm>
            <a:off x="4648200" y="971550"/>
            <a:ext cx="4038600" cy="4128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8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◼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60" name="Google Shape;160;p42"/>
          <p:cNvSpPr txBox="1">
            <a:spLocks noGrp="1"/>
          </p:cNvSpPr>
          <p:nvPr>
            <p:ph type="dt" idx="10"/>
          </p:nvPr>
        </p:nvSpPr>
        <p:spPr>
          <a:xfrm>
            <a:off x="457200" y="4937760"/>
            <a:ext cx="2133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1" name="Google Shape;161;p42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2" name="Google Shape;162;p42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0" y="0"/>
            <a:ext cx="9140826" cy="2521744"/>
            <a:chOff x="0" y="0"/>
            <a:chExt cx="5758" cy="2118"/>
          </a:xfrm>
        </p:grpSpPr>
        <p:pic>
          <p:nvPicPr>
            <p:cNvPr id="52" name="Google Shape;52;p13"/>
            <p:cNvPicPr preferRelativeResize="0"/>
            <p:nvPr/>
          </p:nvPicPr>
          <p:blipFill rotWithShape="1">
            <a:blip r:embed="rId14">
              <a:alphaModFix/>
            </a:blip>
            <a:srcRect l="8125"/>
            <a:stretch/>
          </p:blipFill>
          <p:spPr>
            <a:xfrm>
              <a:off x="0" y="0"/>
              <a:ext cx="5758" cy="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13"/>
            <p:cNvPicPr preferRelativeResize="0"/>
            <p:nvPr/>
          </p:nvPicPr>
          <p:blipFill rotWithShape="1">
            <a:blip r:embed="rId15">
              <a:alphaModFix/>
            </a:blip>
            <a:srcRect/>
            <a:stretch/>
          </p:blipFill>
          <p:spPr>
            <a:xfrm>
              <a:off x="2687" y="2057"/>
              <a:ext cx="2831" cy="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990600" y="1428750"/>
            <a:ext cx="7767638" cy="853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71513" y="1429941"/>
            <a:ext cx="7804150" cy="323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6"/>
          <p:cNvGrpSpPr/>
          <p:nvPr/>
        </p:nvGrpSpPr>
        <p:grpSpPr>
          <a:xfrm>
            <a:off x="-7938" y="1227535"/>
            <a:ext cx="9145588" cy="3461147"/>
            <a:chOff x="-5" y="1031"/>
            <a:chExt cx="5761" cy="2907"/>
          </a:xfrm>
        </p:grpSpPr>
        <p:pic>
          <p:nvPicPr>
            <p:cNvPr id="96" name="Google Shape;96;p26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3776" y="3891"/>
              <a:ext cx="1980" cy="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26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-5" y="1031"/>
              <a:ext cx="2832" cy="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317500" y="678656"/>
            <a:ext cx="8632825" cy="431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rgbClr val="FFCC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328613" y="1456135"/>
            <a:ext cx="8204200" cy="3082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  <a:defRPr sz="20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2894" algn="l" rtl="0">
              <a:spcBef>
                <a:spcPts val="450"/>
              </a:spcBef>
              <a:spcAft>
                <a:spcPts val="0"/>
              </a:spcAft>
              <a:buClr>
                <a:srgbClr val="CC9900"/>
              </a:buClr>
              <a:buSzPts val="1170"/>
              <a:buFont typeface="Noto Sans Symbols"/>
              <a:buChar char="■"/>
              <a:defRPr sz="18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4639" algn="l" rtl="0">
              <a:spcBef>
                <a:spcPts val="400"/>
              </a:spcBef>
              <a:spcAft>
                <a:spcPts val="0"/>
              </a:spcAft>
              <a:buClr>
                <a:srgbClr val="0099CC"/>
              </a:buClr>
              <a:buSzPts val="1040"/>
              <a:buFont typeface="Noto Sans Symbols"/>
              <a:buChar char="■"/>
              <a:defRPr sz="16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105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6385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6384" algn="l" rtl="0">
              <a:spcBef>
                <a:spcPts val="350"/>
              </a:spcBef>
              <a:spcAft>
                <a:spcPts val="0"/>
              </a:spcAft>
              <a:buClr>
                <a:srgbClr val="FFCC00"/>
              </a:buClr>
              <a:buSzPts val="910"/>
              <a:buFont typeface="Noto Sans Symbols"/>
              <a:buChar char="■"/>
              <a:defRPr sz="1400" b="0" i="0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8"/>
          <p:cNvSpPr/>
          <p:nvPr/>
        </p:nvSpPr>
        <p:spPr>
          <a:xfrm>
            <a:off x="0" y="765810"/>
            <a:ext cx="9144000" cy="3429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8"/>
          <p:cNvSpPr/>
          <p:nvPr/>
        </p:nvSpPr>
        <p:spPr>
          <a:xfrm>
            <a:off x="0" y="1"/>
            <a:ext cx="9143999" cy="7658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0" name="Google Shape;140;p38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9116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⚫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1" name="Google Shape;141;p38"/>
          <p:cNvSpPr txBox="1">
            <a:spLocks noGrp="1"/>
          </p:cNvSpPr>
          <p:nvPr>
            <p:ph type="dt" idx="10"/>
          </p:nvPr>
        </p:nvSpPr>
        <p:spPr>
          <a:xfrm>
            <a:off x="457200" y="4937760"/>
            <a:ext cx="21336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2" name="Google Shape;142;p38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3" name="Google Shape;143;p38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g"/><Relationship Id="rId13" Type="http://schemas.openxmlformats.org/officeDocument/2006/relationships/image" Target="../media/image17.jpg"/><Relationship Id="rId3" Type="http://schemas.openxmlformats.org/officeDocument/2006/relationships/image" Target="../media/image7.gif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0.png"/><Relationship Id="rId11" Type="http://schemas.openxmlformats.org/officeDocument/2006/relationships/image" Target="../media/image15.gif"/><Relationship Id="rId5" Type="http://schemas.openxmlformats.org/officeDocument/2006/relationships/image" Target="../media/image9.gif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ired.com/wired/archive/12.10/tail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0.png"/><Relationship Id="rId4" Type="http://schemas.openxmlformats.org/officeDocument/2006/relationships/image" Target="../media/image1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Relationship Id="rId5" Type="http://schemas.openxmlformats.org/officeDocument/2006/relationships/hyperlink" Target="http://www.wired.com/wired/archive/12.10/tail.html" TargetMode="External"/><Relationship Id="rId4" Type="http://schemas.openxmlformats.org/officeDocument/2006/relationships/image" Target="../media/image22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5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://anand.typepad.com/datawocky/2008/03/more-data-usual.html" TargetMode="Externa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3"/>
          <p:cNvSpPr txBox="1">
            <a:spLocks noGrp="1"/>
          </p:cNvSpPr>
          <p:nvPr>
            <p:ph type="title"/>
          </p:nvPr>
        </p:nvSpPr>
        <p:spPr>
          <a:xfrm>
            <a:off x="685800" y="357188"/>
            <a:ext cx="8458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0" u="none" strike="noStrike" cap="none">
                <a:solidFill>
                  <a:srgbClr val="000080"/>
                </a:solidFill>
                <a:latin typeface="Garamond"/>
                <a:ea typeface="Garamond"/>
                <a:cs typeface="Garamond"/>
                <a:sym typeface="Garamond"/>
              </a:rPr>
              <a:t>Data Mining</a:t>
            </a:r>
            <a:br>
              <a:rPr lang="en" sz="3200" b="1" i="0" u="none" strike="noStrike" cap="none">
                <a:solidFill>
                  <a:srgbClr val="000080"/>
                </a:solidFill>
                <a:latin typeface="Garamond"/>
                <a:ea typeface="Garamond"/>
                <a:cs typeface="Garamond"/>
                <a:sym typeface="Garamond"/>
              </a:rPr>
            </a:br>
            <a:r>
              <a:rPr lang="en" sz="3200" b="1" i="0" u="none" strike="noStrike" cap="none">
                <a:solidFill>
                  <a:srgbClr val="000080"/>
                </a:solidFill>
                <a:latin typeface="Garamond"/>
                <a:ea typeface="Garamond"/>
                <a:cs typeface="Garamond"/>
                <a:sym typeface="Garamond"/>
              </a:rPr>
              <a:t>Recommendation Systems</a:t>
            </a:r>
            <a:endParaRPr/>
          </a:p>
        </p:txBody>
      </p:sp>
      <p:sp>
        <p:nvSpPr>
          <p:cNvPr id="168" name="Google Shape;168;p43"/>
          <p:cNvSpPr txBox="1">
            <a:spLocks noGrp="1"/>
          </p:cNvSpPr>
          <p:nvPr>
            <p:ph type="subTitle" idx="4294967295"/>
          </p:nvPr>
        </p:nvSpPr>
        <p:spPr>
          <a:xfrm>
            <a:off x="1187450" y="1383506"/>
            <a:ext cx="77216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marR="0" lvl="0" indent="0" algn="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r>
              <a:rPr lang="en" b="1">
                <a:solidFill>
                  <a:srgbClr val="000080"/>
                </a:solidFill>
                <a:latin typeface="Garamond"/>
                <a:ea typeface="Garamond"/>
                <a:cs typeface="Garamond"/>
                <a:sym typeface="Garamond"/>
              </a:rPr>
              <a:t>İnanç Arın</a:t>
            </a:r>
            <a:endParaRPr sz="2000" b="1" i="0" u="none" strike="noStrike" cap="none">
              <a:solidFill>
                <a:srgbClr val="00008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marL="0" marR="0" lvl="0" indent="0" algn="r" rtl="0">
              <a:spcBef>
                <a:spcPts val="5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/>
          </a:p>
        </p:txBody>
      </p:sp>
      <p:pic>
        <p:nvPicPr>
          <p:cNvPr id="169" name="Google Shape;169;p43" descr="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4888" y="2670572"/>
            <a:ext cx="1933575" cy="823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4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75" name="Google Shape;175;p44"/>
          <p:cNvGrpSpPr/>
          <p:nvPr/>
        </p:nvGrpSpPr>
        <p:grpSpPr>
          <a:xfrm>
            <a:off x="1371600" y="484585"/>
            <a:ext cx="6802438" cy="486966"/>
            <a:chOff x="864" y="407"/>
            <a:chExt cx="4285" cy="409"/>
          </a:xfrm>
        </p:grpSpPr>
        <p:sp>
          <p:nvSpPr>
            <p:cNvPr id="176" name="Google Shape;176;p44"/>
            <p:cNvSpPr/>
            <p:nvPr/>
          </p:nvSpPr>
          <p:spPr>
            <a:xfrm>
              <a:off x="864" y="432"/>
              <a:ext cx="4285" cy="384"/>
            </a:xfrm>
            <a:prstGeom prst="roundRect">
              <a:avLst>
                <a:gd name="adj" fmla="val 259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7" name="Google Shape;177;p44"/>
            <p:cNvSpPr txBox="1"/>
            <p:nvPr/>
          </p:nvSpPr>
          <p:spPr>
            <a:xfrm>
              <a:off x="864" y="407"/>
              <a:ext cx="4285" cy="4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b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FFFFCC"/>
                </a:buClr>
                <a:buSzPts val="3600"/>
                <a:buFont typeface="Times New Roman"/>
                <a:buNone/>
              </a:pPr>
              <a:r>
                <a:rPr lang="en" sz="3600">
                  <a:solidFill>
                    <a:srgbClr val="333399"/>
                  </a:solidFill>
                  <a:latin typeface="Tahoma"/>
                  <a:ea typeface="Tahoma"/>
                  <a:cs typeface="Tahoma"/>
                  <a:sym typeface="Tahoma"/>
                </a:rPr>
                <a:t>Reference</a:t>
              </a:r>
              <a:endParaRPr sz="3600">
                <a:solidFill>
                  <a:srgbClr val="333399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78" name="Google Shape;178;p44"/>
          <p:cNvGrpSpPr/>
          <p:nvPr/>
        </p:nvGrpSpPr>
        <p:grpSpPr>
          <a:xfrm>
            <a:off x="685800" y="1257300"/>
            <a:ext cx="8077200" cy="3600450"/>
            <a:chOff x="432" y="1056"/>
            <a:chExt cx="5088" cy="3024"/>
          </a:xfrm>
        </p:grpSpPr>
        <p:sp>
          <p:nvSpPr>
            <p:cNvPr id="179" name="Google Shape;179;p44"/>
            <p:cNvSpPr/>
            <p:nvPr/>
          </p:nvSpPr>
          <p:spPr>
            <a:xfrm>
              <a:off x="432" y="1056"/>
              <a:ext cx="5088" cy="3024"/>
            </a:xfrm>
            <a:prstGeom prst="roundRect">
              <a:avLst>
                <a:gd name="adj" fmla="val 32"/>
              </a:avLst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0" name="Google Shape;180;p44"/>
            <p:cNvSpPr txBox="1"/>
            <p:nvPr/>
          </p:nvSpPr>
          <p:spPr>
            <a:xfrm>
              <a:off x="432" y="1056"/>
              <a:ext cx="5088" cy="13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46800" rIns="90000" bIns="46800" anchor="t" anchorCtr="0">
              <a:noAutofit/>
            </a:bodyPr>
            <a:lstStyle/>
            <a:p>
              <a:pPr marL="341313" marR="0" lvl="0" indent="-341313" algn="l" rtl="0"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1440"/>
                <a:buFont typeface="Noto Sans Symbols"/>
                <a:buChar char="■"/>
              </a:pPr>
              <a:r>
                <a:rPr lang="en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The following slides are from the “Mining of Massive Datasets” course by </a:t>
              </a:r>
              <a:endParaRPr/>
            </a:p>
            <a:p>
              <a:pPr marL="798513" marR="0" lvl="1" indent="-341313" algn="l" rtl="0">
                <a:spcBef>
                  <a:spcPts val="600"/>
                </a:spcBef>
                <a:spcAft>
                  <a:spcPts val="0"/>
                </a:spcAft>
                <a:buClr>
                  <a:srgbClr val="3333CC"/>
                </a:buClr>
                <a:buSzPts val="1440"/>
                <a:buFont typeface="Noto Sans Symbols"/>
                <a:buChar char="■"/>
              </a:pPr>
              <a:r>
                <a:rPr lang="en"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Jure Leskovec, Anand Rajaraman, Jeff Ullman</a:t>
              </a: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  <a:p>
              <a:pPr marL="798513" marR="0" lvl="1" indent="-341313" algn="l" rtl="0">
                <a:spcBef>
                  <a:spcPts val="600"/>
                </a:spcBef>
                <a:spcAft>
                  <a:spcPts val="0"/>
                </a:spcAft>
                <a:buClr>
                  <a:srgbClr val="3333CC"/>
                </a:buClr>
                <a:buSzPts val="1440"/>
                <a:buFont typeface="Noto Sans Symbols"/>
                <a:buChar char="■"/>
              </a:pPr>
              <a:r>
                <a:rPr lang="en"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Stanford</a:t>
              </a:r>
              <a:endParaRPr/>
            </a:p>
            <a:p>
              <a:pPr marL="798513" marR="0" lvl="1" indent="-341313" algn="l" rtl="0">
                <a:spcBef>
                  <a:spcPts val="600"/>
                </a:spcBef>
                <a:spcAft>
                  <a:spcPts val="0"/>
                </a:spcAft>
                <a:buClr>
                  <a:srgbClr val="3333CC"/>
                </a:buClr>
                <a:buSzPts val="1440"/>
                <a:buFont typeface="Noto Sans Symbols"/>
                <a:buChar char="■"/>
              </a:pPr>
              <a:r>
                <a:rPr lang="en"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http://www.mmds.org/</a:t>
              </a: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>
            <a:spLocks noGrp="1"/>
          </p:cNvSpPr>
          <p:nvPr>
            <p:ph type="title" idx="4294967295"/>
          </p:nvPr>
        </p:nvSpPr>
        <p:spPr>
          <a:xfrm>
            <a:off x="457200" y="114300"/>
            <a:ext cx="86868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Example: Recommender Systems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6" name="Google Shape;186;p45"/>
          <p:cNvSpPr txBox="1">
            <a:spLocks noGrp="1"/>
          </p:cNvSpPr>
          <p:nvPr>
            <p:ph type="body" idx="4294967295"/>
          </p:nvPr>
        </p:nvSpPr>
        <p:spPr>
          <a:xfrm>
            <a:off x="0" y="3314700"/>
            <a:ext cx="4038600" cy="1451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Customer X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Buys Metallica CD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Buys Megadeth CD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5"/>
          <p:cNvSpPr txBox="1">
            <a:spLocks noGrp="1"/>
          </p:cNvSpPr>
          <p:nvPr>
            <p:ph type="body" idx="4294967295"/>
          </p:nvPr>
        </p:nvSpPr>
        <p:spPr>
          <a:xfrm>
            <a:off x="4724400" y="3314700"/>
            <a:ext cx="441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8397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Customer Y</a:t>
            </a:r>
            <a:endParaRPr sz="1800" b="1" i="0" u="none" strike="noStrike" cap="non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224154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search on Metallica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224154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Recommender system suggests Megadeth from data collected about customer </a:t>
            </a:r>
            <a:r>
              <a:rPr lang="en" sz="18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5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5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45" descr="classic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" y="857250"/>
            <a:ext cx="1742987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45" descr="aliv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40312" y="857251"/>
            <a:ext cx="2391966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6" descr="http://blog.hubspot.com/Portals/249/images/amazon_logo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9800" y="1314450"/>
            <a:ext cx="1347183" cy="50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6" descr="http://4.bp.blogspot.com/_zmoEeqomXD4/SjftFPB6UTI/AAAAAAAACZE/gxQm5CcUp_k/s400/del.icio.us-logo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0300" y="1828800"/>
            <a:ext cx="1171575" cy="11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6" descr="http://upload.moldova.org/IT/logos/youtube_logo.gif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4600" y="3771900"/>
            <a:ext cx="914400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6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Recommendations </a:t>
            </a:r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6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6"/>
          <p:cNvSpPr/>
          <p:nvPr/>
        </p:nvSpPr>
        <p:spPr>
          <a:xfrm>
            <a:off x="1600200" y="3314700"/>
            <a:ext cx="1371600" cy="800100"/>
          </a:xfrm>
          <a:prstGeom prst="can">
            <a:avLst>
              <a:gd name="adj" fmla="val 25000"/>
            </a:avLst>
          </a:prstGeom>
          <a:solidFill>
            <a:srgbClr val="99CCF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Items</a:t>
            </a:r>
            <a:endParaRPr/>
          </a:p>
        </p:txBody>
      </p:sp>
      <p:pic>
        <p:nvPicPr>
          <p:cNvPr id="204" name="Google Shape;204;p46" descr="MCBS01705_0000[1]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71600" y="971550"/>
            <a:ext cx="1319212" cy="13299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46"/>
          <p:cNvGrpSpPr/>
          <p:nvPr/>
        </p:nvGrpSpPr>
        <p:grpSpPr>
          <a:xfrm>
            <a:off x="611188" y="2262188"/>
            <a:ext cx="1293812" cy="938213"/>
            <a:chOff x="385" y="1900"/>
            <a:chExt cx="815" cy="788"/>
          </a:xfrm>
        </p:grpSpPr>
        <p:sp>
          <p:nvSpPr>
            <p:cNvPr id="206" name="Google Shape;206;p46"/>
            <p:cNvSpPr/>
            <p:nvPr/>
          </p:nvSpPr>
          <p:spPr>
            <a:xfrm>
              <a:off x="1056" y="1920"/>
              <a:ext cx="144" cy="768"/>
            </a:xfrm>
            <a:prstGeom prst="downArrow">
              <a:avLst>
                <a:gd name="adj1" fmla="val 50000"/>
                <a:gd name="adj2" fmla="val 133333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46"/>
            <p:cNvSpPr txBox="1"/>
            <p:nvPr/>
          </p:nvSpPr>
          <p:spPr>
            <a:xfrm rot="5400000">
              <a:off x="786" y="2200"/>
              <a:ext cx="672" cy="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6"/>
            <p:cNvSpPr txBox="1"/>
            <p:nvPr/>
          </p:nvSpPr>
          <p:spPr>
            <a:xfrm>
              <a:off x="385" y="2119"/>
              <a:ext cx="656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Search</a:t>
              </a:r>
              <a:endParaRPr/>
            </a:p>
          </p:txBody>
        </p:sp>
      </p:grpSp>
      <p:grpSp>
        <p:nvGrpSpPr>
          <p:cNvPr id="209" name="Google Shape;209;p46"/>
          <p:cNvGrpSpPr/>
          <p:nvPr/>
        </p:nvGrpSpPr>
        <p:grpSpPr>
          <a:xfrm>
            <a:off x="2438400" y="2286000"/>
            <a:ext cx="2768601" cy="857250"/>
            <a:chOff x="1536" y="1920"/>
            <a:chExt cx="1744" cy="720"/>
          </a:xfrm>
        </p:grpSpPr>
        <p:sp>
          <p:nvSpPr>
            <p:cNvPr id="210" name="Google Shape;210;p46"/>
            <p:cNvSpPr/>
            <p:nvPr/>
          </p:nvSpPr>
          <p:spPr>
            <a:xfrm>
              <a:off x="1536" y="1920"/>
              <a:ext cx="144" cy="720"/>
            </a:xfrm>
            <a:prstGeom prst="upArrow">
              <a:avLst>
                <a:gd name="adj1" fmla="val 50000"/>
                <a:gd name="adj2" fmla="val 125000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46"/>
            <p:cNvSpPr txBox="1"/>
            <p:nvPr/>
          </p:nvSpPr>
          <p:spPr>
            <a:xfrm rot="5400000">
              <a:off x="1282" y="2269"/>
              <a:ext cx="630" cy="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6"/>
            <p:cNvSpPr txBox="1"/>
            <p:nvPr/>
          </p:nvSpPr>
          <p:spPr>
            <a:xfrm>
              <a:off x="1718" y="2119"/>
              <a:ext cx="1562" cy="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Recommendations</a:t>
              </a:r>
              <a:endParaRPr/>
            </a:p>
          </p:txBody>
        </p:sp>
      </p:grpSp>
      <p:sp>
        <p:nvSpPr>
          <p:cNvPr id="213" name="Google Shape;213;p46"/>
          <p:cNvSpPr txBox="1"/>
          <p:nvPr/>
        </p:nvSpPr>
        <p:spPr>
          <a:xfrm>
            <a:off x="3048000" y="3543300"/>
            <a:ext cx="2619628" cy="53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Products, web sites, </a:t>
            </a:r>
            <a:b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blogs, news items, …</a:t>
            </a:r>
            <a:endParaRPr/>
          </a:p>
        </p:txBody>
      </p:sp>
      <p:pic>
        <p:nvPicPr>
          <p:cNvPr id="214" name="Google Shape;214;p46" descr="Pandora Logo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45425" y="1178281"/>
            <a:ext cx="571500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46" descr="http://scrapetv.com/News/News%20Pages/Business/images-5/netflix-logo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97825" y="1883569"/>
            <a:ext cx="745331" cy="745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6" descr="http://www.growyourwritingbusiness.com/images/stumbleupon_logo.bmp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16625" y="1828800"/>
            <a:ext cx="138905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6" descr="http://admintell.napco.com/ee/images/uploads/appletell/618px-Last.fm_logo_.svg_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57875" y="3178532"/>
            <a:ext cx="1207294" cy="65051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6"/>
          <p:cNvSpPr txBox="1"/>
          <p:nvPr/>
        </p:nvSpPr>
        <p:spPr>
          <a:xfrm>
            <a:off x="5334000" y="1028700"/>
            <a:ext cx="1797287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u="sng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Examples:</a:t>
            </a:r>
            <a:endParaRPr sz="2800" b="1" u="sng">
              <a:solidFill>
                <a:srgbClr val="0000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19" name="Google Shape;219;p46" descr="http://upload.wikimedia.org/wikipedia/commons/5/52/Movielens-helping.gif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2757487"/>
            <a:ext cx="1678781" cy="328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46" descr="http://blog.ithenticate.com/wp-content/uploads/2010/11/google-news-logo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467600" y="3171825"/>
            <a:ext cx="1071563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6" descr="http://beefjack.com/files/2010/04/xbox-live-arcade.thumbnail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696200" y="3714750"/>
            <a:ext cx="971550" cy="97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7"/>
          <p:cNvSpPr txBox="1">
            <a:spLocks noGrp="1"/>
          </p:cNvSpPr>
          <p:nvPr>
            <p:ph type="title" idx="4294967295"/>
          </p:nvPr>
        </p:nvSpPr>
        <p:spPr>
          <a:xfrm>
            <a:off x="533400" y="57150"/>
            <a:ext cx="8610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From Scarcity to Abundance</a:t>
            </a:r>
            <a:endParaRPr/>
          </a:p>
        </p:txBody>
      </p:sp>
      <p:sp>
        <p:nvSpPr>
          <p:cNvPr id="228" name="Google Shape;228;p47"/>
          <p:cNvSpPr txBox="1">
            <a:spLocks noGrp="1"/>
          </p:cNvSpPr>
          <p:nvPr>
            <p:ph type="body" idx="4294967295"/>
          </p:nvPr>
        </p:nvSpPr>
        <p:spPr>
          <a:xfrm>
            <a:off x="457200" y="971550"/>
            <a:ext cx="86868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Shelf space is a scarce commodity for traditional retailers 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Also: TV networks, movie theaters,…</a:t>
            </a:r>
            <a:endParaRPr sz="1800"/>
          </a:p>
          <a:p>
            <a:pPr marL="2231136" marR="0" lvl="8" indent="-68579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Web enables near-zero-cost dissemination </a:t>
            </a:r>
            <a:b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of information about products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scarcity to abundance</a:t>
            </a:r>
            <a:endParaRPr sz="1800"/>
          </a:p>
          <a:p>
            <a:pPr marL="2231136" marR="0" lvl="8" indent="-68579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More choice necessitates better filters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engines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Into Thin Air 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made 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Touching the Void</a:t>
            </a:r>
            <a:r>
              <a:rPr lang="en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8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bestseller: </a:t>
            </a:r>
            <a:r>
              <a:rPr lang="en" sz="18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http://www.wired.com/wired/archive/12.10/tail.html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7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7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8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Sidenote: The Long Tail</a:t>
            </a:r>
            <a:endParaRPr/>
          </a:p>
        </p:txBody>
      </p:sp>
      <p:sp>
        <p:nvSpPr>
          <p:cNvPr id="237" name="Google Shape;237;p48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8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48" descr="Anatomy ed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26828"/>
            <a:ext cx="9144000" cy="4161418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8"/>
          <p:cNvSpPr txBox="1"/>
          <p:nvPr/>
        </p:nvSpPr>
        <p:spPr>
          <a:xfrm>
            <a:off x="3471671" y="4771464"/>
            <a:ext cx="2045753" cy="19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Source: Chris Anderson (2004)</a:t>
            </a:r>
            <a:endParaRPr/>
          </a:p>
        </p:txBody>
      </p:sp>
      <p:pic>
        <p:nvPicPr>
          <p:cNvPr id="241" name="Google Shape;241;p48" descr="Full-size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830129"/>
            <a:ext cx="3257550" cy="1391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4200" y="843534"/>
            <a:ext cx="2743200" cy="27263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9"/>
          <p:cNvSpPr txBox="1">
            <a:spLocks noGrp="1"/>
          </p:cNvSpPr>
          <p:nvPr>
            <p:ph type="title" idx="4294967295"/>
          </p:nvPr>
        </p:nvSpPr>
        <p:spPr>
          <a:xfrm>
            <a:off x="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Physical vs. Online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48" name="Google Shape;248;p49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9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49" descr="Full-size imag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498" y="828674"/>
            <a:ext cx="4857754" cy="1943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9" descr="Full-size 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36210" y="2780140"/>
            <a:ext cx="4103686" cy="201453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9"/>
          <p:cNvSpPr txBox="1"/>
          <p:nvPr/>
        </p:nvSpPr>
        <p:spPr>
          <a:xfrm>
            <a:off x="152400" y="4781828"/>
            <a:ext cx="85344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2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800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http://www.wired.com/wired/archive/12.10/tail.html</a:t>
            </a:r>
            <a:r>
              <a:rPr lang="en" sz="1800" b="1" i="0" u="none" strike="noStrike" cap="non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to learn more!</a:t>
            </a:r>
            <a:endParaRPr sz="1800" b="1" i="0" u="none" strike="noStrike" cap="non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0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8" name="Google Shape;258;p50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The Netflix 1M Dollar Prize</a:t>
            </a:r>
            <a:endParaRPr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0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50"/>
          <p:cNvSpPr txBox="1"/>
          <p:nvPr/>
        </p:nvSpPr>
        <p:spPr>
          <a:xfrm>
            <a:off x="381000" y="1371600"/>
            <a:ext cx="8763000" cy="2235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“The algorithm had to have a root-mean-square error (RMSE) that was 10% less than the RMSE of the Netflix algorithm on a test set taken from actual ratings of Netflix users. To develop an algorithm, contestants were given a training set of data, also taken from actual Netflix data.”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http://infolab.stanford.edu/~ullman/mmds/ch9.pdf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The prize was finally won in 2009 (after three years) by “Bellkor’s Pragmatic Chaos”</a:t>
            </a: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Types of Recommendations</a:t>
            </a:r>
            <a:endParaRPr/>
          </a:p>
        </p:txBody>
      </p:sp>
      <p:sp>
        <p:nvSpPr>
          <p:cNvPr id="267" name="Google Shape;267;p51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Editorial and hand curated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favorites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 of “essential” items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Simple aggregates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10, Most Popular, Recent Uploads</a:t>
            </a:r>
            <a:endParaRPr sz="240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2400" b="0" i="0" u="none" strike="noStrike" cap="none">
              <a:solidFill>
                <a:srgbClr val="FF0066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Tailored to individual users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Amazon, Netflix, …</a:t>
            </a:r>
            <a:endParaRPr sz="2400"/>
          </a:p>
          <a:p>
            <a:pPr marL="438912" marR="0" lvl="0" indent="-1574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1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1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2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Formal Model</a:t>
            </a:r>
            <a:endParaRPr/>
          </a:p>
        </p:txBody>
      </p:sp>
      <p:sp>
        <p:nvSpPr>
          <p:cNvPr id="276" name="Google Shape;276;p52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◼"/>
            </a:pP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set of </a:t>
            </a:r>
            <a:r>
              <a:rPr lang="en" sz="36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/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◼"/>
            </a:pP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set of </a:t>
            </a:r>
            <a:r>
              <a:rPr lang="en" sz="36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Items</a:t>
            </a:r>
            <a:endParaRPr/>
          </a:p>
          <a:p>
            <a:pPr marL="2231136" marR="0" lvl="8" indent="-55879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80"/>
              <a:buFont typeface="Noto Sans Symbols"/>
              <a:buChar char="◼"/>
            </a:pPr>
            <a:r>
              <a:rPr lang="en" sz="36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Utility function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× </a:t>
            </a: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" sz="36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marL="731520" marR="0" lvl="1" indent="-274319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lang="en" sz="3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3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set of ratings</a:t>
            </a:r>
            <a:endParaRPr/>
          </a:p>
          <a:p>
            <a:pPr marL="731520" marR="0" lvl="1" indent="-274319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lang="en" sz="32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totally ordered set</a:t>
            </a:r>
            <a:endParaRPr/>
          </a:p>
          <a:p>
            <a:pPr marL="731520" marR="0" lvl="1" indent="-274319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</a:pP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0-5</a:t>
            </a: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stars, real number in </a:t>
            </a:r>
            <a:r>
              <a:rPr lang="en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[0,1]</a:t>
            </a:r>
            <a:endParaRPr/>
          </a:p>
        </p:txBody>
      </p:sp>
      <p:sp>
        <p:nvSpPr>
          <p:cNvPr id="277" name="Google Shape;277;p52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2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3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Utility Matrix</a:t>
            </a:r>
            <a:endParaRPr/>
          </a:p>
        </p:txBody>
      </p:sp>
      <p:pic>
        <p:nvPicPr>
          <p:cNvPr id="285" name="Google Shape;285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9800" y="1657350"/>
            <a:ext cx="4881349" cy="259912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53"/>
          <p:cNvSpPr txBox="1"/>
          <p:nvPr/>
        </p:nvSpPr>
        <p:spPr>
          <a:xfrm>
            <a:off x="2117725" y="1001315"/>
            <a:ext cx="979487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Avatar</a:t>
            </a:r>
            <a:endParaRPr/>
          </a:p>
        </p:txBody>
      </p:sp>
      <p:sp>
        <p:nvSpPr>
          <p:cNvPr id="287" name="Google Shape;287;p53"/>
          <p:cNvSpPr txBox="1"/>
          <p:nvPr/>
        </p:nvSpPr>
        <p:spPr>
          <a:xfrm>
            <a:off x="3516312" y="1001315"/>
            <a:ext cx="87471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LOTR</a:t>
            </a:r>
            <a:endParaRPr/>
          </a:p>
        </p:txBody>
      </p:sp>
      <p:sp>
        <p:nvSpPr>
          <p:cNvPr id="288" name="Google Shape;288;p53"/>
          <p:cNvSpPr txBox="1"/>
          <p:nvPr/>
        </p:nvSpPr>
        <p:spPr>
          <a:xfrm>
            <a:off x="4675187" y="1001315"/>
            <a:ext cx="93186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Matrix</a:t>
            </a:r>
            <a:endParaRPr/>
          </a:p>
        </p:txBody>
      </p:sp>
      <p:sp>
        <p:nvSpPr>
          <p:cNvPr id="289" name="Google Shape;289;p53"/>
          <p:cNvSpPr txBox="1"/>
          <p:nvPr/>
        </p:nvSpPr>
        <p:spPr>
          <a:xfrm>
            <a:off x="6122987" y="1001315"/>
            <a:ext cx="1039813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Pirates</a:t>
            </a:r>
            <a:endParaRPr/>
          </a:p>
        </p:txBody>
      </p:sp>
      <p:sp>
        <p:nvSpPr>
          <p:cNvPr id="290" name="Google Shape;290;p53"/>
          <p:cNvSpPr txBox="1"/>
          <p:nvPr/>
        </p:nvSpPr>
        <p:spPr>
          <a:xfrm>
            <a:off x="773112" y="1732359"/>
            <a:ext cx="79057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Alice</a:t>
            </a:r>
            <a:endParaRPr/>
          </a:p>
        </p:txBody>
      </p:sp>
      <p:sp>
        <p:nvSpPr>
          <p:cNvPr id="291" name="Google Shape;291;p53"/>
          <p:cNvSpPr txBox="1"/>
          <p:nvPr/>
        </p:nvSpPr>
        <p:spPr>
          <a:xfrm>
            <a:off x="773112" y="2361009"/>
            <a:ext cx="67786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Bob</a:t>
            </a:r>
            <a:endParaRPr/>
          </a:p>
        </p:txBody>
      </p:sp>
      <p:sp>
        <p:nvSpPr>
          <p:cNvPr id="292" name="Google Shape;292;p53"/>
          <p:cNvSpPr txBox="1"/>
          <p:nvPr/>
        </p:nvSpPr>
        <p:spPr>
          <a:xfrm>
            <a:off x="773112" y="3103959"/>
            <a:ext cx="833438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Carol</a:t>
            </a:r>
            <a:endParaRPr/>
          </a:p>
        </p:txBody>
      </p:sp>
      <p:sp>
        <p:nvSpPr>
          <p:cNvPr id="293" name="Google Shape;293;p53"/>
          <p:cNvSpPr txBox="1"/>
          <p:nvPr/>
        </p:nvSpPr>
        <p:spPr>
          <a:xfrm>
            <a:off x="773112" y="3732609"/>
            <a:ext cx="876300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David</a:t>
            </a:r>
            <a:endParaRPr/>
          </a:p>
        </p:txBody>
      </p:sp>
      <p:sp>
        <p:nvSpPr>
          <p:cNvPr id="294" name="Google Shape;294;p53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53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1" name="Google Shape;301;p54"/>
          <p:cNvSpPr txBox="1"/>
          <p:nvPr/>
        </p:nvSpPr>
        <p:spPr>
          <a:xfrm>
            <a:off x="1219200" y="171450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Basic Methodologies</a:t>
            </a:r>
            <a:endParaRPr sz="32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4"/>
          <p:cNvSpPr txBox="1"/>
          <p:nvPr/>
        </p:nvSpPr>
        <p:spPr>
          <a:xfrm>
            <a:off x="228600" y="1143000"/>
            <a:ext cx="8763000" cy="2238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Content based filtering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Looks into the properties of the items 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Ex: Those who bought books of certain topic are in interested in  books of same type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Looks into similarity of users and items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Similar users are interested in similar items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5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8" name="Google Shape;308;p55"/>
          <p:cNvSpPr txBox="1"/>
          <p:nvPr/>
        </p:nvSpPr>
        <p:spPr>
          <a:xfrm>
            <a:off x="1219200" y="171450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Data Mining Methods/Tools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For Recommensation Systems</a:t>
            </a:r>
            <a:endParaRPr/>
          </a:p>
        </p:txBody>
      </p:sp>
      <p:sp>
        <p:nvSpPr>
          <p:cNvPr id="309" name="Google Shape;309;p55"/>
          <p:cNvSpPr txBox="1"/>
          <p:nvPr/>
        </p:nvSpPr>
        <p:spPr>
          <a:xfrm>
            <a:off x="228600" y="1143000"/>
            <a:ext cx="8763000" cy="2066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Similarity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Similarity of items (books, documents, images, music)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Cluster Users based on their behaviour 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Try to predict what the user will like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56"/>
          <p:cNvSpPr txBox="1"/>
          <p:nvPr/>
        </p:nvSpPr>
        <p:spPr>
          <a:xfrm>
            <a:off x="1219200" y="495636"/>
            <a:ext cx="6858000" cy="608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From Raw Data to Utility Matrix</a:t>
            </a:r>
            <a:endParaRPr dirty="0"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1800"/>
              <a:buFont typeface="Arial"/>
              <a:buNone/>
            </a:pPr>
            <a:r>
              <a:rPr lang="en" sz="1800" dirty="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http://infolab.stanford.edu/~ullman/mmds/ch9.pdf</a:t>
            </a:r>
            <a:endParaRPr sz="1800" dirty="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6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p56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314450"/>
            <a:ext cx="4171950" cy="115773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56"/>
          <p:cNvSpPr txBox="1"/>
          <p:nvPr/>
        </p:nvSpPr>
        <p:spPr>
          <a:xfrm>
            <a:off x="381000" y="2686050"/>
            <a:ext cx="8763000" cy="202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2035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Problem of sparsity</a:t>
            </a:r>
            <a:endParaRPr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Lots of entries are empty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In practice only a small fraction of the entries are known</a:t>
            </a:r>
            <a:endParaRPr/>
          </a:p>
          <a:p>
            <a:pPr marL="338138" marR="0" lvl="0" indent="-32035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Task of a recommendation system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Predict the blanks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Is user A interested in HP2?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57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8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7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57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1314450"/>
            <a:ext cx="4171950" cy="115773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7"/>
          <p:cNvSpPr txBox="1"/>
          <p:nvPr/>
        </p:nvSpPr>
        <p:spPr>
          <a:xfrm>
            <a:off x="381000" y="2686050"/>
            <a:ext cx="8763000" cy="253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4575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800"/>
              <a:buFont typeface="Noto Sans Symbols"/>
              <a:buChar char="■"/>
            </a:pPr>
            <a:r>
              <a:rPr lang="en" sz="1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Content based filtering</a:t>
            </a:r>
            <a:endParaRPr sz="1800"/>
          </a:p>
          <a:p>
            <a:pPr marL="795338" marR="0" lvl="1" indent="-3635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800"/>
              <a:buFont typeface="Noto Sans Symbols"/>
              <a:buChar char="■"/>
            </a:pPr>
            <a:r>
              <a:rPr lang="en" sz="18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If user liked HP1, since HP2 is a similar movie, he/she will also like it</a:t>
            </a:r>
            <a:endParaRPr sz="1800"/>
          </a:p>
          <a:p>
            <a:pPr marL="338138" marR="0" lvl="0" indent="-34575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800"/>
              <a:buFont typeface="Noto Sans Symbols"/>
              <a:buChar char="■"/>
            </a:pPr>
            <a:r>
              <a:rPr lang="en" sz="1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 sz="1800"/>
          </a:p>
          <a:p>
            <a:pPr marL="795338" marR="0" lvl="1" indent="-3635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800"/>
              <a:buFont typeface="Noto Sans Symbols"/>
              <a:buChar char="■"/>
            </a:pPr>
            <a:r>
              <a:rPr lang="en" sz="18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If we know that people who usually like HP1 also like HP2 then we can say A will like HP2</a:t>
            </a:r>
            <a:endParaRPr sz="1800"/>
          </a:p>
          <a:p>
            <a:pPr marL="338138" marR="0" lvl="0" indent="-34575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800"/>
              <a:buFont typeface="Noto Sans Symbols"/>
              <a:buChar char="■"/>
            </a:pPr>
            <a:r>
              <a:rPr lang="en" sz="18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Goal is to try to find items that will be highly preferred by users </a:t>
            </a:r>
            <a:endParaRPr sz="1800"/>
          </a:p>
          <a:p>
            <a:pPr marL="338138" marR="0" lvl="0" indent="-249238" algn="l" rtl="0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18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8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Key Problems</a:t>
            </a:r>
            <a:endParaRPr/>
          </a:p>
        </p:txBody>
      </p:sp>
      <p:sp>
        <p:nvSpPr>
          <p:cNvPr id="334" name="Google Shape;334;p58"/>
          <p:cNvSpPr txBox="1">
            <a:spLocks noGrp="1"/>
          </p:cNvSpPr>
          <p:nvPr>
            <p:ph type="body" idx="4294967295"/>
          </p:nvPr>
        </p:nvSpPr>
        <p:spPr>
          <a:xfrm>
            <a:off x="457200" y="971550"/>
            <a:ext cx="86868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(1)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Gathering “known” ratings for matrix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collect the data in the utility matrix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31136" marR="0" lvl="8" indent="-68579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(2)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Extrapolate unknown ratings from the </a:t>
            </a:r>
            <a:b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known ones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Mainly interested in </a:t>
            </a:r>
            <a:r>
              <a:rPr lang="en" sz="1800" b="1" i="0" u="none" strike="noStrike" cap="none">
                <a:solidFill>
                  <a:srgbClr val="980000"/>
                </a:solidFill>
              </a:rPr>
              <a:t>high unknown ratings</a:t>
            </a:r>
            <a:endParaRPr sz="1800" b="1">
              <a:solidFill>
                <a:srgbClr val="980000"/>
              </a:solidFill>
            </a:endParaRPr>
          </a:p>
          <a:p>
            <a:pPr marL="996696" marR="0" lvl="2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are not interested in knowing what you don’t like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what you like</a:t>
            </a:r>
            <a:endParaRPr sz="1800"/>
          </a:p>
          <a:p>
            <a:pPr marL="2231136" marR="0" lvl="8" indent="-68579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(3)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Evaluating extrapolation methods</a:t>
            </a:r>
            <a:endParaRPr sz="1800"/>
          </a:p>
          <a:p>
            <a:pPr marL="731520" marR="0" lvl="1" indent="-210819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measure success/performance of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 methods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8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8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9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(1) Gathering Ratings</a:t>
            </a:r>
            <a:endParaRPr/>
          </a:p>
        </p:txBody>
      </p:sp>
      <p:sp>
        <p:nvSpPr>
          <p:cNvPr id="343" name="Google Shape;343;p59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Explicit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people to rate items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work well in practice – people </a:t>
            </a:r>
            <a:b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be bothered</a:t>
            </a:r>
            <a:endParaRPr sz="240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Implicit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ratings from user actions</a:t>
            </a:r>
            <a:endParaRPr sz="2400"/>
          </a:p>
          <a:p>
            <a:pPr marL="996696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Noto Sans Symbols"/>
              <a:buChar char="▪"/>
            </a:pPr>
            <a:r>
              <a:rPr lang="en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purchase implies high rating</a:t>
            </a:r>
            <a:endParaRPr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about low ratings?</a:t>
            </a:r>
            <a:endParaRPr sz="2400"/>
          </a:p>
        </p:txBody>
      </p:sp>
      <p:sp>
        <p:nvSpPr>
          <p:cNvPr id="344" name="Google Shape;344;p59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9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0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(2) Extrapolating Utilities</a:t>
            </a:r>
            <a:endParaRPr/>
          </a:p>
        </p:txBody>
      </p:sp>
      <p:sp>
        <p:nvSpPr>
          <p:cNvPr id="352" name="Google Shape;352;p60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Key problem:</a:t>
            </a:r>
            <a:r>
              <a:rPr lang="en" sz="2400" b="0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Utility matrix </a:t>
            </a:r>
            <a:r>
              <a:rPr lang="en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</a:t>
            </a: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sparse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people have not rated most items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Cold start: </a:t>
            </a:r>
            <a:endParaRPr sz="2400"/>
          </a:p>
          <a:p>
            <a:pPr marL="996696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Noto Sans Symbols"/>
              <a:buChar char="▪"/>
            </a:pPr>
            <a:r>
              <a:rPr lang="en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items have no ratings</a:t>
            </a:r>
            <a:endParaRPr/>
          </a:p>
          <a:p>
            <a:pPr marL="996696" marR="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Noto Sans Symbols"/>
              <a:buChar char="▪"/>
            </a:pPr>
            <a:r>
              <a:rPr lang="en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users have no history</a:t>
            </a: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Main approaches to recommender systems: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1)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Content-based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2)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Collaborative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/>
              <a:t>3) </a:t>
            </a:r>
            <a:r>
              <a:rPr lang="en" sz="2400"/>
              <a:t>Latent factor based algorithms</a:t>
            </a:r>
            <a:endParaRPr sz="2400"/>
          </a:p>
        </p:txBody>
      </p:sp>
      <p:sp>
        <p:nvSpPr>
          <p:cNvPr id="353" name="Google Shape;353;p60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60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>
            <a:spLocks noGrp="1"/>
          </p:cNvSpPr>
          <p:nvPr>
            <p:ph type="title" idx="4294967295"/>
          </p:nvPr>
        </p:nvSpPr>
        <p:spPr>
          <a:xfrm>
            <a:off x="304800" y="57150"/>
            <a:ext cx="88392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Content-based Recommendations</a:t>
            </a:r>
            <a:endParaRPr/>
          </a:p>
        </p:txBody>
      </p:sp>
      <p:sp>
        <p:nvSpPr>
          <p:cNvPr id="361" name="Google Shape;361;p61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Main idea:</a:t>
            </a:r>
            <a:r>
              <a:rPr lang="en" sz="2400" b="0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items to customer </a:t>
            </a:r>
            <a:r>
              <a:rPr lang="en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similar to previous items rated highly by </a:t>
            </a:r>
            <a:r>
              <a:rPr lang="en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2400"/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24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Movie recommendations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movies with same actor(s), </a:t>
            </a:r>
            <a:b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director, genre, …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Websites, blogs, news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 other sites with “similar” content</a:t>
            </a:r>
            <a:endParaRPr sz="2400"/>
          </a:p>
          <a:p>
            <a:pPr marL="731520" marR="0" lvl="1" indent="-965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61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61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Plan of Action</a:t>
            </a:r>
            <a:endParaRPr/>
          </a:p>
        </p:txBody>
      </p:sp>
      <p:sp>
        <p:nvSpPr>
          <p:cNvPr id="370" name="Google Shape;370;p62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62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 dirty="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p62" descr="MCBS01705_0000[1]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71600" y="971550"/>
            <a:ext cx="1319212" cy="1329929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62"/>
          <p:cNvSpPr/>
          <p:nvPr/>
        </p:nvSpPr>
        <p:spPr>
          <a:xfrm>
            <a:off x="5867400" y="1600200"/>
            <a:ext cx="533400" cy="400050"/>
          </a:xfrm>
          <a:prstGeom prst="ellipse">
            <a:avLst/>
          </a:prstGeom>
          <a:solidFill>
            <a:srgbClr val="C00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4" name="Google Shape;374;p62"/>
          <p:cNvSpPr/>
          <p:nvPr/>
        </p:nvSpPr>
        <p:spPr>
          <a:xfrm>
            <a:off x="2362200" y="3486150"/>
            <a:ext cx="533400" cy="400050"/>
          </a:xfrm>
          <a:prstGeom prst="ellipse">
            <a:avLst/>
          </a:prstGeom>
          <a:solidFill>
            <a:srgbClr val="008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5" name="Google Shape;375;p62"/>
          <p:cNvSpPr/>
          <p:nvPr/>
        </p:nvSpPr>
        <p:spPr>
          <a:xfrm>
            <a:off x="2362200" y="4057650"/>
            <a:ext cx="457200" cy="342900"/>
          </a:xfrm>
          <a:prstGeom prst="rect">
            <a:avLst/>
          </a:prstGeom>
          <a:solidFill>
            <a:srgbClr val="008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6" name="Google Shape;376;p62"/>
          <p:cNvSpPr/>
          <p:nvPr/>
        </p:nvSpPr>
        <p:spPr>
          <a:xfrm>
            <a:off x="1524000" y="4057650"/>
            <a:ext cx="457200" cy="342900"/>
          </a:xfrm>
          <a:prstGeom prst="rect">
            <a:avLst/>
          </a:prstGeom>
          <a:solidFill>
            <a:srgbClr val="0066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7" name="Google Shape;377;p62"/>
          <p:cNvSpPr/>
          <p:nvPr/>
        </p:nvSpPr>
        <p:spPr>
          <a:xfrm>
            <a:off x="6705600" y="1600200"/>
            <a:ext cx="685800" cy="400050"/>
          </a:xfrm>
          <a:prstGeom prst="triangle">
            <a:avLst>
              <a:gd name="adj" fmla="val 50000"/>
            </a:avLst>
          </a:prstGeom>
          <a:solidFill>
            <a:srgbClr val="C0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8" name="Google Shape;378;p62"/>
          <p:cNvSpPr/>
          <p:nvPr/>
        </p:nvSpPr>
        <p:spPr>
          <a:xfrm>
            <a:off x="1447800" y="3486150"/>
            <a:ext cx="685800" cy="400050"/>
          </a:xfrm>
          <a:prstGeom prst="hexagon">
            <a:avLst>
              <a:gd name="adj" fmla="val 32143"/>
              <a:gd name="vf" fmla="val 115470"/>
            </a:avLst>
          </a:prstGeom>
          <a:solidFill>
            <a:srgbClr val="C0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9" name="Google Shape;379;p62"/>
          <p:cNvSpPr/>
          <p:nvPr/>
        </p:nvSpPr>
        <p:spPr>
          <a:xfrm>
            <a:off x="3810000" y="1714500"/>
            <a:ext cx="1219200" cy="2286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0" name="Google Shape;380;p62"/>
          <p:cNvSpPr txBox="1"/>
          <p:nvPr/>
        </p:nvSpPr>
        <p:spPr>
          <a:xfrm>
            <a:off x="3810000" y="1407319"/>
            <a:ext cx="75373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likes</a:t>
            </a:r>
            <a:endParaRPr/>
          </a:p>
        </p:txBody>
      </p:sp>
      <p:sp>
        <p:nvSpPr>
          <p:cNvPr id="381" name="Google Shape;381;p62"/>
          <p:cNvSpPr txBox="1"/>
          <p:nvPr/>
        </p:nvSpPr>
        <p:spPr>
          <a:xfrm>
            <a:off x="5698753" y="1008269"/>
            <a:ext cx="201369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Item profiles</a:t>
            </a:r>
            <a:endParaRPr/>
          </a:p>
        </p:txBody>
      </p:sp>
      <p:sp>
        <p:nvSpPr>
          <p:cNvPr id="382" name="Google Shape;382;p62"/>
          <p:cNvSpPr/>
          <p:nvPr/>
        </p:nvSpPr>
        <p:spPr>
          <a:xfrm>
            <a:off x="6553200" y="2343150"/>
            <a:ext cx="304800" cy="971550"/>
          </a:xfrm>
          <a:prstGeom prst="downArrow">
            <a:avLst>
              <a:gd name="adj1" fmla="val 50000"/>
              <a:gd name="adj2" fmla="val 10625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3" name="Google Shape;383;p62"/>
          <p:cNvSpPr/>
          <p:nvPr/>
        </p:nvSpPr>
        <p:spPr>
          <a:xfrm>
            <a:off x="5562600" y="1485900"/>
            <a:ext cx="2057400" cy="6286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4" name="Google Shape;384;p62"/>
          <p:cNvSpPr/>
          <p:nvPr/>
        </p:nvSpPr>
        <p:spPr>
          <a:xfrm>
            <a:off x="5562600" y="3486150"/>
            <a:ext cx="2209800" cy="8572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sz="2000" b="1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Circles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Triangles</a:t>
            </a:r>
            <a:endParaRPr/>
          </a:p>
        </p:txBody>
      </p:sp>
      <p:sp>
        <p:nvSpPr>
          <p:cNvPr id="385" name="Google Shape;385;p62"/>
          <p:cNvSpPr txBox="1"/>
          <p:nvPr/>
        </p:nvSpPr>
        <p:spPr>
          <a:xfrm>
            <a:off x="5791200" y="4457700"/>
            <a:ext cx="1895071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User profile</a:t>
            </a:r>
            <a:endParaRPr/>
          </a:p>
        </p:txBody>
      </p:sp>
      <p:sp>
        <p:nvSpPr>
          <p:cNvPr id="386" name="Google Shape;386;p62"/>
          <p:cNvSpPr/>
          <p:nvPr/>
        </p:nvSpPr>
        <p:spPr>
          <a:xfrm>
            <a:off x="3733800" y="3829050"/>
            <a:ext cx="1219200" cy="228600"/>
          </a:xfrm>
          <a:prstGeom prst="lef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7" name="Google Shape;387;p62"/>
          <p:cNvSpPr txBox="1"/>
          <p:nvPr/>
        </p:nvSpPr>
        <p:spPr>
          <a:xfrm>
            <a:off x="3937119" y="3543300"/>
            <a:ext cx="93968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match</a:t>
            </a:r>
            <a:endParaRPr/>
          </a:p>
        </p:txBody>
      </p:sp>
      <p:sp>
        <p:nvSpPr>
          <p:cNvPr id="388" name="Google Shape;388;p62"/>
          <p:cNvSpPr/>
          <p:nvPr/>
        </p:nvSpPr>
        <p:spPr>
          <a:xfrm>
            <a:off x="2057400" y="2457450"/>
            <a:ext cx="228600" cy="800100"/>
          </a:xfrm>
          <a:prstGeom prst="upArrow">
            <a:avLst>
              <a:gd name="adj1" fmla="val 50000"/>
              <a:gd name="adj2" fmla="val 116667"/>
            </a:avLst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9" name="Google Shape;389;p62"/>
          <p:cNvSpPr txBox="1"/>
          <p:nvPr/>
        </p:nvSpPr>
        <p:spPr>
          <a:xfrm>
            <a:off x="365125" y="2786017"/>
            <a:ext cx="163859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/>
          </a:p>
        </p:txBody>
      </p:sp>
      <p:sp>
        <p:nvSpPr>
          <p:cNvPr id="390" name="Google Shape;390;p62"/>
          <p:cNvSpPr txBox="1"/>
          <p:nvPr/>
        </p:nvSpPr>
        <p:spPr>
          <a:xfrm>
            <a:off x="6842125" y="2607469"/>
            <a:ext cx="79701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21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6" name="Google Shape;396;p63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Item Profiles</a:t>
            </a:r>
            <a:endParaRPr/>
          </a:p>
        </p:txBody>
      </p:sp>
      <p:sp>
        <p:nvSpPr>
          <p:cNvPr id="397" name="Google Shape;397;p63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63"/>
          <p:cNvSpPr txBox="1"/>
          <p:nvPr/>
        </p:nvSpPr>
        <p:spPr>
          <a:xfrm>
            <a:off x="381000" y="1314450"/>
            <a:ext cx="8763000" cy="302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Item profiling with features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Movie: Actors, Director, Genre ….</a:t>
            </a:r>
            <a:endParaRPr/>
          </a:p>
          <a:p>
            <a:pPr marL="338137" marR="0" lvl="0" indent="0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338138" marR="0" lvl="0" indent="-2492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4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 Profiles</a:t>
            </a:r>
            <a:endParaRPr/>
          </a:p>
        </p:txBody>
      </p:sp>
      <p:sp>
        <p:nvSpPr>
          <p:cNvPr id="405" name="Google Shape;405;p64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0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For each item, create an </a:t>
            </a:r>
            <a:r>
              <a:rPr lang="en" sz="3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item profile</a:t>
            </a:r>
            <a:endParaRPr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0066FF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Profile is a set (vector) of features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lang="en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Movies:</a:t>
            </a: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author, title, actor, director,…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lang="en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Text:</a:t>
            </a: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“important” words in document</a:t>
            </a:r>
            <a:endParaRPr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1" i="0" u="none" strike="noStrike" cap="none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1574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4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4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23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13" name="Google Shape;413;p65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Constructing the Utility Matrix</a:t>
            </a:r>
            <a:endParaRPr/>
          </a:p>
        </p:txBody>
      </p:sp>
      <p:sp>
        <p:nvSpPr>
          <p:cNvPr id="414" name="Google Shape;414;p65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65"/>
          <p:cNvSpPr txBox="1"/>
          <p:nvPr/>
        </p:nvSpPr>
        <p:spPr>
          <a:xfrm>
            <a:off x="381000" y="1314450"/>
            <a:ext cx="8763000" cy="202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Ask users to do rating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680"/>
              <a:buFont typeface="Noto Sans Symbols"/>
              <a:buChar char="■"/>
            </a:pPr>
            <a:r>
              <a:rPr lang="en" sz="24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Make inferences from users’ behavior</a:t>
            </a:r>
            <a:endParaRPr sz="24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If user watches or buys, then it means the user likes the item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1 means user liked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0 means user did not watch or buy</a:t>
            </a:r>
            <a:endParaRPr/>
          </a:p>
          <a:p>
            <a:pPr marL="795338" marR="0" lvl="1" indent="-249237" algn="l" rtl="0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 b="0" i="0" u="none" strike="noStrike" cap="non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6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24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1" name="Google Shape;421;p66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Item Profiles</a:t>
            </a:r>
            <a:endParaRPr/>
          </a:p>
        </p:txBody>
      </p:sp>
      <p:sp>
        <p:nvSpPr>
          <p:cNvPr id="422" name="Google Shape;422;p66"/>
          <p:cNvSpPr txBox="1"/>
          <p:nvPr/>
        </p:nvSpPr>
        <p:spPr>
          <a:xfrm>
            <a:off x="381000" y="1314450"/>
            <a:ext cx="8763000" cy="127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Features of multiple types 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Boolean features. Ex: Movie has actors, director, genre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Numeric features. Ex: Rating for a movie, screen size, disc capacity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Cosine similarity still works for mix of Boolean and numeric features </a:t>
            </a:r>
            <a:endParaRPr/>
          </a:p>
        </p:txBody>
      </p:sp>
      <p:pic>
        <p:nvPicPr>
          <p:cNvPr id="423" name="Google Shape;423;p66" descr="RS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2600" y="3028950"/>
            <a:ext cx="403860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7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25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9" name="Google Shape;429;p67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User Profiles</a:t>
            </a:r>
            <a:endParaRPr/>
          </a:p>
        </p:txBody>
      </p:sp>
      <p:sp>
        <p:nvSpPr>
          <p:cNvPr id="430" name="Google Shape;430;p67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67"/>
          <p:cNvSpPr txBox="1"/>
          <p:nvPr/>
        </p:nvSpPr>
        <p:spPr>
          <a:xfrm>
            <a:off x="381000" y="1314450"/>
            <a:ext cx="8763000" cy="61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Constructing vectors describing user preferences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Aggregate the items for which the user has 1 in the utility matrix</a:t>
            </a:r>
            <a:endParaRPr/>
          </a:p>
        </p:txBody>
      </p:sp>
      <p:graphicFrame>
        <p:nvGraphicFramePr>
          <p:cNvPr id="432" name="Google Shape;432;p67"/>
          <p:cNvGraphicFramePr/>
          <p:nvPr/>
        </p:nvGraphicFramePr>
        <p:xfrm>
          <a:off x="1219200" y="2076450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strike="noStrike" cap="none"/>
                        <a:t>M1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33" name="Google Shape;433;p67"/>
          <p:cNvGraphicFramePr/>
          <p:nvPr/>
        </p:nvGraphicFramePr>
        <p:xfrm>
          <a:off x="2362200" y="2076450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M2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34" name="Google Shape;434;p67"/>
          <p:cNvGraphicFramePr/>
          <p:nvPr/>
        </p:nvGraphicFramePr>
        <p:xfrm>
          <a:off x="3657600" y="2076450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M3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35" name="Google Shape;435;p67"/>
          <p:cNvGraphicFramePr/>
          <p:nvPr/>
        </p:nvGraphicFramePr>
        <p:xfrm>
          <a:off x="5029200" y="2076450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M4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36" name="Google Shape;436;p67"/>
          <p:cNvGraphicFramePr/>
          <p:nvPr/>
        </p:nvGraphicFramePr>
        <p:xfrm>
          <a:off x="6250195" y="2099127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M5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37" name="Google Shape;437;p67"/>
          <p:cNvSpPr txBox="1"/>
          <p:nvPr/>
        </p:nvSpPr>
        <p:spPr>
          <a:xfrm>
            <a:off x="0" y="2400300"/>
            <a:ext cx="1154934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Jolie</a:t>
            </a:r>
            <a:endParaRPr sz="2400">
              <a:solidFill>
                <a:srgbClr val="2D2DB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8" name="Google Shape;438;p67"/>
          <p:cNvSpPr txBox="1"/>
          <p:nvPr/>
        </p:nvSpPr>
        <p:spPr>
          <a:xfrm>
            <a:off x="0" y="2743200"/>
            <a:ext cx="97975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 Pitt</a:t>
            </a:r>
            <a:endParaRPr sz="2400">
              <a:solidFill>
                <a:srgbClr val="2D2DB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67"/>
          <p:cNvSpPr txBox="1"/>
          <p:nvPr/>
        </p:nvSpPr>
        <p:spPr>
          <a:xfrm>
            <a:off x="0" y="3028950"/>
            <a:ext cx="800219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……</a:t>
            </a:r>
            <a:endParaRPr sz="2400">
              <a:solidFill>
                <a:srgbClr val="2D2DB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440" name="Google Shape;440;p67"/>
          <p:cNvGraphicFramePr/>
          <p:nvPr/>
        </p:nvGraphicFramePr>
        <p:xfrm>
          <a:off x="7391400" y="2076450"/>
          <a:ext cx="533400" cy="3067000"/>
        </p:xfrm>
        <a:graphic>
          <a:graphicData uri="http://schemas.openxmlformats.org/drawingml/2006/table">
            <a:tbl>
              <a:tblPr firstRow="1" bandRow="1">
                <a:noFill/>
                <a:tableStyleId>{7979CD6E-6118-4F7F-94F2-F2104336EA04}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Av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4/5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4/5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4/5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1/5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0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8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26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6" name="Google Shape;446;p68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User Profiles</a:t>
            </a:r>
            <a:endParaRPr/>
          </a:p>
        </p:txBody>
      </p:sp>
      <p:sp>
        <p:nvSpPr>
          <p:cNvPr id="447" name="Google Shape;447;p68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8" name="Google Shape;448;p68"/>
          <p:cNvSpPr txBox="1"/>
          <p:nvPr/>
        </p:nvSpPr>
        <p:spPr>
          <a:xfrm>
            <a:off x="381000" y="1314450"/>
            <a:ext cx="8763000" cy="235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Constructing vectors describing user preferences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Aggregate the items for which the user has 1 in the utility matrix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Ex: “Suppose items are movies, represented by Boolean profiles with components corresponding to actors. Also, the utility matrix has a 1 if the user has seen the movie and is blank otherwise. If 20% of the movies that user U likes have Julia Roberts as one of the actors, then the user profile for U will have 0.2 in the component for Julia Roberts.”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If the utility matrix is not Boolean then the values could be used as weights after normalized by subtracting the average for the user.</a:t>
            </a: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9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27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4" name="Google Shape;454;p69"/>
          <p:cNvSpPr txBox="1"/>
          <p:nvPr/>
        </p:nvSpPr>
        <p:spPr>
          <a:xfrm>
            <a:off x="304800" y="342900"/>
            <a:ext cx="77724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recommendation:Ratings</a:t>
            </a:r>
            <a:endParaRPr sz="32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69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6" name="Google Shape;45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257300"/>
            <a:ext cx="5981207" cy="368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0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28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2" name="Google Shape;462;p70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Item Profiles</a:t>
            </a:r>
            <a:endParaRPr/>
          </a:p>
        </p:txBody>
      </p:sp>
      <p:sp>
        <p:nvSpPr>
          <p:cNvPr id="463" name="Google Shape;463;p70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70"/>
          <p:cNvSpPr txBox="1"/>
          <p:nvPr/>
        </p:nvSpPr>
        <p:spPr>
          <a:xfrm>
            <a:off x="381000" y="1314450"/>
            <a:ext cx="8763000" cy="2821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Documents: news articles, web pages, blogs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How to recommend users relevant document?</a:t>
            </a:r>
            <a:endParaRPr/>
          </a:p>
          <a:p>
            <a:pPr marL="914400" marR="0" lvl="2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</a:t>
            </a:r>
            <a:r>
              <a:rPr lang="en" sz="2400" b="0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 </a:t>
            </a:r>
            <a:r>
              <a:rPr lang="en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</a:t>
            </a:r>
            <a:r>
              <a:rPr lang="en" sz="2400" b="0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 </a:t>
            </a:r>
            <a:r>
              <a:rPr lang="en" sz="2400" b="1" i="0" u="none" strike="noStrike" cap="none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Item</a:t>
            </a:r>
            <a:endParaRPr sz="2000" b="0" i="0" u="none" strike="noStrike" cap="non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indent="-338138" algn="l" rtl="0">
              <a:lnSpc>
                <a:spcPct val="93000"/>
              </a:lnSpc>
              <a:spcBef>
                <a:spcPts val="6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Feature Discovery for documents 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The very famous TFIDF method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Clean the documents (remove stop words)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Calculate the TFIDF scores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Choose top k or certain percentage or those above the threshold 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1"/>
          <p:cNvSpPr txBox="1">
            <a:spLocks noGrp="1"/>
          </p:cNvSpPr>
          <p:nvPr>
            <p:ph type="title" idx="4294967295"/>
          </p:nvPr>
        </p:nvSpPr>
        <p:spPr>
          <a:xfrm>
            <a:off x="0" y="57150"/>
            <a:ext cx="8229600" cy="740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Sidenote: TF-IDF</a:t>
            </a:r>
            <a:endParaRPr/>
          </a:p>
        </p:txBody>
      </p:sp>
      <p:sp>
        <p:nvSpPr>
          <p:cNvPr id="471" name="Google Shape;471;p71"/>
          <p:cNvSpPr txBox="1">
            <a:spLocks noGrp="1"/>
          </p:cNvSpPr>
          <p:nvPr>
            <p:ph type="body" idx="4294967295"/>
          </p:nvPr>
        </p:nvSpPr>
        <p:spPr>
          <a:xfrm>
            <a:off x="0" y="971550"/>
            <a:ext cx="8229600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frequency of term (feature)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doc (item)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800"/>
          </a:p>
          <a:p>
            <a:pPr marL="438912" marR="0" lvl="0" indent="-1574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br>
              <a:rPr lang="en" sz="1800"/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number of docs that mention term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total number of docs</a:t>
            </a:r>
            <a:endParaRPr sz="1800"/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score: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TF</a:t>
            </a:r>
            <a:r>
              <a:rPr lang="en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ij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× IDF</a:t>
            </a:r>
            <a:r>
              <a:rPr lang="en" sz="1800" b="1" i="1" u="none" strike="noStrike" cap="none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800" b="1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b="1" i="0" u="none" strike="noStrike" cap="non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lang="en" sz="18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Doc profile =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words with highest </a:t>
            </a: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TF-IDF 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scores, together with their scores</a:t>
            </a:r>
            <a:endParaRPr sz="1800"/>
          </a:p>
        </p:txBody>
      </p:sp>
      <p:sp>
        <p:nvSpPr>
          <p:cNvPr id="472" name="Google Shape;472;p71"/>
          <p:cNvSpPr txBox="1">
            <a:spLocks noGrp="1"/>
          </p:cNvSpPr>
          <p:nvPr>
            <p:ph type="sldNum" idx="4294967295"/>
          </p:nvPr>
        </p:nvSpPr>
        <p:spPr>
          <a:xfrm>
            <a:off x="8410575" y="4937522"/>
            <a:ext cx="7334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1"/>
          <p:cNvSpPr txBox="1">
            <a:spLocks noGrp="1"/>
          </p:cNvSpPr>
          <p:nvPr>
            <p:ph type="ftr" idx="4294967295"/>
          </p:nvPr>
        </p:nvSpPr>
        <p:spPr>
          <a:xfrm>
            <a:off x="3635375" y="4937522"/>
            <a:ext cx="5508625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71" descr="txp_fi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423169"/>
            <a:ext cx="1943100" cy="519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71" descr="txp_fi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5080" y="2753915"/>
            <a:ext cx="2054040" cy="50363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71"/>
          <p:cNvSpPr txBox="1"/>
          <p:nvPr/>
        </p:nvSpPr>
        <p:spPr>
          <a:xfrm>
            <a:off x="6770376" y="1422052"/>
            <a:ext cx="2297424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we normalize TF</a:t>
            </a:r>
            <a:b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to discount for “longer” </a:t>
            </a:r>
            <a:b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documents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2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30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2" name="Google Shape;482;p72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Item Profiles</a:t>
            </a:r>
            <a:endParaRPr/>
          </a:p>
        </p:txBody>
      </p:sp>
      <p:sp>
        <p:nvSpPr>
          <p:cNvPr id="483" name="Google Shape;483;p72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72"/>
          <p:cNvSpPr txBox="1"/>
          <p:nvPr/>
        </p:nvSpPr>
        <p:spPr>
          <a:xfrm>
            <a:off x="381000" y="1314450"/>
            <a:ext cx="8763000" cy="1277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Once we extract significant words for the documents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Similarity Between Documents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Jaccard Similarity btw sets of words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Cosine similarity btw document vectors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3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User Profiles and Prediction</a:t>
            </a:r>
            <a:endParaRPr/>
          </a:p>
        </p:txBody>
      </p:sp>
      <p:sp>
        <p:nvSpPr>
          <p:cNvPr id="491" name="Google Shape;491;p73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40576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675"/>
            </a:stretch>
          </a:blipFill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92" name="Google Shape;492;p73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73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4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32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99" name="Google Shape;499;p74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Similarity of User and Item Profiles</a:t>
            </a:r>
            <a:endParaRPr/>
          </a:p>
        </p:txBody>
      </p:sp>
      <p:sp>
        <p:nvSpPr>
          <p:cNvPr id="500" name="Google Shape;500;p74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1" name="Google Shape;501;p74"/>
          <p:cNvSpPr txBox="1"/>
          <p:nvPr/>
        </p:nvSpPr>
        <p:spPr>
          <a:xfrm>
            <a:off x="381000" y="1314450"/>
            <a:ext cx="8763000" cy="1706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Use Cosine similarity between user profile and the item profile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The highest recommendations (lowest cosine distance) belong to the movies with lots of actors that appear in many of the movies the user has seen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Ratings of the user will make better estimates</a:t>
            </a:r>
            <a:endParaRPr/>
          </a:p>
          <a:p>
            <a:pPr marL="795338" marR="0" lvl="1" indent="-249237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 b="0" i="0" u="none" strike="noStrike" cap="none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5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33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07" name="Google Shape;507;p75"/>
          <p:cNvSpPr txBox="1"/>
          <p:nvPr/>
        </p:nvSpPr>
        <p:spPr>
          <a:xfrm>
            <a:off x="1219200" y="343479"/>
            <a:ext cx="68580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Content based recommendation: Seen as a Classification Problem</a:t>
            </a:r>
            <a:endParaRPr/>
          </a:p>
        </p:txBody>
      </p:sp>
      <p:sp>
        <p:nvSpPr>
          <p:cNvPr id="508" name="Google Shape;508;p75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75"/>
          <p:cNvSpPr txBox="1"/>
          <p:nvPr/>
        </p:nvSpPr>
        <p:spPr>
          <a:xfrm>
            <a:off x="381000" y="1314450"/>
            <a:ext cx="8763000" cy="203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Use the item profiles that the user liked as training data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Build a classifier (like a decision tree)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Use the classifier to predict if the user will like another item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Better to use an ensemble of classifiers using different features and use voting to decide on the class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Need a classifier for each user which may be very expensive for case of many users</a:t>
            </a: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6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Pros: Content-based Approach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6" name="Google Shape;516;p76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610600" cy="405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+: No need for data on other users</a:t>
            </a:r>
            <a:endParaRPr sz="2400" dirty="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cold-start or sparsity problems</a:t>
            </a:r>
            <a:endParaRPr sz="2400" dirty="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+: Able to recommend to users with </a:t>
            </a:r>
            <a:b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unique tastes</a:t>
            </a:r>
            <a:endParaRPr sz="2400" dirty="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+: Able to recommend new &amp; unpopular items</a:t>
            </a:r>
            <a:endParaRPr sz="2400" dirty="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first-rater problem</a:t>
            </a:r>
            <a:endParaRPr sz="2400" dirty="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 dirty="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+: Able to provide explanations</a:t>
            </a:r>
            <a:endParaRPr sz="2400" dirty="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provide explanations of recommended items by listing content-features that caused an item to be recommended</a:t>
            </a:r>
            <a:endParaRPr sz="2400" dirty="0"/>
          </a:p>
        </p:txBody>
      </p:sp>
      <p:sp>
        <p:nvSpPr>
          <p:cNvPr id="517" name="Google Shape;517;p76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6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34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7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Cons: Content-based Approach</a:t>
            </a:r>
            <a:endParaRPr/>
          </a:p>
        </p:txBody>
      </p:sp>
      <p:sp>
        <p:nvSpPr>
          <p:cNvPr id="525" name="Google Shape;525;p77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5344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–: Finding the appropriate features is hard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images, movies, music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–: Recommendations for new users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How to build a user profile?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–: Overspecialization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recommends items outside user’s </a:t>
            </a:r>
            <a:b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profile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might have multiple interests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Unable to exploit quality judgments of other users</a:t>
            </a:r>
            <a:endParaRPr sz="2400"/>
          </a:p>
          <a:p>
            <a:pPr marL="438912" marR="0" lvl="0" indent="-1574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77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77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35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8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Collaborative Filtering</a:t>
            </a:r>
            <a:endParaRPr/>
          </a:p>
        </p:txBody>
      </p:sp>
      <p:sp>
        <p:nvSpPr>
          <p:cNvPr id="534" name="Google Shape;534;p78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1534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Consider user </a:t>
            </a:r>
            <a:r>
              <a:rPr lang="en" sz="1800" b="1" i="1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 dirty="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set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other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whose ratings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“</a:t>
            </a: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similar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to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ratings</a:t>
            </a:r>
            <a:endParaRPr sz="1800" dirty="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 dirty="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</a:t>
            </a:r>
            <a:r>
              <a:rPr lang="en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ratings </a:t>
            </a:r>
            <a:b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ratings </a:t>
            </a:r>
            <a:b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users in </a:t>
            </a:r>
            <a:r>
              <a:rPr lang="en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 dirty="0"/>
          </a:p>
          <a:p>
            <a:pPr marL="438912" marR="0" lvl="0" indent="-1574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78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36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78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78" descr="Figur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3960" y="907256"/>
            <a:ext cx="3452880" cy="3207544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78"/>
          <p:cNvSpPr/>
          <p:nvPr/>
        </p:nvSpPr>
        <p:spPr>
          <a:xfrm>
            <a:off x="4648200" y="1869224"/>
            <a:ext cx="762000" cy="228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 b="1" i="1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0" name="Google Shape;540;p78"/>
          <p:cNvSpPr/>
          <p:nvPr/>
        </p:nvSpPr>
        <p:spPr>
          <a:xfrm>
            <a:off x="7391400" y="2832410"/>
            <a:ext cx="1600200" cy="302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 dirty="0">
                <a:solidFill>
                  <a:srgbClr val="008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800" b="1" i="1" dirty="0">
              <a:solidFill>
                <a:srgbClr val="008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78"/>
          <p:cNvSpPr/>
          <p:nvPr/>
        </p:nvSpPr>
        <p:spPr>
          <a:xfrm>
            <a:off x="5638800" y="4286250"/>
            <a:ext cx="1828800" cy="302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3" name="Google Shape;543;p78"/>
          <p:cNvSpPr/>
          <p:nvPr/>
        </p:nvSpPr>
        <p:spPr>
          <a:xfrm>
            <a:off x="4419600" y="2361969"/>
            <a:ext cx="457200" cy="302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79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37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9" name="Google Shape;549;p79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550" name="Google Shape;550;p79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79"/>
          <p:cNvSpPr txBox="1"/>
          <p:nvPr/>
        </p:nvSpPr>
        <p:spPr>
          <a:xfrm>
            <a:off x="381000" y="2686050"/>
            <a:ext cx="8763000" cy="947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We need a similarity metric for the users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Which users are similar in the above figure?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How about Jaccard Similarity? </a:t>
            </a: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79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00150"/>
            <a:ext cx="4171950" cy="115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63400" y="3633400"/>
            <a:ext cx="3819525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0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38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9" name="Google Shape;559;p80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560" name="Google Shape;560;p80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80"/>
          <p:cNvSpPr txBox="1"/>
          <p:nvPr/>
        </p:nvSpPr>
        <p:spPr>
          <a:xfrm>
            <a:off x="381000" y="2686050"/>
            <a:ext cx="8763000" cy="149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Should capture the intuition that Sim(A,B) &gt; Sim(A,C)</a:t>
            </a:r>
            <a:endParaRPr dirty="0"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User A and C have opposite views on movies</a:t>
            </a:r>
            <a:endParaRPr sz="20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Jaccard distance is not good for the above case but can be used for boolean utility matrix (purchased, viewed, liked etc)</a:t>
            </a:r>
            <a:endParaRPr dirty="0"/>
          </a:p>
          <a:p>
            <a:pPr marL="338138" marR="0" lvl="0" indent="-2492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80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00150"/>
            <a:ext cx="4171950" cy="115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81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39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68" name="Google Shape;568;p81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569" name="Google Shape;569;p81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0" name="Google Shape;570;p81"/>
          <p:cNvSpPr txBox="1"/>
          <p:nvPr/>
        </p:nvSpPr>
        <p:spPr>
          <a:xfrm>
            <a:off x="381000" y="2686050"/>
            <a:ext cx="8763000" cy="28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How about cosine similarity</a:t>
            </a:r>
            <a:endParaRPr sz="200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1" name="Google Shape;571;p81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00150"/>
            <a:ext cx="4171950" cy="115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8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3086100"/>
            <a:ext cx="40767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82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40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8" name="Google Shape;578;p82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579" name="Google Shape;579;p82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82"/>
          <p:cNvSpPr txBox="1"/>
          <p:nvPr/>
        </p:nvSpPr>
        <p:spPr>
          <a:xfrm>
            <a:off x="381000" y="2686050"/>
            <a:ext cx="8763000" cy="50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Cosine similarity treats the unknown values as 0 which corresponds to a negative rating</a:t>
            </a:r>
            <a:endParaRPr lang="tr-TR" sz="20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indent="-338138">
              <a:lnSpc>
                <a:spcPct val="93000"/>
              </a:lnSpc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-US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Solution is to normalize using the row mean (Centered Cosine)</a:t>
            </a:r>
          </a:p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endParaRPr sz="20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1" name="Google Shape;581;p82" descr="RS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200150"/>
            <a:ext cx="4171950" cy="1157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3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41</a:t>
            </a:fld>
            <a:endParaRPr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7" name="Google Shape;587;p83"/>
          <p:cNvSpPr txBox="1"/>
          <p:nvPr/>
        </p:nvSpPr>
        <p:spPr>
          <a:xfrm>
            <a:off x="1219200" y="686957"/>
            <a:ext cx="6858000" cy="417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Collaborative Filtering</a:t>
            </a:r>
            <a:endParaRPr/>
          </a:p>
        </p:txBody>
      </p:sp>
      <p:sp>
        <p:nvSpPr>
          <p:cNvPr id="588" name="Google Shape;588;p83"/>
          <p:cNvSpPr/>
          <p:nvPr/>
        </p:nvSpPr>
        <p:spPr>
          <a:xfrm>
            <a:off x="2286000" y="2260126"/>
            <a:ext cx="4572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http://infolab.stanford.edu/~ullman/mmds/ch9.pdf</a:t>
            </a:r>
            <a:endParaRPr sz="24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83"/>
          <p:cNvSpPr txBox="1"/>
          <p:nvPr/>
        </p:nvSpPr>
        <p:spPr>
          <a:xfrm>
            <a:off x="381000" y="1143000"/>
            <a:ext cx="8763000" cy="28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dirty="0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Solution is to normalize using the row mean (Centered Cosine)</a:t>
            </a:r>
            <a:endParaRPr sz="20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57350"/>
            <a:ext cx="4707992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8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3086100"/>
            <a:ext cx="4856094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600" y="4486275"/>
            <a:ext cx="43624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4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Finding “Similar” Users</a:t>
            </a:r>
            <a:endParaRPr/>
          </a:p>
        </p:txBody>
      </p:sp>
      <p:sp>
        <p:nvSpPr>
          <p:cNvPr id="599" name="Google Shape;599;p84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1622"/>
            </a:stretch>
          </a:blipFill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00" name="Google Shape;600;p84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84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42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84"/>
          <p:cNvSpPr txBox="1"/>
          <p:nvPr/>
        </p:nvSpPr>
        <p:spPr>
          <a:xfrm>
            <a:off x="6505880" y="57150"/>
            <a:ext cx="2562000" cy="6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[*, _, _, *, ***]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[*, _, **, **, _]</a:t>
            </a:r>
            <a:endParaRPr/>
          </a:p>
        </p:txBody>
      </p:sp>
      <p:sp>
        <p:nvSpPr>
          <p:cNvPr id="603" name="Google Shape;603;p84"/>
          <p:cNvSpPr txBox="1"/>
          <p:nvPr/>
        </p:nvSpPr>
        <p:spPr>
          <a:xfrm>
            <a:off x="7543800" y="1041052"/>
            <a:ext cx="1433400" cy="6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as sets: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{1, 4, 5}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{1, 3, 4}</a:t>
            </a:r>
            <a:endParaRPr/>
          </a:p>
        </p:txBody>
      </p:sp>
      <p:sp>
        <p:nvSpPr>
          <p:cNvPr id="604" name="Google Shape;604;p84"/>
          <p:cNvSpPr txBox="1"/>
          <p:nvPr/>
        </p:nvSpPr>
        <p:spPr>
          <a:xfrm>
            <a:off x="7399612" y="1962150"/>
            <a:ext cx="1744500" cy="62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, 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as points: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{1, 0, 0, 1, 3}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6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 sz="16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= {1, 0, 2, 2, 0}</a:t>
            </a:r>
            <a:endParaRPr/>
          </a:p>
        </p:txBody>
      </p:sp>
      <p:sp>
        <p:nvSpPr>
          <p:cNvPr id="605" name="Google Shape;605;p84"/>
          <p:cNvSpPr txBox="1"/>
          <p:nvPr/>
        </p:nvSpPr>
        <p:spPr>
          <a:xfrm>
            <a:off x="7711232" y="4019550"/>
            <a:ext cx="14541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8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" sz="1800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 avg.</a:t>
            </a:r>
            <a:b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rating of </a:t>
            </a:r>
            <a:r>
              <a:rPr lang="en" sz="18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18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800" b="1" baseline="-25000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84"/>
          <p:cNvCxnSpPr/>
          <p:nvPr/>
        </p:nvCxnSpPr>
        <p:spPr>
          <a:xfrm>
            <a:off x="7807542" y="4713195"/>
            <a:ext cx="145180" cy="0"/>
          </a:xfrm>
          <a:prstGeom prst="straightConnector1">
            <a:avLst/>
          </a:prstGeom>
          <a:noFill/>
          <a:ln w="12700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7" name="Google Shape;607;p84"/>
          <p:cNvCxnSpPr/>
          <p:nvPr/>
        </p:nvCxnSpPr>
        <p:spPr>
          <a:xfrm>
            <a:off x="8096334" y="4713195"/>
            <a:ext cx="145180" cy="0"/>
          </a:xfrm>
          <a:prstGeom prst="straightConnector1">
            <a:avLst/>
          </a:prstGeom>
          <a:noFill/>
          <a:ln w="12700" cap="flat" cmpd="sng">
            <a:solidFill>
              <a:srgbClr val="008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8" name="Google Shape;608;p84"/>
          <p:cNvSpPr txBox="1"/>
          <p:nvPr/>
        </p:nvSpPr>
        <p:spPr>
          <a:xfrm>
            <a:off x="557451" y="3943350"/>
            <a:ext cx="7138749" cy="107284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85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Rating Predictions</a:t>
            </a:r>
            <a:endParaRPr/>
          </a:p>
        </p:txBody>
      </p:sp>
      <p:sp>
        <p:nvSpPr>
          <p:cNvPr id="615" name="Google Shape;615;p85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888" t="-695" b="-3826"/>
            </a:stretch>
          </a:blipFill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616" name="Google Shape;616;p85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43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85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85"/>
          <p:cNvSpPr/>
          <p:nvPr/>
        </p:nvSpPr>
        <p:spPr>
          <a:xfrm>
            <a:off x="4724400" y="3210910"/>
            <a:ext cx="1822102" cy="5038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2675" t="-4504" b="-1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6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36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Collaborative Filtering</a:t>
            </a:r>
            <a:endParaRPr sz="3600"/>
          </a:p>
        </p:txBody>
      </p:sp>
      <p:sp>
        <p:nvSpPr>
          <p:cNvPr id="625" name="Google Shape;625;p86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686800" cy="4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far: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User-user collaborative filtering</a:t>
            </a:r>
            <a:endParaRPr sz="1800"/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Another view: </a:t>
            </a: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Item-item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item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find other similar items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rating for item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based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ratings for similar items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use same similarity metrics and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functions as in user-user model</a:t>
            </a:r>
            <a:endParaRPr sz="1800"/>
          </a:p>
        </p:txBody>
      </p:sp>
      <p:sp>
        <p:nvSpPr>
          <p:cNvPr id="626" name="Google Shape;626;p86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86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44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8" name="Google Shape;628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9488" y="3645694"/>
            <a:ext cx="2452688" cy="1077516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86"/>
          <p:cNvSpPr txBox="1"/>
          <p:nvPr/>
        </p:nvSpPr>
        <p:spPr>
          <a:xfrm>
            <a:off x="4577239" y="3867150"/>
            <a:ext cx="4211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18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 similarity of items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8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xj</a:t>
            </a:r>
            <a:r>
              <a:rPr lang="en" sz="18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rating of user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on item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N(i;x)</a:t>
            </a:r>
            <a:r>
              <a:rPr lang="en" sz="18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 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set items rated by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" sz="18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similar to</a:t>
            </a:r>
            <a:r>
              <a:rPr lang="en" sz="18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8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800" b="1" i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87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CF (|N|=2)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635" name="Google Shape;635;p87"/>
          <p:cNvGraphicFramePr/>
          <p:nvPr/>
        </p:nvGraphicFramePr>
        <p:xfrm>
          <a:off x="1158875" y="1206103"/>
          <a:ext cx="6604000" cy="3042025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/>
                    </a:p>
                  </a:txBody>
                  <a:tcPr marL="91450" marR="9145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6" name="Google Shape;636;p87"/>
          <p:cNvSpPr txBox="1"/>
          <p:nvPr/>
        </p:nvSpPr>
        <p:spPr>
          <a:xfrm>
            <a:off x="4130675" y="857250"/>
            <a:ext cx="7633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users</a:t>
            </a:r>
            <a:endParaRPr/>
          </a:p>
        </p:txBody>
      </p:sp>
      <p:sp>
        <p:nvSpPr>
          <p:cNvPr id="637" name="Google Shape;637;p87"/>
          <p:cNvSpPr txBox="1"/>
          <p:nvPr/>
        </p:nvSpPr>
        <p:spPr>
          <a:xfrm rot="-5400000">
            <a:off x="260550" y="2415145"/>
            <a:ext cx="10950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movies</a:t>
            </a:r>
            <a:endParaRPr/>
          </a:p>
        </p:txBody>
      </p:sp>
      <p:grpSp>
        <p:nvGrpSpPr>
          <p:cNvPr id="638" name="Google Shape;638;p87"/>
          <p:cNvGrpSpPr/>
          <p:nvPr/>
        </p:nvGrpSpPr>
        <p:grpSpPr>
          <a:xfrm>
            <a:off x="1828800" y="4419603"/>
            <a:ext cx="5867400" cy="400050"/>
            <a:chOff x="1392" y="3744"/>
            <a:chExt cx="3696" cy="336"/>
          </a:xfrm>
        </p:grpSpPr>
        <p:sp>
          <p:nvSpPr>
            <p:cNvPr id="639" name="Google Shape;639;p87"/>
            <p:cNvSpPr/>
            <p:nvPr/>
          </p:nvSpPr>
          <p:spPr>
            <a:xfrm>
              <a:off x="1392" y="3744"/>
              <a:ext cx="336" cy="336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0" name="Google Shape;640;p87"/>
            <p:cNvSpPr/>
            <p:nvPr/>
          </p:nvSpPr>
          <p:spPr>
            <a:xfrm>
              <a:off x="3072" y="3744"/>
              <a:ext cx="336" cy="336"/>
            </a:xfrm>
            <a:prstGeom prst="rect">
              <a:avLst/>
            </a:prstGeom>
            <a:solidFill>
              <a:srgbClr val="FFF905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41" name="Google Shape;641;p87"/>
            <p:cNvSpPr txBox="1"/>
            <p:nvPr/>
          </p:nvSpPr>
          <p:spPr>
            <a:xfrm>
              <a:off x="1728" y="3792"/>
              <a:ext cx="124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unknown rating</a:t>
              </a:r>
              <a:endParaRPr/>
            </a:p>
          </p:txBody>
        </p:sp>
        <p:sp>
          <p:nvSpPr>
            <p:cNvPr id="642" name="Google Shape;642;p87"/>
            <p:cNvSpPr txBox="1"/>
            <p:nvPr/>
          </p:nvSpPr>
          <p:spPr>
            <a:xfrm>
              <a:off x="3408" y="3792"/>
              <a:ext cx="1680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rating between 1 to 5</a:t>
              </a:r>
              <a:endParaRPr/>
            </a:p>
          </p:txBody>
        </p:sp>
      </p:grpSp>
      <p:sp>
        <p:nvSpPr>
          <p:cNvPr id="643" name="Google Shape;643;p87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45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87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8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CF (|N|=2)</a:t>
            </a:r>
            <a:endParaRPr/>
          </a:p>
        </p:txBody>
      </p:sp>
      <p:graphicFrame>
        <p:nvGraphicFramePr>
          <p:cNvPr id="650" name="Google Shape;650;p88"/>
          <p:cNvGraphicFramePr/>
          <p:nvPr/>
        </p:nvGraphicFramePr>
        <p:xfrm>
          <a:off x="1158875" y="1206103"/>
          <a:ext cx="6604000" cy="3042025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/>
                    </a:p>
                  </a:txBody>
                  <a:tcPr marL="91450" marR="9145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endParaRPr sz="15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1" name="Google Shape;651;p88"/>
          <p:cNvSpPr txBox="1"/>
          <p:nvPr/>
        </p:nvSpPr>
        <p:spPr>
          <a:xfrm>
            <a:off x="4130675" y="857250"/>
            <a:ext cx="7633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users</a:t>
            </a:r>
            <a:endParaRPr/>
          </a:p>
        </p:txBody>
      </p:sp>
      <p:sp>
        <p:nvSpPr>
          <p:cNvPr id="652" name="Google Shape;652;p88"/>
          <p:cNvSpPr/>
          <p:nvPr/>
        </p:nvSpPr>
        <p:spPr>
          <a:xfrm>
            <a:off x="1997075" y="4419603"/>
            <a:ext cx="533400" cy="40005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3" name="Google Shape;653;p88"/>
          <p:cNvSpPr txBox="1"/>
          <p:nvPr/>
        </p:nvSpPr>
        <p:spPr>
          <a:xfrm>
            <a:off x="2530475" y="4476753"/>
            <a:ext cx="4038600" cy="275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estimate rating of movie </a:t>
            </a:r>
            <a:r>
              <a:rPr lang="en" sz="18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user </a:t>
            </a:r>
            <a:r>
              <a:rPr lang="en" sz="1800" b="1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654" name="Google Shape;654;p88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88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88"/>
          <p:cNvSpPr txBox="1"/>
          <p:nvPr/>
        </p:nvSpPr>
        <p:spPr>
          <a:xfrm rot="-5400000">
            <a:off x="147600" y="2302192"/>
            <a:ext cx="1320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movies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89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CF (|N|=2)</a:t>
            </a:r>
            <a:endParaRPr/>
          </a:p>
        </p:txBody>
      </p:sp>
      <p:graphicFrame>
        <p:nvGraphicFramePr>
          <p:cNvPr id="662" name="Google Shape;662;p89"/>
          <p:cNvGraphicFramePr/>
          <p:nvPr/>
        </p:nvGraphicFramePr>
        <p:xfrm>
          <a:off x="1158875" y="1206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/>
                    </a:p>
                  </a:txBody>
                  <a:tcPr marL="91450" marR="9145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endParaRPr sz="15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500" b="1" i="0" u="sng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63" name="Google Shape;663;p89"/>
          <p:cNvSpPr txBox="1"/>
          <p:nvPr/>
        </p:nvSpPr>
        <p:spPr>
          <a:xfrm>
            <a:off x="4130675" y="857250"/>
            <a:ext cx="7633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users</a:t>
            </a:r>
            <a:endParaRPr/>
          </a:p>
        </p:txBody>
      </p:sp>
      <p:sp>
        <p:nvSpPr>
          <p:cNvPr id="664" name="Google Shape;664;p89"/>
          <p:cNvSpPr txBox="1"/>
          <p:nvPr/>
        </p:nvSpPr>
        <p:spPr>
          <a:xfrm>
            <a:off x="1920875" y="4336702"/>
            <a:ext cx="32607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Neighbor selection:</a:t>
            </a:r>
            <a:br>
              <a:rPr lang="en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movies similar to 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movie </a:t>
            </a:r>
            <a:r>
              <a:rPr lang="en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rated by user 5</a:t>
            </a:r>
            <a:endParaRPr/>
          </a:p>
        </p:txBody>
      </p:sp>
      <p:sp>
        <p:nvSpPr>
          <p:cNvPr id="665" name="Google Shape;665;p89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47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89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89"/>
          <p:cNvSpPr txBox="1"/>
          <p:nvPr/>
        </p:nvSpPr>
        <p:spPr>
          <a:xfrm rot="-5400000">
            <a:off x="255150" y="2409745"/>
            <a:ext cx="11058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movies</a:t>
            </a:r>
            <a:endParaRPr/>
          </a:p>
        </p:txBody>
      </p:sp>
      <p:sp>
        <p:nvSpPr>
          <p:cNvPr id="668" name="Google Shape;668;p89"/>
          <p:cNvSpPr txBox="1"/>
          <p:nvPr/>
        </p:nvSpPr>
        <p:spPr>
          <a:xfrm>
            <a:off x="7788275" y="1638300"/>
            <a:ext cx="898500" cy="24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-0.18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0.41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-0.10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-0.31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/>
          </a:p>
        </p:txBody>
      </p:sp>
      <p:sp>
        <p:nvSpPr>
          <p:cNvPr id="669" name="Google Shape;669;p89"/>
          <p:cNvSpPr/>
          <p:nvPr/>
        </p:nvSpPr>
        <p:spPr>
          <a:xfrm>
            <a:off x="7858325" y="1219200"/>
            <a:ext cx="12363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sim(1,m)</a:t>
            </a:r>
            <a:endParaRPr/>
          </a:p>
        </p:txBody>
      </p:sp>
      <p:sp>
        <p:nvSpPr>
          <p:cNvPr id="670" name="Google Shape;670;p89"/>
          <p:cNvSpPr txBox="1"/>
          <p:nvPr/>
        </p:nvSpPr>
        <p:spPr>
          <a:xfrm>
            <a:off x="5181600" y="4286250"/>
            <a:ext cx="3962400" cy="81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Here we use Pearson correlation as similarity: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1)</a:t>
            </a:r>
            <a:r>
              <a:rPr lang="en" sz="1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Subtract mean rating </a:t>
            </a:r>
            <a: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" sz="10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" sz="1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from each movie </a:t>
            </a:r>
            <a: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b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  m</a:t>
            </a:r>
            <a:r>
              <a:rPr lang="en" sz="1000" b="1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000" i="1" baseline="-25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= (1+3+5+5+4)/5 = </a:t>
            </a:r>
            <a: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3.6</a:t>
            </a:r>
            <a:br>
              <a:rPr lang="en" sz="10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00" b="1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   row 1:</a:t>
            </a:r>
            <a:r>
              <a:rPr lang="en" sz="1000" i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[-2.6, 0, -0.6, 0, 0, 1.4, 0, 0, 1.4, 0, 0.4, 0]</a:t>
            </a:r>
            <a:endParaRPr sz="1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2)</a:t>
            </a:r>
            <a:r>
              <a:rPr lang="en" sz="10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 Compute cosine similarities between rows</a:t>
            </a: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90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CF (|N|=2)</a:t>
            </a:r>
            <a:endParaRPr/>
          </a:p>
        </p:txBody>
      </p:sp>
      <p:graphicFrame>
        <p:nvGraphicFramePr>
          <p:cNvPr id="676" name="Google Shape;676;p90"/>
          <p:cNvGraphicFramePr/>
          <p:nvPr/>
        </p:nvGraphicFramePr>
        <p:xfrm>
          <a:off x="1158875" y="1206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/>
                    </a:p>
                  </a:txBody>
                  <a:tcPr marL="91450" marR="9145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? </a:t>
                      </a:r>
                      <a:endParaRPr sz="1500" b="0" i="0" u="none" strike="noStrike" cap="non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500" b="1" i="0" u="sng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7" name="Google Shape;677;p90"/>
          <p:cNvSpPr txBox="1"/>
          <p:nvPr/>
        </p:nvSpPr>
        <p:spPr>
          <a:xfrm>
            <a:off x="4130675" y="857250"/>
            <a:ext cx="7633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users</a:t>
            </a:r>
            <a:endParaRPr/>
          </a:p>
        </p:txBody>
      </p:sp>
      <p:sp>
        <p:nvSpPr>
          <p:cNvPr id="678" name="Google Shape;678;p90"/>
          <p:cNvSpPr txBox="1"/>
          <p:nvPr/>
        </p:nvSpPr>
        <p:spPr>
          <a:xfrm>
            <a:off x="1676400" y="4343400"/>
            <a:ext cx="3276600" cy="50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 similarity weights:</a:t>
            </a:r>
            <a:b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 sz="2000" b="1" baseline="-25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1,3</a:t>
            </a:r>
            <a:r>
              <a:rPr lang="en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=0.41, s</a:t>
            </a:r>
            <a:r>
              <a:rPr lang="en" sz="2000" b="1" baseline="-250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1,6</a:t>
            </a:r>
            <a:r>
              <a:rPr lang="en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=0.59</a:t>
            </a:r>
            <a:endParaRPr sz="20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90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90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90"/>
          <p:cNvSpPr txBox="1"/>
          <p:nvPr/>
        </p:nvSpPr>
        <p:spPr>
          <a:xfrm rot="-5400000">
            <a:off x="441832" y="2590175"/>
            <a:ext cx="7324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movies</a:t>
            </a:r>
            <a:endParaRPr/>
          </a:p>
        </p:txBody>
      </p:sp>
      <p:sp>
        <p:nvSpPr>
          <p:cNvPr id="682" name="Google Shape;682;p90"/>
          <p:cNvSpPr txBox="1"/>
          <p:nvPr/>
        </p:nvSpPr>
        <p:spPr>
          <a:xfrm>
            <a:off x="7788275" y="1714500"/>
            <a:ext cx="898525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-0.18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0.41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-0.10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-0.31</a:t>
            </a:r>
            <a:endParaRPr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/>
          </a:p>
        </p:txBody>
      </p:sp>
      <p:sp>
        <p:nvSpPr>
          <p:cNvPr id="683" name="Google Shape;683;p90"/>
          <p:cNvSpPr/>
          <p:nvPr/>
        </p:nvSpPr>
        <p:spPr>
          <a:xfrm>
            <a:off x="7858325" y="1371600"/>
            <a:ext cx="1236236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sim(1,m)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91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CF (|N|=2)</a:t>
            </a:r>
            <a:endParaRPr/>
          </a:p>
        </p:txBody>
      </p:sp>
      <p:graphicFrame>
        <p:nvGraphicFramePr>
          <p:cNvPr id="689" name="Google Shape;689;p91"/>
          <p:cNvGraphicFramePr/>
          <p:nvPr/>
        </p:nvGraphicFramePr>
        <p:xfrm>
          <a:off x="1143000" y="12061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100"/>
                    </a:p>
                  </a:txBody>
                  <a:tcPr marL="91450" marR="91450" marT="34300" marB="343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Corbel"/>
                        <a:buNone/>
                      </a:pPr>
                      <a:endParaRPr sz="1500" b="0" i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0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F60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500" b="1" i="0" u="sng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500" b="1" i="0" u="sng" strike="noStrike" cap="none">
                        <a:solidFill>
                          <a:srgbClr val="FF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90" name="Google Shape;690;p91"/>
          <p:cNvSpPr txBox="1"/>
          <p:nvPr/>
        </p:nvSpPr>
        <p:spPr>
          <a:xfrm>
            <a:off x="4114800" y="857250"/>
            <a:ext cx="763351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users</a:t>
            </a:r>
            <a:endParaRPr/>
          </a:p>
        </p:txBody>
      </p:sp>
      <p:sp>
        <p:nvSpPr>
          <p:cNvPr id="691" name="Google Shape;691;p91"/>
          <p:cNvSpPr txBox="1"/>
          <p:nvPr/>
        </p:nvSpPr>
        <p:spPr>
          <a:xfrm>
            <a:off x="1600200" y="4286250"/>
            <a:ext cx="495300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 by taking weighted average: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" sz="1800" b="1" baseline="-2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1.5 </a:t>
            </a:r>
            <a:r>
              <a:rPr lang="en" sz="18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" sz="20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(0.41*2 + 0.59*3) / (0.41+0.59) = 2.6</a:t>
            </a:r>
            <a:endParaRPr sz="2000" b="1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91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91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91"/>
          <p:cNvSpPr txBox="1"/>
          <p:nvPr/>
        </p:nvSpPr>
        <p:spPr>
          <a:xfrm rot="-5400000">
            <a:off x="441832" y="2590175"/>
            <a:ext cx="73241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movies</a:t>
            </a:r>
            <a:endParaRPr/>
          </a:p>
        </p:txBody>
      </p:sp>
      <p:sp>
        <p:nvSpPr>
          <p:cNvPr id="695" name="Google Shape;695;p91"/>
          <p:cNvSpPr txBox="1"/>
          <p:nvPr/>
        </p:nvSpPr>
        <p:spPr>
          <a:xfrm>
            <a:off x="6498789" y="4325503"/>
            <a:ext cx="2645211" cy="6030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9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Item-Item vs. User-User</a:t>
            </a:r>
            <a:endParaRPr/>
          </a:p>
        </p:txBody>
      </p:sp>
      <p:pic>
        <p:nvPicPr>
          <p:cNvPr id="702" name="Google Shape;702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05013" y="1314450"/>
            <a:ext cx="3564731" cy="2599135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92"/>
          <p:cNvSpPr txBox="1"/>
          <p:nvPr/>
        </p:nvSpPr>
        <p:spPr>
          <a:xfrm>
            <a:off x="1839913" y="914400"/>
            <a:ext cx="979487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Avatar</a:t>
            </a:r>
            <a:endParaRPr/>
          </a:p>
        </p:txBody>
      </p:sp>
      <p:sp>
        <p:nvSpPr>
          <p:cNvPr id="704" name="Google Shape;704;p92"/>
          <p:cNvSpPr txBox="1"/>
          <p:nvPr/>
        </p:nvSpPr>
        <p:spPr>
          <a:xfrm>
            <a:off x="3238500" y="914400"/>
            <a:ext cx="87471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LOTR</a:t>
            </a:r>
            <a:endParaRPr/>
          </a:p>
        </p:txBody>
      </p:sp>
      <p:sp>
        <p:nvSpPr>
          <p:cNvPr id="705" name="Google Shape;705;p92"/>
          <p:cNvSpPr txBox="1"/>
          <p:nvPr/>
        </p:nvSpPr>
        <p:spPr>
          <a:xfrm>
            <a:off x="4397375" y="914400"/>
            <a:ext cx="93186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Matrix</a:t>
            </a:r>
            <a:endParaRPr/>
          </a:p>
        </p:txBody>
      </p:sp>
      <p:sp>
        <p:nvSpPr>
          <p:cNvPr id="706" name="Google Shape;706;p92"/>
          <p:cNvSpPr txBox="1"/>
          <p:nvPr/>
        </p:nvSpPr>
        <p:spPr>
          <a:xfrm>
            <a:off x="5845175" y="914400"/>
            <a:ext cx="1039813" cy="300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66FF"/>
                </a:solidFill>
                <a:latin typeface="Corbel"/>
                <a:ea typeface="Corbel"/>
                <a:cs typeface="Corbel"/>
                <a:sym typeface="Corbel"/>
              </a:rPr>
              <a:t>Pirates</a:t>
            </a:r>
            <a:endParaRPr/>
          </a:p>
        </p:txBody>
      </p:sp>
      <p:sp>
        <p:nvSpPr>
          <p:cNvPr id="707" name="Google Shape;707;p92"/>
          <p:cNvSpPr txBox="1"/>
          <p:nvPr/>
        </p:nvSpPr>
        <p:spPr>
          <a:xfrm>
            <a:off x="495300" y="1428750"/>
            <a:ext cx="790575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Alice</a:t>
            </a:r>
            <a:endParaRPr/>
          </a:p>
        </p:txBody>
      </p:sp>
      <p:sp>
        <p:nvSpPr>
          <p:cNvPr id="708" name="Google Shape;708;p92"/>
          <p:cNvSpPr txBox="1"/>
          <p:nvPr/>
        </p:nvSpPr>
        <p:spPr>
          <a:xfrm>
            <a:off x="495300" y="2057400"/>
            <a:ext cx="677863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Bob</a:t>
            </a:r>
            <a:endParaRPr/>
          </a:p>
        </p:txBody>
      </p:sp>
      <p:sp>
        <p:nvSpPr>
          <p:cNvPr id="709" name="Google Shape;709;p92"/>
          <p:cNvSpPr txBox="1"/>
          <p:nvPr/>
        </p:nvSpPr>
        <p:spPr>
          <a:xfrm>
            <a:off x="495300" y="2800350"/>
            <a:ext cx="833438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Carol</a:t>
            </a:r>
            <a:endParaRPr/>
          </a:p>
        </p:txBody>
      </p:sp>
      <p:sp>
        <p:nvSpPr>
          <p:cNvPr id="710" name="Google Shape;710;p92"/>
          <p:cNvSpPr txBox="1"/>
          <p:nvPr/>
        </p:nvSpPr>
        <p:spPr>
          <a:xfrm>
            <a:off x="495300" y="3429000"/>
            <a:ext cx="876300" cy="29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David</a:t>
            </a:r>
            <a:endParaRPr/>
          </a:p>
        </p:txBody>
      </p:sp>
      <p:sp>
        <p:nvSpPr>
          <p:cNvPr id="711" name="Google Shape;711;p92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50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92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92"/>
          <p:cNvSpPr txBox="1"/>
          <p:nvPr/>
        </p:nvSpPr>
        <p:spPr>
          <a:xfrm>
            <a:off x="457200" y="3924300"/>
            <a:ext cx="8382000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83972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1800"/>
              <a:buFont typeface="Noto Sans Symbols"/>
              <a:buChar char="◼"/>
            </a:pPr>
            <a:r>
              <a:rPr lang="en" sz="1800" b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In practice, it has been observed that </a:t>
            </a:r>
            <a:r>
              <a:rPr lang="en" sz="1800" b="1" u="sng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item-item</a:t>
            </a:r>
            <a:r>
              <a:rPr lang="en" sz="1800" b="1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 often works better than user-user</a:t>
            </a:r>
            <a:endParaRPr sz="1800"/>
          </a:p>
          <a:p>
            <a:pPr marL="438912" marR="0" lvl="0" indent="-283972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1800"/>
              <a:buFont typeface="Noto Sans Symbols"/>
              <a:buChar char="◼"/>
            </a:pPr>
            <a:r>
              <a:rPr lang="en" sz="1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Why?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Items are simpler, users have multiple tastes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169672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2368"/>
              <a:buFont typeface="Noto Sans Symbols"/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93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050"/>
              <a:buFont typeface="Corbel"/>
              <a:buNone/>
            </a:pPr>
            <a:r>
              <a:rPr lang="en" sz="405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Pros/Cons of Collaborative Filtering</a:t>
            </a:r>
            <a:endParaRPr/>
          </a:p>
        </p:txBody>
      </p:sp>
      <p:sp>
        <p:nvSpPr>
          <p:cNvPr id="720" name="Google Shape;720;p93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534400" cy="417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5857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◼"/>
            </a:pPr>
            <a:r>
              <a:rPr lang="en" sz="1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+ Works for any kind of item</a:t>
            </a:r>
            <a:endParaRPr sz="1400"/>
          </a:p>
          <a:p>
            <a:pPr marL="731520" marR="0" lvl="1" indent="-198754" algn="l" rtl="0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feature selection needed</a:t>
            </a:r>
            <a:endParaRPr sz="1400"/>
          </a:p>
          <a:p>
            <a:pPr marL="438912" marR="0" lvl="0" indent="-25857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◼"/>
            </a:pPr>
            <a:r>
              <a:rPr lang="en" sz="1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- Cold Start: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enough users in the system to find a match</a:t>
            </a:r>
            <a:endParaRPr sz="1400"/>
          </a:p>
          <a:p>
            <a:pPr marL="438912" marR="0" lvl="0" indent="-25857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◼"/>
            </a:pPr>
            <a:r>
              <a:rPr lang="en" sz="1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- Sparsity: 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user/ratings matrix is sparse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 to find users that have rated the same items</a:t>
            </a:r>
            <a:endParaRPr sz="1400"/>
          </a:p>
          <a:p>
            <a:pPr marL="438912" marR="0" lvl="0" indent="-25857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◼"/>
            </a:pPr>
            <a:r>
              <a:rPr lang="en" sz="1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- First rater: 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recommend an item that has not been 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previously rated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items, Esoteric items</a:t>
            </a:r>
            <a:endParaRPr sz="1400"/>
          </a:p>
          <a:p>
            <a:pPr marL="438912" marR="0" lvl="0" indent="-258572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◼"/>
            </a:pPr>
            <a:r>
              <a:rPr lang="en" sz="1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- Popularity bias: (Harry Potter Effect)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Cannot recommend items to someone with 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taste </a:t>
            </a:r>
            <a:endParaRPr sz="1400"/>
          </a:p>
          <a:p>
            <a:pPr marL="731520" marR="0" lvl="1" indent="-198754" algn="l" rtl="0">
              <a:lnSpc>
                <a:spcPct val="70000"/>
              </a:lnSpc>
              <a:spcBef>
                <a:spcPts val="518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</a:pP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Tends to recommend popular items</a:t>
            </a:r>
            <a:endParaRPr sz="1400"/>
          </a:p>
        </p:txBody>
      </p:sp>
      <p:sp>
        <p:nvSpPr>
          <p:cNvPr id="721" name="Google Shape;721;p93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93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4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Hybrid Methods</a:t>
            </a:r>
            <a:endParaRPr/>
          </a:p>
        </p:txBody>
      </p:sp>
      <p:sp>
        <p:nvSpPr>
          <p:cNvPr id="729" name="Google Shape;729;p94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Implement two or more different recommenders and combine predictions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Perhaps using a linear model</a:t>
            </a:r>
            <a:endParaRPr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Add content-based methods to </a:t>
            </a:r>
            <a:br>
              <a:rPr lang="en" sz="32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32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collaborative filtering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 profiles for new item problem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</a:pP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Demographics to deal with new user problem</a:t>
            </a:r>
            <a:endParaRPr/>
          </a:p>
          <a:p>
            <a:pPr marL="731520" marR="0" lvl="1" indent="-2743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94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94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95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Hybrid Methods</a:t>
            </a:r>
            <a:endParaRPr/>
          </a:p>
        </p:txBody>
      </p:sp>
      <p:sp>
        <p:nvSpPr>
          <p:cNvPr id="738" name="Google Shape;738;p95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53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95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0" name="Google Shape;740;p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1085850"/>
            <a:ext cx="57912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9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71750"/>
            <a:ext cx="565785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96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Hybrid Methods</a:t>
            </a:r>
            <a:endParaRPr/>
          </a:p>
        </p:txBody>
      </p:sp>
      <p:sp>
        <p:nvSpPr>
          <p:cNvPr id="748" name="Google Shape;748;p96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96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0" name="Google Shape;750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143000"/>
            <a:ext cx="5076825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97"/>
          <p:cNvSpPr/>
          <p:nvPr/>
        </p:nvSpPr>
        <p:spPr>
          <a:xfrm>
            <a:off x="7409331" y="6724"/>
            <a:ext cx="1734670" cy="7563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97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CF: Common Practice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7" name="Google Shape;757;p97"/>
          <p:cNvSpPr txBox="1">
            <a:spLocks noGrp="1"/>
          </p:cNvSpPr>
          <p:nvPr>
            <p:ph type="body" idx="1"/>
          </p:nvPr>
        </p:nvSpPr>
        <p:spPr>
          <a:xfrm>
            <a:off x="457200" y="971551"/>
            <a:ext cx="86106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</a:t>
            </a: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similarity </a:t>
            </a:r>
            <a:r>
              <a:rPr lang="en" sz="18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" sz="18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items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endParaRPr sz="1800"/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nearest neighbors </a:t>
            </a:r>
            <a:r>
              <a:rPr lang="en" sz="18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N(i; x)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Items most similar to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that were rated by </a:t>
            </a:r>
            <a:r>
              <a:rPr lang="en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/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Estimate rating </a:t>
            </a:r>
            <a:r>
              <a:rPr lang="en" sz="1800" b="1" i="1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" sz="1800" b="1" i="1" u="none" strike="noStrike" cap="none" baseline="-25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xi</a:t>
            </a: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the weighted average: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97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97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0" name="Google Shape;760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4850" y="2505075"/>
            <a:ext cx="8572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97"/>
          <p:cNvSpPr txBox="1"/>
          <p:nvPr/>
        </p:nvSpPr>
        <p:spPr>
          <a:xfrm>
            <a:off x="436562" y="4057650"/>
            <a:ext cx="2840037" cy="30008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baseline estimate for </a:t>
            </a:r>
            <a:r>
              <a:rPr lang="en" sz="2000" b="1" i="1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r>
              <a:rPr lang="en" sz="2000" b="1" i="1" baseline="-250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xi</a:t>
            </a:r>
            <a:endParaRPr sz="2000" b="1" i="1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2" name="Google Shape;762;p97"/>
          <p:cNvCxnSpPr/>
          <p:nvPr/>
        </p:nvCxnSpPr>
        <p:spPr>
          <a:xfrm rot="10800000">
            <a:off x="1781175" y="3494513"/>
            <a:ext cx="0" cy="563137"/>
          </a:xfrm>
          <a:prstGeom prst="straightConnector1">
            <a:avLst/>
          </a:prstGeom>
          <a:noFill/>
          <a:ln w="25400" cap="flat" cmpd="sng">
            <a:solidFill>
              <a:srgbClr val="FF99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63" name="Google Shape;763;p97"/>
          <p:cNvSpPr txBox="1"/>
          <p:nvPr/>
        </p:nvSpPr>
        <p:spPr>
          <a:xfrm>
            <a:off x="4876800" y="3592087"/>
            <a:ext cx="41148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1600"/>
              <a:buFont typeface="Noto Sans Symbols"/>
              <a:buChar char="◼"/>
            </a:pP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μ</a:t>
            </a:r>
            <a:r>
              <a:rPr lang="en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  =  overall mean movie rating</a:t>
            </a:r>
            <a:endParaRPr/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1600"/>
              <a:buFont typeface="Noto Sans Symbols"/>
              <a:buChar char="◼"/>
            </a:pP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sz="2000" b="1" i="1" baseline="-25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 =  rating deviation of user </a:t>
            </a: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  <a:p>
            <a:pPr marL="11887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= (</a:t>
            </a:r>
            <a:r>
              <a:rPr lang="en" sz="2000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avg. rating of user </a:t>
            </a: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" sz="2000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– μ</a:t>
            </a:r>
            <a:r>
              <a:rPr lang="en" sz="2000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 i="1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rgbClr val="F0AD00"/>
              </a:buClr>
              <a:buSzPts val="1600"/>
              <a:buFont typeface="Noto Sans Symbols"/>
              <a:buChar char="◼"/>
            </a:pP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" sz="2000" b="1" i="1" baseline="-25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  =  rating deviation of movie </a:t>
            </a:r>
            <a:r>
              <a:rPr lang="en" sz="2000" b="1" i="1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rgbClr val="008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4" name="Google Shape;764;p9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2250" y="88106"/>
            <a:ext cx="1227534" cy="623888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97"/>
          <p:cNvSpPr txBox="1"/>
          <p:nvPr/>
        </p:nvSpPr>
        <p:spPr>
          <a:xfrm>
            <a:off x="7409330" y="-4696"/>
            <a:ext cx="9797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r>
              <a:rPr lang="en" sz="1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200"/>
          </a:p>
        </p:txBody>
      </p:sp>
      <p:pic>
        <p:nvPicPr>
          <p:cNvPr id="766" name="Google Shape;766;p9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183" y="2552700"/>
            <a:ext cx="4411213" cy="134232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97"/>
          <p:cNvSpPr txBox="1"/>
          <p:nvPr/>
        </p:nvSpPr>
        <p:spPr>
          <a:xfrm>
            <a:off x="457200" y="4374061"/>
            <a:ext cx="2624821" cy="34624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199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rbel"/>
                <a:ea typeface="Corbel"/>
                <a:cs typeface="Corbel"/>
                <a:sym typeface="Corbe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Evaluation</a:t>
            </a:r>
            <a:endParaRPr/>
          </a:p>
        </p:txBody>
      </p:sp>
      <p:graphicFrame>
        <p:nvGraphicFramePr>
          <p:cNvPr id="773" name="Google Shape;773;p98"/>
          <p:cNvGraphicFramePr/>
          <p:nvPr/>
        </p:nvGraphicFramePr>
        <p:xfrm>
          <a:off x="27051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74" name="Google Shape;774;p98"/>
          <p:cNvSpPr txBox="1"/>
          <p:nvPr/>
        </p:nvSpPr>
        <p:spPr>
          <a:xfrm>
            <a:off x="3540125" y="966788"/>
            <a:ext cx="11063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8000"/>
                </a:solidFill>
                <a:latin typeface="Verdana"/>
                <a:ea typeface="Verdana"/>
                <a:cs typeface="Verdana"/>
                <a:sym typeface="Verdana"/>
              </a:rPr>
              <a:t>movies</a:t>
            </a:r>
            <a:endParaRPr sz="1800" b="1">
              <a:solidFill>
                <a:srgbClr val="008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5" name="Google Shape;775;p98"/>
          <p:cNvSpPr txBox="1"/>
          <p:nvPr/>
        </p:nvSpPr>
        <p:spPr>
          <a:xfrm>
            <a:off x="1004888" y="2376488"/>
            <a:ext cx="1784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8000"/>
                </a:solidFill>
                <a:latin typeface="Verdana"/>
                <a:ea typeface="Verdana"/>
                <a:cs typeface="Verdana"/>
                <a:sym typeface="Verdana"/>
              </a:rPr>
              <a:t>users</a:t>
            </a:r>
            <a:endParaRPr sz="1800" b="1">
              <a:solidFill>
                <a:srgbClr val="008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76" name="Google Shape;776;p98"/>
          <p:cNvCxnSpPr/>
          <p:nvPr/>
        </p:nvCxnSpPr>
        <p:spPr>
          <a:xfrm>
            <a:off x="2413000" y="1400175"/>
            <a:ext cx="12700" cy="30003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77" name="Google Shape;777;p98"/>
          <p:cNvCxnSpPr/>
          <p:nvPr/>
        </p:nvCxnSpPr>
        <p:spPr>
          <a:xfrm>
            <a:off x="2628900" y="1276350"/>
            <a:ext cx="3390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78" name="Google Shape;778;p98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98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56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Evaluation</a:t>
            </a:r>
            <a:endParaRPr/>
          </a:p>
        </p:txBody>
      </p:sp>
      <p:graphicFrame>
        <p:nvGraphicFramePr>
          <p:cNvPr id="785" name="Google Shape;785;p99"/>
          <p:cNvGraphicFramePr/>
          <p:nvPr/>
        </p:nvGraphicFramePr>
        <p:xfrm>
          <a:off x="26670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{159BD3A1-69AB-4F10-83F9-87D5D36145DD}</a:tableStyleId>
              </a:tblPr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2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?</a:t>
                      </a:r>
                      <a:endParaRPr sz="1100"/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0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400"/>
                        <a:buFont typeface="Verdana"/>
                        <a:buNone/>
                      </a:pPr>
                      <a:r>
                        <a:rPr lang="en" sz="1400" b="0" i="0" u="none" strike="noStrike" cap="none">
                          <a:solidFill>
                            <a:schemeClr val="lt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sz="1100"/>
                    </a:p>
                  </a:txBody>
                  <a:tcPr marL="91450" marR="91450" marT="34300" marB="34300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orbel"/>
                        <a:buNone/>
                      </a:pPr>
                      <a:endParaRPr sz="1400" b="0" i="0" u="none" strike="noStrike" cap="none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34300" marB="34300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86" name="Google Shape;786;p99"/>
          <p:cNvSpPr txBox="1"/>
          <p:nvPr/>
        </p:nvSpPr>
        <p:spPr>
          <a:xfrm>
            <a:off x="6483350" y="3094851"/>
            <a:ext cx="19239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Test Data Set</a:t>
            </a:r>
            <a:endParaRPr sz="1800" b="1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7" name="Google Shape;787;p99"/>
          <p:cNvSpPr txBox="1"/>
          <p:nvPr/>
        </p:nvSpPr>
        <p:spPr>
          <a:xfrm>
            <a:off x="1004888" y="2376488"/>
            <a:ext cx="17843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8000"/>
                </a:solidFill>
                <a:latin typeface="Verdana"/>
                <a:ea typeface="Verdana"/>
                <a:cs typeface="Verdana"/>
                <a:sym typeface="Verdana"/>
              </a:rPr>
              <a:t>users</a:t>
            </a:r>
            <a:endParaRPr sz="1800" b="1">
              <a:solidFill>
                <a:srgbClr val="008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788" name="Google Shape;788;p99"/>
          <p:cNvCxnSpPr/>
          <p:nvPr/>
        </p:nvCxnSpPr>
        <p:spPr>
          <a:xfrm>
            <a:off x="2413000" y="1400175"/>
            <a:ext cx="12700" cy="3000375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89" name="Google Shape;789;p99"/>
          <p:cNvCxnSpPr/>
          <p:nvPr/>
        </p:nvCxnSpPr>
        <p:spPr>
          <a:xfrm>
            <a:off x="2628900" y="1276350"/>
            <a:ext cx="33909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90" name="Google Shape;790;p99"/>
          <p:cNvCxnSpPr/>
          <p:nvPr/>
        </p:nvCxnSpPr>
        <p:spPr>
          <a:xfrm flipH="1">
            <a:off x="6121400" y="3343275"/>
            <a:ext cx="901700" cy="2190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1" name="Google Shape;791;p99"/>
          <p:cNvSpPr txBox="1"/>
          <p:nvPr/>
        </p:nvSpPr>
        <p:spPr>
          <a:xfrm>
            <a:off x="3552825" y="966788"/>
            <a:ext cx="11063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8000"/>
                </a:solidFill>
                <a:latin typeface="Verdana"/>
                <a:ea typeface="Verdana"/>
                <a:cs typeface="Verdana"/>
                <a:sym typeface="Verdana"/>
              </a:rPr>
              <a:t>movies</a:t>
            </a:r>
            <a:endParaRPr sz="1800" b="1">
              <a:solidFill>
                <a:srgbClr val="008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2" name="Google Shape;792;p99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99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0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Evaluating Predictions</a:t>
            </a:r>
            <a:endParaRPr/>
          </a:p>
        </p:txBody>
      </p:sp>
      <p:sp>
        <p:nvSpPr>
          <p:cNvPr id="800" name="Google Shape;800;p100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100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58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2" name="Google Shape;8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028700"/>
            <a:ext cx="566737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10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0" y="3314700"/>
            <a:ext cx="37147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01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Problems with Error Measures</a:t>
            </a:r>
            <a:endParaRPr/>
          </a:p>
        </p:txBody>
      </p:sp>
      <p:sp>
        <p:nvSpPr>
          <p:cNvPr id="810" name="Google Shape;810;p101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Narrow focus on accuracy sometimes </a:t>
            </a:r>
            <a:b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misses the point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Diversity (Predict always Harry Poter)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 Context (Travelling)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of predictions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In practice, we care only to predict high ratings: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RMSE might penalize a method that does well </a:t>
            </a:r>
            <a:b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high ratings and badly for others</a:t>
            </a:r>
            <a:endParaRPr sz="2400"/>
          </a:p>
        </p:txBody>
      </p:sp>
      <p:sp>
        <p:nvSpPr>
          <p:cNvPr id="811" name="Google Shape;811;p101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01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2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Evaluating Predictions</a:t>
            </a:r>
            <a:endParaRPr/>
          </a:p>
        </p:txBody>
      </p:sp>
      <p:sp>
        <p:nvSpPr>
          <p:cNvPr id="819" name="Google Shape;819;p102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02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102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</a:pPr>
            <a:r>
              <a:rPr lang="en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Alternative is to look at top-k precision among the withheld ratings of the user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03"/>
          <p:cNvSpPr txBox="1">
            <a:spLocks noGrp="1"/>
          </p:cNvSpPr>
          <p:nvPr>
            <p:ph type="title"/>
          </p:nvPr>
        </p:nvSpPr>
        <p:spPr>
          <a:xfrm>
            <a:off x="304800" y="57150"/>
            <a:ext cx="88392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Collaborative Filtering: Complexity</a:t>
            </a:r>
            <a:endParaRPr/>
          </a:p>
        </p:txBody>
      </p:sp>
      <p:sp>
        <p:nvSpPr>
          <p:cNvPr id="828" name="Google Shape;828;p103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Expensive step is finding </a:t>
            </a:r>
            <a:r>
              <a:rPr lang="en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most similar users: </a:t>
            </a:r>
            <a:r>
              <a:rPr lang="en" sz="24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O(|U|) 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Too expensive to do at runtime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 pre-compute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Naïve pre-computation takes time </a:t>
            </a: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O(n ·|U|)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16152" marR="0" lvl="3" indent="-208280" algn="l" rtl="0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… set of users</a:t>
            </a:r>
            <a:endParaRPr sz="2400"/>
          </a:p>
          <a:p>
            <a:pPr marL="438912" marR="0" lvl="0" indent="-3098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◼"/>
            </a:pPr>
            <a:r>
              <a:rPr lang="en" sz="2400" b="1" i="0" u="none" strike="noStrike" cap="non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How to do this?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/>
              <a:t>Locality Sensitive Hashing (LSH)</a:t>
            </a:r>
            <a:endParaRPr sz="2400"/>
          </a:p>
          <a:p>
            <a:pPr marL="731520" marR="0" lvl="1" indent="-2489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Dimensionality reduction</a:t>
            </a:r>
            <a:endParaRPr sz="2400"/>
          </a:p>
        </p:txBody>
      </p:sp>
      <p:sp>
        <p:nvSpPr>
          <p:cNvPr id="829" name="Google Shape;829;p103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61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03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104"/>
          <p:cNvSpPr txBox="1">
            <a:spLocks noGrp="1"/>
          </p:cNvSpPr>
          <p:nvPr>
            <p:ph type="title"/>
          </p:nvPr>
        </p:nvSpPr>
        <p:spPr>
          <a:xfrm>
            <a:off x="457200" y="57150"/>
            <a:ext cx="8229600" cy="74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457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en" sz="4500" b="1" i="0" u="none" strike="noStrike" cap="non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rPr>
              <a:t>Tip: Add Data</a:t>
            </a:r>
            <a:endParaRPr sz="4500" b="1" i="0" u="none" strike="noStrike" cap="none">
              <a:solidFill>
                <a:srgbClr val="FFC7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7" name="Google Shape;837;p104"/>
          <p:cNvSpPr txBox="1">
            <a:spLocks noGrp="1"/>
          </p:cNvSpPr>
          <p:nvPr>
            <p:ph type="body" idx="1"/>
          </p:nvPr>
        </p:nvSpPr>
        <p:spPr>
          <a:xfrm>
            <a:off x="457200" y="971550"/>
            <a:ext cx="8229600" cy="394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850" tIns="91425" rIns="91425" bIns="45700" anchor="t" anchorCtr="0">
            <a:noAutofit/>
          </a:bodyPr>
          <a:lstStyle/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FF0066"/>
                </a:solidFill>
                <a:latin typeface="Calibri"/>
                <a:ea typeface="Calibri"/>
                <a:cs typeface="Calibri"/>
                <a:sym typeface="Calibri"/>
              </a:rPr>
              <a:t>Leverage all the data</a:t>
            </a:r>
            <a:endParaRPr sz="1800" b="1" i="0" u="none" strike="noStrike" cap="none">
              <a:solidFill>
                <a:srgbClr val="FF00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try to reduce data size in an </a:t>
            </a:r>
            <a:b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effort to make fancy algorithms work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methods on large data do best</a:t>
            </a:r>
            <a:endParaRPr sz="180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Add more data</a:t>
            </a:r>
            <a:endParaRPr sz="1800"/>
          </a:p>
          <a:p>
            <a:pPr marL="731520" marR="0" lvl="1" indent="-2108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</a:pPr>
            <a:r>
              <a:rPr lang="e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add IMDB data on genres</a:t>
            </a:r>
            <a:endParaRPr sz="1800"/>
          </a:p>
          <a:p>
            <a:pPr marL="2231136" marR="0" lvl="8" indent="-68579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</a:pPr>
            <a:endParaRPr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438912" marR="0" lvl="0" indent="-27178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◼"/>
            </a:pPr>
            <a:r>
              <a:rPr lang="en" sz="1800" b="1" i="0" u="none" strike="noStrike" cap="none">
                <a:solidFill>
                  <a:srgbClr val="D60093"/>
                </a:solidFill>
                <a:latin typeface="Calibri"/>
                <a:ea typeface="Calibri"/>
                <a:cs typeface="Calibri"/>
                <a:sym typeface="Calibri"/>
              </a:rPr>
              <a:t>More data beats better algorithms</a:t>
            </a:r>
            <a:endParaRPr sz="1800" b="1" i="0" u="none" strike="noStrike" cap="none">
              <a:solidFill>
                <a:srgbClr val="D6009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8912" marR="0" lvl="0" indent="-32004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None/>
            </a:pPr>
            <a:r>
              <a:rPr lang="en" sz="1800" b="1" i="0" u="sng" strike="noStrike" cap="non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http://anand.typepad.com/datawocky/2008/03/more-data-usual.html</a:t>
            </a:r>
            <a:r>
              <a:rPr lang="en" sz="18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31520" marR="0" lvl="1" indent="-96519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104"/>
          <p:cNvSpPr txBox="1">
            <a:spLocks noGrp="1"/>
          </p:cNvSpPr>
          <p:nvPr>
            <p:ph type="ftr" idx="11"/>
          </p:nvPr>
        </p:nvSpPr>
        <p:spPr>
          <a:xfrm>
            <a:off x="2640596" y="4937760"/>
            <a:ext cx="5507719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J. Leskovec, A. Rajaraman, J. Ullman: Mining of Massive Datasets, http://www.mmds.org</a:t>
            </a:r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104"/>
          <p:cNvSpPr txBox="1">
            <a:spLocks noGrp="1"/>
          </p:cNvSpPr>
          <p:nvPr>
            <p:ph type="sldNum" idx="12"/>
          </p:nvPr>
        </p:nvSpPr>
        <p:spPr>
          <a:xfrm>
            <a:off x="8204396" y="4937760"/>
            <a:ext cx="733864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414141"/>
                </a:solidFill>
                <a:latin typeface="Calibri"/>
                <a:ea typeface="Calibri"/>
                <a:cs typeface="Calibri"/>
                <a:sym typeface="Calibri"/>
              </a:rPr>
              <a:t>62</a:t>
            </a:fld>
            <a:endParaRPr sz="900">
              <a:solidFill>
                <a:srgbClr val="4141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5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63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5" name="Google Shape;845;p105"/>
          <p:cNvSpPr txBox="1"/>
          <p:nvPr/>
        </p:nvSpPr>
        <p:spPr>
          <a:xfrm>
            <a:off x="228600" y="228600"/>
            <a:ext cx="86868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Solving the problem of sparsity</a:t>
            </a:r>
            <a:endParaRPr sz="32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105"/>
          <p:cNvSpPr txBox="1"/>
          <p:nvPr/>
        </p:nvSpPr>
        <p:spPr>
          <a:xfrm>
            <a:off x="228600" y="1085850"/>
            <a:ext cx="8763000" cy="1607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There are so many possible items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It is possible that users will not buy two items even if they are very similar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The utility matrix is very sparse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Solution is to cluster the items </a:t>
            </a: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8138" marR="0" lvl="0" indent="-2492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p105" descr="RS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57400" y="2895600"/>
            <a:ext cx="2457450" cy="153389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105"/>
          <p:cNvSpPr txBox="1"/>
          <p:nvPr/>
        </p:nvSpPr>
        <p:spPr>
          <a:xfrm>
            <a:off x="6096000" y="3314700"/>
            <a:ext cx="1676400" cy="501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Ratings are averaged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106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64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54" name="Google Shape;854;p106"/>
          <p:cNvSpPr txBox="1"/>
          <p:nvPr/>
        </p:nvSpPr>
        <p:spPr>
          <a:xfrm>
            <a:off x="228600" y="152400"/>
            <a:ext cx="86868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Solving the problem of sparsity</a:t>
            </a:r>
            <a:endParaRPr sz="3200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106"/>
          <p:cNvSpPr txBox="1"/>
          <p:nvPr/>
        </p:nvSpPr>
        <p:spPr>
          <a:xfrm>
            <a:off x="381000" y="2914650"/>
            <a:ext cx="8763000" cy="947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Now use the new utility matrix to cluster the users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You may do a few iterations</a:t>
            </a:r>
            <a:endParaRPr/>
          </a:p>
          <a:p>
            <a:pPr marL="338138" marR="0" lvl="0" indent="-2492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6" name="Google Shape;856;p106" descr="RS10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143000"/>
            <a:ext cx="2457450" cy="153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07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65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62" name="Google Shape;862;p107"/>
          <p:cNvSpPr txBox="1"/>
          <p:nvPr/>
        </p:nvSpPr>
        <p:spPr>
          <a:xfrm>
            <a:off x="228600" y="152400"/>
            <a:ext cx="8686800" cy="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/>
          </a:p>
        </p:txBody>
      </p:sp>
      <p:sp>
        <p:nvSpPr>
          <p:cNvPr id="863" name="Google Shape;863;p107"/>
          <p:cNvSpPr txBox="1"/>
          <p:nvPr/>
        </p:nvSpPr>
        <p:spPr>
          <a:xfrm>
            <a:off x="381000" y="857250"/>
            <a:ext cx="8763000" cy="83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 a technique to singular value decomposition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UV-Decomposition tries to decompose M into U and V s.t. the UV closely approximates M</a:t>
            </a:r>
            <a:endParaRPr/>
          </a:p>
        </p:txBody>
      </p:sp>
      <p:pic>
        <p:nvPicPr>
          <p:cNvPr id="864" name="Google Shape;864;p107" descr="RS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81200"/>
            <a:ext cx="6857999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107"/>
          <p:cNvSpPr txBox="1"/>
          <p:nvPr/>
        </p:nvSpPr>
        <p:spPr>
          <a:xfrm>
            <a:off x="762000" y="3543300"/>
            <a:ext cx="6858000" cy="28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5x5 matrix is decomposed into 5x2 and 2x5 matrices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8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66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1" name="Google Shape;871;p108"/>
          <p:cNvSpPr txBox="1"/>
          <p:nvPr/>
        </p:nvSpPr>
        <p:spPr>
          <a:xfrm>
            <a:off x="228600" y="0"/>
            <a:ext cx="86868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/>
          </a:p>
        </p:txBody>
      </p:sp>
      <p:sp>
        <p:nvSpPr>
          <p:cNvPr id="872" name="Google Shape;872;p108"/>
          <p:cNvSpPr txBox="1"/>
          <p:nvPr/>
        </p:nvSpPr>
        <p:spPr>
          <a:xfrm>
            <a:off x="381000" y="857250"/>
            <a:ext cx="8763000" cy="28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UV Decomposition could be used to estimate the blank values in M</a:t>
            </a:r>
            <a:endParaRPr/>
          </a:p>
        </p:txBody>
      </p:sp>
      <p:pic>
        <p:nvPicPr>
          <p:cNvPr id="873" name="Google Shape;873;p108" descr="RS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85900"/>
            <a:ext cx="6858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08"/>
          <p:cNvSpPr txBox="1"/>
          <p:nvPr/>
        </p:nvSpPr>
        <p:spPr>
          <a:xfrm>
            <a:off x="762000" y="3543300"/>
            <a:ext cx="6858000" cy="287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5x5 matrix is decomposed into 5x2 and 2x5 matrices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09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67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0" name="Google Shape;880;p109"/>
          <p:cNvSpPr txBox="1"/>
          <p:nvPr/>
        </p:nvSpPr>
        <p:spPr>
          <a:xfrm>
            <a:off x="228600" y="0"/>
            <a:ext cx="86868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/>
          </a:p>
        </p:txBody>
      </p:sp>
      <p:sp>
        <p:nvSpPr>
          <p:cNvPr id="881" name="Google Shape;881;p109"/>
          <p:cNvSpPr txBox="1"/>
          <p:nvPr/>
        </p:nvSpPr>
        <p:spPr>
          <a:xfrm>
            <a:off x="381000" y="857250"/>
            <a:ext cx="8763000" cy="1492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How close is UV to M?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Root Mean Square Error is a good measure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Try to find U and V that Minimizes the RMSE between UV and M  </a:t>
            </a:r>
            <a:endParaRPr/>
          </a:p>
          <a:p>
            <a:pPr marL="795338" marR="0" lvl="1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Sum, over all nonblank entries in M the square of the difference between that entry and the corresponding entry in the product U V </a:t>
            </a:r>
            <a:endParaRPr sz="2000" b="0" i="0" u="none" strike="noStrike" cap="non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2" name="Google Shape;882;p109" descr="RS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00350"/>
            <a:ext cx="6858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10"/>
          <p:cNvSpPr txBox="1"/>
          <p:nvPr/>
        </p:nvSpPr>
        <p:spPr>
          <a:xfrm>
            <a:off x="7239000" y="4937522"/>
            <a:ext cx="1905000" cy="205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CC"/>
              </a:buClr>
              <a:buSzPts val="1200"/>
              <a:buFont typeface="Times New Roman"/>
              <a:buNone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68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8" name="Google Shape;888;p110"/>
          <p:cNvSpPr txBox="1"/>
          <p:nvPr/>
        </p:nvSpPr>
        <p:spPr>
          <a:xfrm>
            <a:off x="228600" y="-18111"/>
            <a:ext cx="8686800" cy="761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Recommendation Systems: </a:t>
            </a:r>
            <a:endParaRPr/>
          </a:p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200"/>
              <a:buFont typeface="Arial"/>
              <a:buNone/>
            </a:pPr>
            <a:r>
              <a:rPr lang="en" sz="3200">
                <a:solidFill>
                  <a:srgbClr val="990000"/>
                </a:solidFill>
                <a:latin typeface="Arial"/>
                <a:ea typeface="Arial"/>
                <a:cs typeface="Arial"/>
                <a:sym typeface="Arial"/>
              </a:rPr>
              <a:t>Dimensionality Reduction</a:t>
            </a:r>
            <a:endParaRPr/>
          </a:p>
        </p:txBody>
      </p:sp>
      <p:sp>
        <p:nvSpPr>
          <p:cNvPr id="889" name="Google Shape;889;p110"/>
          <p:cNvSpPr txBox="1"/>
          <p:nvPr/>
        </p:nvSpPr>
        <p:spPr>
          <a:xfrm>
            <a:off x="381000" y="857250"/>
            <a:ext cx="8763000" cy="1706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338138" marR="0" lvl="0" indent="-33813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How to find U and V for M?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Start from a random U and V, and do incremental adjustments to U and V to minimize RMSE</a:t>
            </a:r>
            <a:endParaRPr/>
          </a:p>
          <a:p>
            <a:pPr marL="338138" marR="0" lvl="0" indent="-3381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Char char="■"/>
            </a:pPr>
            <a:r>
              <a:rPr lang="en" sz="20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May stuck in local minima therefore try different U and V, and different values</a:t>
            </a:r>
            <a:endParaRPr/>
          </a:p>
          <a:p>
            <a:pPr marL="338138" marR="0" lvl="0" indent="-249238" algn="l" rtl="0">
              <a:lnSpc>
                <a:spcPct val="93000"/>
              </a:lnSpc>
              <a:spcBef>
                <a:spcPts val="1200"/>
              </a:spcBef>
              <a:spcAft>
                <a:spcPts val="0"/>
              </a:spcAft>
              <a:buClr>
                <a:srgbClr val="CCFF33"/>
              </a:buClr>
              <a:buSzPts val="1400"/>
              <a:buFont typeface="Noto Sans Symbols"/>
              <a:buNone/>
            </a:pPr>
            <a:endParaRPr sz="20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p110" descr="RS1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00350"/>
            <a:ext cx="6858000" cy="177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Module">
  <a:themeElements>
    <a:clrScheme name="Module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4815</Words>
  <Application>Microsoft Office PowerPoint</Application>
  <PresentationFormat>On-screen Show (16:9)</PresentationFormat>
  <Paragraphs>987</Paragraphs>
  <Slides>68</Slides>
  <Notes>68</Notes>
  <HiddenSlides>8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68</vt:i4>
      </vt:variant>
    </vt:vector>
  </HeadingPairs>
  <TitlesOfParts>
    <vt:vector size="81" baseType="lpstr">
      <vt:lpstr>Arial</vt:lpstr>
      <vt:lpstr>Verdana</vt:lpstr>
      <vt:lpstr>Corbel</vt:lpstr>
      <vt:lpstr>Garamond</vt:lpstr>
      <vt:lpstr>Noto Sans Symbols</vt:lpstr>
      <vt:lpstr>Tahoma</vt:lpstr>
      <vt:lpstr>Times New Roman</vt:lpstr>
      <vt:lpstr>Calibri</vt:lpstr>
      <vt:lpstr>Courier New</vt:lpstr>
      <vt:lpstr>Simple Light</vt:lpstr>
      <vt:lpstr>1_Default Design</vt:lpstr>
      <vt:lpstr>Default Design</vt:lpstr>
      <vt:lpstr>1_Module</vt:lpstr>
      <vt:lpstr>Data Mining Recommendation Systems</vt:lpstr>
      <vt:lpstr>PowerPoint Presentation</vt:lpstr>
      <vt:lpstr>Example: Recommender Systems</vt:lpstr>
      <vt:lpstr>Recommendations </vt:lpstr>
      <vt:lpstr>From Scarcity to Abundance</vt:lpstr>
      <vt:lpstr>Sidenote: The Long Tail</vt:lpstr>
      <vt:lpstr>Physical vs. Online</vt:lpstr>
      <vt:lpstr>PowerPoint Presentation</vt:lpstr>
      <vt:lpstr>Types of Recommendations</vt:lpstr>
      <vt:lpstr>Formal Model</vt:lpstr>
      <vt:lpstr>Utility Matrix</vt:lpstr>
      <vt:lpstr>PowerPoint Presentation</vt:lpstr>
      <vt:lpstr>PowerPoint Presentation</vt:lpstr>
      <vt:lpstr>PowerPoint Presentation</vt:lpstr>
      <vt:lpstr>PowerPoint Presentation</vt:lpstr>
      <vt:lpstr>Key Problems</vt:lpstr>
      <vt:lpstr>(1) Gathering Ratings</vt:lpstr>
      <vt:lpstr>(2) Extrapolating Utilities</vt:lpstr>
      <vt:lpstr>Content-based Recommendations</vt:lpstr>
      <vt:lpstr>Plan of Action</vt:lpstr>
      <vt:lpstr>PowerPoint Presentation</vt:lpstr>
      <vt:lpstr>Item Profiles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Sidenote: TF-IDF</vt:lpstr>
      <vt:lpstr>PowerPoint Presentation</vt:lpstr>
      <vt:lpstr>User Profiles and Prediction</vt:lpstr>
      <vt:lpstr>PowerPoint Presentation</vt:lpstr>
      <vt:lpstr>PowerPoint Presentation</vt:lpstr>
      <vt:lpstr>Pros: Content-based Approach</vt:lpstr>
      <vt:lpstr>Cons: Content-based Approach</vt:lpstr>
      <vt:lpstr>Collaborative Filtering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Finding “Similar” Users</vt:lpstr>
      <vt:lpstr>Rating Predictions</vt:lpstr>
      <vt:lpstr>Item-Item Collaborative Filtering</vt:lpstr>
      <vt:lpstr>Item-Item CF (|N|=2)</vt:lpstr>
      <vt:lpstr>Item-Item CF (|N|=2)</vt:lpstr>
      <vt:lpstr>Item-Item CF (|N|=2)</vt:lpstr>
      <vt:lpstr>Item-Item CF (|N|=2)</vt:lpstr>
      <vt:lpstr>Item-Item CF (|N|=2)</vt:lpstr>
      <vt:lpstr>Item-Item vs. User-User</vt:lpstr>
      <vt:lpstr>Pros/Cons of Collaborative Filtering</vt:lpstr>
      <vt:lpstr>Hybrid Methods</vt:lpstr>
      <vt:lpstr>Hybrid Methods</vt:lpstr>
      <vt:lpstr>Hybrid Methods</vt:lpstr>
      <vt:lpstr>CF: Common Practice</vt:lpstr>
      <vt:lpstr>Evaluation</vt:lpstr>
      <vt:lpstr>Evaluation</vt:lpstr>
      <vt:lpstr>Evaluating Predictions</vt:lpstr>
      <vt:lpstr>Problems with Error Measures</vt:lpstr>
      <vt:lpstr>Evaluating Predictions</vt:lpstr>
      <vt:lpstr>Collaborative Filtering: Complexity</vt:lpstr>
      <vt:lpstr>Tip: Add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Recommendation Systems</dc:title>
  <cp:lastModifiedBy>Volkan Yurtseven</cp:lastModifiedBy>
  <cp:revision>1</cp:revision>
  <dcterms:modified xsi:type="dcterms:W3CDTF">2022-08-31T14:06:21Z</dcterms:modified>
</cp:coreProperties>
</file>