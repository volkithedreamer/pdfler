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5143500" cx="9144000"/>
  <p:notesSz cx="6858000" cy="9144000"/>
  <p:embeddedFontLst>
    <p:embeddedFont>
      <p:font typeface="Raleway"/>
      <p:regular r:id="rId56"/>
      <p:bold r:id="rId57"/>
      <p:italic r:id="rId58"/>
      <p:boldItalic r:id="rId59"/>
    </p:embeddedFont>
    <p:embeddedFont>
      <p:font typeface="Roboto"/>
      <p:regular r:id="rId60"/>
      <p:bold r:id="rId61"/>
      <p:italic r:id="rId62"/>
      <p:boldItalic r:id="rId63"/>
    </p:embeddedFont>
    <p:embeddedFont>
      <p:font typeface="Source Code Pro"/>
      <p:regular r:id="rId64"/>
      <p:bold r:id="rId65"/>
      <p:italic r:id="rId66"/>
      <p:boldItalic r:id="rId67"/>
    </p:embeddedFont>
    <p:embeddedFont>
      <p:font typeface="Source Sans Pro"/>
      <p:regular r:id="rId68"/>
      <p:bold r:id="rId69"/>
      <p:italic r:id="rId70"/>
      <p:boldItalic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SourceSansPro-boldItalic.fntdata"/><Relationship Id="rId70" Type="http://schemas.openxmlformats.org/officeDocument/2006/relationships/font" Target="fonts/SourceSansPro-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oboto-italic.fntdata"/><Relationship Id="rId61" Type="http://schemas.openxmlformats.org/officeDocument/2006/relationships/font" Target="fonts/Roboto-bold.fntdata"/><Relationship Id="rId20" Type="http://schemas.openxmlformats.org/officeDocument/2006/relationships/slide" Target="slides/slide15.xml"/><Relationship Id="rId64" Type="http://schemas.openxmlformats.org/officeDocument/2006/relationships/font" Target="fonts/SourceCodePro-regular.fntdata"/><Relationship Id="rId63" Type="http://schemas.openxmlformats.org/officeDocument/2006/relationships/font" Target="fonts/Roboto-boldItalic.fntdata"/><Relationship Id="rId22" Type="http://schemas.openxmlformats.org/officeDocument/2006/relationships/slide" Target="slides/slide17.xml"/><Relationship Id="rId66" Type="http://schemas.openxmlformats.org/officeDocument/2006/relationships/font" Target="fonts/SourceCodePro-italic.fntdata"/><Relationship Id="rId21" Type="http://schemas.openxmlformats.org/officeDocument/2006/relationships/slide" Target="slides/slide16.xml"/><Relationship Id="rId65" Type="http://schemas.openxmlformats.org/officeDocument/2006/relationships/font" Target="fonts/SourceCodePro-bold.fntdata"/><Relationship Id="rId24" Type="http://schemas.openxmlformats.org/officeDocument/2006/relationships/slide" Target="slides/slide19.xml"/><Relationship Id="rId68" Type="http://schemas.openxmlformats.org/officeDocument/2006/relationships/font" Target="fonts/SourceSansPro-regular.fntdata"/><Relationship Id="rId23" Type="http://schemas.openxmlformats.org/officeDocument/2006/relationships/slide" Target="slides/slide18.xml"/><Relationship Id="rId67" Type="http://schemas.openxmlformats.org/officeDocument/2006/relationships/font" Target="fonts/SourceCodePro-boldItalic.fntdata"/><Relationship Id="rId60" Type="http://schemas.openxmlformats.org/officeDocument/2006/relationships/font" Target="fonts/Roboto-regular.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SourceSansPro-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Raleway-bold.fntdata"/><Relationship Id="rId12" Type="http://schemas.openxmlformats.org/officeDocument/2006/relationships/slide" Target="slides/slide7.xml"/><Relationship Id="rId56" Type="http://schemas.openxmlformats.org/officeDocument/2006/relationships/font" Target="fonts/Raleway-regular.fntdata"/><Relationship Id="rId15" Type="http://schemas.openxmlformats.org/officeDocument/2006/relationships/slide" Target="slides/slide10.xml"/><Relationship Id="rId59" Type="http://schemas.openxmlformats.org/officeDocument/2006/relationships/font" Target="fonts/Raleway-boldItalic.fntdata"/><Relationship Id="rId14" Type="http://schemas.openxmlformats.org/officeDocument/2006/relationships/slide" Target="slides/slide9.xml"/><Relationship Id="rId58" Type="http://schemas.openxmlformats.org/officeDocument/2006/relationships/font" Target="fonts/Raleway-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O2L2Uv9pdDA" TargetMode="External"/><Relationship Id="rId3" Type="http://schemas.openxmlformats.org/officeDocument/2006/relationships/hyperlink" Target="https://www.youtube.com/watch?v=H3EjCKtlVog"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78c2f53b44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78c2f53b4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b99eac434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b99eac434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b99eac434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b99eac434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b99eac434b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b99eac434b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b99eac434b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b99eac434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b99eac434b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b99eac434b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bbb1b6b47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bbb1b6b47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bbb1b6b47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bbb1b6b47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MultinomialNB: </a:t>
            </a:r>
            <a:r>
              <a:rPr lang="en" u="sng">
                <a:solidFill>
                  <a:schemeClr val="hlink"/>
                </a:solidFill>
                <a:hlinkClick r:id="rId2"/>
              </a:rPr>
              <a:t>https://www.youtube.com/watch?v=O2L2Uv9pdDA</a:t>
            </a:r>
            <a:endParaRPr/>
          </a:p>
          <a:p>
            <a:pPr indent="0" lvl="0" marL="0" rtl="0" algn="l">
              <a:spcBef>
                <a:spcPts val="0"/>
              </a:spcBef>
              <a:spcAft>
                <a:spcPts val="0"/>
              </a:spcAft>
              <a:buNone/>
            </a:pPr>
            <a:r>
              <a:rPr lang="en"/>
              <a:t>GaussianNB: </a:t>
            </a:r>
            <a:r>
              <a:rPr lang="en" u="sng">
                <a:solidFill>
                  <a:schemeClr val="hlink"/>
                </a:solidFill>
                <a:hlinkClick r:id="rId3"/>
              </a:rPr>
              <a:t>https://www.youtube.com/watch?v=H3EjCKtlVog</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bbb1b6b47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bbb1b6b47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bbb1b6b47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bbb1b6b47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bbb1b6b47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bbb1b6b47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bbb1b6b47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bbb1b6b47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bbb1b6b47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bbb1b6b47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bbb1b6b47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bbb1b6b47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bbb1b6b472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bbb1b6b472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bbb1b6b472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bbb1b6b472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bbb1b6b472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bbb1b6b472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bbb1b6b472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bbb1b6b472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bbb1b6b472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bbb1b6b472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bbb1b6b472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bbb1b6b472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bbb1b6b472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bbb1b6b472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bbb1b6b472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bbb1b6b472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bbb1b6b472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bbb1b6b472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bbb1b6b472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bbb1b6b472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bbb1b6b472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bbb1b6b472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bbb1b6b472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bbb1b6b472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bbb1b6b472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bbb1b6b472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cd468ee12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cd468ee12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cd468ee126_1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cd468ee126_1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cd468ee126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cd468ee126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cd468ee126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cd468ee126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cd468ee126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cd468ee126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cd468ee126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cd468ee126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cd468ee126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cd468ee126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cd468ee126_1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cd468ee126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cd468ee126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cd468ee126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cd468ee126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cd468ee126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cd468ee126_1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cd468ee126_1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cd468ee126_1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cd468ee126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cd468ee126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cd468ee126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cd468ee126_1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cd468ee126_1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cd468ee126_1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cd468ee126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cd468ee126_1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cd468ee126_1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cd468ee126_1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cd468ee126_1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cd468ee126_1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cd468ee126_1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cd468ee126_1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cd468ee126_1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cd468ee126_1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cd468ee126_1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cd468ee126_1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cd468ee126_1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cd468ee126_1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cd468ee126_1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7.png"/><Relationship Id="rId5" Type="http://schemas.openxmlformats.org/officeDocument/2006/relationships/image" Target="../media/image17.png"/><Relationship Id="rId6" Type="http://schemas.openxmlformats.org/officeDocument/2006/relationships/image" Target="../media/image26.png"/><Relationship Id="rId7"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arxiv.org/pdf/1301.3781.pdf%C3%AC%E2%80%94%20%C3%AC%E2%80%9E%C5%93"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9.png"/><Relationship Id="rId5" Type="http://schemas.openxmlformats.org/officeDocument/2006/relationships/image" Target="../media/image12.png"/><Relationship Id="rId6"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0.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3.png"/><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1.png"/><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5.png"/><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stackoverflow.com/a/50240724"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3.png"/><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9.png"/><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3.png"/><Relationship Id="rId4"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rstudio-pubs-static.s3.amazonaws.com/41251_4c55dff8747c4850a7fb26fb9a969c8f.html" TargetMode="External"/><Relationship Id="rId4" Type="http://schemas.openxmlformats.org/officeDocument/2006/relationships/hyperlink" Target="https://www.imdb.com/title/tt00081505/"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en.wiktionary.org/wiki/cup_of_joe"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s://stackoverflow.com/a/59752867"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485875" y="264475"/>
            <a:ext cx="8183700" cy="2093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rgbClr val="980000"/>
                </a:solidFill>
              </a:rPr>
              <a:t>Naive Bayes</a:t>
            </a:r>
            <a:br>
              <a:rPr lang="en">
                <a:solidFill>
                  <a:srgbClr val="980000"/>
                </a:solidFill>
              </a:rPr>
            </a:br>
            <a:r>
              <a:rPr b="0" lang="en" sz="2400">
                <a:solidFill>
                  <a:schemeClr val="lt2"/>
                </a:solidFill>
                <a:latin typeface="Source Sans Pro"/>
                <a:ea typeface="Source Sans Pro"/>
                <a:cs typeface="Source Sans Pro"/>
                <a:sym typeface="Source Sans Pro"/>
              </a:rPr>
              <a:t>Some images and notes were retrieved from Hapke et. al Natural Language Processing in Action (2019)</a:t>
            </a:r>
            <a:endParaRPr sz="2500">
              <a:solidFill>
                <a:srgbClr val="98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idx="1" type="body"/>
          </p:nvPr>
        </p:nvSpPr>
        <p:spPr>
          <a:xfrm>
            <a:off x="311700" y="763625"/>
            <a:ext cx="8520600" cy="24201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As Naive Bayes is a </a:t>
            </a:r>
            <a:r>
              <a:rPr lang="en" sz="1500">
                <a:solidFill>
                  <a:srgbClr val="0000FF"/>
                </a:solidFill>
                <a:latin typeface="Verdana"/>
                <a:ea typeface="Verdana"/>
                <a:cs typeface="Verdana"/>
                <a:sym typeface="Verdana"/>
              </a:rPr>
              <a:t>supervised learning</a:t>
            </a:r>
            <a:r>
              <a:rPr lang="en" sz="1500">
                <a:solidFill>
                  <a:srgbClr val="000000"/>
                </a:solidFill>
                <a:latin typeface="Verdana"/>
                <a:ea typeface="Verdana"/>
                <a:cs typeface="Verdana"/>
                <a:sym typeface="Verdana"/>
              </a:rPr>
              <a:t> algorithm which based on applying </a:t>
            </a:r>
            <a:r>
              <a:rPr lang="en" sz="1500">
                <a:solidFill>
                  <a:srgbClr val="0000FF"/>
                </a:solidFill>
                <a:latin typeface="Verdana"/>
                <a:ea typeface="Verdana"/>
                <a:cs typeface="Verdana"/>
                <a:sym typeface="Verdana"/>
              </a:rPr>
              <a:t>Bayes’ theorem</a:t>
            </a:r>
            <a:r>
              <a:rPr lang="en" sz="1500">
                <a:solidFill>
                  <a:srgbClr val="000000"/>
                </a:solidFill>
                <a:latin typeface="Verdana"/>
                <a:ea typeface="Verdana"/>
                <a:cs typeface="Verdana"/>
                <a:sym typeface="Verdana"/>
              </a:rPr>
              <a:t> with the </a:t>
            </a:r>
            <a:r>
              <a:rPr lang="en" sz="1500">
                <a:solidFill>
                  <a:srgbClr val="000000"/>
                </a:solidFill>
                <a:latin typeface="Verdana"/>
                <a:ea typeface="Verdana"/>
                <a:cs typeface="Verdana"/>
                <a:sym typeface="Verdana"/>
              </a:rPr>
              <a:t>"</a:t>
            </a:r>
            <a:r>
              <a:rPr lang="en" sz="1500">
                <a:solidFill>
                  <a:srgbClr val="000000"/>
                </a:solidFill>
                <a:latin typeface="Verdana"/>
                <a:ea typeface="Verdana"/>
                <a:cs typeface="Verdana"/>
                <a:sym typeface="Verdana"/>
              </a:rPr>
              <a:t>naive</a:t>
            </a:r>
            <a:r>
              <a:rPr lang="en" sz="1500">
                <a:solidFill>
                  <a:srgbClr val="000000"/>
                </a:solidFill>
                <a:latin typeface="Verdana"/>
                <a:ea typeface="Verdana"/>
                <a:cs typeface="Verdana"/>
                <a:sym typeface="Verdana"/>
              </a:rPr>
              <a:t>"</a:t>
            </a:r>
            <a:r>
              <a:rPr lang="en" sz="1500">
                <a:solidFill>
                  <a:srgbClr val="000000"/>
                </a:solidFill>
                <a:latin typeface="Verdana"/>
                <a:ea typeface="Verdana"/>
                <a:cs typeface="Verdana"/>
                <a:sym typeface="Verdana"/>
              </a:rPr>
              <a:t> assumption of </a:t>
            </a:r>
            <a:r>
              <a:rPr b="1" lang="en" sz="1500">
                <a:solidFill>
                  <a:srgbClr val="0000FF"/>
                </a:solidFill>
                <a:latin typeface="Verdana"/>
                <a:ea typeface="Verdana"/>
                <a:cs typeface="Verdana"/>
                <a:sym typeface="Verdana"/>
              </a:rPr>
              <a:t>conditional independence</a:t>
            </a:r>
            <a:r>
              <a:rPr lang="en" sz="1500">
                <a:solidFill>
                  <a:srgbClr val="000000"/>
                </a:solidFill>
                <a:latin typeface="Verdana"/>
                <a:ea typeface="Verdana"/>
                <a:cs typeface="Verdana"/>
                <a:sym typeface="Verdana"/>
              </a:rPr>
              <a:t> between every pair of features given the value of the class variable.</a:t>
            </a:r>
            <a:endParaRPr sz="1500">
              <a:solidFill>
                <a:srgbClr val="000000"/>
              </a:solidFill>
              <a:latin typeface="Verdana"/>
              <a:ea typeface="Verdana"/>
              <a:cs typeface="Verdana"/>
              <a:sym typeface="Verdana"/>
            </a:endParaRPr>
          </a:p>
        </p:txBody>
      </p:sp>
      <p:sp>
        <p:nvSpPr>
          <p:cNvPr id="64" name="Google Shape;64;p14"/>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Naive Bayes</a:t>
            </a:r>
            <a:endParaRPr>
              <a:solidFill>
                <a:srgbClr val="980000"/>
              </a:solidFill>
              <a:latin typeface="Verdana"/>
              <a:ea typeface="Verdana"/>
              <a:cs typeface="Verdana"/>
              <a:sym typeface="Verdana"/>
            </a:endParaRPr>
          </a:p>
        </p:txBody>
      </p:sp>
      <p:pic>
        <p:nvPicPr>
          <p:cNvPr id="65" name="Google Shape;65;p14"/>
          <p:cNvPicPr preferRelativeResize="0"/>
          <p:nvPr/>
        </p:nvPicPr>
        <p:blipFill>
          <a:blip r:embed="rId3">
            <a:alphaModFix/>
          </a:blip>
          <a:stretch>
            <a:fillRect/>
          </a:stretch>
        </p:blipFill>
        <p:spPr>
          <a:xfrm>
            <a:off x="58100" y="1838375"/>
            <a:ext cx="3915951" cy="750725"/>
          </a:xfrm>
          <a:prstGeom prst="rect">
            <a:avLst/>
          </a:prstGeom>
          <a:noFill/>
          <a:ln>
            <a:noFill/>
          </a:ln>
        </p:spPr>
      </p:pic>
      <p:pic>
        <p:nvPicPr>
          <p:cNvPr id="66" name="Google Shape;66;p14"/>
          <p:cNvPicPr preferRelativeResize="0"/>
          <p:nvPr/>
        </p:nvPicPr>
        <p:blipFill>
          <a:blip r:embed="rId4">
            <a:alphaModFix/>
          </a:blip>
          <a:stretch>
            <a:fillRect/>
          </a:stretch>
        </p:blipFill>
        <p:spPr>
          <a:xfrm>
            <a:off x="4916350" y="1837800"/>
            <a:ext cx="3915951" cy="751863"/>
          </a:xfrm>
          <a:prstGeom prst="rect">
            <a:avLst/>
          </a:prstGeom>
          <a:noFill/>
          <a:ln>
            <a:noFill/>
          </a:ln>
        </p:spPr>
      </p:pic>
      <p:pic>
        <p:nvPicPr>
          <p:cNvPr id="67" name="Google Shape;67;p14"/>
          <p:cNvPicPr preferRelativeResize="0"/>
          <p:nvPr/>
        </p:nvPicPr>
        <p:blipFill>
          <a:blip r:embed="rId5">
            <a:alphaModFix/>
          </a:blip>
          <a:stretch>
            <a:fillRect/>
          </a:stretch>
        </p:blipFill>
        <p:spPr>
          <a:xfrm>
            <a:off x="2886993" y="2630075"/>
            <a:ext cx="3388407" cy="1290825"/>
          </a:xfrm>
          <a:prstGeom prst="rect">
            <a:avLst/>
          </a:prstGeom>
          <a:noFill/>
          <a:ln>
            <a:noFill/>
          </a:ln>
        </p:spPr>
      </p:pic>
      <p:sp>
        <p:nvSpPr>
          <p:cNvPr id="68" name="Google Shape;68;p14"/>
          <p:cNvSpPr txBox="1"/>
          <p:nvPr/>
        </p:nvSpPr>
        <p:spPr>
          <a:xfrm>
            <a:off x="311700" y="4175375"/>
            <a:ext cx="8645100" cy="94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i="1" lang="en" sz="1500">
                <a:solidFill>
                  <a:srgbClr val="0000FF"/>
                </a:solidFill>
                <a:latin typeface="Verdana"/>
                <a:ea typeface="Verdana"/>
                <a:cs typeface="Verdana"/>
                <a:sym typeface="Verdana"/>
              </a:rPr>
              <a:t>P(y | x</a:t>
            </a:r>
            <a:r>
              <a:rPr baseline="-25000" i="1" lang="en" sz="1500">
                <a:solidFill>
                  <a:srgbClr val="0000FF"/>
                </a:solidFill>
                <a:latin typeface="Verdana"/>
                <a:ea typeface="Verdana"/>
                <a:cs typeface="Verdana"/>
                <a:sym typeface="Verdana"/>
              </a:rPr>
              <a:t>1</a:t>
            </a:r>
            <a:r>
              <a:rPr i="1" lang="en" sz="1500">
                <a:solidFill>
                  <a:srgbClr val="0000FF"/>
                </a:solidFill>
                <a:latin typeface="Verdana"/>
                <a:ea typeface="Verdana"/>
                <a:cs typeface="Verdana"/>
                <a:sym typeface="Verdana"/>
              </a:rPr>
              <a:t>,...,x</a:t>
            </a:r>
            <a:r>
              <a:rPr baseline="-25000" i="1" lang="en" sz="1500">
                <a:solidFill>
                  <a:srgbClr val="0000FF"/>
                </a:solidFill>
                <a:latin typeface="Verdana"/>
                <a:ea typeface="Verdana"/>
                <a:cs typeface="Verdana"/>
                <a:sym typeface="Verdana"/>
              </a:rPr>
              <a:t>n</a:t>
            </a:r>
            <a:r>
              <a:rPr i="1" lang="en" sz="1500">
                <a:solidFill>
                  <a:srgbClr val="0000FF"/>
                </a:solidFill>
                <a:latin typeface="Verdana"/>
                <a:ea typeface="Verdana"/>
                <a:cs typeface="Verdana"/>
                <a:sym typeface="Verdana"/>
              </a:rPr>
              <a:t>)</a:t>
            </a:r>
            <a:r>
              <a:rPr lang="en" sz="1500">
                <a:solidFill>
                  <a:schemeClr val="dk2"/>
                </a:solidFill>
                <a:latin typeface="Verdana"/>
                <a:ea typeface="Verdana"/>
                <a:cs typeface="Verdana"/>
                <a:sym typeface="Verdana"/>
              </a:rPr>
              <a:t> → </a:t>
            </a:r>
            <a:r>
              <a:rPr b="1" lang="en" sz="1500">
                <a:solidFill>
                  <a:srgbClr val="A31515"/>
                </a:solidFill>
                <a:latin typeface="Verdana"/>
                <a:ea typeface="Verdana"/>
                <a:cs typeface="Verdana"/>
                <a:sym typeface="Verdana"/>
              </a:rPr>
              <a:t>posterior probability</a:t>
            </a:r>
            <a:r>
              <a:rPr lang="en" sz="1500">
                <a:solidFill>
                  <a:schemeClr val="dk2"/>
                </a:solidFill>
                <a:latin typeface="Verdana"/>
                <a:ea typeface="Verdana"/>
                <a:cs typeface="Verdana"/>
                <a:sym typeface="Verdana"/>
              </a:rPr>
              <a:t> of class </a:t>
            </a:r>
            <a:r>
              <a:rPr i="1" lang="en" sz="1500">
                <a:solidFill>
                  <a:schemeClr val="dk2"/>
                </a:solidFill>
                <a:latin typeface="Verdana"/>
                <a:ea typeface="Verdana"/>
                <a:cs typeface="Verdana"/>
                <a:sym typeface="Verdana"/>
              </a:rPr>
              <a:t>y</a:t>
            </a:r>
            <a:r>
              <a:rPr lang="en" sz="1500">
                <a:solidFill>
                  <a:schemeClr val="dk2"/>
                </a:solidFill>
                <a:latin typeface="Verdana"/>
                <a:ea typeface="Verdana"/>
                <a:cs typeface="Verdana"/>
                <a:sym typeface="Verdana"/>
              </a:rPr>
              <a:t> given predictor </a:t>
            </a:r>
            <a:r>
              <a:rPr i="1" lang="en" sz="1500">
                <a:solidFill>
                  <a:schemeClr val="dk2"/>
                </a:solidFill>
                <a:latin typeface="Verdana"/>
                <a:ea typeface="Verdana"/>
                <a:cs typeface="Verdana"/>
                <a:sym typeface="Verdana"/>
              </a:rPr>
              <a:t>X</a:t>
            </a:r>
            <a:r>
              <a:rPr lang="en" sz="1500">
                <a:solidFill>
                  <a:schemeClr val="dk2"/>
                </a:solidFill>
                <a:latin typeface="Verdana"/>
                <a:ea typeface="Verdana"/>
                <a:cs typeface="Verdana"/>
                <a:sym typeface="Verdana"/>
              </a:rPr>
              <a:t> (</a:t>
            </a:r>
            <a:r>
              <a:rPr i="1" lang="en" sz="1500">
                <a:solidFill>
                  <a:schemeClr val="dk2"/>
                </a:solidFill>
                <a:latin typeface="Verdana"/>
                <a:ea typeface="Verdana"/>
                <a:cs typeface="Verdana"/>
                <a:sym typeface="Verdana"/>
              </a:rPr>
              <a:t>x</a:t>
            </a:r>
            <a:r>
              <a:rPr baseline="-25000" i="1" lang="en" sz="1500">
                <a:solidFill>
                  <a:schemeClr val="dk2"/>
                </a:solidFill>
                <a:latin typeface="Verdana"/>
                <a:ea typeface="Verdana"/>
                <a:cs typeface="Verdana"/>
                <a:sym typeface="Verdana"/>
              </a:rPr>
              <a:t>1</a:t>
            </a:r>
            <a:r>
              <a:rPr i="1" lang="en" sz="1500">
                <a:solidFill>
                  <a:schemeClr val="dk2"/>
                </a:solidFill>
                <a:latin typeface="Verdana"/>
                <a:ea typeface="Verdana"/>
                <a:cs typeface="Verdana"/>
                <a:sym typeface="Verdana"/>
              </a:rPr>
              <a:t>,...,x</a:t>
            </a:r>
            <a:r>
              <a:rPr baseline="-25000" i="1" lang="en" sz="1500">
                <a:solidFill>
                  <a:schemeClr val="dk2"/>
                </a:solidFill>
                <a:latin typeface="Verdana"/>
                <a:ea typeface="Verdana"/>
                <a:cs typeface="Verdana"/>
                <a:sym typeface="Verdana"/>
              </a:rPr>
              <a:t>n</a:t>
            </a:r>
            <a:r>
              <a:rPr lang="en" sz="1500">
                <a:solidFill>
                  <a:schemeClr val="dk2"/>
                </a:solidFill>
                <a:latin typeface="Verdana"/>
                <a:ea typeface="Verdana"/>
                <a:cs typeface="Verdana"/>
                <a:sym typeface="Verdana"/>
              </a:rPr>
              <a:t>)</a:t>
            </a:r>
            <a:br>
              <a:rPr lang="en" sz="1500">
                <a:solidFill>
                  <a:schemeClr val="dk2"/>
                </a:solidFill>
                <a:latin typeface="Verdana"/>
                <a:ea typeface="Verdana"/>
                <a:cs typeface="Verdana"/>
                <a:sym typeface="Verdana"/>
              </a:rPr>
            </a:br>
            <a:r>
              <a:rPr i="1" lang="en" sz="1500">
                <a:solidFill>
                  <a:srgbClr val="0000FF"/>
                </a:solidFill>
                <a:latin typeface="Verdana"/>
                <a:ea typeface="Verdana"/>
                <a:cs typeface="Verdana"/>
                <a:sym typeface="Verdana"/>
              </a:rPr>
              <a:t>P(y)</a:t>
            </a:r>
            <a:r>
              <a:rPr i="1" lang="en" sz="1500">
                <a:solidFill>
                  <a:schemeClr val="dk2"/>
                </a:solidFill>
                <a:latin typeface="Verdana"/>
                <a:ea typeface="Verdana"/>
                <a:cs typeface="Verdana"/>
                <a:sym typeface="Verdana"/>
              </a:rPr>
              <a:t> → </a:t>
            </a:r>
            <a:r>
              <a:rPr b="1" i="1" lang="en" sz="1500">
                <a:solidFill>
                  <a:srgbClr val="A31515"/>
                </a:solidFill>
                <a:latin typeface="Verdana"/>
                <a:ea typeface="Verdana"/>
                <a:cs typeface="Verdana"/>
                <a:sym typeface="Verdana"/>
              </a:rPr>
              <a:t>prior probability</a:t>
            </a:r>
            <a:r>
              <a:rPr i="1" lang="en" sz="1500">
                <a:solidFill>
                  <a:schemeClr val="dk2"/>
                </a:solidFill>
                <a:latin typeface="Verdana"/>
                <a:ea typeface="Verdana"/>
                <a:cs typeface="Verdana"/>
                <a:sym typeface="Verdana"/>
              </a:rPr>
              <a:t> of class </a:t>
            </a:r>
            <a:r>
              <a:rPr lang="en" sz="1500">
                <a:solidFill>
                  <a:schemeClr val="dk2"/>
                </a:solidFill>
                <a:latin typeface="Verdana"/>
                <a:ea typeface="Verdana"/>
                <a:cs typeface="Verdana"/>
                <a:sym typeface="Verdana"/>
              </a:rPr>
              <a:t>y</a:t>
            </a:r>
            <a:br>
              <a:rPr lang="en" sz="1500">
                <a:solidFill>
                  <a:schemeClr val="dk2"/>
                </a:solidFill>
                <a:latin typeface="Verdana"/>
                <a:ea typeface="Verdana"/>
                <a:cs typeface="Verdana"/>
                <a:sym typeface="Verdana"/>
              </a:rPr>
            </a:br>
            <a:r>
              <a:rPr i="1" lang="en" sz="1500">
                <a:solidFill>
                  <a:srgbClr val="0000FF"/>
                </a:solidFill>
                <a:latin typeface="Verdana"/>
                <a:ea typeface="Verdana"/>
                <a:cs typeface="Verdana"/>
                <a:sym typeface="Verdana"/>
              </a:rPr>
              <a:t>P(</a:t>
            </a:r>
            <a:r>
              <a:rPr i="1" lang="en" sz="1500">
                <a:solidFill>
                  <a:srgbClr val="0000FF"/>
                </a:solidFill>
                <a:latin typeface="Verdana"/>
                <a:ea typeface="Verdana"/>
                <a:cs typeface="Verdana"/>
                <a:sym typeface="Verdana"/>
              </a:rPr>
              <a:t>x</a:t>
            </a:r>
            <a:r>
              <a:rPr baseline="-25000" i="1" lang="en" sz="1500">
                <a:solidFill>
                  <a:srgbClr val="0000FF"/>
                </a:solidFill>
                <a:latin typeface="Verdana"/>
                <a:ea typeface="Verdana"/>
                <a:cs typeface="Verdana"/>
                <a:sym typeface="Verdana"/>
              </a:rPr>
              <a:t>1</a:t>
            </a:r>
            <a:r>
              <a:rPr i="1" lang="en" sz="1500">
                <a:solidFill>
                  <a:srgbClr val="0000FF"/>
                </a:solidFill>
                <a:latin typeface="Verdana"/>
                <a:ea typeface="Verdana"/>
                <a:cs typeface="Verdana"/>
                <a:sym typeface="Verdana"/>
              </a:rPr>
              <a:t>,...,x</a:t>
            </a:r>
            <a:r>
              <a:rPr baseline="-25000" i="1" lang="en" sz="1500">
                <a:solidFill>
                  <a:srgbClr val="0000FF"/>
                </a:solidFill>
                <a:latin typeface="Verdana"/>
                <a:ea typeface="Verdana"/>
                <a:cs typeface="Verdana"/>
                <a:sym typeface="Verdana"/>
              </a:rPr>
              <a:t>n </a:t>
            </a:r>
            <a:r>
              <a:rPr i="1" lang="en" sz="1500">
                <a:solidFill>
                  <a:srgbClr val="0000FF"/>
                </a:solidFill>
                <a:latin typeface="Verdana"/>
                <a:ea typeface="Verdana"/>
                <a:cs typeface="Verdana"/>
                <a:sym typeface="Verdana"/>
              </a:rPr>
              <a:t>| y)</a:t>
            </a:r>
            <a:r>
              <a:rPr lang="en" sz="1500">
                <a:solidFill>
                  <a:schemeClr val="dk2"/>
                </a:solidFill>
                <a:latin typeface="Verdana"/>
                <a:ea typeface="Verdana"/>
                <a:cs typeface="Verdana"/>
                <a:sym typeface="Verdana"/>
              </a:rPr>
              <a:t> → </a:t>
            </a:r>
            <a:r>
              <a:rPr b="1" i="1" lang="en" sz="1500">
                <a:solidFill>
                  <a:srgbClr val="A31515"/>
                </a:solidFill>
                <a:latin typeface="Verdana"/>
                <a:ea typeface="Verdana"/>
                <a:cs typeface="Verdana"/>
                <a:sym typeface="Verdana"/>
              </a:rPr>
              <a:t>likelihood</a:t>
            </a:r>
            <a:r>
              <a:rPr lang="en" sz="1500">
                <a:solidFill>
                  <a:schemeClr val="dk2"/>
                </a:solidFill>
                <a:latin typeface="Verdana"/>
                <a:ea typeface="Verdana"/>
                <a:cs typeface="Verdana"/>
                <a:sym typeface="Verdana"/>
              </a:rPr>
              <a:t> which is the probability of predictor given class</a:t>
            </a:r>
            <a:endParaRPr>
              <a:latin typeface="Source Sans Pro"/>
              <a:ea typeface="Source Sans Pro"/>
              <a:cs typeface="Source Sans Pro"/>
              <a:sym typeface="Source Sans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xEl>
                                              <p:pRg end="0" st="0"/>
                                            </p:txEl>
                                          </p:spTgt>
                                        </p:tgtEl>
                                        <p:attrNameLst>
                                          <p:attrName>style.visibility</p:attrName>
                                        </p:attrNameLst>
                                      </p:cBhvr>
                                      <p:to>
                                        <p:strVal val="visible"/>
                                      </p:to>
                                    </p:set>
                                    <p:animEffect filter="fade" transition="in">
                                      <p:cBhvr>
                                        <p:cTn dur="1000"/>
                                        <p:tgtEl>
                                          <p:spTgt spid="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gtEl>
                                        <p:attrNameLst>
                                          <p:attrName>style.visibility</p:attrName>
                                        </p:attrNameLst>
                                      </p:cBhvr>
                                      <p:to>
                                        <p:strVal val="visible"/>
                                      </p:to>
                                    </p:set>
                                    <p:animEffect filter="fade" transition="in">
                                      <p:cBhvr>
                                        <p:cTn dur="1000"/>
                                        <p:tgtEl>
                                          <p:spTgt spid="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
                                        </p:tgtEl>
                                        <p:attrNameLst>
                                          <p:attrName>style.visibility</p:attrName>
                                        </p:attrNameLst>
                                      </p:cBhvr>
                                      <p:to>
                                        <p:strVal val="visible"/>
                                      </p:to>
                                    </p:set>
                                    <p:animEffect filter="fade" transition="in">
                                      <p:cBhvr>
                                        <p:cTn dur="1000"/>
                                        <p:tgtEl>
                                          <p:spTgt spid="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gtEl>
                                        <p:attrNameLst>
                                          <p:attrName>style.visibility</p:attrName>
                                        </p:attrNameLst>
                                      </p:cBhvr>
                                      <p:to>
                                        <p:strVal val="visible"/>
                                      </p:to>
                                    </p:set>
                                    <p:animEffect filter="fade" transition="in">
                                      <p:cBhvr>
                                        <p:cTn dur="1000"/>
                                        <p:tgtEl>
                                          <p:spTgt spid="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gtEl>
                                        <p:attrNameLst>
                                          <p:attrName>style.visibility</p:attrName>
                                        </p:attrNameLst>
                                      </p:cBhvr>
                                      <p:to>
                                        <p:strVal val="visible"/>
                                      </p:to>
                                    </p:set>
                                    <p:animEffect filter="fade" transition="in">
                                      <p:cBhvr>
                                        <p:cTn dur="1000"/>
                                        <p:tgtEl>
                                          <p:spTgt spid="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idx="1" type="body"/>
          </p:nvPr>
        </p:nvSpPr>
        <p:spPr>
          <a:xfrm>
            <a:off x="311700" y="763625"/>
            <a:ext cx="8655900" cy="4215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r>
              <a:rPr lang="en" sz="1500">
                <a:solidFill>
                  <a:srgbClr val="000000"/>
                </a:solidFill>
                <a:latin typeface="Verdana"/>
                <a:ea typeface="Verdana"/>
                <a:cs typeface="Verdana"/>
                <a:sym typeface="Verdana"/>
              </a:rPr>
              <a:t>Imagine that </a:t>
            </a:r>
            <a:r>
              <a:rPr b="1" lang="en" sz="1500">
                <a:solidFill>
                  <a:srgbClr val="000000"/>
                </a:solidFill>
                <a:latin typeface="Verdana"/>
                <a:ea typeface="Verdana"/>
                <a:cs typeface="Verdana"/>
                <a:sym typeface="Verdana"/>
              </a:rPr>
              <a:t>X</a:t>
            </a:r>
            <a:r>
              <a:rPr lang="en" sz="1500">
                <a:solidFill>
                  <a:srgbClr val="000000"/>
                </a:solidFill>
                <a:latin typeface="Verdana"/>
                <a:ea typeface="Verdana"/>
                <a:cs typeface="Verdana"/>
                <a:sym typeface="Verdana"/>
              </a:rPr>
              <a:t> = {</a:t>
            </a:r>
            <a:r>
              <a:rPr b="1" lang="en" sz="1500">
                <a:solidFill>
                  <a:srgbClr val="000000"/>
                </a:solidFill>
                <a:latin typeface="Verdana"/>
                <a:ea typeface="Verdana"/>
                <a:cs typeface="Verdana"/>
                <a:sym typeface="Verdana"/>
              </a:rPr>
              <a:t>outlook</a:t>
            </a:r>
            <a:r>
              <a:rPr lang="en" sz="1500">
                <a:solidFill>
                  <a:srgbClr val="000000"/>
                </a:solidFill>
                <a:latin typeface="Verdana"/>
                <a:ea typeface="Verdana"/>
                <a:cs typeface="Verdana"/>
                <a:sym typeface="Verdana"/>
              </a:rPr>
              <a:t>: sunny, </a:t>
            </a:r>
            <a:r>
              <a:rPr b="1" lang="en" sz="1500">
                <a:solidFill>
                  <a:srgbClr val="000000"/>
                </a:solidFill>
                <a:latin typeface="Verdana"/>
                <a:ea typeface="Verdana"/>
                <a:cs typeface="Verdana"/>
                <a:sym typeface="Verdana"/>
              </a:rPr>
              <a:t>temperature</a:t>
            </a:r>
            <a:r>
              <a:rPr lang="en" sz="1500">
                <a:solidFill>
                  <a:srgbClr val="000000"/>
                </a:solidFill>
                <a:latin typeface="Verdana"/>
                <a:ea typeface="Verdana"/>
                <a:cs typeface="Verdana"/>
                <a:sym typeface="Verdana"/>
              </a:rPr>
              <a:t>: mild, </a:t>
            </a:r>
            <a:r>
              <a:rPr b="1" lang="en" sz="1500">
                <a:solidFill>
                  <a:srgbClr val="000000"/>
                </a:solidFill>
                <a:latin typeface="Verdana"/>
                <a:ea typeface="Verdana"/>
                <a:cs typeface="Verdana"/>
                <a:sym typeface="Verdana"/>
              </a:rPr>
              <a:t>humidity</a:t>
            </a:r>
            <a:r>
              <a:rPr lang="en" sz="1500">
                <a:solidFill>
                  <a:srgbClr val="000000"/>
                </a:solidFill>
                <a:latin typeface="Verdana"/>
                <a:ea typeface="Verdana"/>
                <a:cs typeface="Verdana"/>
                <a:sym typeface="Verdana"/>
              </a:rPr>
              <a:t>: normal, </a:t>
            </a:r>
            <a:br>
              <a:rPr lang="en" sz="1500">
                <a:solidFill>
                  <a:srgbClr val="000000"/>
                </a:solidFill>
                <a:latin typeface="Verdana"/>
                <a:ea typeface="Verdana"/>
                <a:cs typeface="Verdana"/>
                <a:sym typeface="Verdana"/>
              </a:rPr>
            </a:br>
            <a:r>
              <a:rPr b="1" lang="en" sz="1500">
                <a:solidFill>
                  <a:srgbClr val="000000"/>
                </a:solidFill>
                <a:latin typeface="Verdana"/>
                <a:ea typeface="Verdana"/>
                <a:cs typeface="Verdana"/>
                <a:sym typeface="Verdana"/>
              </a:rPr>
              <a:t>windy</a:t>
            </a:r>
            <a:r>
              <a:rPr lang="en" sz="1500">
                <a:solidFill>
                  <a:srgbClr val="000000"/>
                </a:solidFill>
                <a:latin typeface="Verdana"/>
                <a:ea typeface="Verdana"/>
                <a:cs typeface="Verdana"/>
                <a:sym typeface="Verdana"/>
              </a:rPr>
              <a:t>: false}. We want to predict </a:t>
            </a:r>
            <a:r>
              <a:rPr b="1" lang="en" sz="1500">
                <a:solidFill>
                  <a:srgbClr val="000000"/>
                </a:solidFill>
                <a:latin typeface="Verdana"/>
                <a:ea typeface="Verdana"/>
                <a:cs typeface="Verdana"/>
                <a:sym typeface="Verdana"/>
              </a:rPr>
              <a:t>Play</a:t>
            </a:r>
            <a:r>
              <a:rPr lang="en" sz="1500">
                <a:solidFill>
                  <a:srgbClr val="000000"/>
                </a:solidFill>
                <a:latin typeface="Verdana"/>
                <a:ea typeface="Verdana"/>
                <a:cs typeface="Verdana"/>
                <a:sym typeface="Verdana"/>
              </a:rPr>
              <a:t> target with given features.</a:t>
            </a:r>
            <a:endParaRPr sz="1500">
              <a:solidFill>
                <a:srgbClr val="000000"/>
              </a:solidFill>
              <a:latin typeface="Verdana"/>
              <a:ea typeface="Verdana"/>
              <a:cs typeface="Verdana"/>
              <a:sym typeface="Verdana"/>
            </a:endParaRPr>
          </a:p>
        </p:txBody>
      </p:sp>
      <p:sp>
        <p:nvSpPr>
          <p:cNvPr id="74" name="Google Shape;74;p15"/>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How Does It Work?</a:t>
            </a:r>
            <a:endParaRPr>
              <a:solidFill>
                <a:srgbClr val="980000"/>
              </a:solidFill>
              <a:latin typeface="Verdana"/>
              <a:ea typeface="Verdana"/>
              <a:cs typeface="Verdana"/>
              <a:sym typeface="Verdana"/>
            </a:endParaRPr>
          </a:p>
        </p:txBody>
      </p:sp>
      <p:pic>
        <p:nvPicPr>
          <p:cNvPr id="75" name="Google Shape;75;p15"/>
          <p:cNvPicPr preferRelativeResize="0"/>
          <p:nvPr/>
        </p:nvPicPr>
        <p:blipFill>
          <a:blip r:embed="rId3">
            <a:alphaModFix/>
          </a:blip>
          <a:stretch>
            <a:fillRect/>
          </a:stretch>
        </p:blipFill>
        <p:spPr>
          <a:xfrm>
            <a:off x="1690701" y="809625"/>
            <a:ext cx="5301350" cy="3251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idx="1" type="body"/>
          </p:nvPr>
        </p:nvSpPr>
        <p:spPr>
          <a:xfrm>
            <a:off x="311700" y="763625"/>
            <a:ext cx="8655900" cy="138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rgbClr val="000000"/>
                </a:solidFill>
                <a:latin typeface="Verdana"/>
                <a:ea typeface="Verdana"/>
                <a:cs typeface="Verdana"/>
                <a:sym typeface="Verdana"/>
              </a:rPr>
              <a:t>Recall that</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p:txBody>
      </p:sp>
      <p:sp>
        <p:nvSpPr>
          <p:cNvPr id="81" name="Google Shape;81;p16"/>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How Does It Work?</a:t>
            </a:r>
            <a:endParaRPr>
              <a:solidFill>
                <a:srgbClr val="980000"/>
              </a:solidFill>
              <a:latin typeface="Verdana"/>
              <a:ea typeface="Verdana"/>
              <a:cs typeface="Verdana"/>
              <a:sym typeface="Verdana"/>
            </a:endParaRPr>
          </a:p>
        </p:txBody>
      </p:sp>
      <p:pic>
        <p:nvPicPr>
          <p:cNvPr id="82" name="Google Shape;82;p16"/>
          <p:cNvPicPr preferRelativeResize="0"/>
          <p:nvPr/>
        </p:nvPicPr>
        <p:blipFill>
          <a:blip r:embed="rId3">
            <a:alphaModFix/>
          </a:blip>
          <a:stretch>
            <a:fillRect/>
          </a:stretch>
        </p:blipFill>
        <p:spPr>
          <a:xfrm>
            <a:off x="3091750" y="827900"/>
            <a:ext cx="3198875" cy="1218625"/>
          </a:xfrm>
          <a:prstGeom prst="rect">
            <a:avLst/>
          </a:prstGeom>
          <a:noFill/>
          <a:ln>
            <a:noFill/>
          </a:ln>
        </p:spPr>
      </p:pic>
      <p:pic>
        <p:nvPicPr>
          <p:cNvPr id="83" name="Google Shape;83;p16"/>
          <p:cNvPicPr preferRelativeResize="0"/>
          <p:nvPr/>
        </p:nvPicPr>
        <p:blipFill>
          <a:blip r:embed="rId4">
            <a:alphaModFix/>
          </a:blip>
          <a:stretch>
            <a:fillRect/>
          </a:stretch>
        </p:blipFill>
        <p:spPr>
          <a:xfrm>
            <a:off x="61550" y="2212977"/>
            <a:ext cx="8848724" cy="1050775"/>
          </a:xfrm>
          <a:prstGeom prst="rect">
            <a:avLst/>
          </a:prstGeom>
          <a:noFill/>
          <a:ln>
            <a:noFill/>
          </a:ln>
        </p:spPr>
      </p:pic>
      <p:pic>
        <p:nvPicPr>
          <p:cNvPr id="84" name="Google Shape;84;p16"/>
          <p:cNvPicPr preferRelativeResize="0"/>
          <p:nvPr/>
        </p:nvPicPr>
        <p:blipFill>
          <a:blip r:embed="rId5">
            <a:alphaModFix/>
          </a:blip>
          <a:stretch>
            <a:fillRect/>
          </a:stretch>
        </p:blipFill>
        <p:spPr>
          <a:xfrm>
            <a:off x="61550" y="3972725"/>
            <a:ext cx="8756458" cy="1050775"/>
          </a:xfrm>
          <a:prstGeom prst="rect">
            <a:avLst/>
          </a:prstGeom>
          <a:noFill/>
          <a:ln>
            <a:noFill/>
          </a:ln>
        </p:spPr>
      </p:pic>
      <p:grpSp>
        <p:nvGrpSpPr>
          <p:cNvPr id="85" name="Google Shape;85;p16"/>
          <p:cNvGrpSpPr/>
          <p:nvPr/>
        </p:nvGrpSpPr>
        <p:grpSpPr>
          <a:xfrm>
            <a:off x="99275" y="3418138"/>
            <a:ext cx="7458300" cy="550688"/>
            <a:chOff x="99275" y="3418138"/>
            <a:chExt cx="7458300" cy="550688"/>
          </a:xfrm>
        </p:grpSpPr>
        <p:sp>
          <p:nvSpPr>
            <p:cNvPr id="86" name="Google Shape;86;p16"/>
            <p:cNvSpPr/>
            <p:nvPr/>
          </p:nvSpPr>
          <p:spPr>
            <a:xfrm rot="-5400000">
              <a:off x="3740225" y="151475"/>
              <a:ext cx="176400" cy="7458300"/>
            </a:xfrm>
            <a:prstGeom prst="rightBrace">
              <a:avLst>
                <a:gd fmla="val 50000" name="adj1"/>
                <a:gd fmla="val 50000" name="adj2"/>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6"/>
            <p:cNvSpPr txBox="1"/>
            <p:nvPr/>
          </p:nvSpPr>
          <p:spPr>
            <a:xfrm>
              <a:off x="3453875" y="3418138"/>
              <a:ext cx="94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980000"/>
                  </a:solidFill>
                  <a:latin typeface="Source Sans Pro"/>
                  <a:ea typeface="Source Sans Pro"/>
                  <a:cs typeface="Source Sans Pro"/>
                  <a:sym typeface="Source Sans Pro"/>
                </a:rPr>
                <a:t>P(X | y)</a:t>
              </a:r>
              <a:endParaRPr b="1">
                <a:solidFill>
                  <a:srgbClr val="980000"/>
                </a:solidFill>
                <a:latin typeface="Source Sans Pro"/>
                <a:ea typeface="Source Sans Pro"/>
                <a:cs typeface="Source Sans Pro"/>
                <a:sym typeface="Source Sans Pro"/>
              </a:endParaRPr>
            </a:p>
          </p:txBody>
        </p:sp>
      </p:grpSp>
      <p:grpSp>
        <p:nvGrpSpPr>
          <p:cNvPr id="88" name="Google Shape;88;p16"/>
          <p:cNvGrpSpPr/>
          <p:nvPr/>
        </p:nvGrpSpPr>
        <p:grpSpPr>
          <a:xfrm>
            <a:off x="7594260" y="3406649"/>
            <a:ext cx="1223694" cy="573838"/>
            <a:chOff x="7632875" y="3418138"/>
            <a:chExt cx="1147500" cy="573838"/>
          </a:xfrm>
        </p:grpSpPr>
        <p:sp>
          <p:nvSpPr>
            <p:cNvPr id="89" name="Google Shape;89;p16"/>
            <p:cNvSpPr/>
            <p:nvPr/>
          </p:nvSpPr>
          <p:spPr>
            <a:xfrm rot="-5400000">
              <a:off x="8118425" y="3330025"/>
              <a:ext cx="176400" cy="1147500"/>
            </a:xfrm>
            <a:prstGeom prst="rightBrace">
              <a:avLst>
                <a:gd fmla="val 50000" name="adj1"/>
                <a:gd fmla="val 50000" name="adj2"/>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6"/>
            <p:cNvSpPr txBox="1"/>
            <p:nvPr/>
          </p:nvSpPr>
          <p:spPr>
            <a:xfrm>
              <a:off x="7930300" y="3418138"/>
              <a:ext cx="74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0000FF"/>
                  </a:solidFill>
                  <a:latin typeface="Source Sans Pro"/>
                  <a:ea typeface="Source Sans Pro"/>
                  <a:cs typeface="Source Sans Pro"/>
                  <a:sym typeface="Source Sans Pro"/>
                </a:rPr>
                <a:t>P(y)</a:t>
              </a:r>
              <a:endParaRPr b="1">
                <a:solidFill>
                  <a:srgbClr val="0000FF"/>
                </a:solidFill>
                <a:latin typeface="Source Sans Pro"/>
                <a:ea typeface="Source Sans Pro"/>
                <a:cs typeface="Source Sans Pro"/>
                <a:sym typeface="Source Sans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1000"/>
                                        <p:tgtEl>
                                          <p:spTgt spid="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gtEl>
                                        <p:attrNameLst>
                                          <p:attrName>style.visibility</p:attrName>
                                        </p:attrNameLst>
                                      </p:cBhvr>
                                      <p:to>
                                        <p:strVal val="visible"/>
                                      </p:to>
                                    </p:set>
                                    <p:animEffect filter="fade" transition="in">
                                      <p:cBhvr>
                                        <p:cTn dur="1000"/>
                                        <p:tgtEl>
                                          <p:spTgt spid="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gtEl>
                                        <p:attrNameLst>
                                          <p:attrName>style.visibility</p:attrName>
                                        </p:attrNameLst>
                                      </p:cBhvr>
                                      <p:to>
                                        <p:strVal val="visible"/>
                                      </p:to>
                                    </p:set>
                                    <p:animEffect filter="fade" transition="in">
                                      <p:cBhvr>
                                        <p:cTn dur="1000"/>
                                        <p:tgtEl>
                                          <p:spTgt spid="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1000"/>
                                        <p:tgtEl>
                                          <p:spTgt spid="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idx="1" type="body"/>
          </p:nvPr>
        </p:nvSpPr>
        <p:spPr>
          <a:xfrm>
            <a:off x="311700" y="763625"/>
            <a:ext cx="8655900" cy="42159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Imagine that </a:t>
            </a:r>
            <a:r>
              <a:rPr b="1" lang="en" sz="1500">
                <a:solidFill>
                  <a:srgbClr val="000000"/>
                </a:solidFill>
                <a:latin typeface="Verdana"/>
                <a:ea typeface="Verdana"/>
                <a:cs typeface="Verdana"/>
                <a:sym typeface="Verdana"/>
              </a:rPr>
              <a:t>X</a:t>
            </a:r>
            <a:r>
              <a:rPr lang="en" sz="1500">
                <a:solidFill>
                  <a:srgbClr val="000000"/>
                </a:solidFill>
                <a:latin typeface="Verdana"/>
                <a:ea typeface="Verdana"/>
                <a:cs typeface="Verdana"/>
                <a:sym typeface="Verdana"/>
              </a:rPr>
              <a:t> = {</a:t>
            </a:r>
            <a:r>
              <a:rPr b="1" lang="en" sz="1500">
                <a:solidFill>
                  <a:srgbClr val="000000"/>
                </a:solidFill>
                <a:latin typeface="Verdana"/>
                <a:ea typeface="Verdana"/>
                <a:cs typeface="Verdana"/>
                <a:sym typeface="Verdana"/>
              </a:rPr>
              <a:t>outlook</a:t>
            </a:r>
            <a:r>
              <a:rPr lang="en" sz="1500">
                <a:solidFill>
                  <a:srgbClr val="000000"/>
                </a:solidFill>
                <a:latin typeface="Verdana"/>
                <a:ea typeface="Verdana"/>
                <a:cs typeface="Verdana"/>
                <a:sym typeface="Verdana"/>
              </a:rPr>
              <a:t>: sunny, </a:t>
            </a:r>
            <a:r>
              <a:rPr b="1" lang="en" sz="1500">
                <a:solidFill>
                  <a:srgbClr val="000000"/>
                </a:solidFill>
                <a:latin typeface="Verdana"/>
                <a:ea typeface="Verdana"/>
                <a:cs typeface="Verdana"/>
                <a:sym typeface="Verdana"/>
              </a:rPr>
              <a:t>temperature</a:t>
            </a:r>
            <a:r>
              <a:rPr lang="en" sz="1500">
                <a:solidFill>
                  <a:srgbClr val="000000"/>
                </a:solidFill>
                <a:latin typeface="Verdana"/>
                <a:ea typeface="Verdana"/>
                <a:cs typeface="Verdana"/>
                <a:sym typeface="Verdana"/>
              </a:rPr>
              <a:t>: mild, </a:t>
            </a:r>
            <a:r>
              <a:rPr b="1" lang="en" sz="1500">
                <a:solidFill>
                  <a:srgbClr val="000000"/>
                </a:solidFill>
                <a:latin typeface="Verdana"/>
                <a:ea typeface="Verdana"/>
                <a:cs typeface="Verdana"/>
                <a:sym typeface="Verdana"/>
              </a:rPr>
              <a:t>humidity</a:t>
            </a:r>
            <a:r>
              <a:rPr lang="en" sz="1500">
                <a:solidFill>
                  <a:srgbClr val="000000"/>
                </a:solidFill>
                <a:latin typeface="Verdana"/>
                <a:ea typeface="Verdana"/>
                <a:cs typeface="Verdana"/>
                <a:sym typeface="Verdana"/>
              </a:rPr>
              <a:t>: normal, </a:t>
            </a:r>
            <a:br>
              <a:rPr lang="en" sz="1500">
                <a:solidFill>
                  <a:srgbClr val="000000"/>
                </a:solidFill>
                <a:latin typeface="Verdana"/>
                <a:ea typeface="Verdana"/>
                <a:cs typeface="Verdana"/>
                <a:sym typeface="Verdana"/>
              </a:rPr>
            </a:br>
            <a:r>
              <a:rPr b="1" lang="en" sz="1500">
                <a:solidFill>
                  <a:srgbClr val="000000"/>
                </a:solidFill>
                <a:latin typeface="Verdana"/>
                <a:ea typeface="Verdana"/>
                <a:cs typeface="Verdana"/>
                <a:sym typeface="Verdana"/>
              </a:rPr>
              <a:t>windy</a:t>
            </a:r>
            <a:r>
              <a:rPr lang="en" sz="1500">
                <a:solidFill>
                  <a:srgbClr val="000000"/>
                </a:solidFill>
                <a:latin typeface="Verdana"/>
                <a:ea typeface="Verdana"/>
                <a:cs typeface="Verdana"/>
                <a:sym typeface="Verdana"/>
              </a:rPr>
              <a:t>: false}. We want to predict </a:t>
            </a:r>
            <a:r>
              <a:rPr b="1" lang="en" sz="1500">
                <a:solidFill>
                  <a:srgbClr val="000000"/>
                </a:solidFill>
                <a:latin typeface="Verdana"/>
                <a:ea typeface="Verdana"/>
                <a:cs typeface="Verdana"/>
                <a:sym typeface="Verdana"/>
              </a:rPr>
              <a:t>Play</a:t>
            </a:r>
            <a:r>
              <a:rPr lang="en" sz="1500">
                <a:solidFill>
                  <a:srgbClr val="000000"/>
                </a:solidFill>
                <a:latin typeface="Verdana"/>
                <a:ea typeface="Verdana"/>
                <a:cs typeface="Verdana"/>
                <a:sym typeface="Verdana"/>
              </a:rPr>
              <a:t> target with given features.</a:t>
            </a:r>
            <a:endParaRPr sz="1500">
              <a:solidFill>
                <a:srgbClr val="000000"/>
              </a:solidFill>
              <a:latin typeface="Verdana"/>
              <a:ea typeface="Verdana"/>
              <a:cs typeface="Verdana"/>
              <a:sym typeface="Verdana"/>
            </a:endParaRPr>
          </a:p>
          <a:p>
            <a:pPr indent="0" lvl="0" marL="457200" rtl="0" algn="l">
              <a:lnSpc>
                <a:spcPct val="100000"/>
              </a:lnSpc>
              <a:spcBef>
                <a:spcPts val="1200"/>
              </a:spcBef>
              <a:spcAft>
                <a:spcPts val="1200"/>
              </a:spcAft>
              <a:buNone/>
            </a:pPr>
            <a:r>
              <a:rPr lang="en" sz="1400">
                <a:solidFill>
                  <a:srgbClr val="980000"/>
                </a:solidFill>
                <a:latin typeface="Source Code Pro"/>
                <a:ea typeface="Source Code Pro"/>
                <a:cs typeface="Source Code Pro"/>
                <a:sym typeface="Source Code Pro"/>
              </a:rPr>
              <a:t>P(</a:t>
            </a:r>
            <a:r>
              <a:rPr b="1" lang="en" sz="1400">
                <a:solidFill>
                  <a:srgbClr val="980000"/>
                </a:solidFill>
                <a:latin typeface="Source Code Pro"/>
                <a:ea typeface="Source Code Pro"/>
                <a:cs typeface="Source Code Pro"/>
                <a:sym typeface="Source Code Pro"/>
              </a:rPr>
              <a:t>Play</a:t>
            </a:r>
            <a:r>
              <a:rPr lang="en" sz="1400">
                <a:solidFill>
                  <a:srgbClr val="980000"/>
                </a:solidFill>
                <a:latin typeface="Source Code Pro"/>
                <a:ea typeface="Source Code Pro"/>
                <a:cs typeface="Source Code Pro"/>
                <a:sym typeface="Source Code Pro"/>
              </a:rPr>
              <a:t>: </a:t>
            </a:r>
            <a:r>
              <a:rPr lang="en" sz="1400">
                <a:solidFill>
                  <a:srgbClr val="980000"/>
                </a:solidFill>
                <a:latin typeface="Source Code Pro"/>
                <a:ea typeface="Source Code Pro"/>
                <a:cs typeface="Source Code Pro"/>
                <a:sym typeface="Source Code Pro"/>
              </a:rPr>
              <a:t>"yes"</a:t>
            </a:r>
            <a:r>
              <a:rPr lang="en" sz="1400">
                <a:solidFill>
                  <a:srgbClr val="980000"/>
                </a:solidFill>
                <a:latin typeface="Source Code Pro"/>
                <a:ea typeface="Source Code Pro"/>
                <a:cs typeface="Source Code Pro"/>
                <a:sym typeface="Source Code Pro"/>
              </a:rPr>
              <a:t>) = 9/14</a:t>
            </a:r>
            <a:br>
              <a:rPr lang="en" sz="1400">
                <a:solidFill>
                  <a:srgbClr val="980000"/>
                </a:solidFill>
                <a:latin typeface="Source Code Pro"/>
                <a:ea typeface="Source Code Pro"/>
                <a:cs typeface="Source Code Pro"/>
                <a:sym typeface="Source Code Pro"/>
              </a:rPr>
            </a:br>
            <a:r>
              <a:rPr lang="en" sz="1400">
                <a:solidFill>
                  <a:srgbClr val="980000"/>
                </a:solidFill>
                <a:latin typeface="Source Code Pro"/>
                <a:ea typeface="Source Code Pro"/>
                <a:cs typeface="Source Code Pro"/>
                <a:sym typeface="Source Code Pro"/>
              </a:rPr>
              <a:t>P(</a:t>
            </a:r>
            <a:r>
              <a:rPr b="1" lang="en" sz="1400">
                <a:solidFill>
                  <a:srgbClr val="980000"/>
                </a:solidFill>
                <a:latin typeface="Source Code Pro"/>
                <a:ea typeface="Source Code Pro"/>
                <a:cs typeface="Source Code Pro"/>
                <a:sym typeface="Source Code Pro"/>
              </a:rPr>
              <a:t>outlook</a:t>
            </a:r>
            <a:r>
              <a:rPr lang="en" sz="1400">
                <a:solidFill>
                  <a:srgbClr val="980000"/>
                </a:solidFill>
                <a:latin typeface="Source Code Pro"/>
                <a:ea typeface="Source Code Pro"/>
                <a:cs typeface="Source Code Pro"/>
                <a:sym typeface="Source Code Pro"/>
              </a:rPr>
              <a:t>: "sunny"</a:t>
            </a:r>
            <a:r>
              <a:rPr lang="en" sz="1400">
                <a:solidFill>
                  <a:srgbClr val="980000"/>
                </a:solidFill>
                <a:latin typeface="Source Code Pro"/>
                <a:ea typeface="Source Code Pro"/>
                <a:cs typeface="Source Code Pro"/>
                <a:sym typeface="Source Code Pro"/>
              </a:rPr>
              <a:t>| </a:t>
            </a:r>
            <a:r>
              <a:rPr b="1" lang="en" sz="1400">
                <a:solidFill>
                  <a:srgbClr val="980000"/>
                </a:solidFill>
                <a:latin typeface="Source Code Pro"/>
                <a:ea typeface="Source Code Pro"/>
                <a:cs typeface="Source Code Pro"/>
                <a:sym typeface="Source Code Pro"/>
              </a:rPr>
              <a:t>Play</a:t>
            </a:r>
            <a:r>
              <a:rPr lang="en" sz="1400">
                <a:solidFill>
                  <a:srgbClr val="980000"/>
                </a:solidFill>
                <a:latin typeface="Source Code Pro"/>
                <a:ea typeface="Source Code Pro"/>
                <a:cs typeface="Source Code Pro"/>
                <a:sym typeface="Source Code Pro"/>
              </a:rPr>
              <a:t>: </a:t>
            </a:r>
            <a:r>
              <a:rPr lang="en" sz="1400">
                <a:solidFill>
                  <a:srgbClr val="980000"/>
                </a:solidFill>
                <a:latin typeface="Source Code Pro"/>
                <a:ea typeface="Source Code Pro"/>
                <a:cs typeface="Source Code Pro"/>
                <a:sym typeface="Source Code Pro"/>
              </a:rPr>
              <a:t>"yes") = 2/9</a:t>
            </a:r>
            <a:br>
              <a:rPr lang="en" sz="1400">
                <a:solidFill>
                  <a:srgbClr val="980000"/>
                </a:solidFill>
                <a:latin typeface="Source Code Pro"/>
                <a:ea typeface="Source Code Pro"/>
                <a:cs typeface="Source Code Pro"/>
                <a:sym typeface="Source Code Pro"/>
              </a:rPr>
            </a:br>
            <a:r>
              <a:rPr lang="en" sz="1400">
                <a:solidFill>
                  <a:srgbClr val="980000"/>
                </a:solidFill>
                <a:latin typeface="Source Code Pro"/>
                <a:ea typeface="Source Code Pro"/>
                <a:cs typeface="Source Code Pro"/>
                <a:sym typeface="Source Code Pro"/>
              </a:rPr>
              <a:t>P(</a:t>
            </a:r>
            <a:r>
              <a:rPr b="1" lang="en" sz="1400">
                <a:solidFill>
                  <a:srgbClr val="980000"/>
                </a:solidFill>
                <a:latin typeface="Source Code Pro"/>
                <a:ea typeface="Source Code Pro"/>
                <a:cs typeface="Source Code Pro"/>
                <a:sym typeface="Source Code Pro"/>
              </a:rPr>
              <a:t>temperature: </a:t>
            </a:r>
            <a:r>
              <a:rPr lang="en" sz="1400">
                <a:solidFill>
                  <a:srgbClr val="980000"/>
                </a:solidFill>
                <a:latin typeface="Source Code Pro"/>
                <a:ea typeface="Source Code Pro"/>
                <a:cs typeface="Source Code Pro"/>
                <a:sym typeface="Source Code Pro"/>
              </a:rPr>
              <a:t>"mild" | </a:t>
            </a:r>
            <a:r>
              <a:rPr b="1" lang="en" sz="1400">
                <a:solidFill>
                  <a:srgbClr val="980000"/>
                </a:solidFill>
                <a:latin typeface="Source Code Pro"/>
                <a:ea typeface="Source Code Pro"/>
                <a:cs typeface="Source Code Pro"/>
                <a:sym typeface="Source Code Pro"/>
              </a:rPr>
              <a:t>Play</a:t>
            </a:r>
            <a:r>
              <a:rPr lang="en" sz="1400">
                <a:solidFill>
                  <a:srgbClr val="980000"/>
                </a:solidFill>
                <a:latin typeface="Source Code Pro"/>
                <a:ea typeface="Source Code Pro"/>
                <a:cs typeface="Source Code Pro"/>
                <a:sym typeface="Source Code Pro"/>
              </a:rPr>
              <a:t>: "yes") = 4/9</a:t>
            </a:r>
            <a:br>
              <a:rPr lang="en" sz="1400">
                <a:solidFill>
                  <a:srgbClr val="980000"/>
                </a:solidFill>
                <a:latin typeface="Source Code Pro"/>
                <a:ea typeface="Source Code Pro"/>
                <a:cs typeface="Source Code Pro"/>
                <a:sym typeface="Source Code Pro"/>
              </a:rPr>
            </a:br>
            <a:r>
              <a:rPr lang="en" sz="1400">
                <a:solidFill>
                  <a:srgbClr val="980000"/>
                </a:solidFill>
                <a:latin typeface="Source Code Pro"/>
                <a:ea typeface="Source Code Pro"/>
                <a:cs typeface="Source Code Pro"/>
                <a:sym typeface="Source Code Pro"/>
              </a:rPr>
              <a:t>P(</a:t>
            </a:r>
            <a:r>
              <a:rPr b="1" lang="en" sz="1400">
                <a:solidFill>
                  <a:srgbClr val="980000"/>
                </a:solidFill>
                <a:latin typeface="Source Code Pro"/>
                <a:ea typeface="Source Code Pro"/>
                <a:cs typeface="Source Code Pro"/>
                <a:sym typeface="Source Code Pro"/>
              </a:rPr>
              <a:t>humidity</a:t>
            </a:r>
            <a:r>
              <a:rPr lang="en" sz="1400">
                <a:solidFill>
                  <a:srgbClr val="980000"/>
                </a:solidFill>
                <a:latin typeface="Source Code Pro"/>
                <a:ea typeface="Source Code Pro"/>
                <a:cs typeface="Source Code Pro"/>
                <a:sym typeface="Source Code Pro"/>
              </a:rPr>
              <a:t>: "normal" | </a:t>
            </a:r>
            <a:r>
              <a:rPr b="1" lang="en" sz="1400">
                <a:solidFill>
                  <a:srgbClr val="980000"/>
                </a:solidFill>
                <a:latin typeface="Source Code Pro"/>
                <a:ea typeface="Source Code Pro"/>
                <a:cs typeface="Source Code Pro"/>
                <a:sym typeface="Source Code Pro"/>
              </a:rPr>
              <a:t>Play</a:t>
            </a:r>
            <a:r>
              <a:rPr lang="en" sz="1400">
                <a:solidFill>
                  <a:srgbClr val="980000"/>
                </a:solidFill>
                <a:latin typeface="Source Code Pro"/>
                <a:ea typeface="Source Code Pro"/>
                <a:cs typeface="Source Code Pro"/>
                <a:sym typeface="Source Code Pro"/>
              </a:rPr>
              <a:t>: "yes") = 6/9</a:t>
            </a:r>
            <a:br>
              <a:rPr lang="en" sz="1400">
                <a:solidFill>
                  <a:srgbClr val="980000"/>
                </a:solidFill>
                <a:latin typeface="Source Code Pro"/>
                <a:ea typeface="Source Code Pro"/>
                <a:cs typeface="Source Code Pro"/>
                <a:sym typeface="Source Code Pro"/>
              </a:rPr>
            </a:br>
            <a:r>
              <a:rPr lang="en" sz="1400">
                <a:solidFill>
                  <a:srgbClr val="980000"/>
                </a:solidFill>
                <a:latin typeface="Source Code Pro"/>
                <a:ea typeface="Source Code Pro"/>
                <a:cs typeface="Source Code Pro"/>
                <a:sym typeface="Source Code Pro"/>
              </a:rPr>
              <a:t>P(</a:t>
            </a:r>
            <a:r>
              <a:rPr b="1" lang="en" sz="1400">
                <a:solidFill>
                  <a:srgbClr val="980000"/>
                </a:solidFill>
                <a:latin typeface="Source Code Pro"/>
                <a:ea typeface="Source Code Pro"/>
                <a:cs typeface="Source Code Pro"/>
                <a:sym typeface="Source Code Pro"/>
              </a:rPr>
              <a:t>windy</a:t>
            </a:r>
            <a:r>
              <a:rPr lang="en" sz="1400">
                <a:solidFill>
                  <a:srgbClr val="980000"/>
                </a:solidFill>
                <a:latin typeface="Source Code Pro"/>
                <a:ea typeface="Source Code Pro"/>
                <a:cs typeface="Source Code Pro"/>
                <a:sym typeface="Source Code Pro"/>
              </a:rPr>
              <a:t>: "false" | </a:t>
            </a:r>
            <a:r>
              <a:rPr b="1" lang="en" sz="1400">
                <a:solidFill>
                  <a:srgbClr val="980000"/>
                </a:solidFill>
                <a:latin typeface="Source Code Pro"/>
                <a:ea typeface="Source Code Pro"/>
                <a:cs typeface="Source Code Pro"/>
                <a:sym typeface="Source Code Pro"/>
              </a:rPr>
              <a:t>Play</a:t>
            </a:r>
            <a:r>
              <a:rPr lang="en" sz="1400">
                <a:solidFill>
                  <a:srgbClr val="980000"/>
                </a:solidFill>
                <a:latin typeface="Source Code Pro"/>
                <a:ea typeface="Source Code Pro"/>
                <a:cs typeface="Source Code Pro"/>
                <a:sym typeface="Source Code Pro"/>
              </a:rPr>
              <a:t>: "yes") = 6/9</a:t>
            </a:r>
            <a:br>
              <a:rPr lang="en" sz="1400">
                <a:solidFill>
                  <a:srgbClr val="980000"/>
                </a:solidFill>
                <a:latin typeface="Source Code Pro"/>
                <a:ea typeface="Source Code Pro"/>
                <a:cs typeface="Source Code Pro"/>
                <a:sym typeface="Source Code Pro"/>
              </a:rPr>
            </a:br>
            <a:r>
              <a:rPr lang="en" sz="1400">
                <a:solidFill>
                  <a:srgbClr val="980000"/>
                </a:solidFill>
                <a:latin typeface="Source Code Pro"/>
                <a:ea typeface="Source Code Pro"/>
                <a:cs typeface="Source Code Pro"/>
                <a:sym typeface="Source Code Pro"/>
              </a:rPr>
              <a:t>P(</a:t>
            </a:r>
            <a:r>
              <a:rPr b="1" lang="en" sz="1400">
                <a:solidFill>
                  <a:srgbClr val="980000"/>
                </a:solidFill>
                <a:latin typeface="Source Code Pro"/>
                <a:ea typeface="Source Code Pro"/>
                <a:cs typeface="Source Code Pro"/>
                <a:sym typeface="Source Code Pro"/>
              </a:rPr>
              <a:t>Play</a:t>
            </a:r>
            <a:r>
              <a:rPr lang="en" sz="1400">
                <a:solidFill>
                  <a:srgbClr val="980000"/>
                </a:solidFill>
                <a:latin typeface="Source Code Pro"/>
                <a:ea typeface="Source Code Pro"/>
                <a:cs typeface="Source Code Pro"/>
                <a:sym typeface="Source Code Pro"/>
              </a:rPr>
              <a:t>: "yes" | X) = (9/14) * (2/9) * (4/9) * (6/9) * (6/9) = 0.0282</a:t>
            </a:r>
            <a:br>
              <a:rPr lang="en" sz="1400">
                <a:solidFill>
                  <a:srgbClr val="980000"/>
                </a:solidFill>
                <a:latin typeface="Source Code Pro"/>
                <a:ea typeface="Source Code Pro"/>
                <a:cs typeface="Source Code Pro"/>
                <a:sym typeface="Source Code Pro"/>
              </a:rPr>
            </a:br>
            <a:br>
              <a:rPr lang="en" sz="1400">
                <a:solidFill>
                  <a:srgbClr val="980000"/>
                </a:solidFill>
                <a:latin typeface="Source Code Pro"/>
                <a:ea typeface="Source Code Pro"/>
                <a:cs typeface="Source Code Pro"/>
                <a:sym typeface="Source Code Pro"/>
              </a:rPr>
            </a:br>
            <a:r>
              <a:rPr lang="en" sz="1400">
                <a:solidFill>
                  <a:srgbClr val="0000FF"/>
                </a:solidFill>
                <a:latin typeface="Source Code Pro"/>
                <a:ea typeface="Source Code Pro"/>
                <a:cs typeface="Source Code Pro"/>
                <a:sym typeface="Source Code Pro"/>
              </a:rPr>
              <a:t>P(</a:t>
            </a:r>
            <a:r>
              <a:rPr b="1" lang="en" sz="1400">
                <a:solidFill>
                  <a:srgbClr val="0000FF"/>
                </a:solidFill>
                <a:latin typeface="Source Code Pro"/>
                <a:ea typeface="Source Code Pro"/>
                <a:cs typeface="Source Code Pro"/>
                <a:sym typeface="Source Code Pro"/>
              </a:rPr>
              <a:t>Play</a:t>
            </a:r>
            <a:r>
              <a:rPr lang="en" sz="1400">
                <a:solidFill>
                  <a:srgbClr val="0000FF"/>
                </a:solidFill>
                <a:latin typeface="Source Code Pro"/>
                <a:ea typeface="Source Code Pro"/>
                <a:cs typeface="Source Code Pro"/>
                <a:sym typeface="Source Code Pro"/>
              </a:rPr>
              <a:t>: "no") = 5/14</a:t>
            </a:r>
            <a:br>
              <a:rPr lang="en" sz="1400">
                <a:solidFill>
                  <a:srgbClr val="0000FF"/>
                </a:solidFill>
                <a:latin typeface="Source Code Pro"/>
                <a:ea typeface="Source Code Pro"/>
                <a:cs typeface="Source Code Pro"/>
                <a:sym typeface="Source Code Pro"/>
              </a:rPr>
            </a:br>
            <a:r>
              <a:rPr lang="en" sz="1400">
                <a:solidFill>
                  <a:srgbClr val="0000FF"/>
                </a:solidFill>
                <a:latin typeface="Source Code Pro"/>
                <a:ea typeface="Source Code Pro"/>
                <a:cs typeface="Source Code Pro"/>
                <a:sym typeface="Source Code Pro"/>
              </a:rPr>
              <a:t>P(</a:t>
            </a:r>
            <a:r>
              <a:rPr b="1" lang="en" sz="1400">
                <a:solidFill>
                  <a:srgbClr val="0000FF"/>
                </a:solidFill>
                <a:latin typeface="Source Code Pro"/>
                <a:ea typeface="Source Code Pro"/>
                <a:cs typeface="Source Code Pro"/>
                <a:sym typeface="Source Code Pro"/>
              </a:rPr>
              <a:t>outlook</a:t>
            </a:r>
            <a:r>
              <a:rPr lang="en" sz="1400">
                <a:solidFill>
                  <a:srgbClr val="0000FF"/>
                </a:solidFill>
                <a:latin typeface="Source Code Pro"/>
                <a:ea typeface="Source Code Pro"/>
                <a:cs typeface="Source Code Pro"/>
                <a:sym typeface="Source Code Pro"/>
              </a:rPr>
              <a:t>: "sunny"| </a:t>
            </a:r>
            <a:r>
              <a:rPr b="1" lang="en" sz="1400">
                <a:solidFill>
                  <a:srgbClr val="0000FF"/>
                </a:solidFill>
                <a:latin typeface="Source Code Pro"/>
                <a:ea typeface="Source Code Pro"/>
                <a:cs typeface="Source Code Pro"/>
                <a:sym typeface="Source Code Pro"/>
              </a:rPr>
              <a:t>Play</a:t>
            </a:r>
            <a:r>
              <a:rPr lang="en" sz="1400">
                <a:solidFill>
                  <a:srgbClr val="0000FF"/>
                </a:solidFill>
                <a:latin typeface="Source Code Pro"/>
                <a:ea typeface="Source Code Pro"/>
                <a:cs typeface="Source Code Pro"/>
                <a:sym typeface="Source Code Pro"/>
              </a:rPr>
              <a:t>: "no") = 3/5</a:t>
            </a:r>
            <a:br>
              <a:rPr lang="en" sz="1400">
                <a:solidFill>
                  <a:srgbClr val="0000FF"/>
                </a:solidFill>
                <a:latin typeface="Source Code Pro"/>
                <a:ea typeface="Source Code Pro"/>
                <a:cs typeface="Source Code Pro"/>
                <a:sym typeface="Source Code Pro"/>
              </a:rPr>
            </a:br>
            <a:r>
              <a:rPr lang="en" sz="1400">
                <a:solidFill>
                  <a:srgbClr val="0000FF"/>
                </a:solidFill>
                <a:latin typeface="Source Code Pro"/>
                <a:ea typeface="Source Code Pro"/>
                <a:cs typeface="Source Code Pro"/>
                <a:sym typeface="Source Code Pro"/>
              </a:rPr>
              <a:t>P(</a:t>
            </a:r>
            <a:r>
              <a:rPr b="1" lang="en" sz="1400">
                <a:solidFill>
                  <a:srgbClr val="0000FF"/>
                </a:solidFill>
                <a:latin typeface="Source Code Pro"/>
                <a:ea typeface="Source Code Pro"/>
                <a:cs typeface="Source Code Pro"/>
                <a:sym typeface="Source Code Pro"/>
              </a:rPr>
              <a:t>temperature: </a:t>
            </a:r>
            <a:r>
              <a:rPr lang="en" sz="1400">
                <a:solidFill>
                  <a:srgbClr val="0000FF"/>
                </a:solidFill>
                <a:latin typeface="Source Code Pro"/>
                <a:ea typeface="Source Code Pro"/>
                <a:cs typeface="Source Code Pro"/>
                <a:sym typeface="Source Code Pro"/>
              </a:rPr>
              <a:t>"mild" | </a:t>
            </a:r>
            <a:r>
              <a:rPr b="1" lang="en" sz="1400">
                <a:solidFill>
                  <a:srgbClr val="0000FF"/>
                </a:solidFill>
                <a:latin typeface="Source Code Pro"/>
                <a:ea typeface="Source Code Pro"/>
                <a:cs typeface="Source Code Pro"/>
                <a:sym typeface="Source Code Pro"/>
              </a:rPr>
              <a:t>Play</a:t>
            </a:r>
            <a:r>
              <a:rPr lang="en" sz="1400">
                <a:solidFill>
                  <a:srgbClr val="0000FF"/>
                </a:solidFill>
                <a:latin typeface="Source Code Pro"/>
                <a:ea typeface="Source Code Pro"/>
                <a:cs typeface="Source Code Pro"/>
                <a:sym typeface="Source Code Pro"/>
              </a:rPr>
              <a:t>: "no") = 2/5</a:t>
            </a:r>
            <a:br>
              <a:rPr lang="en" sz="1400">
                <a:solidFill>
                  <a:srgbClr val="0000FF"/>
                </a:solidFill>
                <a:latin typeface="Source Code Pro"/>
                <a:ea typeface="Source Code Pro"/>
                <a:cs typeface="Source Code Pro"/>
                <a:sym typeface="Source Code Pro"/>
              </a:rPr>
            </a:br>
            <a:r>
              <a:rPr lang="en" sz="1400">
                <a:solidFill>
                  <a:srgbClr val="0000FF"/>
                </a:solidFill>
                <a:latin typeface="Source Code Pro"/>
                <a:ea typeface="Source Code Pro"/>
                <a:cs typeface="Source Code Pro"/>
                <a:sym typeface="Source Code Pro"/>
              </a:rPr>
              <a:t>P(</a:t>
            </a:r>
            <a:r>
              <a:rPr b="1" lang="en" sz="1400">
                <a:solidFill>
                  <a:srgbClr val="0000FF"/>
                </a:solidFill>
                <a:latin typeface="Source Code Pro"/>
                <a:ea typeface="Source Code Pro"/>
                <a:cs typeface="Source Code Pro"/>
                <a:sym typeface="Source Code Pro"/>
              </a:rPr>
              <a:t>humidity</a:t>
            </a:r>
            <a:r>
              <a:rPr lang="en" sz="1400">
                <a:solidFill>
                  <a:srgbClr val="0000FF"/>
                </a:solidFill>
                <a:latin typeface="Source Code Pro"/>
                <a:ea typeface="Source Code Pro"/>
                <a:cs typeface="Source Code Pro"/>
                <a:sym typeface="Source Code Pro"/>
              </a:rPr>
              <a:t>: "normal" | </a:t>
            </a:r>
            <a:r>
              <a:rPr b="1" lang="en" sz="1400">
                <a:solidFill>
                  <a:srgbClr val="0000FF"/>
                </a:solidFill>
                <a:latin typeface="Source Code Pro"/>
                <a:ea typeface="Source Code Pro"/>
                <a:cs typeface="Source Code Pro"/>
                <a:sym typeface="Source Code Pro"/>
              </a:rPr>
              <a:t>Play</a:t>
            </a:r>
            <a:r>
              <a:rPr lang="en" sz="1400">
                <a:solidFill>
                  <a:srgbClr val="0000FF"/>
                </a:solidFill>
                <a:latin typeface="Source Code Pro"/>
                <a:ea typeface="Source Code Pro"/>
                <a:cs typeface="Source Code Pro"/>
                <a:sym typeface="Source Code Pro"/>
              </a:rPr>
              <a:t>: "no") = 1/5</a:t>
            </a:r>
            <a:br>
              <a:rPr lang="en" sz="1400">
                <a:solidFill>
                  <a:srgbClr val="0000FF"/>
                </a:solidFill>
                <a:latin typeface="Source Code Pro"/>
                <a:ea typeface="Source Code Pro"/>
                <a:cs typeface="Source Code Pro"/>
                <a:sym typeface="Source Code Pro"/>
              </a:rPr>
            </a:br>
            <a:r>
              <a:rPr lang="en" sz="1400">
                <a:solidFill>
                  <a:srgbClr val="0000FF"/>
                </a:solidFill>
                <a:latin typeface="Source Code Pro"/>
                <a:ea typeface="Source Code Pro"/>
                <a:cs typeface="Source Code Pro"/>
                <a:sym typeface="Source Code Pro"/>
              </a:rPr>
              <a:t>P(</a:t>
            </a:r>
            <a:r>
              <a:rPr b="1" lang="en" sz="1400">
                <a:solidFill>
                  <a:srgbClr val="0000FF"/>
                </a:solidFill>
                <a:latin typeface="Source Code Pro"/>
                <a:ea typeface="Source Code Pro"/>
                <a:cs typeface="Source Code Pro"/>
                <a:sym typeface="Source Code Pro"/>
              </a:rPr>
              <a:t>windy</a:t>
            </a:r>
            <a:r>
              <a:rPr lang="en" sz="1400">
                <a:solidFill>
                  <a:srgbClr val="0000FF"/>
                </a:solidFill>
                <a:latin typeface="Source Code Pro"/>
                <a:ea typeface="Source Code Pro"/>
                <a:cs typeface="Source Code Pro"/>
                <a:sym typeface="Source Code Pro"/>
              </a:rPr>
              <a:t>: "false" | </a:t>
            </a:r>
            <a:r>
              <a:rPr b="1" lang="en" sz="1400">
                <a:solidFill>
                  <a:srgbClr val="0000FF"/>
                </a:solidFill>
                <a:latin typeface="Source Code Pro"/>
                <a:ea typeface="Source Code Pro"/>
                <a:cs typeface="Source Code Pro"/>
                <a:sym typeface="Source Code Pro"/>
              </a:rPr>
              <a:t>Play</a:t>
            </a:r>
            <a:r>
              <a:rPr lang="en" sz="1400">
                <a:solidFill>
                  <a:srgbClr val="0000FF"/>
                </a:solidFill>
                <a:latin typeface="Source Code Pro"/>
                <a:ea typeface="Source Code Pro"/>
                <a:cs typeface="Source Code Pro"/>
                <a:sym typeface="Source Code Pro"/>
              </a:rPr>
              <a:t>: "no") = 2/5</a:t>
            </a:r>
            <a:br>
              <a:rPr lang="en" sz="1400">
                <a:solidFill>
                  <a:srgbClr val="0000FF"/>
                </a:solidFill>
                <a:latin typeface="Source Code Pro"/>
                <a:ea typeface="Source Code Pro"/>
                <a:cs typeface="Source Code Pro"/>
                <a:sym typeface="Source Code Pro"/>
              </a:rPr>
            </a:br>
            <a:r>
              <a:rPr lang="en" sz="1400">
                <a:solidFill>
                  <a:srgbClr val="0000FF"/>
                </a:solidFill>
                <a:latin typeface="Source Code Pro"/>
                <a:ea typeface="Source Code Pro"/>
                <a:cs typeface="Source Code Pro"/>
                <a:sym typeface="Source Code Pro"/>
              </a:rPr>
              <a:t>P(</a:t>
            </a:r>
            <a:r>
              <a:rPr b="1" lang="en" sz="1400">
                <a:solidFill>
                  <a:srgbClr val="0000FF"/>
                </a:solidFill>
                <a:latin typeface="Source Code Pro"/>
                <a:ea typeface="Source Code Pro"/>
                <a:cs typeface="Source Code Pro"/>
                <a:sym typeface="Source Code Pro"/>
              </a:rPr>
              <a:t>Play</a:t>
            </a:r>
            <a:r>
              <a:rPr lang="en" sz="1400">
                <a:solidFill>
                  <a:srgbClr val="0000FF"/>
                </a:solidFill>
                <a:latin typeface="Source Code Pro"/>
                <a:ea typeface="Source Code Pro"/>
                <a:cs typeface="Source Code Pro"/>
                <a:sym typeface="Source Code Pro"/>
              </a:rPr>
              <a:t>: "no" | X) = (5/14) * (3/5) * (2/5) * (1/5) * (2/5) = 0.0068</a:t>
            </a:r>
            <a:br>
              <a:rPr lang="en" sz="1400">
                <a:solidFill>
                  <a:srgbClr val="0000FF"/>
                </a:solidFill>
                <a:latin typeface="Source Code Pro"/>
                <a:ea typeface="Source Code Pro"/>
                <a:cs typeface="Source Code Pro"/>
                <a:sym typeface="Source Code Pro"/>
              </a:rPr>
            </a:br>
            <a:br>
              <a:rPr lang="en" sz="1400">
                <a:solidFill>
                  <a:srgbClr val="0000FF"/>
                </a:solidFill>
                <a:latin typeface="Source Code Pro"/>
                <a:ea typeface="Source Code Pro"/>
                <a:cs typeface="Source Code Pro"/>
                <a:sym typeface="Source Code Pro"/>
              </a:rPr>
            </a:br>
            <a:r>
              <a:rPr lang="en" sz="1400">
                <a:solidFill>
                  <a:srgbClr val="000000"/>
                </a:solidFill>
                <a:latin typeface="Verdana"/>
                <a:ea typeface="Verdana"/>
                <a:cs typeface="Verdana"/>
                <a:sym typeface="Verdana"/>
              </a:rPr>
              <a:t>Since </a:t>
            </a:r>
            <a:r>
              <a:rPr lang="en" sz="1400">
                <a:solidFill>
                  <a:srgbClr val="980000"/>
                </a:solidFill>
                <a:latin typeface="Source Code Pro"/>
                <a:ea typeface="Source Code Pro"/>
                <a:cs typeface="Source Code Pro"/>
                <a:sym typeface="Source Code Pro"/>
              </a:rPr>
              <a:t>P(</a:t>
            </a:r>
            <a:r>
              <a:rPr b="1" lang="en" sz="1400">
                <a:solidFill>
                  <a:srgbClr val="980000"/>
                </a:solidFill>
                <a:latin typeface="Source Code Pro"/>
                <a:ea typeface="Source Code Pro"/>
                <a:cs typeface="Source Code Pro"/>
                <a:sym typeface="Source Code Pro"/>
              </a:rPr>
              <a:t>Play</a:t>
            </a:r>
            <a:r>
              <a:rPr lang="en" sz="1400">
                <a:solidFill>
                  <a:srgbClr val="980000"/>
                </a:solidFill>
                <a:latin typeface="Source Code Pro"/>
                <a:ea typeface="Source Code Pro"/>
                <a:cs typeface="Source Code Pro"/>
                <a:sym typeface="Source Code Pro"/>
              </a:rPr>
              <a:t>: "yes" | X) </a:t>
            </a:r>
            <a:r>
              <a:rPr lang="en" sz="1400">
                <a:solidFill>
                  <a:srgbClr val="000000"/>
                </a:solidFill>
                <a:latin typeface="Verdana"/>
                <a:ea typeface="Verdana"/>
                <a:cs typeface="Verdana"/>
                <a:sym typeface="Verdana"/>
              </a:rPr>
              <a:t>&gt; </a:t>
            </a:r>
            <a:r>
              <a:rPr lang="en" sz="1400">
                <a:solidFill>
                  <a:srgbClr val="0000FF"/>
                </a:solidFill>
                <a:latin typeface="Source Code Pro"/>
                <a:ea typeface="Source Code Pro"/>
                <a:cs typeface="Source Code Pro"/>
                <a:sym typeface="Source Code Pro"/>
              </a:rPr>
              <a:t>P(</a:t>
            </a:r>
            <a:r>
              <a:rPr b="1" lang="en" sz="1400">
                <a:solidFill>
                  <a:srgbClr val="0000FF"/>
                </a:solidFill>
                <a:latin typeface="Source Code Pro"/>
                <a:ea typeface="Source Code Pro"/>
                <a:cs typeface="Source Code Pro"/>
                <a:sym typeface="Source Code Pro"/>
              </a:rPr>
              <a:t>Play</a:t>
            </a:r>
            <a:r>
              <a:rPr lang="en" sz="1400">
                <a:solidFill>
                  <a:srgbClr val="0000FF"/>
                </a:solidFill>
                <a:latin typeface="Source Code Pro"/>
                <a:ea typeface="Source Code Pro"/>
                <a:cs typeface="Source Code Pro"/>
                <a:sym typeface="Source Code Pro"/>
              </a:rPr>
              <a:t>: "no" | X)</a:t>
            </a:r>
            <a:r>
              <a:rPr lang="en" sz="1400">
                <a:solidFill>
                  <a:srgbClr val="000000"/>
                </a:solidFill>
                <a:latin typeface="Verdana"/>
                <a:ea typeface="Verdana"/>
                <a:cs typeface="Verdana"/>
                <a:sym typeface="Verdana"/>
              </a:rPr>
              <a:t>, we will predict the target as "</a:t>
            </a:r>
            <a:r>
              <a:rPr b="1" lang="en" sz="1400">
                <a:solidFill>
                  <a:srgbClr val="000000"/>
                </a:solidFill>
                <a:latin typeface="Verdana"/>
                <a:ea typeface="Verdana"/>
                <a:cs typeface="Verdana"/>
                <a:sym typeface="Verdana"/>
              </a:rPr>
              <a:t>yes</a:t>
            </a:r>
            <a:r>
              <a:rPr lang="en" sz="1400">
                <a:solidFill>
                  <a:srgbClr val="000000"/>
                </a:solidFill>
                <a:latin typeface="Verdana"/>
                <a:ea typeface="Verdana"/>
                <a:cs typeface="Verdana"/>
                <a:sym typeface="Verdana"/>
              </a:rPr>
              <a:t>".</a:t>
            </a:r>
            <a:endParaRPr sz="1500">
              <a:solidFill>
                <a:srgbClr val="000000"/>
              </a:solidFill>
              <a:latin typeface="Verdana"/>
              <a:ea typeface="Verdana"/>
              <a:cs typeface="Verdana"/>
              <a:sym typeface="Verdana"/>
            </a:endParaRPr>
          </a:p>
        </p:txBody>
      </p:sp>
      <p:sp>
        <p:nvSpPr>
          <p:cNvPr id="96" name="Google Shape;96;p17"/>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How Does It Work?</a:t>
            </a:r>
            <a:endParaRPr>
              <a:solidFill>
                <a:srgbClr val="980000"/>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idx="1" type="body"/>
          </p:nvPr>
        </p:nvSpPr>
        <p:spPr>
          <a:xfrm>
            <a:off x="311700" y="763625"/>
            <a:ext cx="8655900" cy="42159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It’s easy to understand the concept.</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The </a:t>
            </a:r>
            <a:r>
              <a:rPr b="1" lang="en" sz="1500">
                <a:solidFill>
                  <a:srgbClr val="0000FF"/>
                </a:solidFill>
                <a:latin typeface="Verdana"/>
                <a:ea typeface="Verdana"/>
                <a:cs typeface="Verdana"/>
                <a:sym typeface="Verdana"/>
              </a:rPr>
              <a:t>training is so fast</a:t>
            </a:r>
            <a:r>
              <a:rPr lang="en" sz="1500">
                <a:solidFill>
                  <a:srgbClr val="000000"/>
                </a:solidFill>
                <a:latin typeface="Verdana"/>
                <a:ea typeface="Verdana"/>
                <a:cs typeface="Verdana"/>
                <a:sym typeface="Verdana"/>
              </a:rPr>
              <a:t>. When you have limited time for huge datasets, you may directly use it as a baseline.</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u="sng">
                <a:solidFill>
                  <a:srgbClr val="000000"/>
                </a:solidFill>
                <a:latin typeface="Verdana"/>
                <a:ea typeface="Verdana"/>
                <a:cs typeface="Verdana"/>
                <a:sym typeface="Verdana"/>
              </a:rPr>
              <a:t>When you satisfy the independence</a:t>
            </a:r>
            <a:r>
              <a:rPr lang="en" sz="1500">
                <a:solidFill>
                  <a:srgbClr val="000000"/>
                </a:solidFill>
                <a:latin typeface="Verdana"/>
                <a:ea typeface="Verdana"/>
                <a:cs typeface="Verdana"/>
                <a:sym typeface="Verdana"/>
              </a:rPr>
              <a:t>, then it generally </a:t>
            </a:r>
            <a:r>
              <a:rPr b="1" lang="en" sz="1500">
                <a:solidFill>
                  <a:srgbClr val="0000FF"/>
                </a:solidFill>
                <a:latin typeface="Verdana"/>
                <a:ea typeface="Verdana"/>
                <a:cs typeface="Verdana"/>
                <a:sym typeface="Verdana"/>
              </a:rPr>
              <a:t>performs better than logistic regression </a:t>
            </a:r>
            <a:r>
              <a:rPr lang="en" sz="1500">
                <a:solidFill>
                  <a:srgbClr val="0000FF"/>
                </a:solidFill>
                <a:latin typeface="Verdana"/>
                <a:ea typeface="Verdana"/>
                <a:cs typeface="Verdana"/>
                <a:sym typeface="Verdana"/>
              </a:rPr>
              <a:t>(especially for the multiclass prediction)</a:t>
            </a:r>
            <a:r>
              <a:rPr lang="en" sz="1500">
                <a:solidFill>
                  <a:srgbClr val="000000"/>
                </a:solidFill>
                <a:latin typeface="Verdana"/>
                <a:ea typeface="Verdana"/>
                <a:cs typeface="Verdana"/>
                <a:sym typeface="Verdana"/>
              </a:rPr>
              <a:t>, and it </a:t>
            </a:r>
            <a:r>
              <a:rPr b="1" lang="en" sz="1500">
                <a:solidFill>
                  <a:srgbClr val="0000FF"/>
                </a:solidFill>
                <a:latin typeface="Verdana"/>
                <a:ea typeface="Verdana"/>
                <a:cs typeface="Verdana"/>
                <a:sym typeface="Verdana"/>
              </a:rPr>
              <a:t>needs less amount of training data</a:t>
            </a:r>
            <a:r>
              <a:rPr lang="en" sz="1500">
                <a:solidFill>
                  <a:srgbClr val="000000"/>
                </a:solidFill>
                <a:latin typeface="Verdana"/>
                <a:ea typeface="Verdana"/>
                <a:cs typeface="Verdana"/>
                <a:sym typeface="Verdana"/>
              </a:rPr>
              <a:t>.</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It works well with categorical input variables. For numerical variable, normal distribution is assumed (bell curve, which is a strong assumption).</a:t>
            </a:r>
            <a:endParaRPr sz="1500">
              <a:solidFill>
                <a:srgbClr val="000000"/>
              </a:solidFill>
              <a:latin typeface="Verdana"/>
              <a:ea typeface="Verdana"/>
              <a:cs typeface="Verdana"/>
              <a:sym typeface="Verdana"/>
            </a:endParaRPr>
          </a:p>
          <a:p>
            <a:pPr indent="0" lvl="0" marL="457200" rtl="0" algn="l">
              <a:spcBef>
                <a:spcPts val="1200"/>
              </a:spcBef>
              <a:spcAft>
                <a:spcPts val="1200"/>
              </a:spcAft>
              <a:buNone/>
            </a:pPr>
            <a:r>
              <a:t/>
            </a:r>
            <a:endParaRPr sz="1500">
              <a:solidFill>
                <a:srgbClr val="000000"/>
              </a:solidFill>
              <a:latin typeface="Verdana"/>
              <a:ea typeface="Verdana"/>
              <a:cs typeface="Verdana"/>
              <a:sym typeface="Verdana"/>
            </a:endParaRPr>
          </a:p>
        </p:txBody>
      </p:sp>
      <p:sp>
        <p:nvSpPr>
          <p:cNvPr id="102" name="Google Shape;102;p18"/>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Pros of Naive Bayes</a:t>
            </a:r>
            <a:endParaRPr>
              <a:solidFill>
                <a:srgbClr val="980000"/>
              </a:solidFill>
              <a:latin typeface="Verdana"/>
              <a:ea typeface="Verdana"/>
              <a:cs typeface="Verdana"/>
              <a:sym typeface="Verdan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idx="1" type="body"/>
          </p:nvPr>
        </p:nvSpPr>
        <p:spPr>
          <a:xfrm>
            <a:off x="311700" y="763625"/>
            <a:ext cx="8655900" cy="42159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If we have a categorical variable (on test data) </a:t>
            </a:r>
            <a:r>
              <a:rPr b="1" lang="en" sz="1500">
                <a:solidFill>
                  <a:srgbClr val="0000FF"/>
                </a:solidFill>
                <a:latin typeface="Verdana"/>
                <a:ea typeface="Verdana"/>
                <a:cs typeface="Verdana"/>
                <a:sym typeface="Verdana"/>
              </a:rPr>
              <a:t>which does not exist in training data</a:t>
            </a:r>
            <a:r>
              <a:rPr lang="en" sz="1500">
                <a:solidFill>
                  <a:srgbClr val="000000"/>
                </a:solidFill>
                <a:latin typeface="Verdana"/>
                <a:ea typeface="Verdana"/>
                <a:cs typeface="Verdana"/>
                <a:sym typeface="Verdana"/>
              </a:rPr>
              <a:t>, then we cannot make a prediction. However, </a:t>
            </a:r>
            <a:r>
              <a:rPr b="1" lang="en" sz="1500">
                <a:solidFill>
                  <a:srgbClr val="980000"/>
                </a:solidFill>
                <a:latin typeface="Verdana"/>
                <a:ea typeface="Verdana"/>
                <a:cs typeface="Verdana"/>
                <a:sym typeface="Verdana"/>
              </a:rPr>
              <a:t>Laplace smoothing</a:t>
            </a:r>
            <a:r>
              <a:rPr lang="en" sz="1500">
                <a:solidFill>
                  <a:srgbClr val="000000"/>
                </a:solidFill>
                <a:latin typeface="Verdana"/>
                <a:ea typeface="Verdana"/>
                <a:cs typeface="Verdana"/>
                <a:sym typeface="Verdana"/>
              </a:rPr>
              <a:t> technique can be used for this problem.</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The probability estimates are not the most trustworthy (probability outputs from </a:t>
            </a:r>
            <a:r>
              <a:rPr b="1" lang="en" sz="1500">
                <a:solidFill>
                  <a:srgbClr val="0000FF"/>
                </a:solidFill>
                <a:latin typeface="Source Code Pro"/>
                <a:ea typeface="Source Code Pro"/>
                <a:cs typeface="Source Code Pro"/>
                <a:sym typeface="Source Code Pro"/>
              </a:rPr>
              <a:t>predict_proba</a:t>
            </a:r>
            <a:r>
              <a:rPr lang="en" sz="1500">
                <a:solidFill>
                  <a:srgbClr val="000000"/>
                </a:solidFill>
                <a:latin typeface="Verdana"/>
                <a:ea typeface="Verdana"/>
                <a:cs typeface="Verdana"/>
                <a:sym typeface="Verdana"/>
              </a:rPr>
              <a:t> are not to be taken too seriously).</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The algorithm has </a:t>
            </a:r>
            <a:r>
              <a:rPr b="1" lang="en" sz="1500">
                <a:solidFill>
                  <a:srgbClr val="0000FF"/>
                </a:solidFill>
                <a:latin typeface="Verdana"/>
                <a:ea typeface="Verdana"/>
                <a:cs typeface="Verdana"/>
                <a:sym typeface="Verdana"/>
              </a:rPr>
              <a:t>strong assumptions</a:t>
            </a:r>
            <a:r>
              <a:rPr lang="en" sz="1500">
                <a:solidFill>
                  <a:srgbClr val="000000"/>
                </a:solidFill>
                <a:latin typeface="Verdana"/>
                <a:ea typeface="Verdana"/>
                <a:cs typeface="Verdana"/>
                <a:sym typeface="Verdana"/>
              </a:rPr>
              <a:t>. In real life, it is </a:t>
            </a:r>
            <a:r>
              <a:rPr lang="en" sz="1500" u="sng">
                <a:solidFill>
                  <a:srgbClr val="000000"/>
                </a:solidFill>
                <a:latin typeface="Verdana"/>
                <a:ea typeface="Verdana"/>
                <a:cs typeface="Verdana"/>
                <a:sym typeface="Verdana"/>
              </a:rPr>
              <a:t>almost impossible</a:t>
            </a:r>
            <a:r>
              <a:rPr lang="en" sz="1500">
                <a:solidFill>
                  <a:srgbClr val="000000"/>
                </a:solidFill>
                <a:latin typeface="Verdana"/>
                <a:ea typeface="Verdana"/>
                <a:cs typeface="Verdana"/>
                <a:sym typeface="Verdana"/>
              </a:rPr>
              <a:t> that we get a set of predictors which are completely independent.</a:t>
            </a:r>
            <a:endParaRPr sz="1500">
              <a:solidFill>
                <a:srgbClr val="000000"/>
              </a:solidFill>
              <a:latin typeface="Verdana"/>
              <a:ea typeface="Verdana"/>
              <a:cs typeface="Verdana"/>
              <a:sym typeface="Verdana"/>
            </a:endParaRPr>
          </a:p>
          <a:p>
            <a:pPr indent="0" lvl="0" marL="457200" rtl="0" algn="l">
              <a:spcBef>
                <a:spcPts val="1200"/>
              </a:spcBef>
              <a:spcAft>
                <a:spcPts val="1200"/>
              </a:spcAft>
              <a:buNone/>
            </a:pPr>
            <a:r>
              <a:t/>
            </a:r>
            <a:endParaRPr sz="1500">
              <a:solidFill>
                <a:srgbClr val="000000"/>
              </a:solidFill>
              <a:latin typeface="Verdana"/>
              <a:ea typeface="Verdana"/>
              <a:cs typeface="Verdana"/>
              <a:sym typeface="Verdana"/>
            </a:endParaRPr>
          </a:p>
        </p:txBody>
      </p:sp>
      <p:sp>
        <p:nvSpPr>
          <p:cNvPr id="108" name="Google Shape;108;p19"/>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Cons</a:t>
            </a:r>
            <a:r>
              <a:rPr lang="en">
                <a:solidFill>
                  <a:srgbClr val="980000"/>
                </a:solidFill>
                <a:latin typeface="Verdana"/>
                <a:ea typeface="Verdana"/>
                <a:cs typeface="Verdana"/>
                <a:sym typeface="Verdana"/>
              </a:rPr>
              <a:t> of Naive Bayes</a:t>
            </a:r>
            <a:endParaRPr>
              <a:solidFill>
                <a:srgbClr val="980000"/>
              </a:solidFill>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idx="1" type="body"/>
          </p:nvPr>
        </p:nvSpPr>
        <p:spPr>
          <a:xfrm>
            <a:off x="311700" y="763625"/>
            <a:ext cx="8655900" cy="42159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FF"/>
              </a:buClr>
              <a:buSzPts val="1500"/>
              <a:buFont typeface="Verdana"/>
              <a:buChar char="●"/>
            </a:pPr>
            <a:r>
              <a:rPr b="1" lang="en" sz="1500">
                <a:solidFill>
                  <a:srgbClr val="0000FF"/>
                </a:solidFill>
                <a:latin typeface="Verdana"/>
                <a:ea typeface="Verdana"/>
                <a:cs typeface="Verdana"/>
                <a:sym typeface="Verdana"/>
              </a:rPr>
              <a:t>Real-time prediction: </a:t>
            </a:r>
            <a:r>
              <a:rPr lang="en" sz="1500">
                <a:solidFill>
                  <a:srgbClr val="000000"/>
                </a:solidFill>
                <a:latin typeface="Verdana"/>
                <a:ea typeface="Verdana"/>
                <a:cs typeface="Verdana"/>
                <a:sym typeface="Verdana"/>
              </a:rPr>
              <a:t>Since it’s so fast, it’s used for </a:t>
            </a:r>
            <a:r>
              <a:rPr lang="en" sz="1500">
                <a:solidFill>
                  <a:srgbClr val="000000"/>
                </a:solidFill>
                <a:latin typeface="Verdana"/>
                <a:ea typeface="Verdana"/>
                <a:cs typeface="Verdana"/>
                <a:sym typeface="Verdana"/>
              </a:rPr>
              <a:t>making</a:t>
            </a:r>
            <a:r>
              <a:rPr lang="en" sz="1500">
                <a:solidFill>
                  <a:srgbClr val="000000"/>
                </a:solidFill>
                <a:latin typeface="Verdana"/>
                <a:ea typeface="Verdana"/>
                <a:cs typeface="Verdana"/>
                <a:sym typeface="Verdana"/>
              </a:rPr>
              <a:t> </a:t>
            </a:r>
            <a:r>
              <a:rPr lang="en" sz="1500">
                <a:solidFill>
                  <a:srgbClr val="000000"/>
                </a:solidFill>
                <a:latin typeface="Verdana"/>
                <a:ea typeface="Verdana"/>
                <a:cs typeface="Verdana"/>
                <a:sym typeface="Verdana"/>
              </a:rPr>
              <a:t>predictions</a:t>
            </a:r>
            <a:r>
              <a:rPr lang="en" sz="1500">
                <a:solidFill>
                  <a:srgbClr val="000000"/>
                </a:solidFill>
                <a:latin typeface="Verdana"/>
                <a:ea typeface="Verdana"/>
                <a:cs typeface="Verdana"/>
                <a:sym typeface="Verdana"/>
              </a:rPr>
              <a:t> in real time.</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FF"/>
              </a:buClr>
              <a:buSzPts val="1500"/>
              <a:buFont typeface="Verdana"/>
              <a:buChar char="●"/>
            </a:pPr>
            <a:r>
              <a:rPr b="1" lang="en" sz="1500">
                <a:solidFill>
                  <a:srgbClr val="0000FF"/>
                </a:solidFill>
                <a:latin typeface="Verdana"/>
                <a:ea typeface="Verdana"/>
                <a:cs typeface="Verdana"/>
                <a:sym typeface="Verdana"/>
              </a:rPr>
              <a:t>Multiclass</a:t>
            </a:r>
            <a:r>
              <a:rPr b="1" lang="en" sz="1500">
                <a:solidFill>
                  <a:srgbClr val="0000FF"/>
                </a:solidFill>
                <a:latin typeface="Verdana"/>
                <a:ea typeface="Verdana"/>
                <a:cs typeface="Verdana"/>
                <a:sym typeface="Verdana"/>
              </a:rPr>
              <a:t> prediction: </a:t>
            </a:r>
            <a:r>
              <a:rPr lang="en" sz="1500">
                <a:solidFill>
                  <a:schemeClr val="dk2"/>
                </a:solidFill>
                <a:latin typeface="Verdana"/>
                <a:ea typeface="Verdana"/>
                <a:cs typeface="Verdana"/>
                <a:sym typeface="Verdana"/>
              </a:rPr>
              <a:t>It’s a well known application for multi-class classification problems.</a:t>
            </a:r>
            <a:br>
              <a:rPr lang="en" sz="1500">
                <a:solidFill>
                  <a:schemeClr val="dk2"/>
                </a:solidFill>
                <a:latin typeface="Verdana"/>
                <a:ea typeface="Verdana"/>
                <a:cs typeface="Verdana"/>
                <a:sym typeface="Verdana"/>
              </a:rPr>
            </a:br>
            <a:endParaRPr sz="1500">
              <a:solidFill>
                <a:schemeClr val="dk2"/>
              </a:solidFill>
              <a:latin typeface="Verdana"/>
              <a:ea typeface="Verdana"/>
              <a:cs typeface="Verdana"/>
              <a:sym typeface="Verdana"/>
            </a:endParaRPr>
          </a:p>
          <a:p>
            <a:pPr indent="-323850" lvl="0" marL="457200" rtl="0" algn="l">
              <a:spcBef>
                <a:spcPts val="0"/>
              </a:spcBef>
              <a:spcAft>
                <a:spcPts val="0"/>
              </a:spcAft>
              <a:buClr>
                <a:srgbClr val="0000FF"/>
              </a:buClr>
              <a:buSzPts val="1500"/>
              <a:buFont typeface="Verdana"/>
              <a:buChar char="●"/>
            </a:pPr>
            <a:r>
              <a:rPr b="1" lang="en" sz="1500">
                <a:solidFill>
                  <a:srgbClr val="0000FF"/>
                </a:solidFill>
                <a:latin typeface="Verdana"/>
                <a:ea typeface="Verdana"/>
                <a:cs typeface="Verdana"/>
                <a:sym typeface="Verdana"/>
              </a:rPr>
              <a:t>Text classification: </a:t>
            </a:r>
            <a:r>
              <a:rPr lang="en" sz="1500">
                <a:solidFill>
                  <a:schemeClr val="dk2"/>
                </a:solidFill>
                <a:latin typeface="Verdana"/>
                <a:ea typeface="Verdana"/>
                <a:cs typeface="Verdana"/>
                <a:sym typeface="Verdana"/>
              </a:rPr>
              <a:t>Naive Bayes classifiers are generally used for text classification (ie. spam detection) due to the independence rule.</a:t>
            </a:r>
            <a:br>
              <a:rPr lang="en" sz="1500">
                <a:solidFill>
                  <a:schemeClr val="dk2"/>
                </a:solidFill>
                <a:latin typeface="Verdana"/>
                <a:ea typeface="Verdana"/>
                <a:cs typeface="Verdana"/>
                <a:sym typeface="Verdana"/>
              </a:rPr>
            </a:b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0" lvl="0" marL="457200" rtl="0" algn="l">
              <a:spcBef>
                <a:spcPts val="1200"/>
              </a:spcBef>
              <a:spcAft>
                <a:spcPts val="1200"/>
              </a:spcAft>
              <a:buNone/>
            </a:pPr>
            <a:r>
              <a:t/>
            </a:r>
            <a:endParaRPr sz="1500">
              <a:solidFill>
                <a:srgbClr val="000000"/>
              </a:solidFill>
              <a:latin typeface="Verdana"/>
              <a:ea typeface="Verdana"/>
              <a:cs typeface="Verdana"/>
              <a:sym typeface="Verdana"/>
            </a:endParaRPr>
          </a:p>
        </p:txBody>
      </p:sp>
      <p:sp>
        <p:nvSpPr>
          <p:cNvPr id="114" name="Google Shape;114;p20"/>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Application of</a:t>
            </a:r>
            <a:r>
              <a:rPr lang="en">
                <a:solidFill>
                  <a:srgbClr val="980000"/>
                </a:solidFill>
                <a:latin typeface="Verdana"/>
                <a:ea typeface="Verdana"/>
                <a:cs typeface="Verdana"/>
                <a:sym typeface="Verdana"/>
              </a:rPr>
              <a:t> Naive Bayes</a:t>
            </a:r>
            <a:endParaRPr>
              <a:solidFill>
                <a:srgbClr val="980000"/>
              </a:solidFill>
              <a:latin typeface="Verdana"/>
              <a:ea typeface="Verdana"/>
              <a:cs typeface="Verdana"/>
              <a:sym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idx="1" type="body"/>
          </p:nvPr>
        </p:nvSpPr>
        <p:spPr>
          <a:xfrm>
            <a:off x="311700" y="763625"/>
            <a:ext cx="8655900" cy="42159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Multinomial Naive Bayes (MultinomialNB)</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Gaussian Naive Bayes (GaussianNB)</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Bernoulli Naive Bayes (BernoulliNB)</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Categorical Naive Bayes (CategoricalNB)</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0" lvl="0" marL="457200" rtl="0" algn="l">
              <a:spcBef>
                <a:spcPts val="1200"/>
              </a:spcBef>
              <a:spcAft>
                <a:spcPts val="1200"/>
              </a:spcAft>
              <a:buNone/>
            </a:pPr>
            <a:r>
              <a:t/>
            </a:r>
            <a:endParaRPr sz="1500">
              <a:solidFill>
                <a:srgbClr val="000000"/>
              </a:solidFill>
              <a:latin typeface="Verdana"/>
              <a:ea typeface="Verdana"/>
              <a:cs typeface="Verdana"/>
              <a:sym typeface="Verdana"/>
            </a:endParaRPr>
          </a:p>
        </p:txBody>
      </p:sp>
      <p:sp>
        <p:nvSpPr>
          <p:cNvPr id="120" name="Google Shape;120;p21"/>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Type</a:t>
            </a:r>
            <a:r>
              <a:rPr lang="en">
                <a:solidFill>
                  <a:srgbClr val="980000"/>
                </a:solidFill>
                <a:latin typeface="Verdana"/>
                <a:ea typeface="Verdana"/>
                <a:cs typeface="Verdana"/>
                <a:sym typeface="Verdana"/>
              </a:rPr>
              <a:t> of Naive Bayes Algorithms</a:t>
            </a:r>
            <a:endParaRPr>
              <a:solidFill>
                <a:srgbClr val="980000"/>
              </a:solidFill>
              <a:latin typeface="Verdana"/>
              <a:ea typeface="Verdana"/>
              <a:cs typeface="Verdana"/>
              <a:sym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idx="1" type="body"/>
          </p:nvPr>
        </p:nvSpPr>
        <p:spPr>
          <a:xfrm>
            <a:off x="311700" y="763625"/>
            <a:ext cx="8655900" cy="42159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It </a:t>
            </a:r>
            <a:r>
              <a:rPr lang="en" sz="1500">
                <a:solidFill>
                  <a:srgbClr val="000000"/>
                </a:solidFill>
                <a:latin typeface="Verdana"/>
                <a:ea typeface="Verdana"/>
                <a:cs typeface="Verdana"/>
                <a:sym typeface="Verdana"/>
              </a:rPr>
              <a:t>implements the naive Bayes algorithm for </a:t>
            </a:r>
            <a:r>
              <a:rPr b="1" lang="en" sz="1500">
                <a:solidFill>
                  <a:srgbClr val="0000FF"/>
                </a:solidFill>
                <a:latin typeface="Verdana"/>
                <a:ea typeface="Verdana"/>
                <a:cs typeface="Verdana"/>
                <a:sym typeface="Verdana"/>
              </a:rPr>
              <a:t>multinomial</a:t>
            </a:r>
            <a:r>
              <a:rPr b="1" lang="en" sz="1500">
                <a:solidFill>
                  <a:srgbClr val="0000FF"/>
                </a:solidFill>
                <a:latin typeface="Verdana"/>
                <a:ea typeface="Verdana"/>
                <a:cs typeface="Verdana"/>
                <a:sym typeface="Verdana"/>
              </a:rPr>
              <a:t> distributed data</a:t>
            </a:r>
            <a:r>
              <a:rPr lang="en" sz="1500">
                <a:solidFill>
                  <a:srgbClr val="000000"/>
                </a:solidFill>
                <a:latin typeface="Verdana"/>
                <a:ea typeface="Verdana"/>
                <a:cs typeface="Verdana"/>
                <a:sym typeface="Verdana"/>
              </a:rPr>
              <a:t>, and is one of the two classic naive Bayes variants used in text classification </a:t>
            </a:r>
            <a:endParaRPr sz="1500">
              <a:solidFill>
                <a:srgbClr val="000000"/>
              </a:solidFill>
              <a:latin typeface="Verdana"/>
              <a:ea typeface="Verdana"/>
              <a:cs typeface="Verdana"/>
              <a:sym typeface="Verdana"/>
            </a:endParaRPr>
          </a:p>
          <a:p>
            <a:pPr indent="-323850" lvl="1" marL="914400" rtl="0" algn="l">
              <a:spcBef>
                <a:spcPts val="0"/>
              </a:spcBef>
              <a:spcAft>
                <a:spcPts val="0"/>
              </a:spcAft>
              <a:buSzPts val="1500"/>
              <a:buFont typeface="Verdana"/>
              <a:buChar char="○"/>
            </a:pPr>
            <a:r>
              <a:rPr lang="en" sz="1500">
                <a:solidFill>
                  <a:srgbClr val="000000"/>
                </a:solidFill>
                <a:latin typeface="Verdana"/>
                <a:ea typeface="Verdana"/>
                <a:cs typeface="Verdana"/>
                <a:sym typeface="Verdana"/>
              </a:rPr>
              <a:t>where the data are typically represented as </a:t>
            </a:r>
            <a:r>
              <a:rPr lang="en" sz="1500">
                <a:solidFill>
                  <a:srgbClr val="0000FF"/>
                </a:solidFill>
                <a:latin typeface="Verdana"/>
                <a:ea typeface="Verdana"/>
                <a:cs typeface="Verdana"/>
                <a:sym typeface="Verdana"/>
              </a:rPr>
              <a:t>word vector counts</a:t>
            </a:r>
            <a:endParaRPr sz="1500">
              <a:solidFill>
                <a:srgbClr val="000000"/>
              </a:solidFill>
              <a:latin typeface="Verdana"/>
              <a:ea typeface="Verdana"/>
              <a:cs typeface="Verdana"/>
              <a:sym typeface="Verdana"/>
            </a:endParaRPr>
          </a:p>
          <a:p>
            <a:pPr indent="-323850" lvl="1" marL="914400" rtl="0" algn="l">
              <a:spcBef>
                <a:spcPts val="0"/>
              </a:spcBef>
              <a:spcAft>
                <a:spcPts val="0"/>
              </a:spcAft>
              <a:buSzPts val="1500"/>
              <a:buFont typeface="Verdana"/>
              <a:buChar char="○"/>
            </a:pPr>
            <a:r>
              <a:rPr lang="en" sz="1500">
                <a:solidFill>
                  <a:srgbClr val="000000"/>
                </a:solidFill>
                <a:latin typeface="Verdana"/>
                <a:ea typeface="Verdana"/>
                <a:cs typeface="Verdana"/>
                <a:sym typeface="Verdana"/>
              </a:rPr>
              <a:t>although </a:t>
            </a:r>
            <a:r>
              <a:rPr lang="en" sz="1500">
                <a:solidFill>
                  <a:srgbClr val="0000FF"/>
                </a:solidFill>
                <a:latin typeface="Verdana"/>
                <a:ea typeface="Verdana"/>
                <a:cs typeface="Verdana"/>
                <a:sym typeface="Verdana"/>
              </a:rPr>
              <a:t>tf-idf vectors</a:t>
            </a:r>
            <a:r>
              <a:rPr lang="en" sz="1500">
                <a:solidFill>
                  <a:srgbClr val="000000"/>
                </a:solidFill>
                <a:latin typeface="Verdana"/>
                <a:ea typeface="Verdana"/>
                <a:cs typeface="Verdana"/>
                <a:sym typeface="Verdana"/>
              </a:rPr>
              <a:t> are also known to work well in practice</a:t>
            </a: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The distribution is parametrized by vectors </a:t>
            </a:r>
            <a:r>
              <a:rPr i="1" lang="en" sz="1500">
                <a:solidFill>
                  <a:srgbClr val="000000"/>
                </a:solidFill>
                <a:latin typeface="Source Code Pro"/>
                <a:ea typeface="Source Code Pro"/>
                <a:cs typeface="Source Code Pro"/>
                <a:sym typeface="Source Code Pro"/>
              </a:rPr>
              <a:t>θ</a:t>
            </a:r>
            <a:r>
              <a:rPr baseline="-25000" i="1" lang="en" sz="1500">
                <a:solidFill>
                  <a:srgbClr val="000000"/>
                </a:solidFill>
                <a:latin typeface="Source Code Pro"/>
                <a:ea typeface="Source Code Pro"/>
                <a:cs typeface="Source Code Pro"/>
                <a:sym typeface="Source Code Pro"/>
              </a:rPr>
              <a:t>y</a:t>
            </a:r>
            <a:r>
              <a:rPr i="1" lang="en" sz="1500">
                <a:solidFill>
                  <a:srgbClr val="000000"/>
                </a:solidFill>
                <a:latin typeface="Source Code Pro"/>
                <a:ea typeface="Source Code Pro"/>
                <a:cs typeface="Source Code Pro"/>
                <a:sym typeface="Source Code Pro"/>
              </a:rPr>
              <a:t>=(</a:t>
            </a:r>
            <a:r>
              <a:rPr i="1" lang="en" sz="1500">
                <a:solidFill>
                  <a:schemeClr val="dk2"/>
                </a:solidFill>
                <a:latin typeface="Source Code Pro"/>
                <a:ea typeface="Source Code Pro"/>
                <a:cs typeface="Source Code Pro"/>
                <a:sym typeface="Source Code Pro"/>
              </a:rPr>
              <a:t>θ</a:t>
            </a:r>
            <a:r>
              <a:rPr baseline="-25000" i="1" lang="en" sz="1500">
                <a:solidFill>
                  <a:schemeClr val="dk2"/>
                </a:solidFill>
                <a:latin typeface="Source Code Pro"/>
                <a:ea typeface="Source Code Pro"/>
                <a:cs typeface="Source Code Pro"/>
                <a:sym typeface="Source Code Pro"/>
              </a:rPr>
              <a:t>y1,</a:t>
            </a:r>
            <a:r>
              <a:rPr i="1" lang="en" sz="1500">
                <a:solidFill>
                  <a:schemeClr val="dk2"/>
                </a:solidFill>
                <a:latin typeface="Source Code Pro"/>
                <a:ea typeface="Source Code Pro"/>
                <a:cs typeface="Source Code Pro"/>
                <a:sym typeface="Source Code Pro"/>
              </a:rPr>
              <a:t>θ</a:t>
            </a:r>
            <a:r>
              <a:rPr baseline="-25000" i="1" lang="en" sz="1500">
                <a:solidFill>
                  <a:schemeClr val="dk2"/>
                </a:solidFill>
                <a:latin typeface="Source Code Pro"/>
                <a:ea typeface="Source Code Pro"/>
                <a:cs typeface="Source Code Pro"/>
                <a:sym typeface="Source Code Pro"/>
              </a:rPr>
              <a:t>y2,...,</a:t>
            </a:r>
            <a:r>
              <a:rPr i="1" lang="en" sz="1500">
                <a:solidFill>
                  <a:schemeClr val="dk2"/>
                </a:solidFill>
                <a:latin typeface="Source Code Pro"/>
                <a:ea typeface="Source Code Pro"/>
                <a:cs typeface="Source Code Pro"/>
                <a:sym typeface="Source Code Pro"/>
              </a:rPr>
              <a:t>θ</a:t>
            </a:r>
            <a:r>
              <a:rPr baseline="-25000" i="1" lang="en" sz="1500">
                <a:solidFill>
                  <a:schemeClr val="dk2"/>
                </a:solidFill>
                <a:latin typeface="Source Code Pro"/>
                <a:ea typeface="Source Code Pro"/>
                <a:cs typeface="Source Code Pro"/>
                <a:sym typeface="Source Code Pro"/>
              </a:rPr>
              <a:t>yn</a:t>
            </a:r>
            <a:r>
              <a:rPr i="1" lang="en" sz="1500">
                <a:solidFill>
                  <a:schemeClr val="dk2"/>
                </a:solidFill>
                <a:latin typeface="Source Code Pro"/>
                <a:ea typeface="Source Code Pro"/>
                <a:cs typeface="Source Code Pro"/>
                <a:sym typeface="Source Code Pro"/>
              </a:rPr>
              <a:t>)</a:t>
            </a:r>
            <a:r>
              <a:rPr lang="en" sz="1500">
                <a:solidFill>
                  <a:schemeClr val="dk2"/>
                </a:solidFill>
                <a:latin typeface="Verdana"/>
                <a:ea typeface="Verdana"/>
                <a:cs typeface="Verdana"/>
                <a:sym typeface="Verdana"/>
              </a:rPr>
              <a:t> for each class </a:t>
            </a:r>
            <a:r>
              <a:rPr i="1" lang="en" sz="1500">
                <a:solidFill>
                  <a:schemeClr val="dk2"/>
                </a:solidFill>
                <a:latin typeface="Verdana"/>
                <a:ea typeface="Verdana"/>
                <a:cs typeface="Verdana"/>
                <a:sym typeface="Verdana"/>
              </a:rPr>
              <a:t>y </a:t>
            </a:r>
            <a:r>
              <a:rPr lang="en" sz="1500">
                <a:solidFill>
                  <a:schemeClr val="dk2"/>
                </a:solidFill>
                <a:latin typeface="Verdana"/>
                <a:ea typeface="Verdana"/>
                <a:cs typeface="Verdana"/>
                <a:sym typeface="Verdana"/>
              </a:rPr>
              <a:t>where </a:t>
            </a:r>
            <a:r>
              <a:rPr i="1" lang="en" sz="1500">
                <a:solidFill>
                  <a:schemeClr val="dk2"/>
                </a:solidFill>
                <a:latin typeface="Verdana"/>
                <a:ea typeface="Verdana"/>
                <a:cs typeface="Verdana"/>
                <a:sym typeface="Verdana"/>
              </a:rPr>
              <a:t>n</a:t>
            </a:r>
            <a:r>
              <a:rPr lang="en" sz="1500">
                <a:solidFill>
                  <a:schemeClr val="dk2"/>
                </a:solidFill>
                <a:latin typeface="Verdana"/>
                <a:ea typeface="Verdana"/>
                <a:cs typeface="Verdana"/>
                <a:sym typeface="Verdana"/>
              </a:rPr>
              <a:t> is the number of features (in text classification, the size of the vocabulary) and </a:t>
            </a:r>
            <a:r>
              <a:rPr i="1" lang="en" sz="1500">
                <a:solidFill>
                  <a:schemeClr val="dk2"/>
                </a:solidFill>
                <a:latin typeface="Source Code Pro"/>
                <a:ea typeface="Source Code Pro"/>
                <a:cs typeface="Source Code Pro"/>
                <a:sym typeface="Source Code Pro"/>
              </a:rPr>
              <a:t>θ</a:t>
            </a:r>
            <a:r>
              <a:rPr baseline="-25000" i="1" lang="en" sz="1500">
                <a:solidFill>
                  <a:schemeClr val="dk2"/>
                </a:solidFill>
                <a:latin typeface="Source Code Pro"/>
                <a:ea typeface="Source Code Pro"/>
                <a:cs typeface="Source Code Pro"/>
                <a:sym typeface="Source Code Pro"/>
              </a:rPr>
              <a:t>yi </a:t>
            </a:r>
            <a:r>
              <a:rPr lang="en" sz="1500">
                <a:solidFill>
                  <a:schemeClr val="dk2"/>
                </a:solidFill>
                <a:latin typeface="Verdana"/>
                <a:ea typeface="Verdana"/>
                <a:cs typeface="Verdana"/>
                <a:sym typeface="Verdana"/>
              </a:rPr>
              <a:t>is the probability of </a:t>
            </a:r>
            <a:r>
              <a:rPr lang="en" sz="1500">
                <a:solidFill>
                  <a:schemeClr val="dk2"/>
                </a:solidFill>
                <a:latin typeface="Source Code Pro"/>
                <a:ea typeface="Source Code Pro"/>
                <a:cs typeface="Source Code Pro"/>
                <a:sym typeface="Source Code Pro"/>
              </a:rPr>
              <a:t>P(x</a:t>
            </a:r>
            <a:r>
              <a:rPr baseline="-25000" lang="en" sz="1500">
                <a:solidFill>
                  <a:schemeClr val="dk2"/>
                </a:solidFill>
                <a:latin typeface="Source Code Pro"/>
                <a:ea typeface="Source Code Pro"/>
                <a:cs typeface="Source Code Pro"/>
                <a:sym typeface="Source Code Pro"/>
              </a:rPr>
              <a:t>i</a:t>
            </a:r>
            <a:r>
              <a:rPr lang="en" sz="1500">
                <a:solidFill>
                  <a:schemeClr val="dk2"/>
                </a:solidFill>
                <a:latin typeface="Source Code Pro"/>
                <a:ea typeface="Source Code Pro"/>
                <a:cs typeface="Source Code Pro"/>
                <a:sym typeface="Source Code Pro"/>
              </a:rPr>
              <a:t>|y) </a:t>
            </a:r>
            <a:r>
              <a:rPr lang="en" sz="1500">
                <a:solidFill>
                  <a:schemeClr val="dk2"/>
                </a:solidFill>
                <a:latin typeface="Verdana"/>
                <a:ea typeface="Verdana"/>
                <a:cs typeface="Verdana"/>
                <a:sym typeface="Verdana"/>
              </a:rPr>
              <a:t>of feature  appearing in a sample belonging to class </a:t>
            </a:r>
            <a:r>
              <a:rPr i="1" lang="en" sz="1500">
                <a:solidFill>
                  <a:schemeClr val="dk2"/>
                </a:solidFill>
                <a:latin typeface="Verdana"/>
                <a:ea typeface="Verdana"/>
                <a:cs typeface="Verdana"/>
                <a:sym typeface="Verdana"/>
              </a:rPr>
              <a:t>y</a:t>
            </a:r>
            <a:r>
              <a:rPr lang="en" sz="1500">
                <a:solidFill>
                  <a:schemeClr val="dk2"/>
                </a:solidFill>
                <a:latin typeface="Verdana"/>
                <a:ea typeface="Verdana"/>
                <a:cs typeface="Verdana"/>
                <a:sym typeface="Verdana"/>
              </a:rPr>
              <a:t>.</a:t>
            </a:r>
            <a:endParaRPr sz="1500">
              <a:solidFill>
                <a:srgbClr val="000000"/>
              </a:solidFill>
              <a:latin typeface="Verdana"/>
              <a:ea typeface="Verdana"/>
              <a:cs typeface="Verdana"/>
              <a:sym typeface="Verdana"/>
            </a:endParaRPr>
          </a:p>
          <a:p>
            <a:pPr indent="0" lvl="0" marL="457200" rtl="0" algn="l">
              <a:spcBef>
                <a:spcPts val="1200"/>
              </a:spcBef>
              <a:spcAft>
                <a:spcPts val="1200"/>
              </a:spcAft>
              <a:buNone/>
            </a:pPr>
            <a:r>
              <a:t/>
            </a:r>
            <a:endParaRPr sz="1500">
              <a:solidFill>
                <a:srgbClr val="000000"/>
              </a:solidFill>
              <a:latin typeface="Verdana"/>
              <a:ea typeface="Verdana"/>
              <a:cs typeface="Verdana"/>
              <a:sym typeface="Verdana"/>
            </a:endParaRPr>
          </a:p>
        </p:txBody>
      </p:sp>
      <p:sp>
        <p:nvSpPr>
          <p:cNvPr id="126" name="Google Shape;126;p22"/>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Multinomial</a:t>
            </a:r>
            <a:r>
              <a:rPr lang="en">
                <a:solidFill>
                  <a:srgbClr val="980000"/>
                </a:solidFill>
                <a:latin typeface="Verdana"/>
                <a:ea typeface="Verdana"/>
                <a:cs typeface="Verdana"/>
                <a:sym typeface="Verdana"/>
              </a:rPr>
              <a:t> Naive Bayes</a:t>
            </a:r>
            <a:endParaRPr>
              <a:solidFill>
                <a:srgbClr val="980000"/>
              </a:solidFill>
              <a:latin typeface="Verdana"/>
              <a:ea typeface="Verdana"/>
              <a:cs typeface="Verdana"/>
              <a:sym typeface="Verdan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3"/>
          <p:cNvSpPr txBox="1"/>
          <p:nvPr>
            <p:ph idx="1" type="body"/>
          </p:nvPr>
        </p:nvSpPr>
        <p:spPr>
          <a:xfrm>
            <a:off x="311700" y="763625"/>
            <a:ext cx="8655900" cy="42159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Assume that we want to compose a </a:t>
            </a:r>
            <a:r>
              <a:rPr b="1" lang="en" sz="1500">
                <a:solidFill>
                  <a:srgbClr val="A31515"/>
                </a:solidFill>
                <a:latin typeface="Verdana"/>
                <a:ea typeface="Verdana"/>
                <a:cs typeface="Verdana"/>
                <a:sym typeface="Verdana"/>
              </a:rPr>
              <a:t>text classification</a:t>
            </a:r>
            <a:r>
              <a:rPr lang="en" sz="1500">
                <a:solidFill>
                  <a:srgbClr val="000000"/>
                </a:solidFill>
                <a:latin typeface="Verdana"/>
                <a:ea typeface="Verdana"/>
                <a:cs typeface="Verdana"/>
                <a:sym typeface="Verdana"/>
              </a:rPr>
              <a:t> model</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1" marL="914400" rtl="0" algn="l">
              <a:spcBef>
                <a:spcPts val="0"/>
              </a:spcBef>
              <a:spcAft>
                <a:spcPts val="0"/>
              </a:spcAft>
              <a:buClr>
                <a:srgbClr val="0000FF"/>
              </a:buClr>
              <a:buSzPts val="1500"/>
              <a:buFont typeface="Verdana"/>
              <a:buChar char="➢"/>
            </a:pPr>
            <a:r>
              <a:rPr b="1" lang="en" sz="1500">
                <a:solidFill>
                  <a:srgbClr val="0000FF"/>
                </a:solidFill>
                <a:latin typeface="Verdana"/>
                <a:ea typeface="Verdana"/>
                <a:cs typeface="Verdana"/>
                <a:sym typeface="Verdana"/>
              </a:rPr>
              <a:t>Normal → 8 documents → P(Normal) = 8/12 = 0.67 (</a:t>
            </a:r>
            <a:r>
              <a:rPr b="1" lang="en" sz="1500" u="sng">
                <a:solidFill>
                  <a:srgbClr val="0000FF"/>
                </a:solidFill>
                <a:latin typeface="Verdana"/>
                <a:ea typeface="Verdana"/>
                <a:cs typeface="Verdana"/>
                <a:sym typeface="Verdana"/>
              </a:rPr>
              <a:t>Prior Probability</a:t>
            </a:r>
            <a:r>
              <a:rPr b="1" lang="en" sz="1500">
                <a:solidFill>
                  <a:srgbClr val="0000FF"/>
                </a:solidFill>
                <a:latin typeface="Verdana"/>
                <a:ea typeface="Verdana"/>
                <a:cs typeface="Verdana"/>
                <a:sym typeface="Verdana"/>
              </a:rPr>
              <a:t>)</a:t>
            </a:r>
            <a:endParaRPr b="1" sz="1500">
              <a:solidFill>
                <a:srgbClr val="0000FF"/>
              </a:solidFill>
              <a:latin typeface="Verdana"/>
              <a:ea typeface="Verdana"/>
              <a:cs typeface="Verdana"/>
              <a:sym typeface="Verdana"/>
            </a:endParaRPr>
          </a:p>
          <a:p>
            <a:pPr indent="-323850" lvl="2" marL="13716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Dear → 8 times → </a:t>
            </a:r>
            <a:r>
              <a:rPr lang="en" sz="1500">
                <a:solidFill>
                  <a:srgbClr val="000000"/>
                </a:solidFill>
                <a:latin typeface="Source Code Pro"/>
                <a:ea typeface="Source Code Pro"/>
                <a:cs typeface="Source Code Pro"/>
                <a:sym typeface="Source Code Pro"/>
              </a:rPr>
              <a:t>P(Dear | Normal)</a:t>
            </a:r>
            <a:r>
              <a:rPr lang="en" sz="1500">
                <a:solidFill>
                  <a:srgbClr val="000000"/>
                </a:solidFill>
                <a:latin typeface="Verdana"/>
                <a:ea typeface="Verdana"/>
                <a:cs typeface="Verdana"/>
                <a:sym typeface="Verdana"/>
              </a:rPr>
              <a:t> = 8/17 = 0.47 (</a:t>
            </a:r>
            <a:r>
              <a:rPr lang="en" sz="1500" u="sng">
                <a:solidFill>
                  <a:srgbClr val="000000"/>
                </a:solidFill>
                <a:latin typeface="Verdana"/>
                <a:ea typeface="Verdana"/>
                <a:cs typeface="Verdana"/>
                <a:sym typeface="Verdana"/>
              </a:rPr>
              <a:t>Likelihood</a:t>
            </a:r>
            <a:r>
              <a:rPr lang="en" sz="1500">
                <a:solidFill>
                  <a:srgbClr val="000000"/>
                </a:solidFill>
                <a:latin typeface="Verdana"/>
                <a:ea typeface="Verdana"/>
                <a:cs typeface="Verdana"/>
                <a:sym typeface="Verdana"/>
              </a:rPr>
              <a:t>)</a:t>
            </a:r>
            <a:endParaRPr sz="1500">
              <a:solidFill>
                <a:srgbClr val="000000"/>
              </a:solidFill>
              <a:latin typeface="Verdana"/>
              <a:ea typeface="Verdana"/>
              <a:cs typeface="Verdana"/>
              <a:sym typeface="Verdana"/>
            </a:endParaRPr>
          </a:p>
          <a:p>
            <a:pPr indent="-323850" lvl="2" marL="13716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Friend → 5 times</a:t>
            </a:r>
            <a:r>
              <a:rPr lang="en" sz="1500">
                <a:solidFill>
                  <a:schemeClr val="dk2"/>
                </a:solidFill>
                <a:latin typeface="Verdana"/>
                <a:ea typeface="Verdana"/>
                <a:cs typeface="Verdana"/>
                <a:sym typeface="Verdana"/>
              </a:rPr>
              <a:t> → </a:t>
            </a:r>
            <a:r>
              <a:rPr lang="en" sz="1500">
                <a:solidFill>
                  <a:schemeClr val="dk2"/>
                </a:solidFill>
                <a:latin typeface="Source Code Pro"/>
                <a:ea typeface="Source Code Pro"/>
                <a:cs typeface="Source Code Pro"/>
                <a:sym typeface="Source Code Pro"/>
              </a:rPr>
              <a:t>P(Friend | Normal)</a:t>
            </a:r>
            <a:r>
              <a:rPr lang="en" sz="1500">
                <a:solidFill>
                  <a:schemeClr val="dk2"/>
                </a:solidFill>
                <a:latin typeface="Verdana"/>
                <a:ea typeface="Verdana"/>
                <a:cs typeface="Verdana"/>
                <a:sym typeface="Verdana"/>
              </a:rPr>
              <a:t> = 5/17 = 0.29</a:t>
            </a:r>
            <a:endParaRPr sz="1500">
              <a:solidFill>
                <a:srgbClr val="000000"/>
              </a:solidFill>
              <a:latin typeface="Verdana"/>
              <a:ea typeface="Verdana"/>
              <a:cs typeface="Verdana"/>
              <a:sym typeface="Verdana"/>
            </a:endParaRPr>
          </a:p>
          <a:p>
            <a:pPr indent="-323850" lvl="2" marL="13716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Lunch → 3 times</a:t>
            </a:r>
            <a:r>
              <a:rPr lang="en" sz="1500">
                <a:solidFill>
                  <a:schemeClr val="dk2"/>
                </a:solidFill>
                <a:latin typeface="Verdana"/>
                <a:ea typeface="Verdana"/>
                <a:cs typeface="Verdana"/>
                <a:sym typeface="Verdana"/>
              </a:rPr>
              <a:t> → </a:t>
            </a:r>
            <a:r>
              <a:rPr lang="en" sz="1500">
                <a:solidFill>
                  <a:schemeClr val="dk2"/>
                </a:solidFill>
                <a:latin typeface="Source Code Pro"/>
                <a:ea typeface="Source Code Pro"/>
                <a:cs typeface="Source Code Pro"/>
                <a:sym typeface="Source Code Pro"/>
              </a:rPr>
              <a:t>P(Lunch | Normal)</a:t>
            </a:r>
            <a:r>
              <a:rPr lang="en" sz="1500">
                <a:solidFill>
                  <a:schemeClr val="dk2"/>
                </a:solidFill>
                <a:latin typeface="Verdana"/>
                <a:ea typeface="Verdana"/>
                <a:cs typeface="Verdana"/>
                <a:sym typeface="Verdana"/>
              </a:rPr>
              <a:t> = 3/17 = 0.18</a:t>
            </a:r>
            <a:endParaRPr sz="1500">
              <a:solidFill>
                <a:srgbClr val="000000"/>
              </a:solidFill>
              <a:latin typeface="Verdana"/>
              <a:ea typeface="Verdana"/>
              <a:cs typeface="Verdana"/>
              <a:sym typeface="Verdana"/>
            </a:endParaRPr>
          </a:p>
          <a:p>
            <a:pPr indent="-323850" lvl="2" marL="13716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Money → 1 time</a:t>
            </a:r>
            <a:r>
              <a:rPr lang="en" sz="1500">
                <a:solidFill>
                  <a:schemeClr val="dk2"/>
                </a:solidFill>
                <a:latin typeface="Verdana"/>
                <a:ea typeface="Verdana"/>
                <a:cs typeface="Verdana"/>
                <a:sym typeface="Verdana"/>
              </a:rPr>
              <a:t> → </a:t>
            </a:r>
            <a:r>
              <a:rPr lang="en" sz="1500">
                <a:solidFill>
                  <a:schemeClr val="dk2"/>
                </a:solidFill>
                <a:latin typeface="Source Code Pro"/>
                <a:ea typeface="Source Code Pro"/>
                <a:cs typeface="Source Code Pro"/>
                <a:sym typeface="Source Code Pro"/>
              </a:rPr>
              <a:t>P(Money | Normal)</a:t>
            </a:r>
            <a:r>
              <a:rPr lang="en" sz="1500">
                <a:solidFill>
                  <a:schemeClr val="dk2"/>
                </a:solidFill>
                <a:latin typeface="Verdana"/>
                <a:ea typeface="Verdana"/>
                <a:cs typeface="Verdana"/>
                <a:sym typeface="Verdana"/>
              </a:rPr>
              <a:t> = 1/17 = 0.06</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1" marL="914400" rtl="0" algn="l">
              <a:spcBef>
                <a:spcPts val="0"/>
              </a:spcBef>
              <a:spcAft>
                <a:spcPts val="0"/>
              </a:spcAft>
              <a:buClr>
                <a:srgbClr val="0000FF"/>
              </a:buClr>
              <a:buSzPts val="1500"/>
              <a:buFont typeface="Verdana"/>
              <a:buChar char="➢"/>
            </a:pPr>
            <a:r>
              <a:rPr b="1" lang="en" sz="1500">
                <a:solidFill>
                  <a:srgbClr val="0000FF"/>
                </a:solidFill>
                <a:latin typeface="Verdana"/>
                <a:ea typeface="Verdana"/>
                <a:cs typeface="Verdana"/>
                <a:sym typeface="Verdana"/>
              </a:rPr>
              <a:t>Spam → 4 documents </a:t>
            </a:r>
            <a:r>
              <a:rPr b="1" lang="en" sz="1500">
                <a:solidFill>
                  <a:srgbClr val="0000FF"/>
                </a:solidFill>
                <a:latin typeface="Verdana"/>
                <a:ea typeface="Verdana"/>
                <a:cs typeface="Verdana"/>
                <a:sym typeface="Verdana"/>
              </a:rPr>
              <a:t>→ P(Spam) = 4/12 = 0.33</a:t>
            </a:r>
            <a:endParaRPr b="1" sz="1500">
              <a:solidFill>
                <a:srgbClr val="0000FF"/>
              </a:solidFill>
              <a:latin typeface="Verdana"/>
              <a:ea typeface="Verdana"/>
              <a:cs typeface="Verdana"/>
              <a:sym typeface="Verdana"/>
            </a:endParaRPr>
          </a:p>
          <a:p>
            <a:pPr indent="-323850" lvl="2" marL="13716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Dear → 2 times → </a:t>
            </a:r>
            <a:r>
              <a:rPr lang="en" sz="1500">
                <a:solidFill>
                  <a:schemeClr val="dk2"/>
                </a:solidFill>
                <a:latin typeface="Source Code Pro"/>
                <a:ea typeface="Source Code Pro"/>
                <a:cs typeface="Source Code Pro"/>
                <a:sym typeface="Source Code Pro"/>
              </a:rPr>
              <a:t>P(Dear | Spam)</a:t>
            </a:r>
            <a:r>
              <a:rPr lang="en" sz="1500">
                <a:solidFill>
                  <a:schemeClr val="dk2"/>
                </a:solidFill>
                <a:latin typeface="Verdana"/>
                <a:ea typeface="Verdana"/>
                <a:cs typeface="Verdana"/>
                <a:sym typeface="Verdana"/>
              </a:rPr>
              <a:t> = 2/7 = 0.29</a:t>
            </a:r>
            <a:endParaRPr sz="1500">
              <a:solidFill>
                <a:schemeClr val="dk2"/>
              </a:solidFill>
              <a:latin typeface="Verdana"/>
              <a:ea typeface="Verdana"/>
              <a:cs typeface="Verdana"/>
              <a:sym typeface="Verdana"/>
            </a:endParaRPr>
          </a:p>
          <a:p>
            <a:pPr indent="-323850" lvl="2" marL="13716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Friend → 1 times → </a:t>
            </a:r>
            <a:r>
              <a:rPr lang="en" sz="1500">
                <a:solidFill>
                  <a:schemeClr val="dk2"/>
                </a:solidFill>
                <a:latin typeface="Source Code Pro"/>
                <a:ea typeface="Source Code Pro"/>
                <a:cs typeface="Source Code Pro"/>
                <a:sym typeface="Source Code Pro"/>
              </a:rPr>
              <a:t>P(Friend | Spam)</a:t>
            </a:r>
            <a:r>
              <a:rPr lang="en" sz="1500">
                <a:solidFill>
                  <a:schemeClr val="dk2"/>
                </a:solidFill>
                <a:latin typeface="Verdana"/>
                <a:ea typeface="Verdana"/>
                <a:cs typeface="Verdana"/>
                <a:sym typeface="Verdana"/>
              </a:rPr>
              <a:t> = 1/7 = 0.14</a:t>
            </a:r>
            <a:endParaRPr sz="1500">
              <a:solidFill>
                <a:schemeClr val="dk2"/>
              </a:solidFill>
              <a:latin typeface="Verdana"/>
              <a:ea typeface="Verdana"/>
              <a:cs typeface="Verdana"/>
              <a:sym typeface="Verdana"/>
            </a:endParaRPr>
          </a:p>
          <a:p>
            <a:pPr indent="-323850" lvl="2" marL="13716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Lunch → 0 times → </a:t>
            </a:r>
            <a:r>
              <a:rPr lang="en" sz="1500">
                <a:solidFill>
                  <a:schemeClr val="dk2"/>
                </a:solidFill>
                <a:latin typeface="Source Code Pro"/>
                <a:ea typeface="Source Code Pro"/>
                <a:cs typeface="Source Code Pro"/>
                <a:sym typeface="Source Code Pro"/>
              </a:rPr>
              <a:t>P(Lunch | Spam)</a:t>
            </a:r>
            <a:r>
              <a:rPr lang="en" sz="1500">
                <a:solidFill>
                  <a:schemeClr val="dk2"/>
                </a:solidFill>
                <a:latin typeface="Verdana"/>
                <a:ea typeface="Verdana"/>
                <a:cs typeface="Verdana"/>
                <a:sym typeface="Verdana"/>
              </a:rPr>
              <a:t> = 0/7 = 0</a:t>
            </a:r>
            <a:endParaRPr sz="1500">
              <a:solidFill>
                <a:schemeClr val="dk2"/>
              </a:solidFill>
              <a:latin typeface="Verdana"/>
              <a:ea typeface="Verdana"/>
              <a:cs typeface="Verdana"/>
              <a:sym typeface="Verdana"/>
            </a:endParaRPr>
          </a:p>
          <a:p>
            <a:pPr indent="-323850" lvl="2" marL="13716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Money → 4 times → </a:t>
            </a:r>
            <a:r>
              <a:rPr lang="en" sz="1500">
                <a:solidFill>
                  <a:schemeClr val="dk2"/>
                </a:solidFill>
                <a:latin typeface="Source Code Pro"/>
                <a:ea typeface="Source Code Pro"/>
                <a:cs typeface="Source Code Pro"/>
                <a:sym typeface="Source Code Pro"/>
              </a:rPr>
              <a:t>P(Money | Spam)</a:t>
            </a:r>
            <a:r>
              <a:rPr lang="en" sz="1500">
                <a:solidFill>
                  <a:schemeClr val="dk2"/>
                </a:solidFill>
                <a:latin typeface="Verdana"/>
                <a:ea typeface="Verdana"/>
                <a:cs typeface="Verdana"/>
                <a:sym typeface="Verdana"/>
              </a:rPr>
              <a:t> = 4/7 = 0.57</a:t>
            </a:r>
            <a:endParaRPr sz="1500">
              <a:solidFill>
                <a:schemeClr val="dk2"/>
              </a:solidFill>
              <a:latin typeface="Verdana"/>
              <a:ea typeface="Verdana"/>
              <a:cs typeface="Verdana"/>
              <a:sym typeface="Verdana"/>
            </a:endParaRPr>
          </a:p>
        </p:txBody>
      </p:sp>
      <p:sp>
        <p:nvSpPr>
          <p:cNvPr id="132" name="Google Shape;132;p23"/>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Multinomial Naive Bayes</a:t>
            </a:r>
            <a:endParaRPr>
              <a:solidFill>
                <a:srgbClr val="980000"/>
              </a:solidFill>
              <a:latin typeface="Verdana"/>
              <a:ea typeface="Verdana"/>
              <a:cs typeface="Verdana"/>
              <a:sym typeface="Verdan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4"/>
          <p:cNvSpPr txBox="1"/>
          <p:nvPr>
            <p:ph idx="1" type="body"/>
          </p:nvPr>
        </p:nvSpPr>
        <p:spPr>
          <a:xfrm>
            <a:off x="311700" y="763625"/>
            <a:ext cx="8655900" cy="4315800"/>
          </a:xfrm>
          <a:prstGeom prst="rect">
            <a:avLst/>
          </a:prstGeom>
        </p:spPr>
        <p:txBody>
          <a:bodyPr anchorCtr="0" anchor="t" bIns="91425" lIns="91425" spcFirstLastPara="1" rIns="91425" wrap="square" tIns="91425">
            <a:normAutofit fontScale="92500" lnSpcReduction="20000"/>
          </a:bodyPr>
          <a:lstStyle/>
          <a:p>
            <a:pPr indent="-304958" lvl="1" marL="914400" rtl="0" algn="l">
              <a:spcBef>
                <a:spcPts val="0"/>
              </a:spcBef>
              <a:spcAft>
                <a:spcPts val="0"/>
              </a:spcAft>
              <a:buClr>
                <a:srgbClr val="0000FF"/>
              </a:buClr>
              <a:buSzPct val="100000"/>
              <a:buFont typeface="Verdana"/>
              <a:buChar char="➢"/>
            </a:pPr>
            <a:r>
              <a:rPr b="1" lang="en" sz="1300">
                <a:solidFill>
                  <a:srgbClr val="0000FF"/>
                </a:solidFill>
                <a:latin typeface="Verdana"/>
                <a:ea typeface="Verdana"/>
                <a:cs typeface="Verdana"/>
                <a:sym typeface="Verdana"/>
              </a:rPr>
              <a:t>Normal → 8 documents → P(</a:t>
            </a:r>
            <a:r>
              <a:rPr b="1" lang="en" sz="1300">
                <a:solidFill>
                  <a:srgbClr val="0000FF"/>
                </a:solidFill>
                <a:latin typeface="Verdana"/>
                <a:ea typeface="Verdana"/>
                <a:cs typeface="Verdana"/>
                <a:sym typeface="Verdana"/>
              </a:rPr>
              <a:t>Normal</a:t>
            </a:r>
            <a:r>
              <a:rPr b="1" lang="en" sz="1300">
                <a:solidFill>
                  <a:srgbClr val="0000FF"/>
                </a:solidFill>
                <a:latin typeface="Verdana"/>
                <a:ea typeface="Verdana"/>
                <a:cs typeface="Verdana"/>
                <a:sym typeface="Verdana"/>
              </a:rPr>
              <a:t>) = 8/12 = 0.67 (</a:t>
            </a:r>
            <a:r>
              <a:rPr b="1" lang="en" sz="1300" u="sng">
                <a:solidFill>
                  <a:srgbClr val="0000FF"/>
                </a:solidFill>
                <a:latin typeface="Verdana"/>
                <a:ea typeface="Verdana"/>
                <a:cs typeface="Verdana"/>
                <a:sym typeface="Verdana"/>
              </a:rPr>
              <a:t>Prior Probability</a:t>
            </a:r>
            <a:r>
              <a:rPr b="1" lang="en" sz="1300">
                <a:solidFill>
                  <a:srgbClr val="0000FF"/>
                </a:solidFill>
                <a:latin typeface="Verdana"/>
                <a:ea typeface="Verdana"/>
                <a:cs typeface="Verdana"/>
                <a:sym typeface="Verdana"/>
              </a:rPr>
              <a:t>)</a:t>
            </a:r>
            <a:endParaRPr b="1" sz="1300">
              <a:solidFill>
                <a:srgbClr val="0000FF"/>
              </a:solidFill>
              <a:latin typeface="Verdana"/>
              <a:ea typeface="Verdana"/>
              <a:cs typeface="Verdana"/>
              <a:sym typeface="Verdana"/>
            </a:endParaRPr>
          </a:p>
          <a:p>
            <a:pPr indent="-304958" lvl="2" marL="1371600" rtl="0" algn="l">
              <a:spcBef>
                <a:spcPts val="0"/>
              </a:spcBef>
              <a:spcAft>
                <a:spcPts val="0"/>
              </a:spcAft>
              <a:buClr>
                <a:srgbClr val="000000"/>
              </a:buClr>
              <a:buSzPct val="100000"/>
              <a:buFont typeface="Verdana"/>
              <a:buChar char="○"/>
            </a:pPr>
            <a:r>
              <a:rPr lang="en" sz="1300">
                <a:solidFill>
                  <a:srgbClr val="000000"/>
                </a:solidFill>
                <a:latin typeface="Verdana"/>
                <a:ea typeface="Verdana"/>
                <a:cs typeface="Verdana"/>
                <a:sym typeface="Verdana"/>
              </a:rPr>
              <a:t>Dear → 8 times → </a:t>
            </a:r>
            <a:r>
              <a:rPr lang="en" sz="1300">
                <a:solidFill>
                  <a:srgbClr val="000000"/>
                </a:solidFill>
                <a:latin typeface="Source Code Pro"/>
                <a:ea typeface="Source Code Pro"/>
                <a:cs typeface="Source Code Pro"/>
                <a:sym typeface="Source Code Pro"/>
              </a:rPr>
              <a:t>P(Dear | </a:t>
            </a:r>
            <a:r>
              <a:rPr lang="en" sz="1300">
                <a:solidFill>
                  <a:srgbClr val="000000"/>
                </a:solidFill>
                <a:latin typeface="Source Code Pro"/>
                <a:ea typeface="Source Code Pro"/>
                <a:cs typeface="Source Code Pro"/>
                <a:sym typeface="Source Code Pro"/>
              </a:rPr>
              <a:t>Normal</a:t>
            </a:r>
            <a:r>
              <a:rPr lang="en" sz="1300">
                <a:solidFill>
                  <a:srgbClr val="000000"/>
                </a:solidFill>
                <a:latin typeface="Source Code Pro"/>
                <a:ea typeface="Source Code Pro"/>
                <a:cs typeface="Source Code Pro"/>
                <a:sym typeface="Source Code Pro"/>
              </a:rPr>
              <a:t>)</a:t>
            </a:r>
            <a:r>
              <a:rPr lang="en" sz="1300">
                <a:solidFill>
                  <a:srgbClr val="000000"/>
                </a:solidFill>
                <a:latin typeface="Verdana"/>
                <a:ea typeface="Verdana"/>
                <a:cs typeface="Verdana"/>
                <a:sym typeface="Verdana"/>
              </a:rPr>
              <a:t> = 8/17 = 0.47 (</a:t>
            </a:r>
            <a:r>
              <a:rPr lang="en" sz="1300" u="sng">
                <a:solidFill>
                  <a:srgbClr val="000000"/>
                </a:solidFill>
                <a:latin typeface="Verdana"/>
                <a:ea typeface="Verdana"/>
                <a:cs typeface="Verdana"/>
                <a:sym typeface="Verdana"/>
              </a:rPr>
              <a:t>Likelihood</a:t>
            </a:r>
            <a:r>
              <a:rPr lang="en" sz="1300">
                <a:solidFill>
                  <a:srgbClr val="000000"/>
                </a:solidFill>
                <a:latin typeface="Verdana"/>
                <a:ea typeface="Verdana"/>
                <a:cs typeface="Verdana"/>
                <a:sym typeface="Verdana"/>
              </a:rPr>
              <a:t>)</a:t>
            </a:r>
            <a:endParaRPr sz="1300">
              <a:solidFill>
                <a:srgbClr val="000000"/>
              </a:solidFill>
              <a:latin typeface="Verdana"/>
              <a:ea typeface="Verdana"/>
              <a:cs typeface="Verdana"/>
              <a:sym typeface="Verdana"/>
            </a:endParaRPr>
          </a:p>
          <a:p>
            <a:pPr indent="-304958" lvl="2" marL="1371600" rtl="0" algn="l">
              <a:spcBef>
                <a:spcPts val="0"/>
              </a:spcBef>
              <a:spcAft>
                <a:spcPts val="0"/>
              </a:spcAft>
              <a:buClr>
                <a:srgbClr val="000000"/>
              </a:buClr>
              <a:buSzPct val="100000"/>
              <a:buFont typeface="Verdana"/>
              <a:buChar char="○"/>
            </a:pPr>
            <a:r>
              <a:rPr lang="en" sz="1300">
                <a:solidFill>
                  <a:srgbClr val="000000"/>
                </a:solidFill>
                <a:latin typeface="Verdana"/>
                <a:ea typeface="Verdana"/>
                <a:cs typeface="Verdana"/>
                <a:sym typeface="Verdana"/>
              </a:rPr>
              <a:t>Friend → 5 times</a:t>
            </a:r>
            <a:r>
              <a:rPr lang="en" sz="1300">
                <a:solidFill>
                  <a:schemeClr val="dk2"/>
                </a:solidFill>
                <a:latin typeface="Verdana"/>
                <a:ea typeface="Verdana"/>
                <a:cs typeface="Verdana"/>
                <a:sym typeface="Verdana"/>
              </a:rPr>
              <a:t> → </a:t>
            </a:r>
            <a:r>
              <a:rPr lang="en" sz="1300">
                <a:solidFill>
                  <a:schemeClr val="dk2"/>
                </a:solidFill>
                <a:latin typeface="Source Code Pro"/>
                <a:ea typeface="Source Code Pro"/>
                <a:cs typeface="Source Code Pro"/>
                <a:sym typeface="Source Code Pro"/>
              </a:rPr>
              <a:t>P(Friend | Normal)</a:t>
            </a:r>
            <a:r>
              <a:rPr lang="en" sz="1300">
                <a:solidFill>
                  <a:schemeClr val="dk2"/>
                </a:solidFill>
                <a:latin typeface="Verdana"/>
                <a:ea typeface="Verdana"/>
                <a:cs typeface="Verdana"/>
                <a:sym typeface="Verdana"/>
              </a:rPr>
              <a:t> = 5/17 = 0.29</a:t>
            </a:r>
            <a:endParaRPr sz="1300">
              <a:solidFill>
                <a:srgbClr val="000000"/>
              </a:solidFill>
              <a:latin typeface="Verdana"/>
              <a:ea typeface="Verdana"/>
              <a:cs typeface="Verdana"/>
              <a:sym typeface="Verdana"/>
            </a:endParaRPr>
          </a:p>
          <a:p>
            <a:pPr indent="-304958" lvl="2" marL="1371600" rtl="0" algn="l">
              <a:spcBef>
                <a:spcPts val="0"/>
              </a:spcBef>
              <a:spcAft>
                <a:spcPts val="0"/>
              </a:spcAft>
              <a:buClr>
                <a:srgbClr val="000000"/>
              </a:buClr>
              <a:buSzPct val="100000"/>
              <a:buFont typeface="Verdana"/>
              <a:buChar char="○"/>
            </a:pPr>
            <a:r>
              <a:rPr lang="en" sz="1300">
                <a:solidFill>
                  <a:srgbClr val="000000"/>
                </a:solidFill>
                <a:latin typeface="Verdana"/>
                <a:ea typeface="Verdana"/>
                <a:cs typeface="Verdana"/>
                <a:sym typeface="Verdana"/>
              </a:rPr>
              <a:t>Lunch → 3 times</a:t>
            </a:r>
            <a:r>
              <a:rPr lang="en" sz="1300">
                <a:solidFill>
                  <a:schemeClr val="dk2"/>
                </a:solidFill>
                <a:latin typeface="Verdana"/>
                <a:ea typeface="Verdana"/>
                <a:cs typeface="Verdana"/>
                <a:sym typeface="Verdana"/>
              </a:rPr>
              <a:t> → </a:t>
            </a:r>
            <a:r>
              <a:rPr lang="en" sz="1300">
                <a:solidFill>
                  <a:schemeClr val="dk2"/>
                </a:solidFill>
                <a:latin typeface="Source Code Pro"/>
                <a:ea typeface="Source Code Pro"/>
                <a:cs typeface="Source Code Pro"/>
                <a:sym typeface="Source Code Pro"/>
              </a:rPr>
              <a:t>P(Lunch | Normal)</a:t>
            </a:r>
            <a:r>
              <a:rPr lang="en" sz="1300">
                <a:solidFill>
                  <a:schemeClr val="dk2"/>
                </a:solidFill>
                <a:latin typeface="Verdana"/>
                <a:ea typeface="Verdana"/>
                <a:cs typeface="Verdana"/>
                <a:sym typeface="Verdana"/>
              </a:rPr>
              <a:t> = 3/17 = 0.18</a:t>
            </a:r>
            <a:endParaRPr sz="1300">
              <a:solidFill>
                <a:srgbClr val="000000"/>
              </a:solidFill>
              <a:latin typeface="Verdana"/>
              <a:ea typeface="Verdana"/>
              <a:cs typeface="Verdana"/>
              <a:sym typeface="Verdana"/>
            </a:endParaRPr>
          </a:p>
          <a:p>
            <a:pPr indent="-304958" lvl="2" marL="1371600" rtl="0" algn="l">
              <a:spcBef>
                <a:spcPts val="0"/>
              </a:spcBef>
              <a:spcAft>
                <a:spcPts val="0"/>
              </a:spcAft>
              <a:buClr>
                <a:srgbClr val="000000"/>
              </a:buClr>
              <a:buSzPct val="100000"/>
              <a:buFont typeface="Verdana"/>
              <a:buChar char="○"/>
            </a:pPr>
            <a:r>
              <a:rPr lang="en" sz="1300">
                <a:solidFill>
                  <a:srgbClr val="000000"/>
                </a:solidFill>
                <a:latin typeface="Verdana"/>
                <a:ea typeface="Verdana"/>
                <a:cs typeface="Verdana"/>
                <a:sym typeface="Verdana"/>
              </a:rPr>
              <a:t>Money → 1 time</a:t>
            </a:r>
            <a:r>
              <a:rPr lang="en" sz="1300">
                <a:solidFill>
                  <a:schemeClr val="dk2"/>
                </a:solidFill>
                <a:latin typeface="Verdana"/>
                <a:ea typeface="Verdana"/>
                <a:cs typeface="Verdana"/>
                <a:sym typeface="Verdana"/>
              </a:rPr>
              <a:t> → </a:t>
            </a:r>
            <a:r>
              <a:rPr lang="en" sz="1300">
                <a:solidFill>
                  <a:schemeClr val="dk2"/>
                </a:solidFill>
                <a:latin typeface="Source Code Pro"/>
                <a:ea typeface="Source Code Pro"/>
                <a:cs typeface="Source Code Pro"/>
                <a:sym typeface="Source Code Pro"/>
              </a:rPr>
              <a:t>P(Money | Normal)</a:t>
            </a:r>
            <a:r>
              <a:rPr lang="en" sz="1300">
                <a:solidFill>
                  <a:schemeClr val="dk2"/>
                </a:solidFill>
                <a:latin typeface="Verdana"/>
                <a:ea typeface="Verdana"/>
                <a:cs typeface="Verdana"/>
                <a:sym typeface="Verdana"/>
              </a:rPr>
              <a:t> = 1/17 = 0.06</a:t>
            </a:r>
            <a:br>
              <a:rPr lang="en" sz="1300">
                <a:solidFill>
                  <a:srgbClr val="000000"/>
                </a:solidFill>
                <a:latin typeface="Verdana"/>
                <a:ea typeface="Verdana"/>
                <a:cs typeface="Verdana"/>
                <a:sym typeface="Verdana"/>
              </a:rPr>
            </a:br>
            <a:endParaRPr sz="1300">
              <a:solidFill>
                <a:srgbClr val="000000"/>
              </a:solidFill>
              <a:latin typeface="Verdana"/>
              <a:ea typeface="Verdana"/>
              <a:cs typeface="Verdana"/>
              <a:sym typeface="Verdana"/>
            </a:endParaRPr>
          </a:p>
          <a:p>
            <a:pPr indent="-304958" lvl="1" marL="914400" rtl="0" algn="l">
              <a:spcBef>
                <a:spcPts val="0"/>
              </a:spcBef>
              <a:spcAft>
                <a:spcPts val="0"/>
              </a:spcAft>
              <a:buClr>
                <a:srgbClr val="0000FF"/>
              </a:buClr>
              <a:buSzPct val="100000"/>
              <a:buFont typeface="Verdana"/>
              <a:buChar char="➢"/>
            </a:pPr>
            <a:r>
              <a:rPr b="1" lang="en" sz="1300">
                <a:solidFill>
                  <a:srgbClr val="0000FF"/>
                </a:solidFill>
                <a:latin typeface="Verdana"/>
                <a:ea typeface="Verdana"/>
                <a:cs typeface="Verdana"/>
                <a:sym typeface="Verdana"/>
              </a:rPr>
              <a:t>Spam → 4 documents → P(Normal) = 4/12 = 0.33</a:t>
            </a:r>
            <a:endParaRPr b="1" sz="1300">
              <a:solidFill>
                <a:srgbClr val="0000FF"/>
              </a:solidFill>
              <a:latin typeface="Verdana"/>
              <a:ea typeface="Verdana"/>
              <a:cs typeface="Verdana"/>
              <a:sym typeface="Verdana"/>
            </a:endParaRPr>
          </a:p>
          <a:p>
            <a:pPr indent="-304958" lvl="2" marL="1371600" rtl="0" algn="l">
              <a:spcBef>
                <a:spcPts val="0"/>
              </a:spcBef>
              <a:spcAft>
                <a:spcPts val="0"/>
              </a:spcAft>
              <a:buClr>
                <a:schemeClr val="dk2"/>
              </a:buClr>
              <a:buSzPct val="100000"/>
              <a:buFont typeface="Verdana"/>
              <a:buChar char="○"/>
            </a:pPr>
            <a:r>
              <a:rPr lang="en" sz="1300">
                <a:solidFill>
                  <a:schemeClr val="dk2"/>
                </a:solidFill>
                <a:latin typeface="Verdana"/>
                <a:ea typeface="Verdana"/>
                <a:cs typeface="Verdana"/>
                <a:sym typeface="Verdana"/>
              </a:rPr>
              <a:t>Dear → 2 times → </a:t>
            </a:r>
            <a:r>
              <a:rPr lang="en" sz="1300">
                <a:solidFill>
                  <a:schemeClr val="dk2"/>
                </a:solidFill>
                <a:latin typeface="Source Code Pro"/>
                <a:ea typeface="Source Code Pro"/>
                <a:cs typeface="Source Code Pro"/>
                <a:sym typeface="Source Code Pro"/>
              </a:rPr>
              <a:t>P(Dear | Spam)</a:t>
            </a:r>
            <a:r>
              <a:rPr lang="en" sz="1300">
                <a:solidFill>
                  <a:schemeClr val="dk2"/>
                </a:solidFill>
                <a:latin typeface="Verdana"/>
                <a:ea typeface="Verdana"/>
                <a:cs typeface="Verdana"/>
                <a:sym typeface="Verdana"/>
              </a:rPr>
              <a:t> = 2/7 = 0.29</a:t>
            </a:r>
            <a:endParaRPr sz="1300">
              <a:solidFill>
                <a:schemeClr val="dk2"/>
              </a:solidFill>
              <a:latin typeface="Verdana"/>
              <a:ea typeface="Verdana"/>
              <a:cs typeface="Verdana"/>
              <a:sym typeface="Verdana"/>
            </a:endParaRPr>
          </a:p>
          <a:p>
            <a:pPr indent="-304958" lvl="2" marL="1371600" rtl="0" algn="l">
              <a:spcBef>
                <a:spcPts val="0"/>
              </a:spcBef>
              <a:spcAft>
                <a:spcPts val="0"/>
              </a:spcAft>
              <a:buClr>
                <a:schemeClr val="dk2"/>
              </a:buClr>
              <a:buSzPct val="100000"/>
              <a:buFont typeface="Verdana"/>
              <a:buChar char="○"/>
            </a:pPr>
            <a:r>
              <a:rPr lang="en" sz="1300">
                <a:solidFill>
                  <a:schemeClr val="dk2"/>
                </a:solidFill>
                <a:latin typeface="Verdana"/>
                <a:ea typeface="Verdana"/>
                <a:cs typeface="Verdana"/>
                <a:sym typeface="Verdana"/>
              </a:rPr>
              <a:t>Friend → 1 times → </a:t>
            </a:r>
            <a:r>
              <a:rPr lang="en" sz="1300">
                <a:solidFill>
                  <a:schemeClr val="dk2"/>
                </a:solidFill>
                <a:latin typeface="Source Code Pro"/>
                <a:ea typeface="Source Code Pro"/>
                <a:cs typeface="Source Code Pro"/>
                <a:sym typeface="Source Code Pro"/>
              </a:rPr>
              <a:t>P(Friend | Spam)</a:t>
            </a:r>
            <a:r>
              <a:rPr lang="en" sz="1300">
                <a:solidFill>
                  <a:schemeClr val="dk2"/>
                </a:solidFill>
                <a:latin typeface="Verdana"/>
                <a:ea typeface="Verdana"/>
                <a:cs typeface="Verdana"/>
                <a:sym typeface="Verdana"/>
              </a:rPr>
              <a:t> = 1/7 = 0.14</a:t>
            </a:r>
            <a:endParaRPr sz="1300">
              <a:solidFill>
                <a:schemeClr val="dk2"/>
              </a:solidFill>
              <a:latin typeface="Verdana"/>
              <a:ea typeface="Verdana"/>
              <a:cs typeface="Verdana"/>
              <a:sym typeface="Verdana"/>
            </a:endParaRPr>
          </a:p>
          <a:p>
            <a:pPr indent="-304958" lvl="2" marL="1371600" rtl="0" algn="l">
              <a:spcBef>
                <a:spcPts val="0"/>
              </a:spcBef>
              <a:spcAft>
                <a:spcPts val="0"/>
              </a:spcAft>
              <a:buClr>
                <a:schemeClr val="dk2"/>
              </a:buClr>
              <a:buSzPct val="100000"/>
              <a:buFont typeface="Verdana"/>
              <a:buChar char="○"/>
            </a:pPr>
            <a:r>
              <a:rPr lang="en" sz="1300">
                <a:solidFill>
                  <a:schemeClr val="dk2"/>
                </a:solidFill>
                <a:latin typeface="Verdana"/>
                <a:ea typeface="Verdana"/>
                <a:cs typeface="Verdana"/>
                <a:sym typeface="Verdana"/>
              </a:rPr>
              <a:t>Lunch → 0 times → </a:t>
            </a:r>
            <a:r>
              <a:rPr lang="en" sz="1300">
                <a:solidFill>
                  <a:schemeClr val="dk2"/>
                </a:solidFill>
                <a:latin typeface="Source Code Pro"/>
                <a:ea typeface="Source Code Pro"/>
                <a:cs typeface="Source Code Pro"/>
                <a:sym typeface="Source Code Pro"/>
              </a:rPr>
              <a:t>P(Lunch | Spam)</a:t>
            </a:r>
            <a:r>
              <a:rPr lang="en" sz="1300">
                <a:solidFill>
                  <a:schemeClr val="dk2"/>
                </a:solidFill>
                <a:latin typeface="Verdana"/>
                <a:ea typeface="Verdana"/>
                <a:cs typeface="Verdana"/>
                <a:sym typeface="Verdana"/>
              </a:rPr>
              <a:t> = 0/7 = 0</a:t>
            </a:r>
            <a:endParaRPr sz="1300">
              <a:solidFill>
                <a:schemeClr val="dk2"/>
              </a:solidFill>
              <a:latin typeface="Verdana"/>
              <a:ea typeface="Verdana"/>
              <a:cs typeface="Verdana"/>
              <a:sym typeface="Verdana"/>
            </a:endParaRPr>
          </a:p>
          <a:p>
            <a:pPr indent="-316706" lvl="2" marL="1371600" rtl="0" algn="l">
              <a:spcBef>
                <a:spcPts val="0"/>
              </a:spcBef>
              <a:spcAft>
                <a:spcPts val="0"/>
              </a:spcAft>
              <a:buClr>
                <a:schemeClr val="dk2"/>
              </a:buClr>
              <a:buSzPct val="115384"/>
              <a:buFont typeface="Verdana"/>
              <a:buChar char="○"/>
            </a:pPr>
            <a:r>
              <a:rPr lang="en" sz="1300">
                <a:solidFill>
                  <a:schemeClr val="dk2"/>
                </a:solidFill>
                <a:latin typeface="Verdana"/>
                <a:ea typeface="Verdana"/>
                <a:cs typeface="Verdana"/>
                <a:sym typeface="Verdana"/>
              </a:rPr>
              <a:t>Money → 4 times → </a:t>
            </a:r>
            <a:r>
              <a:rPr lang="en" sz="1300">
                <a:solidFill>
                  <a:schemeClr val="dk2"/>
                </a:solidFill>
                <a:latin typeface="Source Code Pro"/>
                <a:ea typeface="Source Code Pro"/>
                <a:cs typeface="Source Code Pro"/>
                <a:sym typeface="Source Code Pro"/>
              </a:rPr>
              <a:t>P(Money | Spam)</a:t>
            </a:r>
            <a:r>
              <a:rPr lang="en" sz="1300">
                <a:solidFill>
                  <a:schemeClr val="dk2"/>
                </a:solidFill>
                <a:latin typeface="Verdana"/>
                <a:ea typeface="Verdana"/>
                <a:cs typeface="Verdana"/>
                <a:sym typeface="Verdana"/>
              </a:rPr>
              <a:t> = 4/7 = 0.57</a:t>
            </a:r>
            <a:br>
              <a:rPr lang="en" sz="1500">
                <a:solidFill>
                  <a:schemeClr val="dk2"/>
                </a:solidFill>
                <a:latin typeface="Verdana"/>
                <a:ea typeface="Verdana"/>
                <a:cs typeface="Verdana"/>
                <a:sym typeface="Verdana"/>
              </a:rPr>
            </a:br>
            <a:endParaRPr sz="1500">
              <a:solidFill>
                <a:schemeClr val="dk2"/>
              </a:solidFill>
              <a:latin typeface="Verdana"/>
              <a:ea typeface="Verdana"/>
              <a:cs typeface="Verdana"/>
              <a:sym typeface="Verdana"/>
            </a:endParaRPr>
          </a:p>
          <a:p>
            <a:pPr indent="-316706" lvl="0" marL="457200" rtl="0" algn="l">
              <a:spcBef>
                <a:spcPts val="0"/>
              </a:spcBef>
              <a:spcAft>
                <a:spcPts val="0"/>
              </a:spcAft>
              <a:buClr>
                <a:schemeClr val="dk2"/>
              </a:buClr>
              <a:buSzPct val="100000"/>
              <a:buFont typeface="Verdana"/>
              <a:buChar char="●"/>
            </a:pPr>
            <a:r>
              <a:rPr lang="en" sz="1500">
                <a:solidFill>
                  <a:schemeClr val="dk2"/>
                </a:solidFill>
                <a:latin typeface="Verdana"/>
                <a:ea typeface="Verdana"/>
                <a:cs typeface="Verdana"/>
                <a:sym typeface="Verdana"/>
              </a:rPr>
              <a:t>Let’s predict </a:t>
            </a:r>
            <a:r>
              <a:rPr lang="en" sz="1500">
                <a:solidFill>
                  <a:schemeClr val="dk2"/>
                </a:solidFill>
                <a:latin typeface="Verdana"/>
                <a:ea typeface="Verdana"/>
                <a:cs typeface="Verdana"/>
                <a:sym typeface="Verdana"/>
              </a:rPr>
              <a:t>"</a:t>
            </a:r>
            <a:r>
              <a:rPr b="1" lang="en" sz="1500">
                <a:solidFill>
                  <a:srgbClr val="980000"/>
                </a:solidFill>
                <a:latin typeface="Verdana"/>
                <a:ea typeface="Verdana"/>
                <a:cs typeface="Verdana"/>
                <a:sym typeface="Verdana"/>
              </a:rPr>
              <a:t>Dear Friend</a:t>
            </a:r>
            <a:r>
              <a:rPr lang="en" sz="1500">
                <a:solidFill>
                  <a:schemeClr val="dk2"/>
                </a:solidFill>
                <a:latin typeface="Verdana"/>
                <a:ea typeface="Verdana"/>
                <a:cs typeface="Verdana"/>
                <a:sym typeface="Verdana"/>
              </a:rPr>
              <a:t>"</a:t>
            </a:r>
            <a:br>
              <a:rPr lang="en" sz="1500">
                <a:solidFill>
                  <a:schemeClr val="dk2"/>
                </a:solidFill>
                <a:latin typeface="Verdana"/>
                <a:ea typeface="Verdana"/>
                <a:cs typeface="Verdana"/>
                <a:sym typeface="Verdana"/>
              </a:rPr>
            </a:br>
            <a:endParaRPr sz="1500">
              <a:solidFill>
                <a:schemeClr val="dk2"/>
              </a:solidFill>
              <a:latin typeface="Verdana"/>
              <a:ea typeface="Verdana"/>
              <a:cs typeface="Verdana"/>
              <a:sym typeface="Verdana"/>
            </a:endParaRPr>
          </a:p>
          <a:p>
            <a:pPr indent="-316706" lvl="1" marL="914400" rtl="0" algn="l">
              <a:spcBef>
                <a:spcPts val="0"/>
              </a:spcBef>
              <a:spcAft>
                <a:spcPts val="0"/>
              </a:spcAft>
              <a:buClr>
                <a:schemeClr val="dk2"/>
              </a:buClr>
              <a:buSzPct val="100000"/>
              <a:buFont typeface="Verdana"/>
              <a:buChar char="➢"/>
            </a:pPr>
            <a:r>
              <a:rPr b="1" lang="en" sz="1500">
                <a:solidFill>
                  <a:srgbClr val="0000FF"/>
                </a:solidFill>
                <a:latin typeface="Verdana"/>
                <a:ea typeface="Verdana"/>
                <a:cs typeface="Verdana"/>
                <a:sym typeface="Verdana"/>
              </a:rPr>
              <a:t>Normal</a:t>
            </a:r>
            <a:r>
              <a:rPr lang="en" sz="1500">
                <a:solidFill>
                  <a:schemeClr val="dk2"/>
                </a:solidFill>
                <a:latin typeface="Verdana"/>
                <a:ea typeface="Verdana"/>
                <a:cs typeface="Verdana"/>
                <a:sym typeface="Verdana"/>
              </a:rPr>
              <a:t> → </a:t>
            </a:r>
            <a:r>
              <a:rPr lang="en" sz="1500">
                <a:solidFill>
                  <a:schemeClr val="dk2"/>
                </a:solidFill>
                <a:latin typeface="Source Code Pro"/>
                <a:ea typeface="Source Code Pro"/>
                <a:cs typeface="Source Code Pro"/>
                <a:sym typeface="Source Code Pro"/>
              </a:rPr>
              <a:t>P(Normal) * P(Dear|Normal) * P(Friend|Normal) </a:t>
            </a:r>
            <a:br>
              <a:rPr lang="en" sz="1500">
                <a:solidFill>
                  <a:schemeClr val="dk2"/>
                </a:solidFill>
                <a:latin typeface="Source Code Pro"/>
                <a:ea typeface="Source Code Pro"/>
                <a:cs typeface="Source Code Pro"/>
                <a:sym typeface="Source Code Pro"/>
              </a:rPr>
            </a:br>
            <a:r>
              <a:rPr lang="en" sz="1500">
                <a:solidFill>
                  <a:schemeClr val="dk2"/>
                </a:solidFill>
                <a:latin typeface="Source Code Pro"/>
                <a:ea typeface="Source Code Pro"/>
                <a:cs typeface="Source Code Pro"/>
                <a:sym typeface="Source Code Pro"/>
              </a:rPr>
              <a:t>= 0.67 * 0.47 * 0.29 = </a:t>
            </a:r>
            <a:r>
              <a:rPr b="1" lang="en" sz="1500">
                <a:solidFill>
                  <a:srgbClr val="980000"/>
                </a:solidFill>
                <a:latin typeface="Source Code Pro"/>
                <a:ea typeface="Source Code Pro"/>
                <a:cs typeface="Source Code Pro"/>
                <a:sym typeface="Source Code Pro"/>
              </a:rPr>
              <a:t>0.09</a:t>
            </a:r>
            <a:br>
              <a:rPr lang="en" sz="1500">
                <a:solidFill>
                  <a:schemeClr val="dk2"/>
                </a:solidFill>
                <a:latin typeface="Source Code Pro"/>
                <a:ea typeface="Source Code Pro"/>
                <a:cs typeface="Source Code Pro"/>
                <a:sym typeface="Source Code Pro"/>
              </a:rPr>
            </a:br>
            <a:endParaRPr sz="1500">
              <a:solidFill>
                <a:schemeClr val="dk2"/>
              </a:solidFill>
              <a:latin typeface="Verdana"/>
              <a:ea typeface="Verdana"/>
              <a:cs typeface="Verdana"/>
              <a:sym typeface="Verdana"/>
            </a:endParaRPr>
          </a:p>
          <a:p>
            <a:pPr indent="-316706" lvl="1" marL="914400" rtl="0" algn="l">
              <a:spcBef>
                <a:spcPts val="0"/>
              </a:spcBef>
              <a:spcAft>
                <a:spcPts val="0"/>
              </a:spcAft>
              <a:buClr>
                <a:schemeClr val="dk2"/>
              </a:buClr>
              <a:buSzPct val="100000"/>
              <a:buFont typeface="Verdana"/>
              <a:buChar char="➢"/>
            </a:pPr>
            <a:r>
              <a:rPr b="1" lang="en" sz="1500">
                <a:solidFill>
                  <a:srgbClr val="0000FF"/>
                </a:solidFill>
                <a:latin typeface="Verdana"/>
                <a:ea typeface="Verdana"/>
                <a:cs typeface="Verdana"/>
                <a:sym typeface="Verdana"/>
              </a:rPr>
              <a:t>Spam</a:t>
            </a:r>
            <a:r>
              <a:rPr lang="en" sz="1500">
                <a:solidFill>
                  <a:schemeClr val="dk2"/>
                </a:solidFill>
                <a:latin typeface="Verdana"/>
                <a:ea typeface="Verdana"/>
                <a:cs typeface="Verdana"/>
                <a:sym typeface="Verdana"/>
              </a:rPr>
              <a:t> → </a:t>
            </a:r>
            <a:r>
              <a:rPr lang="en" sz="1500">
                <a:solidFill>
                  <a:schemeClr val="dk2"/>
                </a:solidFill>
                <a:latin typeface="Source Code Pro"/>
                <a:ea typeface="Source Code Pro"/>
                <a:cs typeface="Source Code Pro"/>
                <a:sym typeface="Source Code Pro"/>
              </a:rPr>
              <a:t>P(Spam) * P(Dear|Spam) * P(Friend|Spam) </a:t>
            </a:r>
            <a:br>
              <a:rPr lang="en" sz="1500">
                <a:solidFill>
                  <a:schemeClr val="dk2"/>
                </a:solidFill>
                <a:latin typeface="Source Code Pro"/>
                <a:ea typeface="Source Code Pro"/>
                <a:cs typeface="Source Code Pro"/>
                <a:sym typeface="Source Code Pro"/>
              </a:rPr>
            </a:br>
            <a:r>
              <a:rPr lang="en" sz="1500">
                <a:solidFill>
                  <a:schemeClr val="dk2"/>
                </a:solidFill>
                <a:latin typeface="Source Code Pro"/>
                <a:ea typeface="Source Code Pro"/>
                <a:cs typeface="Source Code Pro"/>
                <a:sym typeface="Source Code Pro"/>
              </a:rPr>
              <a:t>= 0.33 * 0.29 * 0.14 = </a:t>
            </a:r>
            <a:r>
              <a:rPr b="1" lang="en" sz="1500">
                <a:solidFill>
                  <a:srgbClr val="980000"/>
                </a:solidFill>
                <a:latin typeface="Source Code Pro"/>
                <a:ea typeface="Source Code Pro"/>
                <a:cs typeface="Source Code Pro"/>
                <a:sym typeface="Source Code Pro"/>
              </a:rPr>
              <a:t>0.01</a:t>
            </a:r>
            <a:br>
              <a:rPr b="1" lang="en" sz="1500">
                <a:solidFill>
                  <a:srgbClr val="980000"/>
                </a:solidFill>
                <a:latin typeface="Source Code Pro"/>
                <a:ea typeface="Source Code Pro"/>
                <a:cs typeface="Source Code Pro"/>
                <a:sym typeface="Source Code Pro"/>
              </a:rPr>
            </a:br>
            <a:endParaRPr sz="1500">
              <a:solidFill>
                <a:srgbClr val="000000"/>
              </a:solidFill>
              <a:latin typeface="Verdana"/>
              <a:ea typeface="Verdana"/>
              <a:cs typeface="Verdana"/>
              <a:sym typeface="Verdana"/>
            </a:endParaRPr>
          </a:p>
          <a:p>
            <a:pPr indent="-316706" lvl="1" marL="914400" rtl="0" algn="l">
              <a:spcBef>
                <a:spcPts val="0"/>
              </a:spcBef>
              <a:spcAft>
                <a:spcPts val="0"/>
              </a:spcAft>
              <a:buClr>
                <a:srgbClr val="000000"/>
              </a:buClr>
              <a:buSzPct val="100000"/>
              <a:buFont typeface="Verdana"/>
              <a:buChar char="➢"/>
            </a:pPr>
            <a:r>
              <a:rPr lang="en" sz="1500">
                <a:solidFill>
                  <a:srgbClr val="000000"/>
                </a:solidFill>
                <a:latin typeface="Verdana"/>
                <a:ea typeface="Verdana"/>
                <a:cs typeface="Verdana"/>
                <a:sym typeface="Verdana"/>
              </a:rPr>
              <a:t>As a result, we predict as </a:t>
            </a:r>
            <a:r>
              <a:rPr b="1" lang="en" sz="1500">
                <a:solidFill>
                  <a:srgbClr val="000000"/>
                </a:solidFill>
                <a:latin typeface="Verdana"/>
                <a:ea typeface="Verdana"/>
                <a:cs typeface="Verdana"/>
                <a:sym typeface="Verdana"/>
              </a:rPr>
              <a:t>Normal</a:t>
            </a:r>
            <a:r>
              <a:rPr lang="en" sz="1500">
                <a:solidFill>
                  <a:srgbClr val="000000"/>
                </a:solidFill>
                <a:latin typeface="Verdana"/>
                <a:ea typeface="Verdana"/>
                <a:cs typeface="Verdana"/>
                <a:sym typeface="Verdana"/>
              </a:rPr>
              <a:t>.</a:t>
            </a:r>
            <a:endParaRPr sz="1500">
              <a:solidFill>
                <a:srgbClr val="000000"/>
              </a:solidFill>
              <a:latin typeface="Verdana"/>
              <a:ea typeface="Verdana"/>
              <a:cs typeface="Verdana"/>
              <a:sym typeface="Verdana"/>
            </a:endParaRPr>
          </a:p>
        </p:txBody>
      </p:sp>
      <p:sp>
        <p:nvSpPr>
          <p:cNvPr id="138" name="Google Shape;138;p24"/>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Multinomial Naive Bayes</a:t>
            </a:r>
            <a:endParaRPr>
              <a:solidFill>
                <a:srgbClr val="980000"/>
              </a:solidFill>
              <a:latin typeface="Verdana"/>
              <a:ea typeface="Verdana"/>
              <a:cs typeface="Verdana"/>
              <a:sym typeface="Verdan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idx="1" type="body"/>
          </p:nvPr>
        </p:nvSpPr>
        <p:spPr>
          <a:xfrm>
            <a:off x="311700" y="611225"/>
            <a:ext cx="8655900" cy="3059100"/>
          </a:xfrm>
          <a:prstGeom prst="rect">
            <a:avLst/>
          </a:prstGeom>
        </p:spPr>
        <p:txBody>
          <a:bodyPr anchorCtr="0" anchor="t" bIns="91425" lIns="91425" spcFirstLastPara="1" rIns="91425" wrap="square" tIns="91425">
            <a:normAutofit/>
          </a:bodyPr>
          <a:lstStyle/>
          <a:p>
            <a:pPr indent="-304800" lvl="1" marL="914400" rtl="0" algn="l">
              <a:lnSpc>
                <a:spcPct val="105000"/>
              </a:lnSpc>
              <a:spcBef>
                <a:spcPts val="0"/>
              </a:spcBef>
              <a:spcAft>
                <a:spcPts val="0"/>
              </a:spcAft>
              <a:buClr>
                <a:srgbClr val="0000FF"/>
              </a:buClr>
              <a:buSzPts val="1200"/>
              <a:buFont typeface="Verdana"/>
              <a:buChar char="➢"/>
            </a:pPr>
            <a:r>
              <a:rPr b="1" lang="en" sz="1200">
                <a:solidFill>
                  <a:srgbClr val="0000FF"/>
                </a:solidFill>
                <a:latin typeface="Verdana"/>
                <a:ea typeface="Verdana"/>
                <a:cs typeface="Verdana"/>
                <a:sym typeface="Verdana"/>
              </a:rPr>
              <a:t>Normal → 8 documents → P(Normal) = 8/12 = 0.67 (</a:t>
            </a:r>
            <a:r>
              <a:rPr b="1" lang="en" sz="1200" u="sng">
                <a:solidFill>
                  <a:srgbClr val="0000FF"/>
                </a:solidFill>
                <a:latin typeface="Verdana"/>
                <a:ea typeface="Verdana"/>
                <a:cs typeface="Verdana"/>
                <a:sym typeface="Verdana"/>
              </a:rPr>
              <a:t>Prior Probability</a:t>
            </a:r>
            <a:r>
              <a:rPr b="1" lang="en" sz="1200">
                <a:solidFill>
                  <a:srgbClr val="0000FF"/>
                </a:solidFill>
                <a:latin typeface="Verdana"/>
                <a:ea typeface="Verdana"/>
                <a:cs typeface="Verdana"/>
                <a:sym typeface="Verdana"/>
              </a:rPr>
              <a:t>)</a:t>
            </a:r>
            <a:endParaRPr b="1" sz="1200">
              <a:solidFill>
                <a:srgbClr val="0000FF"/>
              </a:solidFill>
              <a:latin typeface="Verdana"/>
              <a:ea typeface="Verdana"/>
              <a:cs typeface="Verdana"/>
              <a:sym typeface="Verdana"/>
            </a:endParaRPr>
          </a:p>
          <a:p>
            <a:pPr indent="-304800" lvl="2" marL="1371600" rtl="0" algn="l">
              <a:lnSpc>
                <a:spcPct val="105000"/>
              </a:lnSpc>
              <a:spcBef>
                <a:spcPts val="0"/>
              </a:spcBef>
              <a:spcAft>
                <a:spcPts val="0"/>
              </a:spcAft>
              <a:buClr>
                <a:srgbClr val="000000"/>
              </a:buClr>
              <a:buSzPts val="1200"/>
              <a:buFont typeface="Verdana"/>
              <a:buChar char="○"/>
            </a:pPr>
            <a:r>
              <a:rPr lang="en" sz="1200">
                <a:solidFill>
                  <a:srgbClr val="000000"/>
                </a:solidFill>
                <a:latin typeface="Verdana"/>
                <a:ea typeface="Verdana"/>
                <a:cs typeface="Verdana"/>
                <a:sym typeface="Verdana"/>
              </a:rPr>
              <a:t>Dear → 8 times → </a:t>
            </a:r>
            <a:r>
              <a:rPr lang="en" sz="1200">
                <a:solidFill>
                  <a:srgbClr val="000000"/>
                </a:solidFill>
                <a:latin typeface="Source Code Pro"/>
                <a:ea typeface="Source Code Pro"/>
                <a:cs typeface="Source Code Pro"/>
                <a:sym typeface="Source Code Pro"/>
              </a:rPr>
              <a:t>P(Dear | Normal)</a:t>
            </a:r>
            <a:r>
              <a:rPr lang="en" sz="1200">
                <a:solidFill>
                  <a:srgbClr val="000000"/>
                </a:solidFill>
                <a:latin typeface="Verdana"/>
                <a:ea typeface="Verdana"/>
                <a:cs typeface="Verdana"/>
                <a:sym typeface="Verdana"/>
              </a:rPr>
              <a:t> = 8/17 = 0.47 (</a:t>
            </a:r>
            <a:r>
              <a:rPr lang="en" sz="1200" u="sng">
                <a:solidFill>
                  <a:srgbClr val="000000"/>
                </a:solidFill>
                <a:latin typeface="Verdana"/>
                <a:ea typeface="Verdana"/>
                <a:cs typeface="Verdana"/>
                <a:sym typeface="Verdana"/>
              </a:rPr>
              <a:t>Likelihood</a:t>
            </a:r>
            <a:r>
              <a:rPr lang="en" sz="1200">
                <a:solidFill>
                  <a:srgbClr val="000000"/>
                </a:solidFill>
                <a:latin typeface="Verdana"/>
                <a:ea typeface="Verdana"/>
                <a:cs typeface="Verdana"/>
                <a:sym typeface="Verdana"/>
              </a:rPr>
              <a:t>)</a:t>
            </a:r>
            <a:endParaRPr sz="1200">
              <a:solidFill>
                <a:srgbClr val="000000"/>
              </a:solidFill>
              <a:latin typeface="Verdana"/>
              <a:ea typeface="Verdana"/>
              <a:cs typeface="Verdana"/>
              <a:sym typeface="Verdana"/>
            </a:endParaRPr>
          </a:p>
          <a:p>
            <a:pPr indent="-304800" lvl="2" marL="1371600" rtl="0" algn="l">
              <a:lnSpc>
                <a:spcPct val="105000"/>
              </a:lnSpc>
              <a:spcBef>
                <a:spcPts val="0"/>
              </a:spcBef>
              <a:spcAft>
                <a:spcPts val="0"/>
              </a:spcAft>
              <a:buClr>
                <a:srgbClr val="000000"/>
              </a:buClr>
              <a:buSzPts val="1200"/>
              <a:buFont typeface="Verdana"/>
              <a:buChar char="○"/>
            </a:pPr>
            <a:r>
              <a:rPr lang="en" sz="1200">
                <a:solidFill>
                  <a:srgbClr val="000000"/>
                </a:solidFill>
                <a:latin typeface="Verdana"/>
                <a:ea typeface="Verdana"/>
                <a:cs typeface="Verdana"/>
                <a:sym typeface="Verdana"/>
              </a:rPr>
              <a:t>Friend → 5 times</a:t>
            </a:r>
            <a:r>
              <a:rPr lang="en" sz="1200">
                <a:solidFill>
                  <a:schemeClr val="dk2"/>
                </a:solidFill>
                <a:latin typeface="Verdana"/>
                <a:ea typeface="Verdana"/>
                <a:cs typeface="Verdana"/>
                <a:sym typeface="Verdana"/>
              </a:rPr>
              <a:t> → </a:t>
            </a:r>
            <a:r>
              <a:rPr lang="en" sz="1200">
                <a:solidFill>
                  <a:schemeClr val="dk2"/>
                </a:solidFill>
                <a:latin typeface="Source Code Pro"/>
                <a:ea typeface="Source Code Pro"/>
                <a:cs typeface="Source Code Pro"/>
                <a:sym typeface="Source Code Pro"/>
              </a:rPr>
              <a:t>P(Friend | Normal)</a:t>
            </a:r>
            <a:r>
              <a:rPr lang="en" sz="1200">
                <a:solidFill>
                  <a:schemeClr val="dk2"/>
                </a:solidFill>
                <a:latin typeface="Verdana"/>
                <a:ea typeface="Verdana"/>
                <a:cs typeface="Verdana"/>
                <a:sym typeface="Verdana"/>
              </a:rPr>
              <a:t> = 5/17 = 0.29</a:t>
            </a:r>
            <a:endParaRPr sz="1200">
              <a:solidFill>
                <a:srgbClr val="000000"/>
              </a:solidFill>
              <a:latin typeface="Verdana"/>
              <a:ea typeface="Verdana"/>
              <a:cs typeface="Verdana"/>
              <a:sym typeface="Verdana"/>
            </a:endParaRPr>
          </a:p>
          <a:p>
            <a:pPr indent="-304800" lvl="2" marL="1371600" rtl="0" algn="l">
              <a:lnSpc>
                <a:spcPct val="105000"/>
              </a:lnSpc>
              <a:spcBef>
                <a:spcPts val="0"/>
              </a:spcBef>
              <a:spcAft>
                <a:spcPts val="0"/>
              </a:spcAft>
              <a:buClr>
                <a:srgbClr val="000000"/>
              </a:buClr>
              <a:buSzPts val="1200"/>
              <a:buFont typeface="Verdana"/>
              <a:buChar char="○"/>
            </a:pPr>
            <a:r>
              <a:rPr lang="en" sz="1200">
                <a:solidFill>
                  <a:srgbClr val="000000"/>
                </a:solidFill>
                <a:latin typeface="Verdana"/>
                <a:ea typeface="Verdana"/>
                <a:cs typeface="Verdana"/>
                <a:sym typeface="Verdana"/>
              </a:rPr>
              <a:t>Lunch → 3 times</a:t>
            </a:r>
            <a:r>
              <a:rPr lang="en" sz="1200">
                <a:solidFill>
                  <a:schemeClr val="dk2"/>
                </a:solidFill>
                <a:latin typeface="Verdana"/>
                <a:ea typeface="Verdana"/>
                <a:cs typeface="Verdana"/>
                <a:sym typeface="Verdana"/>
              </a:rPr>
              <a:t> → </a:t>
            </a:r>
            <a:r>
              <a:rPr lang="en" sz="1200">
                <a:solidFill>
                  <a:schemeClr val="dk2"/>
                </a:solidFill>
                <a:latin typeface="Source Code Pro"/>
                <a:ea typeface="Source Code Pro"/>
                <a:cs typeface="Source Code Pro"/>
                <a:sym typeface="Source Code Pro"/>
              </a:rPr>
              <a:t>P(Lunch | Normal)</a:t>
            </a:r>
            <a:r>
              <a:rPr lang="en" sz="1200">
                <a:solidFill>
                  <a:schemeClr val="dk2"/>
                </a:solidFill>
                <a:latin typeface="Verdana"/>
                <a:ea typeface="Verdana"/>
                <a:cs typeface="Verdana"/>
                <a:sym typeface="Verdana"/>
              </a:rPr>
              <a:t> = 3/17 = 0.18</a:t>
            </a:r>
            <a:endParaRPr sz="1200">
              <a:solidFill>
                <a:srgbClr val="000000"/>
              </a:solidFill>
              <a:latin typeface="Verdana"/>
              <a:ea typeface="Verdana"/>
              <a:cs typeface="Verdana"/>
              <a:sym typeface="Verdana"/>
            </a:endParaRPr>
          </a:p>
          <a:p>
            <a:pPr indent="-304800" lvl="2" marL="1371600" rtl="0" algn="l">
              <a:lnSpc>
                <a:spcPct val="105000"/>
              </a:lnSpc>
              <a:spcBef>
                <a:spcPts val="0"/>
              </a:spcBef>
              <a:spcAft>
                <a:spcPts val="0"/>
              </a:spcAft>
              <a:buClr>
                <a:srgbClr val="000000"/>
              </a:buClr>
              <a:buSzPts val="1200"/>
              <a:buFont typeface="Verdana"/>
              <a:buChar char="○"/>
            </a:pPr>
            <a:r>
              <a:rPr lang="en" sz="1200">
                <a:solidFill>
                  <a:srgbClr val="000000"/>
                </a:solidFill>
                <a:latin typeface="Verdana"/>
                <a:ea typeface="Verdana"/>
                <a:cs typeface="Verdana"/>
                <a:sym typeface="Verdana"/>
              </a:rPr>
              <a:t>Money → 1 time</a:t>
            </a:r>
            <a:r>
              <a:rPr lang="en" sz="1200">
                <a:solidFill>
                  <a:schemeClr val="dk2"/>
                </a:solidFill>
                <a:latin typeface="Verdana"/>
                <a:ea typeface="Verdana"/>
                <a:cs typeface="Verdana"/>
                <a:sym typeface="Verdana"/>
              </a:rPr>
              <a:t> → </a:t>
            </a:r>
            <a:r>
              <a:rPr lang="en" sz="1200">
                <a:solidFill>
                  <a:schemeClr val="dk2"/>
                </a:solidFill>
                <a:latin typeface="Source Code Pro"/>
                <a:ea typeface="Source Code Pro"/>
                <a:cs typeface="Source Code Pro"/>
                <a:sym typeface="Source Code Pro"/>
              </a:rPr>
              <a:t>P(Money | Normal)</a:t>
            </a:r>
            <a:r>
              <a:rPr lang="en" sz="1200">
                <a:solidFill>
                  <a:schemeClr val="dk2"/>
                </a:solidFill>
                <a:latin typeface="Verdana"/>
                <a:ea typeface="Verdana"/>
                <a:cs typeface="Verdana"/>
                <a:sym typeface="Verdana"/>
              </a:rPr>
              <a:t> = 1/17 = 0.06</a:t>
            </a:r>
            <a:br>
              <a:rPr lang="en" sz="1200">
                <a:solidFill>
                  <a:srgbClr val="000000"/>
                </a:solidFill>
                <a:latin typeface="Verdana"/>
                <a:ea typeface="Verdana"/>
                <a:cs typeface="Verdana"/>
                <a:sym typeface="Verdana"/>
              </a:rPr>
            </a:br>
            <a:endParaRPr sz="1200">
              <a:solidFill>
                <a:srgbClr val="000000"/>
              </a:solidFill>
              <a:latin typeface="Verdana"/>
              <a:ea typeface="Verdana"/>
              <a:cs typeface="Verdana"/>
              <a:sym typeface="Verdana"/>
            </a:endParaRPr>
          </a:p>
          <a:p>
            <a:pPr indent="-304800" lvl="1" marL="914400" rtl="0" algn="l">
              <a:lnSpc>
                <a:spcPct val="105000"/>
              </a:lnSpc>
              <a:spcBef>
                <a:spcPts val="0"/>
              </a:spcBef>
              <a:spcAft>
                <a:spcPts val="0"/>
              </a:spcAft>
              <a:buClr>
                <a:srgbClr val="0000FF"/>
              </a:buClr>
              <a:buSzPts val="1200"/>
              <a:buFont typeface="Verdana"/>
              <a:buChar char="➢"/>
            </a:pPr>
            <a:r>
              <a:rPr b="1" lang="en" sz="1200">
                <a:solidFill>
                  <a:srgbClr val="0000FF"/>
                </a:solidFill>
                <a:latin typeface="Verdana"/>
                <a:ea typeface="Verdana"/>
                <a:cs typeface="Verdana"/>
                <a:sym typeface="Verdana"/>
              </a:rPr>
              <a:t>Spam → 4 documents → P(Normal) = 4/12 = 0.33</a:t>
            </a:r>
            <a:endParaRPr b="1" sz="1200">
              <a:solidFill>
                <a:srgbClr val="0000FF"/>
              </a:solidFill>
              <a:latin typeface="Verdana"/>
              <a:ea typeface="Verdana"/>
              <a:cs typeface="Verdana"/>
              <a:sym typeface="Verdana"/>
            </a:endParaRPr>
          </a:p>
          <a:p>
            <a:pPr indent="-304800" lvl="2" marL="1371600" rtl="0" algn="l">
              <a:lnSpc>
                <a:spcPct val="105000"/>
              </a:lnSpc>
              <a:spcBef>
                <a:spcPts val="0"/>
              </a:spcBef>
              <a:spcAft>
                <a:spcPts val="0"/>
              </a:spcAft>
              <a:buClr>
                <a:schemeClr val="dk2"/>
              </a:buClr>
              <a:buSzPts val="1200"/>
              <a:buFont typeface="Verdana"/>
              <a:buChar char="○"/>
            </a:pPr>
            <a:r>
              <a:rPr lang="en" sz="1200">
                <a:solidFill>
                  <a:schemeClr val="dk2"/>
                </a:solidFill>
                <a:latin typeface="Verdana"/>
                <a:ea typeface="Verdana"/>
                <a:cs typeface="Verdana"/>
                <a:sym typeface="Verdana"/>
              </a:rPr>
              <a:t>Dear → 2 times → </a:t>
            </a:r>
            <a:r>
              <a:rPr lang="en" sz="1200">
                <a:solidFill>
                  <a:schemeClr val="dk2"/>
                </a:solidFill>
                <a:latin typeface="Source Code Pro"/>
                <a:ea typeface="Source Code Pro"/>
                <a:cs typeface="Source Code Pro"/>
                <a:sym typeface="Source Code Pro"/>
              </a:rPr>
              <a:t>P(Dear | Spam)</a:t>
            </a:r>
            <a:r>
              <a:rPr lang="en" sz="1200">
                <a:solidFill>
                  <a:schemeClr val="dk2"/>
                </a:solidFill>
                <a:latin typeface="Verdana"/>
                <a:ea typeface="Verdana"/>
                <a:cs typeface="Verdana"/>
                <a:sym typeface="Verdana"/>
              </a:rPr>
              <a:t> = 2/7 = 0.29</a:t>
            </a:r>
            <a:endParaRPr sz="1200">
              <a:solidFill>
                <a:schemeClr val="dk2"/>
              </a:solidFill>
              <a:latin typeface="Verdana"/>
              <a:ea typeface="Verdana"/>
              <a:cs typeface="Verdana"/>
              <a:sym typeface="Verdana"/>
            </a:endParaRPr>
          </a:p>
          <a:p>
            <a:pPr indent="-304800" lvl="2" marL="1371600" rtl="0" algn="l">
              <a:lnSpc>
                <a:spcPct val="105000"/>
              </a:lnSpc>
              <a:spcBef>
                <a:spcPts val="0"/>
              </a:spcBef>
              <a:spcAft>
                <a:spcPts val="0"/>
              </a:spcAft>
              <a:buClr>
                <a:schemeClr val="dk2"/>
              </a:buClr>
              <a:buSzPts val="1200"/>
              <a:buFont typeface="Verdana"/>
              <a:buChar char="○"/>
            </a:pPr>
            <a:r>
              <a:rPr lang="en" sz="1200">
                <a:solidFill>
                  <a:schemeClr val="dk2"/>
                </a:solidFill>
                <a:latin typeface="Verdana"/>
                <a:ea typeface="Verdana"/>
                <a:cs typeface="Verdana"/>
                <a:sym typeface="Verdana"/>
              </a:rPr>
              <a:t>Friend → 1 times → </a:t>
            </a:r>
            <a:r>
              <a:rPr lang="en" sz="1200">
                <a:solidFill>
                  <a:schemeClr val="dk2"/>
                </a:solidFill>
                <a:latin typeface="Source Code Pro"/>
                <a:ea typeface="Source Code Pro"/>
                <a:cs typeface="Source Code Pro"/>
                <a:sym typeface="Source Code Pro"/>
              </a:rPr>
              <a:t>P(Friend | Spam)</a:t>
            </a:r>
            <a:r>
              <a:rPr lang="en" sz="1200">
                <a:solidFill>
                  <a:schemeClr val="dk2"/>
                </a:solidFill>
                <a:latin typeface="Verdana"/>
                <a:ea typeface="Verdana"/>
                <a:cs typeface="Verdana"/>
                <a:sym typeface="Verdana"/>
              </a:rPr>
              <a:t> = 1/7 = 0.14</a:t>
            </a:r>
            <a:endParaRPr sz="1200">
              <a:solidFill>
                <a:schemeClr val="dk2"/>
              </a:solidFill>
              <a:latin typeface="Verdana"/>
              <a:ea typeface="Verdana"/>
              <a:cs typeface="Verdana"/>
              <a:sym typeface="Verdana"/>
            </a:endParaRPr>
          </a:p>
          <a:p>
            <a:pPr indent="-304800" lvl="2" marL="1371600" rtl="0" algn="l">
              <a:lnSpc>
                <a:spcPct val="105000"/>
              </a:lnSpc>
              <a:spcBef>
                <a:spcPts val="0"/>
              </a:spcBef>
              <a:spcAft>
                <a:spcPts val="0"/>
              </a:spcAft>
              <a:buClr>
                <a:schemeClr val="dk2"/>
              </a:buClr>
              <a:buSzPts val="1200"/>
              <a:buFont typeface="Verdana"/>
              <a:buChar char="○"/>
            </a:pPr>
            <a:r>
              <a:rPr lang="en" sz="1200">
                <a:solidFill>
                  <a:schemeClr val="dk2"/>
                </a:solidFill>
                <a:latin typeface="Verdana"/>
                <a:ea typeface="Verdana"/>
                <a:cs typeface="Verdana"/>
                <a:sym typeface="Verdana"/>
              </a:rPr>
              <a:t>Lunch → 0 times → </a:t>
            </a:r>
            <a:r>
              <a:rPr lang="en" sz="1200">
                <a:solidFill>
                  <a:schemeClr val="dk2"/>
                </a:solidFill>
                <a:latin typeface="Source Code Pro"/>
                <a:ea typeface="Source Code Pro"/>
                <a:cs typeface="Source Code Pro"/>
                <a:sym typeface="Source Code Pro"/>
              </a:rPr>
              <a:t>P(Lunch | Spam)</a:t>
            </a:r>
            <a:r>
              <a:rPr lang="en" sz="1200">
                <a:solidFill>
                  <a:schemeClr val="dk2"/>
                </a:solidFill>
                <a:latin typeface="Verdana"/>
                <a:ea typeface="Verdana"/>
                <a:cs typeface="Verdana"/>
                <a:sym typeface="Verdana"/>
              </a:rPr>
              <a:t> = 0/7 = 0</a:t>
            </a:r>
            <a:endParaRPr sz="1200">
              <a:solidFill>
                <a:schemeClr val="dk2"/>
              </a:solidFill>
              <a:latin typeface="Verdana"/>
              <a:ea typeface="Verdana"/>
              <a:cs typeface="Verdana"/>
              <a:sym typeface="Verdana"/>
            </a:endParaRPr>
          </a:p>
          <a:p>
            <a:pPr indent="-323850" lvl="2" marL="1371600" rtl="0" algn="l">
              <a:lnSpc>
                <a:spcPct val="105000"/>
              </a:lnSpc>
              <a:spcBef>
                <a:spcPts val="0"/>
              </a:spcBef>
              <a:spcAft>
                <a:spcPts val="0"/>
              </a:spcAft>
              <a:buClr>
                <a:schemeClr val="dk2"/>
              </a:buClr>
              <a:buSzPts val="1500"/>
              <a:buFont typeface="Verdana"/>
              <a:buChar char="○"/>
            </a:pPr>
            <a:r>
              <a:rPr lang="en" sz="1200">
                <a:solidFill>
                  <a:schemeClr val="dk2"/>
                </a:solidFill>
                <a:latin typeface="Verdana"/>
                <a:ea typeface="Verdana"/>
                <a:cs typeface="Verdana"/>
                <a:sym typeface="Verdana"/>
              </a:rPr>
              <a:t>Money → 4 times → </a:t>
            </a:r>
            <a:r>
              <a:rPr lang="en" sz="1200">
                <a:solidFill>
                  <a:schemeClr val="dk2"/>
                </a:solidFill>
                <a:latin typeface="Source Code Pro"/>
                <a:ea typeface="Source Code Pro"/>
                <a:cs typeface="Source Code Pro"/>
                <a:sym typeface="Source Code Pro"/>
              </a:rPr>
              <a:t>P(Money | Spam)</a:t>
            </a:r>
            <a:r>
              <a:rPr lang="en" sz="1200">
                <a:solidFill>
                  <a:schemeClr val="dk2"/>
                </a:solidFill>
                <a:latin typeface="Verdana"/>
                <a:ea typeface="Verdana"/>
                <a:cs typeface="Verdana"/>
                <a:sym typeface="Verdana"/>
              </a:rPr>
              <a:t> = 4/7 = 0.57</a:t>
            </a:r>
            <a:br>
              <a:rPr lang="en" sz="1500">
                <a:solidFill>
                  <a:schemeClr val="dk2"/>
                </a:solidFill>
                <a:latin typeface="Verdana"/>
                <a:ea typeface="Verdana"/>
                <a:cs typeface="Verdana"/>
                <a:sym typeface="Verdana"/>
              </a:rPr>
            </a:br>
            <a:endParaRPr sz="1500">
              <a:solidFill>
                <a:schemeClr val="dk2"/>
              </a:solidFill>
              <a:latin typeface="Verdana"/>
              <a:ea typeface="Verdana"/>
              <a:cs typeface="Verdana"/>
              <a:sym typeface="Verdana"/>
            </a:endParaRPr>
          </a:p>
          <a:p>
            <a:pPr indent="-314325" lvl="0" marL="457200" rtl="0" algn="l">
              <a:lnSpc>
                <a:spcPct val="105000"/>
              </a:lnSpc>
              <a:spcBef>
                <a:spcPts val="0"/>
              </a:spcBef>
              <a:spcAft>
                <a:spcPts val="0"/>
              </a:spcAft>
              <a:buClr>
                <a:schemeClr val="dk2"/>
              </a:buClr>
              <a:buSzPts val="1350"/>
              <a:buFont typeface="Verdana"/>
              <a:buChar char="●"/>
            </a:pPr>
            <a:r>
              <a:rPr lang="en" sz="1350">
                <a:solidFill>
                  <a:schemeClr val="dk2"/>
                </a:solidFill>
                <a:latin typeface="Verdana"/>
                <a:ea typeface="Verdana"/>
                <a:cs typeface="Verdana"/>
                <a:sym typeface="Verdana"/>
              </a:rPr>
              <a:t>Now, let’s predict "</a:t>
            </a:r>
            <a:r>
              <a:rPr b="1" lang="en" sz="1350">
                <a:solidFill>
                  <a:srgbClr val="980000"/>
                </a:solidFill>
                <a:latin typeface="Verdana"/>
                <a:ea typeface="Verdana"/>
                <a:cs typeface="Verdana"/>
                <a:sym typeface="Verdana"/>
              </a:rPr>
              <a:t>Lunch Money Money Money Money</a:t>
            </a:r>
            <a:r>
              <a:rPr lang="en" sz="1350">
                <a:solidFill>
                  <a:schemeClr val="dk2"/>
                </a:solidFill>
                <a:latin typeface="Verdana"/>
                <a:ea typeface="Verdana"/>
                <a:cs typeface="Verdana"/>
                <a:sym typeface="Verdana"/>
              </a:rPr>
              <a:t>"</a:t>
            </a:r>
            <a:endParaRPr sz="1350">
              <a:solidFill>
                <a:srgbClr val="000000"/>
              </a:solidFill>
              <a:latin typeface="Verdana"/>
              <a:ea typeface="Verdana"/>
              <a:cs typeface="Verdana"/>
              <a:sym typeface="Verdana"/>
            </a:endParaRPr>
          </a:p>
        </p:txBody>
      </p:sp>
      <p:sp>
        <p:nvSpPr>
          <p:cNvPr id="144" name="Google Shape;144;p25"/>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Multinomial Naive Bayes</a:t>
            </a:r>
            <a:endParaRPr>
              <a:solidFill>
                <a:srgbClr val="980000"/>
              </a:solidFill>
              <a:latin typeface="Verdana"/>
              <a:ea typeface="Verdana"/>
              <a:cs typeface="Verdana"/>
              <a:sym typeface="Verdana"/>
            </a:endParaRPr>
          </a:p>
        </p:txBody>
      </p:sp>
      <p:sp>
        <p:nvSpPr>
          <p:cNvPr id="145" name="Google Shape;145;p25"/>
          <p:cNvSpPr txBox="1"/>
          <p:nvPr/>
        </p:nvSpPr>
        <p:spPr>
          <a:xfrm>
            <a:off x="374575" y="3382175"/>
            <a:ext cx="8520600" cy="1826400"/>
          </a:xfrm>
          <a:prstGeom prst="rect">
            <a:avLst/>
          </a:prstGeom>
          <a:noFill/>
          <a:ln>
            <a:noFill/>
          </a:ln>
        </p:spPr>
        <p:txBody>
          <a:bodyPr anchorCtr="0" anchor="t" bIns="91425" lIns="91425" spcFirstLastPara="1" rIns="91425" wrap="square" tIns="91425">
            <a:spAutoFit/>
          </a:bodyPr>
          <a:lstStyle/>
          <a:p>
            <a:pPr indent="-314325" lvl="1" marL="914400" rtl="0" algn="l">
              <a:lnSpc>
                <a:spcPct val="115000"/>
              </a:lnSpc>
              <a:spcBef>
                <a:spcPts val="0"/>
              </a:spcBef>
              <a:spcAft>
                <a:spcPts val="0"/>
              </a:spcAft>
              <a:buClr>
                <a:schemeClr val="dk2"/>
              </a:buClr>
              <a:buSzPts val="1350"/>
              <a:buFont typeface="Verdana"/>
              <a:buChar char="➢"/>
            </a:pPr>
            <a:r>
              <a:rPr b="1" lang="en" sz="1350">
                <a:solidFill>
                  <a:srgbClr val="0000FF"/>
                </a:solidFill>
                <a:latin typeface="Verdana"/>
                <a:ea typeface="Verdana"/>
                <a:cs typeface="Verdana"/>
                <a:sym typeface="Verdana"/>
              </a:rPr>
              <a:t>Normal</a:t>
            </a:r>
            <a:r>
              <a:rPr lang="en" sz="1350">
                <a:solidFill>
                  <a:schemeClr val="dk2"/>
                </a:solidFill>
                <a:latin typeface="Verdana"/>
                <a:ea typeface="Verdana"/>
                <a:cs typeface="Verdana"/>
                <a:sym typeface="Verdana"/>
              </a:rPr>
              <a:t> → </a:t>
            </a:r>
            <a:r>
              <a:rPr lang="en" sz="1350">
                <a:solidFill>
                  <a:schemeClr val="dk2"/>
                </a:solidFill>
                <a:latin typeface="Source Code Pro"/>
                <a:ea typeface="Source Code Pro"/>
                <a:cs typeface="Source Code Pro"/>
                <a:sym typeface="Source Code Pro"/>
              </a:rPr>
              <a:t>P(Normal) * P(Lunch|Normal) * P(Money|Normal)</a:t>
            </a:r>
            <a:r>
              <a:rPr baseline="30000" lang="en" sz="1350">
                <a:solidFill>
                  <a:schemeClr val="dk2"/>
                </a:solidFill>
                <a:latin typeface="Source Code Pro"/>
                <a:ea typeface="Source Code Pro"/>
                <a:cs typeface="Source Code Pro"/>
                <a:sym typeface="Source Code Pro"/>
              </a:rPr>
              <a:t>4</a:t>
            </a:r>
            <a:r>
              <a:rPr lang="en" sz="1350">
                <a:solidFill>
                  <a:schemeClr val="dk2"/>
                </a:solidFill>
                <a:latin typeface="Source Code Pro"/>
                <a:ea typeface="Source Code Pro"/>
                <a:cs typeface="Source Code Pro"/>
                <a:sym typeface="Source Code Pro"/>
              </a:rPr>
              <a:t> </a:t>
            </a:r>
            <a:br>
              <a:rPr lang="en" sz="1350">
                <a:solidFill>
                  <a:schemeClr val="dk2"/>
                </a:solidFill>
                <a:latin typeface="Source Code Pro"/>
                <a:ea typeface="Source Code Pro"/>
                <a:cs typeface="Source Code Pro"/>
                <a:sym typeface="Source Code Pro"/>
              </a:rPr>
            </a:br>
            <a:r>
              <a:rPr lang="en" sz="1350">
                <a:solidFill>
                  <a:schemeClr val="dk2"/>
                </a:solidFill>
                <a:latin typeface="Source Code Pro"/>
                <a:ea typeface="Source Code Pro"/>
                <a:cs typeface="Source Code Pro"/>
                <a:sym typeface="Source Code Pro"/>
              </a:rPr>
              <a:t>= 0.67 * 0.18 * 0.06</a:t>
            </a:r>
            <a:r>
              <a:rPr baseline="30000" lang="en" sz="1350">
                <a:solidFill>
                  <a:schemeClr val="dk2"/>
                </a:solidFill>
                <a:latin typeface="Source Code Pro"/>
                <a:ea typeface="Source Code Pro"/>
                <a:cs typeface="Source Code Pro"/>
                <a:sym typeface="Source Code Pro"/>
              </a:rPr>
              <a:t>4 </a:t>
            </a:r>
            <a:r>
              <a:rPr lang="en" sz="1350">
                <a:solidFill>
                  <a:schemeClr val="dk2"/>
                </a:solidFill>
                <a:latin typeface="Source Code Pro"/>
                <a:ea typeface="Source Code Pro"/>
                <a:cs typeface="Source Code Pro"/>
                <a:sym typeface="Source Code Pro"/>
              </a:rPr>
              <a:t>= </a:t>
            </a:r>
            <a:r>
              <a:rPr b="1" lang="en" sz="1350">
                <a:solidFill>
                  <a:srgbClr val="980000"/>
                </a:solidFill>
                <a:latin typeface="Source Code Pro"/>
                <a:ea typeface="Source Code Pro"/>
                <a:cs typeface="Source Code Pro"/>
                <a:sym typeface="Source Code Pro"/>
              </a:rPr>
              <a:t>0.000002</a:t>
            </a:r>
            <a:br>
              <a:rPr lang="en" sz="1350">
                <a:solidFill>
                  <a:schemeClr val="dk2"/>
                </a:solidFill>
                <a:latin typeface="Source Code Pro"/>
                <a:ea typeface="Source Code Pro"/>
                <a:cs typeface="Source Code Pro"/>
                <a:sym typeface="Source Code Pro"/>
              </a:rPr>
            </a:br>
            <a:endParaRPr sz="1350">
              <a:solidFill>
                <a:schemeClr val="dk2"/>
              </a:solidFill>
              <a:latin typeface="Verdana"/>
              <a:ea typeface="Verdana"/>
              <a:cs typeface="Verdana"/>
              <a:sym typeface="Verdana"/>
            </a:endParaRPr>
          </a:p>
          <a:p>
            <a:pPr indent="-314325" lvl="1" marL="914400" rtl="0" algn="l">
              <a:lnSpc>
                <a:spcPct val="115000"/>
              </a:lnSpc>
              <a:spcBef>
                <a:spcPts val="0"/>
              </a:spcBef>
              <a:spcAft>
                <a:spcPts val="0"/>
              </a:spcAft>
              <a:buClr>
                <a:schemeClr val="dk2"/>
              </a:buClr>
              <a:buSzPts val="1350"/>
              <a:buFont typeface="Verdana"/>
              <a:buChar char="➢"/>
            </a:pPr>
            <a:r>
              <a:rPr b="1" lang="en" sz="1350">
                <a:solidFill>
                  <a:srgbClr val="0000FF"/>
                </a:solidFill>
                <a:latin typeface="Verdana"/>
                <a:ea typeface="Verdana"/>
                <a:cs typeface="Verdana"/>
                <a:sym typeface="Verdana"/>
              </a:rPr>
              <a:t>Spam</a:t>
            </a:r>
            <a:r>
              <a:rPr lang="en" sz="1350">
                <a:solidFill>
                  <a:schemeClr val="dk2"/>
                </a:solidFill>
                <a:latin typeface="Verdana"/>
                <a:ea typeface="Verdana"/>
                <a:cs typeface="Verdana"/>
                <a:sym typeface="Verdana"/>
              </a:rPr>
              <a:t> → </a:t>
            </a:r>
            <a:r>
              <a:rPr lang="en" sz="1350">
                <a:solidFill>
                  <a:schemeClr val="dk2"/>
                </a:solidFill>
                <a:latin typeface="Source Code Pro"/>
                <a:ea typeface="Source Code Pro"/>
                <a:cs typeface="Source Code Pro"/>
                <a:sym typeface="Source Code Pro"/>
              </a:rPr>
              <a:t>P(Spam) * P(Lunch|Spam) * P(Money|Spam)</a:t>
            </a:r>
            <a:r>
              <a:rPr baseline="30000" lang="en" sz="1350">
                <a:solidFill>
                  <a:schemeClr val="dk2"/>
                </a:solidFill>
                <a:latin typeface="Source Code Pro"/>
                <a:ea typeface="Source Code Pro"/>
                <a:cs typeface="Source Code Pro"/>
                <a:sym typeface="Source Code Pro"/>
              </a:rPr>
              <a:t>4</a:t>
            </a:r>
            <a:r>
              <a:rPr lang="en" sz="1350">
                <a:solidFill>
                  <a:schemeClr val="dk2"/>
                </a:solidFill>
                <a:latin typeface="Source Code Pro"/>
                <a:ea typeface="Source Code Pro"/>
                <a:cs typeface="Source Code Pro"/>
                <a:sym typeface="Source Code Pro"/>
              </a:rPr>
              <a:t> </a:t>
            </a:r>
            <a:br>
              <a:rPr lang="en" sz="1350">
                <a:solidFill>
                  <a:schemeClr val="dk2"/>
                </a:solidFill>
                <a:latin typeface="Source Code Pro"/>
                <a:ea typeface="Source Code Pro"/>
                <a:cs typeface="Source Code Pro"/>
                <a:sym typeface="Source Code Pro"/>
              </a:rPr>
            </a:br>
            <a:r>
              <a:rPr lang="en" sz="1350">
                <a:solidFill>
                  <a:schemeClr val="dk2"/>
                </a:solidFill>
                <a:latin typeface="Source Code Pro"/>
                <a:ea typeface="Source Code Pro"/>
                <a:cs typeface="Source Code Pro"/>
                <a:sym typeface="Source Code Pro"/>
              </a:rPr>
              <a:t>= 0.33 * 0 * 0.57</a:t>
            </a:r>
            <a:r>
              <a:rPr baseline="30000" lang="en" sz="1350">
                <a:solidFill>
                  <a:schemeClr val="dk2"/>
                </a:solidFill>
                <a:latin typeface="Source Code Pro"/>
                <a:ea typeface="Source Code Pro"/>
                <a:cs typeface="Source Code Pro"/>
                <a:sym typeface="Source Code Pro"/>
              </a:rPr>
              <a:t>4</a:t>
            </a:r>
            <a:r>
              <a:rPr lang="en" sz="1350">
                <a:solidFill>
                  <a:schemeClr val="dk2"/>
                </a:solidFill>
                <a:latin typeface="Source Code Pro"/>
                <a:ea typeface="Source Code Pro"/>
                <a:cs typeface="Source Code Pro"/>
                <a:sym typeface="Source Code Pro"/>
              </a:rPr>
              <a:t> = </a:t>
            </a:r>
            <a:r>
              <a:rPr b="1" lang="en" sz="1350">
                <a:solidFill>
                  <a:srgbClr val="980000"/>
                </a:solidFill>
                <a:latin typeface="Source Code Pro"/>
                <a:ea typeface="Source Code Pro"/>
                <a:cs typeface="Source Code Pro"/>
                <a:sym typeface="Source Code Pro"/>
              </a:rPr>
              <a:t>0</a:t>
            </a:r>
            <a:br>
              <a:rPr b="1" lang="en" sz="1350">
                <a:solidFill>
                  <a:srgbClr val="980000"/>
                </a:solidFill>
                <a:latin typeface="Source Code Pro"/>
                <a:ea typeface="Source Code Pro"/>
                <a:cs typeface="Source Code Pro"/>
                <a:sym typeface="Source Code Pro"/>
              </a:rPr>
            </a:br>
            <a:endParaRPr sz="1350">
              <a:solidFill>
                <a:schemeClr val="dk2"/>
              </a:solidFill>
              <a:latin typeface="Verdana"/>
              <a:ea typeface="Verdana"/>
              <a:cs typeface="Verdana"/>
              <a:sym typeface="Verdana"/>
            </a:endParaRPr>
          </a:p>
          <a:p>
            <a:pPr indent="-314325" lvl="1" marL="914400" rtl="0" algn="l">
              <a:lnSpc>
                <a:spcPct val="115000"/>
              </a:lnSpc>
              <a:spcBef>
                <a:spcPts val="0"/>
              </a:spcBef>
              <a:spcAft>
                <a:spcPts val="0"/>
              </a:spcAft>
              <a:buClr>
                <a:schemeClr val="dk2"/>
              </a:buClr>
              <a:buSzPts val="1350"/>
              <a:buFont typeface="Verdana"/>
              <a:buChar char="➢"/>
            </a:pPr>
            <a:r>
              <a:rPr lang="en" sz="1350">
                <a:solidFill>
                  <a:schemeClr val="dk2"/>
                </a:solidFill>
                <a:latin typeface="Verdana"/>
                <a:ea typeface="Verdana"/>
                <a:cs typeface="Verdana"/>
                <a:sym typeface="Verdana"/>
              </a:rPr>
              <a:t>We have a </a:t>
            </a:r>
            <a:r>
              <a:rPr b="1" lang="en" sz="1350">
                <a:solidFill>
                  <a:srgbClr val="980000"/>
                </a:solidFill>
                <a:latin typeface="Verdana"/>
                <a:ea typeface="Verdana"/>
                <a:cs typeface="Verdana"/>
                <a:sym typeface="Verdana"/>
              </a:rPr>
              <a:t>problem with zero probabilities</a:t>
            </a:r>
            <a:r>
              <a:rPr lang="en" sz="1350">
                <a:solidFill>
                  <a:schemeClr val="dk2"/>
                </a:solidFill>
                <a:latin typeface="Verdana"/>
                <a:ea typeface="Verdana"/>
                <a:cs typeface="Verdana"/>
                <a:sym typeface="Verdana"/>
              </a:rPr>
              <a:t>!</a:t>
            </a:r>
            <a:endParaRPr sz="1350">
              <a:latin typeface="Source Sans Pro"/>
              <a:ea typeface="Source Sans Pro"/>
              <a:cs typeface="Source Sans Pro"/>
              <a:sym typeface="Source Sans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1000"/>
                                        <p:tgtEl>
                                          <p:spTgt spid="1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idx="1" type="body"/>
          </p:nvPr>
        </p:nvSpPr>
        <p:spPr>
          <a:xfrm>
            <a:off x="311700" y="763625"/>
            <a:ext cx="8655900" cy="43158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Font typeface="Verdana"/>
              <a:buChar char="●"/>
            </a:pPr>
            <a:r>
              <a:rPr lang="en" sz="1300">
                <a:solidFill>
                  <a:srgbClr val="000000"/>
                </a:solidFill>
                <a:latin typeface="Verdana"/>
                <a:ea typeface="Verdana"/>
                <a:cs typeface="Verdana"/>
                <a:sym typeface="Verdana"/>
              </a:rPr>
              <a:t>In order to get rid of this problem, we apply </a:t>
            </a:r>
            <a:r>
              <a:rPr b="1" lang="en" sz="1300">
                <a:solidFill>
                  <a:srgbClr val="0000FF"/>
                </a:solidFill>
                <a:latin typeface="Verdana"/>
                <a:ea typeface="Verdana"/>
                <a:cs typeface="Verdana"/>
                <a:sym typeface="Verdana"/>
              </a:rPr>
              <a:t>smoothing</a:t>
            </a:r>
            <a:r>
              <a:rPr lang="en" sz="1300">
                <a:solidFill>
                  <a:srgbClr val="000000"/>
                </a:solidFill>
                <a:latin typeface="Verdana"/>
                <a:ea typeface="Verdana"/>
                <a:cs typeface="Verdana"/>
                <a:sym typeface="Verdana"/>
              </a:rPr>
              <a:t> techniques</a:t>
            </a:r>
            <a:br>
              <a:rPr lang="en" sz="1300">
                <a:solidFill>
                  <a:srgbClr val="000000"/>
                </a:solidFill>
                <a:latin typeface="Verdana"/>
                <a:ea typeface="Verdana"/>
                <a:cs typeface="Verdana"/>
                <a:sym typeface="Verdana"/>
              </a:rPr>
            </a:br>
            <a:br>
              <a:rPr lang="en" sz="1300">
                <a:solidFill>
                  <a:srgbClr val="000000"/>
                </a:solidFill>
                <a:latin typeface="Verdana"/>
                <a:ea typeface="Verdana"/>
                <a:cs typeface="Verdana"/>
                <a:sym typeface="Verdana"/>
              </a:rPr>
            </a:br>
            <a:br>
              <a:rPr lang="en" sz="1300">
                <a:solidFill>
                  <a:srgbClr val="000000"/>
                </a:solidFill>
                <a:latin typeface="Verdana"/>
                <a:ea typeface="Verdana"/>
                <a:cs typeface="Verdana"/>
                <a:sym typeface="Verdana"/>
              </a:rPr>
            </a:br>
            <a:br>
              <a:rPr lang="en" sz="1300">
                <a:solidFill>
                  <a:srgbClr val="000000"/>
                </a:solidFill>
                <a:latin typeface="Verdana"/>
                <a:ea typeface="Verdana"/>
                <a:cs typeface="Verdana"/>
                <a:sym typeface="Verdana"/>
              </a:rPr>
            </a:br>
            <a:br>
              <a:rPr lang="en" sz="1300">
                <a:solidFill>
                  <a:srgbClr val="000000"/>
                </a:solidFill>
                <a:latin typeface="Verdana"/>
                <a:ea typeface="Verdana"/>
                <a:cs typeface="Verdana"/>
                <a:sym typeface="Verdana"/>
              </a:rPr>
            </a:br>
            <a:br>
              <a:rPr lang="en" sz="1300">
                <a:solidFill>
                  <a:srgbClr val="000000"/>
                </a:solidFill>
                <a:latin typeface="Verdana"/>
                <a:ea typeface="Verdana"/>
                <a:cs typeface="Verdana"/>
                <a:sym typeface="Verdana"/>
              </a:rPr>
            </a:br>
            <a:br>
              <a:rPr lang="en" sz="1300">
                <a:solidFill>
                  <a:srgbClr val="000000"/>
                </a:solidFill>
                <a:latin typeface="Verdana"/>
                <a:ea typeface="Verdana"/>
                <a:cs typeface="Verdana"/>
                <a:sym typeface="Verdana"/>
              </a:rPr>
            </a:br>
            <a:br>
              <a:rPr lang="en" sz="1300">
                <a:solidFill>
                  <a:srgbClr val="000000"/>
                </a:solidFill>
                <a:latin typeface="Verdana"/>
                <a:ea typeface="Verdana"/>
                <a:cs typeface="Verdana"/>
                <a:sym typeface="Verdana"/>
              </a:rPr>
            </a:br>
            <a:br>
              <a:rPr lang="en" sz="1300">
                <a:solidFill>
                  <a:srgbClr val="000000"/>
                </a:solidFill>
                <a:latin typeface="Verdana"/>
                <a:ea typeface="Verdana"/>
                <a:cs typeface="Verdana"/>
                <a:sym typeface="Verdana"/>
              </a:rPr>
            </a:br>
            <a:endParaRPr sz="1300">
              <a:solidFill>
                <a:srgbClr val="000000"/>
              </a:solidFill>
              <a:latin typeface="Verdana"/>
              <a:ea typeface="Verdana"/>
              <a:cs typeface="Verdana"/>
              <a:sym typeface="Verdana"/>
            </a:endParaRPr>
          </a:p>
          <a:p>
            <a:pPr indent="-311150" lvl="0" marL="457200" rtl="0" algn="l">
              <a:spcBef>
                <a:spcPts val="0"/>
              </a:spcBef>
              <a:spcAft>
                <a:spcPts val="0"/>
              </a:spcAft>
              <a:buClr>
                <a:srgbClr val="000000"/>
              </a:buClr>
              <a:buSzPts val="1300"/>
              <a:buFont typeface="Verdana"/>
              <a:buChar char="●"/>
            </a:pPr>
            <a:r>
              <a:rPr lang="en" sz="1300">
                <a:solidFill>
                  <a:srgbClr val="000000"/>
                </a:solidFill>
                <a:latin typeface="Verdana"/>
                <a:ea typeface="Verdana"/>
                <a:cs typeface="Verdana"/>
                <a:sym typeface="Verdana"/>
              </a:rPr>
              <a:t>The smoothing priors 𝜶 &gt; 0 accounts for features not present in the learning samples and </a:t>
            </a:r>
            <a:r>
              <a:rPr lang="en" sz="1300">
                <a:solidFill>
                  <a:srgbClr val="0000FF"/>
                </a:solidFill>
                <a:latin typeface="Verdana"/>
                <a:ea typeface="Verdana"/>
                <a:cs typeface="Verdana"/>
                <a:sym typeface="Verdana"/>
              </a:rPr>
              <a:t>prevents zero probabilities.</a:t>
            </a:r>
            <a:br>
              <a:rPr lang="en" sz="1300">
                <a:solidFill>
                  <a:srgbClr val="0000FF"/>
                </a:solidFill>
                <a:latin typeface="Verdana"/>
                <a:ea typeface="Verdana"/>
                <a:cs typeface="Verdana"/>
                <a:sym typeface="Verdana"/>
              </a:rPr>
            </a:br>
            <a:endParaRPr sz="1300">
              <a:solidFill>
                <a:srgbClr val="0000FF"/>
              </a:solidFill>
              <a:latin typeface="Verdana"/>
              <a:ea typeface="Verdana"/>
              <a:cs typeface="Verdana"/>
              <a:sym typeface="Verdana"/>
            </a:endParaRPr>
          </a:p>
          <a:p>
            <a:pPr indent="-311150" lvl="1" marL="914400" rtl="0" algn="l">
              <a:spcBef>
                <a:spcPts val="0"/>
              </a:spcBef>
              <a:spcAft>
                <a:spcPts val="0"/>
              </a:spcAft>
              <a:buClr>
                <a:srgbClr val="000000"/>
              </a:buClr>
              <a:buSzPts val="1300"/>
              <a:buFont typeface="Verdana"/>
              <a:buChar char="○"/>
            </a:pPr>
            <a:r>
              <a:rPr lang="en" sz="1300">
                <a:solidFill>
                  <a:schemeClr val="dk2"/>
                </a:solidFill>
                <a:latin typeface="Verdana"/>
                <a:ea typeface="Verdana"/>
                <a:cs typeface="Verdana"/>
                <a:sym typeface="Verdana"/>
              </a:rPr>
              <a:t>𝜶 = 1 → Laplace smoothing</a:t>
            </a:r>
            <a:endParaRPr sz="1300">
              <a:solidFill>
                <a:schemeClr val="dk2"/>
              </a:solidFill>
              <a:latin typeface="Verdana"/>
              <a:ea typeface="Verdana"/>
              <a:cs typeface="Verdana"/>
              <a:sym typeface="Verdana"/>
            </a:endParaRPr>
          </a:p>
          <a:p>
            <a:pPr indent="-311150" lvl="1" marL="914400" rtl="0" algn="l">
              <a:spcBef>
                <a:spcPts val="0"/>
              </a:spcBef>
              <a:spcAft>
                <a:spcPts val="0"/>
              </a:spcAft>
              <a:buClr>
                <a:schemeClr val="dk2"/>
              </a:buClr>
              <a:buSzPts val="1300"/>
              <a:buFont typeface="Verdana"/>
              <a:buChar char="○"/>
            </a:pPr>
            <a:r>
              <a:rPr lang="en" sz="1300">
                <a:solidFill>
                  <a:schemeClr val="dk2"/>
                </a:solidFill>
                <a:latin typeface="Verdana"/>
                <a:ea typeface="Verdana"/>
                <a:cs typeface="Verdana"/>
                <a:sym typeface="Verdana"/>
              </a:rPr>
              <a:t>𝜶 &lt; 1 → Lidstone smoothing</a:t>
            </a:r>
            <a:endParaRPr sz="1300">
              <a:solidFill>
                <a:schemeClr val="dk2"/>
              </a:solidFill>
              <a:latin typeface="Verdana"/>
              <a:ea typeface="Verdana"/>
              <a:cs typeface="Verdana"/>
              <a:sym typeface="Verdana"/>
            </a:endParaRPr>
          </a:p>
        </p:txBody>
      </p:sp>
      <p:sp>
        <p:nvSpPr>
          <p:cNvPr id="151" name="Google Shape;151;p26"/>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Multinomial Naive Bayes</a:t>
            </a:r>
            <a:endParaRPr>
              <a:solidFill>
                <a:srgbClr val="980000"/>
              </a:solidFill>
              <a:latin typeface="Verdana"/>
              <a:ea typeface="Verdana"/>
              <a:cs typeface="Verdana"/>
              <a:sym typeface="Verdana"/>
            </a:endParaRPr>
          </a:p>
        </p:txBody>
      </p:sp>
      <p:pic>
        <p:nvPicPr>
          <p:cNvPr id="152" name="Google Shape;152;p26"/>
          <p:cNvPicPr preferRelativeResize="0"/>
          <p:nvPr/>
        </p:nvPicPr>
        <p:blipFill>
          <a:blip r:embed="rId3">
            <a:alphaModFix/>
          </a:blip>
          <a:stretch>
            <a:fillRect/>
          </a:stretch>
        </p:blipFill>
        <p:spPr>
          <a:xfrm>
            <a:off x="2844700" y="1522375"/>
            <a:ext cx="2583000" cy="11347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idx="1" type="body"/>
          </p:nvPr>
        </p:nvSpPr>
        <p:spPr>
          <a:xfrm>
            <a:off x="311700" y="763625"/>
            <a:ext cx="8655900" cy="4315800"/>
          </a:xfrm>
          <a:prstGeom prst="rect">
            <a:avLst/>
          </a:prstGeom>
        </p:spPr>
        <p:txBody>
          <a:bodyPr anchorCtr="0" anchor="t" bIns="91425" lIns="91425" spcFirstLastPara="1" rIns="91425" wrap="square" tIns="91425">
            <a:normAutofit fontScale="92500" lnSpcReduction="20000"/>
          </a:bodyPr>
          <a:lstStyle/>
          <a:p>
            <a:pPr indent="-304958" lvl="1" marL="914400" rtl="0" algn="l">
              <a:spcBef>
                <a:spcPts val="0"/>
              </a:spcBef>
              <a:spcAft>
                <a:spcPts val="0"/>
              </a:spcAft>
              <a:buClr>
                <a:srgbClr val="0000FF"/>
              </a:buClr>
              <a:buSzPct val="100000"/>
              <a:buFont typeface="Verdana"/>
              <a:buChar char="➢"/>
            </a:pPr>
            <a:r>
              <a:rPr b="1" lang="en" sz="1300">
                <a:solidFill>
                  <a:srgbClr val="0000FF"/>
                </a:solidFill>
                <a:latin typeface="Verdana"/>
                <a:ea typeface="Verdana"/>
                <a:cs typeface="Verdana"/>
                <a:sym typeface="Verdana"/>
              </a:rPr>
              <a:t>Normal → 8 documents → P(Normal) = 8/12 = 0.67 (</a:t>
            </a:r>
            <a:r>
              <a:rPr b="1" lang="en" sz="1300" u="sng">
                <a:solidFill>
                  <a:srgbClr val="0000FF"/>
                </a:solidFill>
                <a:latin typeface="Verdana"/>
                <a:ea typeface="Verdana"/>
                <a:cs typeface="Verdana"/>
                <a:sym typeface="Verdana"/>
              </a:rPr>
              <a:t>Prior Probability</a:t>
            </a:r>
            <a:r>
              <a:rPr b="1" lang="en" sz="1300">
                <a:solidFill>
                  <a:srgbClr val="0000FF"/>
                </a:solidFill>
                <a:latin typeface="Verdana"/>
                <a:ea typeface="Verdana"/>
                <a:cs typeface="Verdana"/>
                <a:sym typeface="Verdana"/>
              </a:rPr>
              <a:t>)</a:t>
            </a:r>
            <a:endParaRPr b="1" sz="1300">
              <a:solidFill>
                <a:srgbClr val="0000FF"/>
              </a:solidFill>
              <a:latin typeface="Verdana"/>
              <a:ea typeface="Verdana"/>
              <a:cs typeface="Verdana"/>
              <a:sym typeface="Verdana"/>
            </a:endParaRPr>
          </a:p>
          <a:p>
            <a:pPr indent="-304958" lvl="2" marL="1371600" rtl="0" algn="l">
              <a:spcBef>
                <a:spcPts val="0"/>
              </a:spcBef>
              <a:spcAft>
                <a:spcPts val="0"/>
              </a:spcAft>
              <a:buClr>
                <a:srgbClr val="000000"/>
              </a:buClr>
              <a:buSzPct val="100000"/>
              <a:buFont typeface="Verdana"/>
              <a:buChar char="○"/>
            </a:pPr>
            <a:r>
              <a:rPr lang="en" sz="1300">
                <a:solidFill>
                  <a:srgbClr val="000000"/>
                </a:solidFill>
                <a:latin typeface="Verdana"/>
                <a:ea typeface="Verdana"/>
                <a:cs typeface="Verdana"/>
                <a:sym typeface="Verdana"/>
              </a:rPr>
              <a:t>Dear → 8 times → </a:t>
            </a:r>
            <a:r>
              <a:rPr lang="en" sz="1300">
                <a:solidFill>
                  <a:srgbClr val="000000"/>
                </a:solidFill>
                <a:latin typeface="Source Code Pro"/>
                <a:ea typeface="Source Code Pro"/>
                <a:cs typeface="Source Code Pro"/>
                <a:sym typeface="Source Code Pro"/>
              </a:rPr>
              <a:t>P(Dear | Normal)</a:t>
            </a:r>
            <a:r>
              <a:rPr lang="en" sz="1300">
                <a:solidFill>
                  <a:srgbClr val="000000"/>
                </a:solidFill>
                <a:latin typeface="Verdana"/>
                <a:ea typeface="Verdana"/>
                <a:cs typeface="Verdana"/>
                <a:sym typeface="Verdana"/>
              </a:rPr>
              <a:t> = (8+1)/(17+4) = 0.43 (</a:t>
            </a:r>
            <a:r>
              <a:rPr lang="en" sz="1300" u="sng">
                <a:solidFill>
                  <a:srgbClr val="000000"/>
                </a:solidFill>
                <a:latin typeface="Verdana"/>
                <a:ea typeface="Verdana"/>
                <a:cs typeface="Verdana"/>
                <a:sym typeface="Verdana"/>
              </a:rPr>
              <a:t>Likelihood</a:t>
            </a:r>
            <a:r>
              <a:rPr lang="en" sz="1300">
                <a:solidFill>
                  <a:srgbClr val="000000"/>
                </a:solidFill>
                <a:latin typeface="Verdana"/>
                <a:ea typeface="Verdana"/>
                <a:cs typeface="Verdana"/>
                <a:sym typeface="Verdana"/>
              </a:rPr>
              <a:t>)</a:t>
            </a:r>
            <a:endParaRPr sz="1300">
              <a:solidFill>
                <a:srgbClr val="000000"/>
              </a:solidFill>
              <a:latin typeface="Verdana"/>
              <a:ea typeface="Verdana"/>
              <a:cs typeface="Verdana"/>
              <a:sym typeface="Verdana"/>
            </a:endParaRPr>
          </a:p>
          <a:p>
            <a:pPr indent="-304958" lvl="2" marL="1371600" rtl="0" algn="l">
              <a:spcBef>
                <a:spcPts val="0"/>
              </a:spcBef>
              <a:spcAft>
                <a:spcPts val="0"/>
              </a:spcAft>
              <a:buClr>
                <a:srgbClr val="000000"/>
              </a:buClr>
              <a:buSzPct val="100000"/>
              <a:buFont typeface="Verdana"/>
              <a:buChar char="○"/>
            </a:pPr>
            <a:r>
              <a:rPr lang="en" sz="1300">
                <a:solidFill>
                  <a:srgbClr val="000000"/>
                </a:solidFill>
                <a:latin typeface="Verdana"/>
                <a:ea typeface="Verdana"/>
                <a:cs typeface="Verdana"/>
                <a:sym typeface="Verdana"/>
              </a:rPr>
              <a:t>Friend → 5 times</a:t>
            </a:r>
            <a:r>
              <a:rPr lang="en" sz="1300">
                <a:solidFill>
                  <a:schemeClr val="dk2"/>
                </a:solidFill>
                <a:latin typeface="Verdana"/>
                <a:ea typeface="Verdana"/>
                <a:cs typeface="Verdana"/>
                <a:sym typeface="Verdana"/>
              </a:rPr>
              <a:t> → </a:t>
            </a:r>
            <a:r>
              <a:rPr lang="en" sz="1300">
                <a:solidFill>
                  <a:schemeClr val="dk2"/>
                </a:solidFill>
                <a:latin typeface="Source Code Pro"/>
                <a:ea typeface="Source Code Pro"/>
                <a:cs typeface="Source Code Pro"/>
                <a:sym typeface="Source Code Pro"/>
              </a:rPr>
              <a:t>P(Friend | Normal)</a:t>
            </a:r>
            <a:r>
              <a:rPr lang="en" sz="1300">
                <a:solidFill>
                  <a:schemeClr val="dk2"/>
                </a:solidFill>
                <a:latin typeface="Verdana"/>
                <a:ea typeface="Verdana"/>
                <a:cs typeface="Verdana"/>
                <a:sym typeface="Verdana"/>
              </a:rPr>
              <a:t> = 6/21 = 0.29</a:t>
            </a:r>
            <a:endParaRPr sz="1300">
              <a:solidFill>
                <a:srgbClr val="000000"/>
              </a:solidFill>
              <a:latin typeface="Verdana"/>
              <a:ea typeface="Verdana"/>
              <a:cs typeface="Verdana"/>
              <a:sym typeface="Verdana"/>
            </a:endParaRPr>
          </a:p>
          <a:p>
            <a:pPr indent="-304958" lvl="2" marL="1371600" rtl="0" algn="l">
              <a:spcBef>
                <a:spcPts val="0"/>
              </a:spcBef>
              <a:spcAft>
                <a:spcPts val="0"/>
              </a:spcAft>
              <a:buClr>
                <a:srgbClr val="000000"/>
              </a:buClr>
              <a:buSzPct val="100000"/>
              <a:buFont typeface="Verdana"/>
              <a:buChar char="○"/>
            </a:pPr>
            <a:r>
              <a:rPr lang="en" sz="1300">
                <a:solidFill>
                  <a:srgbClr val="000000"/>
                </a:solidFill>
                <a:latin typeface="Verdana"/>
                <a:ea typeface="Verdana"/>
                <a:cs typeface="Verdana"/>
                <a:sym typeface="Verdana"/>
              </a:rPr>
              <a:t>Lunch → 3 times</a:t>
            </a:r>
            <a:r>
              <a:rPr lang="en" sz="1300">
                <a:solidFill>
                  <a:schemeClr val="dk2"/>
                </a:solidFill>
                <a:latin typeface="Verdana"/>
                <a:ea typeface="Verdana"/>
                <a:cs typeface="Verdana"/>
                <a:sym typeface="Verdana"/>
              </a:rPr>
              <a:t> → </a:t>
            </a:r>
            <a:r>
              <a:rPr lang="en" sz="1300">
                <a:solidFill>
                  <a:schemeClr val="dk2"/>
                </a:solidFill>
                <a:latin typeface="Source Code Pro"/>
                <a:ea typeface="Source Code Pro"/>
                <a:cs typeface="Source Code Pro"/>
                <a:sym typeface="Source Code Pro"/>
              </a:rPr>
              <a:t>P(Lunch | Normal)</a:t>
            </a:r>
            <a:r>
              <a:rPr lang="en" sz="1300">
                <a:solidFill>
                  <a:schemeClr val="dk2"/>
                </a:solidFill>
                <a:latin typeface="Verdana"/>
                <a:ea typeface="Verdana"/>
                <a:cs typeface="Verdana"/>
                <a:sym typeface="Verdana"/>
              </a:rPr>
              <a:t> = 4/21 = 0.19</a:t>
            </a:r>
            <a:endParaRPr sz="1300">
              <a:solidFill>
                <a:srgbClr val="000000"/>
              </a:solidFill>
              <a:latin typeface="Verdana"/>
              <a:ea typeface="Verdana"/>
              <a:cs typeface="Verdana"/>
              <a:sym typeface="Verdana"/>
            </a:endParaRPr>
          </a:p>
          <a:p>
            <a:pPr indent="-304958" lvl="2" marL="1371600" rtl="0" algn="l">
              <a:spcBef>
                <a:spcPts val="0"/>
              </a:spcBef>
              <a:spcAft>
                <a:spcPts val="0"/>
              </a:spcAft>
              <a:buClr>
                <a:srgbClr val="000000"/>
              </a:buClr>
              <a:buSzPct val="100000"/>
              <a:buFont typeface="Verdana"/>
              <a:buChar char="○"/>
            </a:pPr>
            <a:r>
              <a:rPr lang="en" sz="1300">
                <a:solidFill>
                  <a:srgbClr val="000000"/>
                </a:solidFill>
                <a:latin typeface="Verdana"/>
                <a:ea typeface="Verdana"/>
                <a:cs typeface="Verdana"/>
                <a:sym typeface="Verdana"/>
              </a:rPr>
              <a:t>Money → 1 time</a:t>
            </a:r>
            <a:r>
              <a:rPr lang="en" sz="1300">
                <a:solidFill>
                  <a:schemeClr val="dk2"/>
                </a:solidFill>
                <a:latin typeface="Verdana"/>
                <a:ea typeface="Verdana"/>
                <a:cs typeface="Verdana"/>
                <a:sym typeface="Verdana"/>
              </a:rPr>
              <a:t> → </a:t>
            </a:r>
            <a:r>
              <a:rPr lang="en" sz="1300">
                <a:solidFill>
                  <a:schemeClr val="dk2"/>
                </a:solidFill>
                <a:latin typeface="Source Code Pro"/>
                <a:ea typeface="Source Code Pro"/>
                <a:cs typeface="Source Code Pro"/>
                <a:sym typeface="Source Code Pro"/>
              </a:rPr>
              <a:t>P(Money | Normal)</a:t>
            </a:r>
            <a:r>
              <a:rPr lang="en" sz="1300">
                <a:solidFill>
                  <a:schemeClr val="dk2"/>
                </a:solidFill>
                <a:latin typeface="Verdana"/>
                <a:ea typeface="Verdana"/>
                <a:cs typeface="Verdana"/>
                <a:sym typeface="Verdana"/>
              </a:rPr>
              <a:t> = 2/21 = 0.10</a:t>
            </a:r>
            <a:br>
              <a:rPr lang="en" sz="1300">
                <a:solidFill>
                  <a:srgbClr val="000000"/>
                </a:solidFill>
                <a:latin typeface="Verdana"/>
                <a:ea typeface="Verdana"/>
                <a:cs typeface="Verdana"/>
                <a:sym typeface="Verdana"/>
              </a:rPr>
            </a:br>
            <a:endParaRPr sz="1300">
              <a:solidFill>
                <a:srgbClr val="000000"/>
              </a:solidFill>
              <a:latin typeface="Verdana"/>
              <a:ea typeface="Verdana"/>
              <a:cs typeface="Verdana"/>
              <a:sym typeface="Verdana"/>
            </a:endParaRPr>
          </a:p>
          <a:p>
            <a:pPr indent="-304958" lvl="1" marL="914400" rtl="0" algn="l">
              <a:spcBef>
                <a:spcPts val="0"/>
              </a:spcBef>
              <a:spcAft>
                <a:spcPts val="0"/>
              </a:spcAft>
              <a:buClr>
                <a:srgbClr val="0000FF"/>
              </a:buClr>
              <a:buSzPct val="100000"/>
              <a:buFont typeface="Verdana"/>
              <a:buChar char="➢"/>
            </a:pPr>
            <a:r>
              <a:rPr b="1" lang="en" sz="1300">
                <a:solidFill>
                  <a:srgbClr val="0000FF"/>
                </a:solidFill>
                <a:latin typeface="Verdana"/>
                <a:ea typeface="Verdana"/>
                <a:cs typeface="Verdana"/>
                <a:sym typeface="Verdana"/>
              </a:rPr>
              <a:t>Spam → 4 documents → P(Normal) = 4/12 = 0.33</a:t>
            </a:r>
            <a:endParaRPr b="1" sz="1300">
              <a:solidFill>
                <a:srgbClr val="0000FF"/>
              </a:solidFill>
              <a:latin typeface="Verdana"/>
              <a:ea typeface="Verdana"/>
              <a:cs typeface="Verdana"/>
              <a:sym typeface="Verdana"/>
            </a:endParaRPr>
          </a:p>
          <a:p>
            <a:pPr indent="-304958" lvl="2" marL="1371600" rtl="0" algn="l">
              <a:spcBef>
                <a:spcPts val="0"/>
              </a:spcBef>
              <a:spcAft>
                <a:spcPts val="0"/>
              </a:spcAft>
              <a:buClr>
                <a:schemeClr val="dk2"/>
              </a:buClr>
              <a:buSzPct val="100000"/>
              <a:buFont typeface="Verdana"/>
              <a:buChar char="○"/>
            </a:pPr>
            <a:r>
              <a:rPr lang="en" sz="1300">
                <a:solidFill>
                  <a:schemeClr val="dk2"/>
                </a:solidFill>
                <a:latin typeface="Verdana"/>
                <a:ea typeface="Verdana"/>
                <a:cs typeface="Verdana"/>
                <a:sym typeface="Verdana"/>
              </a:rPr>
              <a:t>Dear → 2 times → </a:t>
            </a:r>
            <a:r>
              <a:rPr lang="en" sz="1300">
                <a:solidFill>
                  <a:schemeClr val="dk2"/>
                </a:solidFill>
                <a:latin typeface="Source Code Pro"/>
                <a:ea typeface="Source Code Pro"/>
                <a:cs typeface="Source Code Pro"/>
                <a:sym typeface="Source Code Pro"/>
              </a:rPr>
              <a:t>P(Dear | Spam)</a:t>
            </a:r>
            <a:r>
              <a:rPr lang="en" sz="1300">
                <a:solidFill>
                  <a:schemeClr val="dk2"/>
                </a:solidFill>
                <a:latin typeface="Verdana"/>
                <a:ea typeface="Verdana"/>
                <a:cs typeface="Verdana"/>
                <a:sym typeface="Verdana"/>
              </a:rPr>
              <a:t> = 3/11 = 0.27</a:t>
            </a:r>
            <a:endParaRPr sz="1300">
              <a:solidFill>
                <a:schemeClr val="dk2"/>
              </a:solidFill>
              <a:latin typeface="Verdana"/>
              <a:ea typeface="Verdana"/>
              <a:cs typeface="Verdana"/>
              <a:sym typeface="Verdana"/>
            </a:endParaRPr>
          </a:p>
          <a:p>
            <a:pPr indent="-304958" lvl="2" marL="1371600" rtl="0" algn="l">
              <a:spcBef>
                <a:spcPts val="0"/>
              </a:spcBef>
              <a:spcAft>
                <a:spcPts val="0"/>
              </a:spcAft>
              <a:buClr>
                <a:schemeClr val="dk2"/>
              </a:buClr>
              <a:buSzPct val="100000"/>
              <a:buFont typeface="Verdana"/>
              <a:buChar char="○"/>
            </a:pPr>
            <a:r>
              <a:rPr lang="en" sz="1300">
                <a:solidFill>
                  <a:schemeClr val="dk2"/>
                </a:solidFill>
                <a:latin typeface="Verdana"/>
                <a:ea typeface="Verdana"/>
                <a:cs typeface="Verdana"/>
                <a:sym typeface="Verdana"/>
              </a:rPr>
              <a:t>Friend → 1 times → </a:t>
            </a:r>
            <a:r>
              <a:rPr lang="en" sz="1300">
                <a:solidFill>
                  <a:schemeClr val="dk2"/>
                </a:solidFill>
                <a:latin typeface="Source Code Pro"/>
                <a:ea typeface="Source Code Pro"/>
                <a:cs typeface="Source Code Pro"/>
                <a:sym typeface="Source Code Pro"/>
              </a:rPr>
              <a:t>P(Friend | Spam)</a:t>
            </a:r>
            <a:r>
              <a:rPr lang="en" sz="1300">
                <a:solidFill>
                  <a:schemeClr val="dk2"/>
                </a:solidFill>
                <a:latin typeface="Verdana"/>
                <a:ea typeface="Verdana"/>
                <a:cs typeface="Verdana"/>
                <a:sym typeface="Verdana"/>
              </a:rPr>
              <a:t> = 2/11 = 0.18</a:t>
            </a:r>
            <a:endParaRPr sz="1300">
              <a:solidFill>
                <a:schemeClr val="dk2"/>
              </a:solidFill>
              <a:latin typeface="Verdana"/>
              <a:ea typeface="Verdana"/>
              <a:cs typeface="Verdana"/>
              <a:sym typeface="Verdana"/>
            </a:endParaRPr>
          </a:p>
          <a:p>
            <a:pPr indent="-304958" lvl="2" marL="1371600" rtl="0" algn="l">
              <a:spcBef>
                <a:spcPts val="0"/>
              </a:spcBef>
              <a:spcAft>
                <a:spcPts val="0"/>
              </a:spcAft>
              <a:buClr>
                <a:schemeClr val="dk2"/>
              </a:buClr>
              <a:buSzPct val="100000"/>
              <a:buFont typeface="Verdana"/>
              <a:buChar char="○"/>
            </a:pPr>
            <a:r>
              <a:rPr lang="en" sz="1300">
                <a:solidFill>
                  <a:schemeClr val="dk2"/>
                </a:solidFill>
                <a:latin typeface="Verdana"/>
                <a:ea typeface="Verdana"/>
                <a:cs typeface="Verdana"/>
                <a:sym typeface="Verdana"/>
              </a:rPr>
              <a:t>Lunch → 0 times → </a:t>
            </a:r>
            <a:r>
              <a:rPr lang="en" sz="1300">
                <a:solidFill>
                  <a:schemeClr val="dk2"/>
                </a:solidFill>
                <a:latin typeface="Source Code Pro"/>
                <a:ea typeface="Source Code Pro"/>
                <a:cs typeface="Source Code Pro"/>
                <a:sym typeface="Source Code Pro"/>
              </a:rPr>
              <a:t>P(Lunch | Spam)</a:t>
            </a:r>
            <a:r>
              <a:rPr lang="en" sz="1300">
                <a:solidFill>
                  <a:schemeClr val="dk2"/>
                </a:solidFill>
                <a:latin typeface="Verdana"/>
                <a:ea typeface="Verdana"/>
                <a:cs typeface="Verdana"/>
                <a:sym typeface="Verdana"/>
              </a:rPr>
              <a:t> = 1/11 = 0.09</a:t>
            </a:r>
            <a:endParaRPr sz="1300">
              <a:solidFill>
                <a:schemeClr val="dk2"/>
              </a:solidFill>
              <a:latin typeface="Verdana"/>
              <a:ea typeface="Verdana"/>
              <a:cs typeface="Verdana"/>
              <a:sym typeface="Verdana"/>
            </a:endParaRPr>
          </a:p>
          <a:p>
            <a:pPr indent="-316706" lvl="2" marL="1371600" rtl="0" algn="l">
              <a:spcBef>
                <a:spcPts val="0"/>
              </a:spcBef>
              <a:spcAft>
                <a:spcPts val="0"/>
              </a:spcAft>
              <a:buClr>
                <a:schemeClr val="dk2"/>
              </a:buClr>
              <a:buSzPct val="115384"/>
              <a:buFont typeface="Verdana"/>
              <a:buChar char="○"/>
            </a:pPr>
            <a:r>
              <a:rPr lang="en" sz="1300">
                <a:solidFill>
                  <a:schemeClr val="dk2"/>
                </a:solidFill>
                <a:latin typeface="Verdana"/>
                <a:ea typeface="Verdana"/>
                <a:cs typeface="Verdana"/>
                <a:sym typeface="Verdana"/>
              </a:rPr>
              <a:t>Money → 4 times → </a:t>
            </a:r>
            <a:r>
              <a:rPr lang="en" sz="1300">
                <a:solidFill>
                  <a:schemeClr val="dk2"/>
                </a:solidFill>
                <a:latin typeface="Source Code Pro"/>
                <a:ea typeface="Source Code Pro"/>
                <a:cs typeface="Source Code Pro"/>
                <a:sym typeface="Source Code Pro"/>
              </a:rPr>
              <a:t>P(Money | Spam)</a:t>
            </a:r>
            <a:r>
              <a:rPr lang="en" sz="1300">
                <a:solidFill>
                  <a:schemeClr val="dk2"/>
                </a:solidFill>
                <a:latin typeface="Verdana"/>
                <a:ea typeface="Verdana"/>
                <a:cs typeface="Verdana"/>
                <a:sym typeface="Verdana"/>
              </a:rPr>
              <a:t> = 5/11 = 0.45</a:t>
            </a:r>
            <a:br>
              <a:rPr lang="en" sz="1500">
                <a:solidFill>
                  <a:schemeClr val="dk2"/>
                </a:solidFill>
                <a:latin typeface="Verdana"/>
                <a:ea typeface="Verdana"/>
                <a:cs typeface="Verdana"/>
                <a:sym typeface="Verdana"/>
              </a:rPr>
            </a:br>
            <a:endParaRPr sz="1500">
              <a:solidFill>
                <a:schemeClr val="dk2"/>
              </a:solidFill>
              <a:latin typeface="Verdana"/>
              <a:ea typeface="Verdana"/>
              <a:cs typeface="Verdana"/>
              <a:sym typeface="Verdana"/>
            </a:endParaRPr>
          </a:p>
          <a:p>
            <a:pPr indent="-316706" lvl="0" marL="457200" rtl="0" algn="l">
              <a:spcBef>
                <a:spcPts val="0"/>
              </a:spcBef>
              <a:spcAft>
                <a:spcPts val="0"/>
              </a:spcAft>
              <a:buClr>
                <a:schemeClr val="dk2"/>
              </a:buClr>
              <a:buSzPct val="100000"/>
              <a:buFont typeface="Verdana"/>
              <a:buChar char="●"/>
            </a:pPr>
            <a:r>
              <a:rPr lang="en" sz="1500">
                <a:solidFill>
                  <a:schemeClr val="dk2"/>
                </a:solidFill>
                <a:latin typeface="Verdana"/>
                <a:ea typeface="Verdana"/>
                <a:cs typeface="Verdana"/>
                <a:sym typeface="Verdana"/>
              </a:rPr>
              <a:t>Now, let’s predict "</a:t>
            </a:r>
            <a:r>
              <a:rPr b="1" lang="en" sz="1500">
                <a:solidFill>
                  <a:srgbClr val="980000"/>
                </a:solidFill>
                <a:latin typeface="Verdana"/>
                <a:ea typeface="Verdana"/>
                <a:cs typeface="Verdana"/>
                <a:sym typeface="Verdana"/>
              </a:rPr>
              <a:t>Lunch Money Money Money Money</a:t>
            </a:r>
            <a:r>
              <a:rPr lang="en" sz="1500">
                <a:solidFill>
                  <a:schemeClr val="dk2"/>
                </a:solidFill>
                <a:latin typeface="Verdana"/>
                <a:ea typeface="Verdana"/>
                <a:cs typeface="Verdana"/>
                <a:sym typeface="Verdana"/>
              </a:rPr>
              <a:t>"</a:t>
            </a:r>
            <a:br>
              <a:rPr lang="en" sz="1500">
                <a:solidFill>
                  <a:schemeClr val="dk2"/>
                </a:solidFill>
                <a:latin typeface="Verdana"/>
                <a:ea typeface="Verdana"/>
                <a:cs typeface="Verdana"/>
                <a:sym typeface="Verdana"/>
              </a:rPr>
            </a:br>
            <a:endParaRPr sz="1500">
              <a:solidFill>
                <a:schemeClr val="dk2"/>
              </a:solidFill>
              <a:latin typeface="Verdana"/>
              <a:ea typeface="Verdana"/>
              <a:cs typeface="Verdana"/>
              <a:sym typeface="Verdana"/>
            </a:endParaRPr>
          </a:p>
          <a:p>
            <a:pPr indent="-316706" lvl="1" marL="914400" rtl="0" algn="l">
              <a:spcBef>
                <a:spcPts val="0"/>
              </a:spcBef>
              <a:spcAft>
                <a:spcPts val="0"/>
              </a:spcAft>
              <a:buClr>
                <a:schemeClr val="dk2"/>
              </a:buClr>
              <a:buSzPct val="100000"/>
              <a:buFont typeface="Verdana"/>
              <a:buChar char="➢"/>
            </a:pPr>
            <a:r>
              <a:rPr b="1" lang="en" sz="1500">
                <a:solidFill>
                  <a:srgbClr val="0000FF"/>
                </a:solidFill>
                <a:latin typeface="Verdana"/>
                <a:ea typeface="Verdana"/>
                <a:cs typeface="Verdana"/>
                <a:sym typeface="Verdana"/>
              </a:rPr>
              <a:t>Normal</a:t>
            </a:r>
            <a:r>
              <a:rPr lang="en" sz="1500">
                <a:solidFill>
                  <a:schemeClr val="dk2"/>
                </a:solidFill>
                <a:latin typeface="Verdana"/>
                <a:ea typeface="Verdana"/>
                <a:cs typeface="Verdana"/>
                <a:sym typeface="Verdana"/>
              </a:rPr>
              <a:t> → </a:t>
            </a:r>
            <a:r>
              <a:rPr lang="en" sz="1500">
                <a:solidFill>
                  <a:schemeClr val="dk2"/>
                </a:solidFill>
                <a:latin typeface="Source Code Pro"/>
                <a:ea typeface="Source Code Pro"/>
                <a:cs typeface="Source Code Pro"/>
                <a:sym typeface="Source Code Pro"/>
              </a:rPr>
              <a:t>P(Normal) * P(Lunch|Normal) * P(Money|Normal)</a:t>
            </a:r>
            <a:r>
              <a:rPr baseline="30000" lang="en" sz="1500">
                <a:solidFill>
                  <a:schemeClr val="dk2"/>
                </a:solidFill>
                <a:latin typeface="Source Code Pro"/>
                <a:ea typeface="Source Code Pro"/>
                <a:cs typeface="Source Code Pro"/>
                <a:sym typeface="Source Code Pro"/>
              </a:rPr>
              <a:t>4</a:t>
            </a:r>
            <a:r>
              <a:rPr lang="en" sz="1500">
                <a:solidFill>
                  <a:schemeClr val="dk2"/>
                </a:solidFill>
                <a:latin typeface="Source Code Pro"/>
                <a:ea typeface="Source Code Pro"/>
                <a:cs typeface="Source Code Pro"/>
                <a:sym typeface="Source Code Pro"/>
              </a:rPr>
              <a:t> </a:t>
            </a:r>
            <a:br>
              <a:rPr lang="en" sz="1500">
                <a:solidFill>
                  <a:schemeClr val="dk2"/>
                </a:solidFill>
                <a:latin typeface="Source Code Pro"/>
                <a:ea typeface="Source Code Pro"/>
                <a:cs typeface="Source Code Pro"/>
                <a:sym typeface="Source Code Pro"/>
              </a:rPr>
            </a:br>
            <a:r>
              <a:rPr lang="en" sz="1500">
                <a:solidFill>
                  <a:schemeClr val="dk2"/>
                </a:solidFill>
                <a:latin typeface="Source Code Pro"/>
                <a:ea typeface="Source Code Pro"/>
                <a:cs typeface="Source Code Pro"/>
                <a:sym typeface="Source Code Pro"/>
              </a:rPr>
              <a:t>= 0.67 * 0.19 * 0.1</a:t>
            </a:r>
            <a:r>
              <a:rPr baseline="30000" lang="en" sz="1500">
                <a:solidFill>
                  <a:schemeClr val="dk2"/>
                </a:solidFill>
                <a:latin typeface="Source Code Pro"/>
                <a:ea typeface="Source Code Pro"/>
                <a:cs typeface="Source Code Pro"/>
                <a:sym typeface="Source Code Pro"/>
              </a:rPr>
              <a:t>4 </a:t>
            </a:r>
            <a:r>
              <a:rPr lang="en" sz="1500">
                <a:solidFill>
                  <a:schemeClr val="dk2"/>
                </a:solidFill>
                <a:latin typeface="Source Code Pro"/>
                <a:ea typeface="Source Code Pro"/>
                <a:cs typeface="Source Code Pro"/>
                <a:sym typeface="Source Code Pro"/>
              </a:rPr>
              <a:t>= </a:t>
            </a:r>
            <a:r>
              <a:rPr b="1" lang="en" sz="1500">
                <a:solidFill>
                  <a:srgbClr val="980000"/>
                </a:solidFill>
                <a:latin typeface="Source Code Pro"/>
                <a:ea typeface="Source Code Pro"/>
                <a:cs typeface="Source Code Pro"/>
                <a:sym typeface="Source Code Pro"/>
              </a:rPr>
              <a:t>0.00001</a:t>
            </a:r>
            <a:br>
              <a:rPr lang="en" sz="1500">
                <a:solidFill>
                  <a:schemeClr val="dk2"/>
                </a:solidFill>
                <a:latin typeface="Source Code Pro"/>
                <a:ea typeface="Source Code Pro"/>
                <a:cs typeface="Source Code Pro"/>
                <a:sym typeface="Source Code Pro"/>
              </a:rPr>
            </a:br>
            <a:endParaRPr sz="1500">
              <a:solidFill>
                <a:schemeClr val="dk2"/>
              </a:solidFill>
              <a:latin typeface="Verdana"/>
              <a:ea typeface="Verdana"/>
              <a:cs typeface="Verdana"/>
              <a:sym typeface="Verdana"/>
            </a:endParaRPr>
          </a:p>
          <a:p>
            <a:pPr indent="-316706" lvl="1" marL="914400" rtl="0" algn="l">
              <a:spcBef>
                <a:spcPts val="0"/>
              </a:spcBef>
              <a:spcAft>
                <a:spcPts val="0"/>
              </a:spcAft>
              <a:buClr>
                <a:schemeClr val="dk2"/>
              </a:buClr>
              <a:buSzPct val="100000"/>
              <a:buFont typeface="Verdana"/>
              <a:buChar char="➢"/>
            </a:pPr>
            <a:r>
              <a:rPr b="1" lang="en" sz="1500">
                <a:solidFill>
                  <a:srgbClr val="0000FF"/>
                </a:solidFill>
                <a:latin typeface="Verdana"/>
                <a:ea typeface="Verdana"/>
                <a:cs typeface="Verdana"/>
                <a:sym typeface="Verdana"/>
              </a:rPr>
              <a:t>Spam</a:t>
            </a:r>
            <a:r>
              <a:rPr lang="en" sz="1500">
                <a:solidFill>
                  <a:schemeClr val="dk2"/>
                </a:solidFill>
                <a:latin typeface="Verdana"/>
                <a:ea typeface="Verdana"/>
                <a:cs typeface="Verdana"/>
                <a:sym typeface="Verdana"/>
              </a:rPr>
              <a:t> → </a:t>
            </a:r>
            <a:r>
              <a:rPr lang="en" sz="1500">
                <a:solidFill>
                  <a:schemeClr val="dk2"/>
                </a:solidFill>
                <a:latin typeface="Source Code Pro"/>
                <a:ea typeface="Source Code Pro"/>
                <a:cs typeface="Source Code Pro"/>
                <a:sym typeface="Source Code Pro"/>
              </a:rPr>
              <a:t>P(Spam) * P(Lunch|Spam) * P(Money|Spam)</a:t>
            </a:r>
            <a:r>
              <a:rPr baseline="30000" lang="en" sz="1500">
                <a:solidFill>
                  <a:schemeClr val="dk2"/>
                </a:solidFill>
                <a:latin typeface="Source Code Pro"/>
                <a:ea typeface="Source Code Pro"/>
                <a:cs typeface="Source Code Pro"/>
                <a:sym typeface="Source Code Pro"/>
              </a:rPr>
              <a:t>4</a:t>
            </a:r>
            <a:r>
              <a:rPr lang="en" sz="1500">
                <a:solidFill>
                  <a:schemeClr val="dk2"/>
                </a:solidFill>
                <a:latin typeface="Source Code Pro"/>
                <a:ea typeface="Source Code Pro"/>
                <a:cs typeface="Source Code Pro"/>
                <a:sym typeface="Source Code Pro"/>
              </a:rPr>
              <a:t> </a:t>
            </a:r>
            <a:br>
              <a:rPr lang="en" sz="1500">
                <a:solidFill>
                  <a:schemeClr val="dk2"/>
                </a:solidFill>
                <a:latin typeface="Source Code Pro"/>
                <a:ea typeface="Source Code Pro"/>
                <a:cs typeface="Source Code Pro"/>
                <a:sym typeface="Source Code Pro"/>
              </a:rPr>
            </a:br>
            <a:r>
              <a:rPr lang="en" sz="1500">
                <a:solidFill>
                  <a:schemeClr val="dk2"/>
                </a:solidFill>
                <a:latin typeface="Source Code Pro"/>
                <a:ea typeface="Source Code Pro"/>
                <a:cs typeface="Source Code Pro"/>
                <a:sym typeface="Source Code Pro"/>
              </a:rPr>
              <a:t>= 0.33 * 0.09 * 0.45</a:t>
            </a:r>
            <a:r>
              <a:rPr baseline="30000" lang="en" sz="1500">
                <a:solidFill>
                  <a:schemeClr val="dk2"/>
                </a:solidFill>
                <a:latin typeface="Source Code Pro"/>
                <a:ea typeface="Source Code Pro"/>
                <a:cs typeface="Source Code Pro"/>
                <a:sym typeface="Source Code Pro"/>
              </a:rPr>
              <a:t>4</a:t>
            </a:r>
            <a:r>
              <a:rPr lang="en" sz="1500">
                <a:solidFill>
                  <a:schemeClr val="dk2"/>
                </a:solidFill>
                <a:latin typeface="Source Code Pro"/>
                <a:ea typeface="Source Code Pro"/>
                <a:cs typeface="Source Code Pro"/>
                <a:sym typeface="Source Code Pro"/>
              </a:rPr>
              <a:t> = </a:t>
            </a:r>
            <a:r>
              <a:rPr b="1" lang="en" sz="1500">
                <a:solidFill>
                  <a:srgbClr val="980000"/>
                </a:solidFill>
                <a:latin typeface="Source Code Pro"/>
                <a:ea typeface="Source Code Pro"/>
                <a:cs typeface="Source Code Pro"/>
                <a:sym typeface="Source Code Pro"/>
              </a:rPr>
              <a:t>0.00112</a:t>
            </a:r>
            <a:br>
              <a:rPr b="1" lang="en" sz="1500">
                <a:solidFill>
                  <a:srgbClr val="980000"/>
                </a:solidFill>
                <a:latin typeface="Source Code Pro"/>
                <a:ea typeface="Source Code Pro"/>
                <a:cs typeface="Source Code Pro"/>
                <a:sym typeface="Source Code Pro"/>
              </a:rPr>
            </a:br>
            <a:endParaRPr sz="1500">
              <a:solidFill>
                <a:srgbClr val="000000"/>
              </a:solidFill>
              <a:latin typeface="Verdana"/>
              <a:ea typeface="Verdana"/>
              <a:cs typeface="Verdana"/>
              <a:sym typeface="Verdana"/>
            </a:endParaRPr>
          </a:p>
          <a:p>
            <a:pPr indent="-316706" lvl="1" marL="914400" rtl="0" algn="l">
              <a:spcBef>
                <a:spcPts val="0"/>
              </a:spcBef>
              <a:spcAft>
                <a:spcPts val="0"/>
              </a:spcAft>
              <a:buClr>
                <a:schemeClr val="dk2"/>
              </a:buClr>
              <a:buSzPct val="100000"/>
              <a:buFont typeface="Verdana"/>
              <a:buChar char="➢"/>
            </a:pPr>
            <a:r>
              <a:rPr lang="en" sz="1500">
                <a:solidFill>
                  <a:schemeClr val="dk2"/>
                </a:solidFill>
                <a:latin typeface="Verdana"/>
                <a:ea typeface="Verdana"/>
                <a:cs typeface="Verdana"/>
                <a:sym typeface="Verdana"/>
              </a:rPr>
              <a:t>As a result, we predict as </a:t>
            </a:r>
            <a:r>
              <a:rPr b="1" lang="en" sz="1500">
                <a:solidFill>
                  <a:schemeClr val="dk2"/>
                </a:solidFill>
                <a:latin typeface="Verdana"/>
                <a:ea typeface="Verdana"/>
                <a:cs typeface="Verdana"/>
                <a:sym typeface="Verdana"/>
              </a:rPr>
              <a:t>Spam</a:t>
            </a:r>
            <a:r>
              <a:rPr lang="en" sz="1500">
                <a:solidFill>
                  <a:schemeClr val="dk2"/>
                </a:solidFill>
                <a:latin typeface="Verdana"/>
                <a:ea typeface="Verdana"/>
                <a:cs typeface="Verdana"/>
                <a:sym typeface="Verdana"/>
              </a:rPr>
              <a:t>.</a:t>
            </a:r>
            <a:endParaRPr sz="1500">
              <a:solidFill>
                <a:srgbClr val="000000"/>
              </a:solidFill>
              <a:latin typeface="Verdana"/>
              <a:ea typeface="Verdana"/>
              <a:cs typeface="Verdana"/>
              <a:sym typeface="Verdana"/>
            </a:endParaRPr>
          </a:p>
        </p:txBody>
      </p:sp>
      <p:sp>
        <p:nvSpPr>
          <p:cNvPr id="158" name="Google Shape;158;p27"/>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Multinomial Naive Bayes</a:t>
            </a:r>
            <a:endParaRPr>
              <a:solidFill>
                <a:srgbClr val="980000"/>
              </a:solidFill>
              <a:latin typeface="Verdana"/>
              <a:ea typeface="Verdana"/>
              <a:cs typeface="Verdana"/>
              <a:sym typeface="Verdan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idx="1" type="body"/>
          </p:nvPr>
        </p:nvSpPr>
        <p:spPr>
          <a:xfrm>
            <a:off x="311700" y="763625"/>
            <a:ext cx="8655900" cy="43158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Font typeface="Verdana"/>
              <a:buChar char="●"/>
            </a:pPr>
            <a:r>
              <a:rPr lang="en" sz="1300">
                <a:solidFill>
                  <a:srgbClr val="000000"/>
                </a:solidFill>
                <a:latin typeface="Verdana"/>
                <a:ea typeface="Verdana"/>
                <a:cs typeface="Verdana"/>
                <a:sym typeface="Verdana"/>
              </a:rPr>
              <a:t>It implements the Gaussian Naive Bayes algorithm for classification. The likelihood of the features is assumed to be Gaussian:</a:t>
            </a:r>
            <a:br>
              <a:rPr lang="en" sz="1300">
                <a:solidFill>
                  <a:srgbClr val="000000"/>
                </a:solidFill>
                <a:latin typeface="Verdana"/>
                <a:ea typeface="Verdana"/>
                <a:cs typeface="Verdana"/>
                <a:sym typeface="Verdana"/>
              </a:rPr>
            </a:br>
            <a:br>
              <a:rPr lang="en" sz="1300">
                <a:solidFill>
                  <a:srgbClr val="000000"/>
                </a:solidFill>
                <a:latin typeface="Verdana"/>
                <a:ea typeface="Verdana"/>
                <a:cs typeface="Verdana"/>
                <a:sym typeface="Verdana"/>
              </a:rPr>
            </a:br>
            <a:br>
              <a:rPr lang="en" sz="1300">
                <a:solidFill>
                  <a:srgbClr val="000000"/>
                </a:solidFill>
                <a:latin typeface="Verdana"/>
                <a:ea typeface="Verdana"/>
                <a:cs typeface="Verdana"/>
                <a:sym typeface="Verdana"/>
              </a:rPr>
            </a:br>
            <a:br>
              <a:rPr lang="en" sz="1300">
                <a:solidFill>
                  <a:srgbClr val="000000"/>
                </a:solidFill>
                <a:latin typeface="Verdana"/>
                <a:ea typeface="Verdana"/>
                <a:cs typeface="Verdana"/>
                <a:sym typeface="Verdana"/>
              </a:rPr>
            </a:br>
            <a:br>
              <a:rPr lang="en" sz="1300">
                <a:solidFill>
                  <a:srgbClr val="000000"/>
                </a:solidFill>
                <a:latin typeface="Verdana"/>
                <a:ea typeface="Verdana"/>
                <a:cs typeface="Verdana"/>
                <a:sym typeface="Verdana"/>
              </a:rPr>
            </a:br>
            <a:br>
              <a:rPr lang="en" sz="1300">
                <a:solidFill>
                  <a:srgbClr val="000000"/>
                </a:solidFill>
                <a:latin typeface="Verdana"/>
                <a:ea typeface="Verdana"/>
                <a:cs typeface="Verdana"/>
                <a:sym typeface="Verdana"/>
              </a:rPr>
            </a:br>
            <a:endParaRPr sz="1300">
              <a:solidFill>
                <a:srgbClr val="000000"/>
              </a:solidFill>
              <a:latin typeface="Verdana"/>
              <a:ea typeface="Verdana"/>
              <a:cs typeface="Verdana"/>
              <a:sym typeface="Verdana"/>
            </a:endParaRPr>
          </a:p>
          <a:p>
            <a:pPr indent="-311150" lvl="0" marL="457200" rtl="0" algn="l">
              <a:spcBef>
                <a:spcPts val="0"/>
              </a:spcBef>
              <a:spcAft>
                <a:spcPts val="0"/>
              </a:spcAft>
              <a:buClr>
                <a:srgbClr val="000000"/>
              </a:buClr>
              <a:buSzPts val="1300"/>
              <a:buFont typeface="Verdana"/>
              <a:buChar char="●"/>
            </a:pPr>
            <a:r>
              <a:rPr lang="en" sz="1300">
                <a:solidFill>
                  <a:srgbClr val="000000"/>
                </a:solidFill>
                <a:latin typeface="Verdana"/>
                <a:ea typeface="Verdana"/>
                <a:cs typeface="Verdana"/>
                <a:sym typeface="Verdana"/>
              </a:rPr>
              <a:t>Let’s assume that we have two classes “</a:t>
            </a:r>
            <a:r>
              <a:rPr b="1" lang="en" sz="1300">
                <a:solidFill>
                  <a:srgbClr val="38761D"/>
                </a:solidFill>
                <a:latin typeface="Verdana"/>
                <a:ea typeface="Verdana"/>
                <a:cs typeface="Verdana"/>
                <a:sym typeface="Verdana"/>
              </a:rPr>
              <a:t>Loving a movie</a:t>
            </a:r>
            <a:r>
              <a:rPr lang="en" sz="1300">
                <a:solidFill>
                  <a:srgbClr val="000000"/>
                </a:solidFill>
                <a:latin typeface="Verdana"/>
                <a:ea typeface="Verdana"/>
                <a:cs typeface="Verdana"/>
                <a:sym typeface="Verdana"/>
              </a:rPr>
              <a:t>”, “</a:t>
            </a:r>
            <a:r>
              <a:rPr b="1" lang="en" sz="1300">
                <a:solidFill>
                  <a:srgbClr val="980000"/>
                </a:solidFill>
                <a:latin typeface="Verdana"/>
                <a:ea typeface="Verdana"/>
                <a:cs typeface="Verdana"/>
                <a:sym typeface="Verdana"/>
              </a:rPr>
              <a:t>Not loving a movie</a:t>
            </a:r>
            <a:r>
              <a:rPr lang="en" sz="1300">
                <a:solidFill>
                  <a:srgbClr val="000000"/>
                </a:solidFill>
                <a:latin typeface="Verdana"/>
                <a:ea typeface="Verdana"/>
                <a:cs typeface="Verdana"/>
                <a:sym typeface="Verdana"/>
              </a:rPr>
              <a:t>”</a:t>
            </a:r>
            <a:endParaRPr sz="1300">
              <a:solidFill>
                <a:srgbClr val="000000"/>
              </a:solidFill>
              <a:latin typeface="Verdana"/>
              <a:ea typeface="Verdana"/>
              <a:cs typeface="Verdana"/>
              <a:sym typeface="Verdana"/>
            </a:endParaRPr>
          </a:p>
        </p:txBody>
      </p:sp>
      <p:sp>
        <p:nvSpPr>
          <p:cNvPr id="164" name="Google Shape;164;p28"/>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Gaussian</a:t>
            </a:r>
            <a:r>
              <a:rPr lang="en">
                <a:solidFill>
                  <a:srgbClr val="980000"/>
                </a:solidFill>
                <a:latin typeface="Verdana"/>
                <a:ea typeface="Verdana"/>
                <a:cs typeface="Verdana"/>
                <a:sym typeface="Verdana"/>
              </a:rPr>
              <a:t> Naive Bayes</a:t>
            </a:r>
            <a:endParaRPr>
              <a:solidFill>
                <a:srgbClr val="980000"/>
              </a:solidFill>
              <a:latin typeface="Verdana"/>
              <a:ea typeface="Verdana"/>
              <a:cs typeface="Verdana"/>
              <a:sym typeface="Verdana"/>
            </a:endParaRPr>
          </a:p>
        </p:txBody>
      </p:sp>
      <p:pic>
        <p:nvPicPr>
          <p:cNvPr id="165" name="Google Shape;165;p28"/>
          <p:cNvPicPr preferRelativeResize="0"/>
          <p:nvPr/>
        </p:nvPicPr>
        <p:blipFill>
          <a:blip r:embed="rId3">
            <a:alphaModFix/>
          </a:blip>
          <a:stretch>
            <a:fillRect/>
          </a:stretch>
        </p:blipFill>
        <p:spPr>
          <a:xfrm>
            <a:off x="2298925" y="1445975"/>
            <a:ext cx="4451300" cy="1224100"/>
          </a:xfrm>
          <a:prstGeom prst="rect">
            <a:avLst/>
          </a:prstGeom>
          <a:noFill/>
          <a:ln>
            <a:noFill/>
          </a:ln>
        </p:spPr>
      </p:pic>
      <p:pic>
        <p:nvPicPr>
          <p:cNvPr id="166" name="Google Shape;166;p28"/>
          <p:cNvPicPr preferRelativeResize="0"/>
          <p:nvPr/>
        </p:nvPicPr>
        <p:blipFill>
          <a:blip r:embed="rId4">
            <a:alphaModFix/>
          </a:blip>
          <a:stretch>
            <a:fillRect/>
          </a:stretch>
        </p:blipFill>
        <p:spPr>
          <a:xfrm>
            <a:off x="542350" y="3004400"/>
            <a:ext cx="1639575" cy="1032325"/>
          </a:xfrm>
          <a:prstGeom prst="rect">
            <a:avLst/>
          </a:prstGeom>
          <a:noFill/>
          <a:ln>
            <a:noFill/>
          </a:ln>
        </p:spPr>
      </p:pic>
      <p:pic>
        <p:nvPicPr>
          <p:cNvPr id="167" name="Google Shape;167;p28"/>
          <p:cNvPicPr preferRelativeResize="0"/>
          <p:nvPr/>
        </p:nvPicPr>
        <p:blipFill>
          <a:blip r:embed="rId5">
            <a:alphaModFix/>
          </a:blip>
          <a:stretch>
            <a:fillRect/>
          </a:stretch>
        </p:blipFill>
        <p:spPr>
          <a:xfrm>
            <a:off x="542350" y="4036714"/>
            <a:ext cx="1639574" cy="1036461"/>
          </a:xfrm>
          <a:prstGeom prst="rect">
            <a:avLst/>
          </a:prstGeom>
          <a:noFill/>
          <a:ln>
            <a:noFill/>
          </a:ln>
        </p:spPr>
      </p:pic>
      <p:pic>
        <p:nvPicPr>
          <p:cNvPr id="168" name="Google Shape;168;p28"/>
          <p:cNvPicPr preferRelativeResize="0"/>
          <p:nvPr/>
        </p:nvPicPr>
        <p:blipFill>
          <a:blip r:embed="rId6">
            <a:alphaModFix/>
          </a:blip>
          <a:stretch>
            <a:fillRect/>
          </a:stretch>
        </p:blipFill>
        <p:spPr>
          <a:xfrm>
            <a:off x="3048000" y="2992050"/>
            <a:ext cx="2682234" cy="2004925"/>
          </a:xfrm>
          <a:prstGeom prst="rect">
            <a:avLst/>
          </a:prstGeom>
          <a:noFill/>
          <a:ln>
            <a:noFill/>
          </a:ln>
        </p:spPr>
      </p:pic>
      <p:pic>
        <p:nvPicPr>
          <p:cNvPr id="169" name="Google Shape;169;p28"/>
          <p:cNvPicPr preferRelativeResize="0"/>
          <p:nvPr/>
        </p:nvPicPr>
        <p:blipFill>
          <a:blip r:embed="rId7">
            <a:alphaModFix/>
          </a:blip>
          <a:stretch>
            <a:fillRect/>
          </a:stretch>
        </p:blipFill>
        <p:spPr>
          <a:xfrm>
            <a:off x="6142850" y="2992050"/>
            <a:ext cx="2682225" cy="192011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idx="1" type="body"/>
          </p:nvPr>
        </p:nvSpPr>
        <p:spPr>
          <a:xfrm>
            <a:off x="311700" y="763625"/>
            <a:ext cx="8655900" cy="43158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Font typeface="Verdana"/>
              <a:buChar char="●"/>
            </a:pPr>
            <a:r>
              <a:rPr lang="en" sz="1300">
                <a:solidFill>
                  <a:srgbClr val="000000"/>
                </a:solidFill>
                <a:latin typeface="Verdana"/>
                <a:ea typeface="Verdana"/>
                <a:cs typeface="Verdana"/>
                <a:sym typeface="Verdana"/>
              </a:rPr>
              <a:t>Text documents are </a:t>
            </a:r>
            <a:r>
              <a:rPr lang="en" sz="1300">
                <a:solidFill>
                  <a:srgbClr val="000000"/>
                </a:solidFill>
                <a:latin typeface="Verdana"/>
                <a:ea typeface="Verdana"/>
                <a:cs typeface="Verdana"/>
                <a:sym typeface="Verdana"/>
              </a:rPr>
              <a:t>unstructured (they have different words, number of words, lengths, etc).</a:t>
            </a:r>
            <a:br>
              <a:rPr lang="en" sz="1300">
                <a:solidFill>
                  <a:srgbClr val="000000"/>
                </a:solidFill>
                <a:latin typeface="Verdana"/>
                <a:ea typeface="Verdana"/>
                <a:cs typeface="Verdana"/>
                <a:sym typeface="Verdana"/>
              </a:rPr>
            </a:br>
            <a:endParaRPr sz="13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300">
                <a:solidFill>
                  <a:srgbClr val="000000"/>
                </a:solidFill>
                <a:latin typeface="Verdana"/>
                <a:ea typeface="Verdana"/>
                <a:cs typeface="Verdana"/>
                <a:sym typeface="Verdana"/>
              </a:rPr>
              <a:t>We need to convert them into a structured format → called as </a:t>
            </a:r>
            <a:r>
              <a:rPr b="1" lang="en" sz="1300">
                <a:solidFill>
                  <a:srgbClr val="0000FF"/>
                </a:solidFill>
                <a:latin typeface="Verdana"/>
                <a:ea typeface="Verdana"/>
                <a:cs typeface="Verdana"/>
                <a:sym typeface="Verdana"/>
              </a:rPr>
              <a:t>vectorization</a:t>
            </a:r>
            <a:r>
              <a:rPr lang="en" sz="1300">
                <a:solidFill>
                  <a:srgbClr val="000000"/>
                </a:solidFill>
                <a:latin typeface="Verdana"/>
                <a:ea typeface="Verdana"/>
                <a:cs typeface="Verdana"/>
                <a:sym typeface="Verdana"/>
              </a:rPr>
              <a:t>.</a:t>
            </a:r>
            <a:r>
              <a:rPr lang="en" sz="1300">
                <a:solidFill>
                  <a:srgbClr val="000000"/>
                </a:solidFill>
                <a:latin typeface="Verdana"/>
                <a:ea typeface="Verdana"/>
                <a:cs typeface="Verdana"/>
                <a:sym typeface="Verdana"/>
              </a:rPr>
              <a:t> </a:t>
            </a:r>
            <a:br>
              <a:rPr lang="en" sz="1300">
                <a:solidFill>
                  <a:srgbClr val="000000"/>
                </a:solidFill>
                <a:latin typeface="Verdana"/>
                <a:ea typeface="Verdana"/>
                <a:cs typeface="Verdana"/>
                <a:sym typeface="Verdana"/>
              </a:rPr>
            </a:br>
            <a:endParaRPr sz="1300">
              <a:solidFill>
                <a:srgbClr val="000000"/>
              </a:solidFill>
              <a:latin typeface="Verdana"/>
              <a:ea typeface="Verdana"/>
              <a:cs typeface="Verdana"/>
              <a:sym typeface="Verdana"/>
            </a:endParaRPr>
          </a:p>
          <a:p>
            <a:pPr indent="-311150" lvl="1" marL="914400" rtl="0" algn="l">
              <a:spcBef>
                <a:spcPts val="0"/>
              </a:spcBef>
              <a:spcAft>
                <a:spcPts val="0"/>
              </a:spcAft>
              <a:buClr>
                <a:srgbClr val="000000"/>
              </a:buClr>
              <a:buSzPts val="1300"/>
              <a:buFont typeface="Verdana"/>
              <a:buChar char="○"/>
            </a:pPr>
            <a:r>
              <a:rPr lang="en" sz="1300">
                <a:solidFill>
                  <a:srgbClr val="000000"/>
                </a:solidFill>
                <a:latin typeface="Verdana"/>
                <a:ea typeface="Verdana"/>
                <a:cs typeface="Verdana"/>
                <a:sym typeface="Verdana"/>
              </a:rPr>
              <a:t>The aim is to represent the documents with </a:t>
            </a:r>
            <a:r>
              <a:rPr lang="en" sz="1300">
                <a:solidFill>
                  <a:srgbClr val="0000FF"/>
                </a:solidFill>
                <a:latin typeface="Verdana"/>
                <a:ea typeface="Verdana"/>
                <a:cs typeface="Verdana"/>
                <a:sym typeface="Verdana"/>
              </a:rPr>
              <a:t>numerical feature vectors</a:t>
            </a:r>
            <a:r>
              <a:rPr lang="en" sz="1300">
                <a:solidFill>
                  <a:srgbClr val="000000"/>
                </a:solidFill>
                <a:latin typeface="Verdana"/>
                <a:ea typeface="Verdana"/>
                <a:cs typeface="Verdana"/>
                <a:sym typeface="Verdana"/>
              </a:rPr>
              <a:t>. </a:t>
            </a:r>
            <a:br>
              <a:rPr lang="en" sz="1300">
                <a:solidFill>
                  <a:srgbClr val="000000"/>
                </a:solidFill>
                <a:latin typeface="Verdana"/>
                <a:ea typeface="Verdana"/>
                <a:cs typeface="Verdana"/>
                <a:sym typeface="Verdana"/>
              </a:rPr>
            </a:br>
            <a:endParaRPr sz="1300">
              <a:solidFill>
                <a:srgbClr val="000000"/>
              </a:solidFill>
              <a:latin typeface="Verdana"/>
              <a:ea typeface="Verdana"/>
              <a:cs typeface="Verdana"/>
              <a:sym typeface="Verdana"/>
            </a:endParaRPr>
          </a:p>
          <a:p>
            <a:pPr indent="-311150" lvl="1" marL="914400" rtl="0" algn="l">
              <a:spcBef>
                <a:spcPts val="0"/>
              </a:spcBef>
              <a:spcAft>
                <a:spcPts val="0"/>
              </a:spcAft>
              <a:buClr>
                <a:srgbClr val="000000"/>
              </a:buClr>
              <a:buSzPts val="1300"/>
              <a:buFont typeface="Verdana"/>
              <a:buChar char="○"/>
            </a:pPr>
            <a:r>
              <a:rPr lang="en" sz="1300">
                <a:solidFill>
                  <a:srgbClr val="000000"/>
                </a:solidFill>
                <a:latin typeface="Verdana"/>
                <a:ea typeface="Verdana"/>
                <a:cs typeface="Verdana"/>
                <a:sym typeface="Verdana"/>
              </a:rPr>
              <a:t>This specific strategy (tokenization, counting and normalization) is called the </a:t>
            </a:r>
            <a:r>
              <a:rPr b="1" lang="en" sz="1300">
                <a:solidFill>
                  <a:srgbClr val="0000FF"/>
                </a:solidFill>
                <a:latin typeface="Verdana"/>
                <a:ea typeface="Verdana"/>
                <a:cs typeface="Verdana"/>
                <a:sym typeface="Verdana"/>
              </a:rPr>
              <a:t>Bag of Words</a:t>
            </a:r>
            <a:r>
              <a:rPr lang="en" sz="1300">
                <a:solidFill>
                  <a:srgbClr val="000000"/>
                </a:solidFill>
                <a:latin typeface="Verdana"/>
                <a:ea typeface="Verdana"/>
                <a:cs typeface="Verdana"/>
                <a:sym typeface="Verdana"/>
              </a:rPr>
              <a:t> </a:t>
            </a:r>
            <a:r>
              <a:rPr lang="en" sz="1300">
                <a:solidFill>
                  <a:srgbClr val="000000"/>
                </a:solidFill>
                <a:latin typeface="Verdana"/>
                <a:ea typeface="Verdana"/>
                <a:cs typeface="Verdana"/>
                <a:sym typeface="Verdana"/>
              </a:rPr>
              <a:t>or “Bag of n-grams” </a:t>
            </a:r>
            <a:r>
              <a:rPr lang="en" sz="1300">
                <a:solidFill>
                  <a:srgbClr val="000000"/>
                </a:solidFill>
                <a:latin typeface="Verdana"/>
                <a:ea typeface="Verdana"/>
                <a:cs typeface="Verdana"/>
                <a:sym typeface="Verdana"/>
              </a:rPr>
              <a:t>representation.</a:t>
            </a:r>
            <a:endParaRPr sz="1300">
              <a:solidFill>
                <a:srgbClr val="000000"/>
              </a:solidFill>
              <a:latin typeface="Verdana"/>
              <a:ea typeface="Verdana"/>
              <a:cs typeface="Verdana"/>
              <a:sym typeface="Verdana"/>
            </a:endParaRPr>
          </a:p>
          <a:p>
            <a:pPr indent="-311150" lvl="2" marL="1371600" rtl="0" algn="l">
              <a:spcBef>
                <a:spcPts val="0"/>
              </a:spcBef>
              <a:spcAft>
                <a:spcPts val="0"/>
              </a:spcAft>
              <a:buClr>
                <a:srgbClr val="000000"/>
              </a:buClr>
              <a:buSzPts val="1300"/>
              <a:buFont typeface="Verdana"/>
              <a:buChar char="■"/>
            </a:pPr>
            <a:r>
              <a:rPr b="1" lang="en" sz="1300">
                <a:solidFill>
                  <a:srgbClr val="980000"/>
                </a:solidFill>
                <a:latin typeface="Verdana"/>
                <a:ea typeface="Verdana"/>
                <a:cs typeface="Verdana"/>
                <a:sym typeface="Verdana"/>
              </a:rPr>
              <a:t>tokenizing</a:t>
            </a:r>
            <a:r>
              <a:rPr lang="en" sz="1300">
                <a:solidFill>
                  <a:srgbClr val="000000"/>
                </a:solidFill>
                <a:latin typeface="Verdana"/>
                <a:ea typeface="Verdana"/>
                <a:cs typeface="Verdana"/>
                <a:sym typeface="Verdana"/>
              </a:rPr>
              <a:t> strings and giving an integer id for each possible token, for instance by using white-spaces and punctuation as token separators.</a:t>
            </a:r>
            <a:endParaRPr sz="1300">
              <a:solidFill>
                <a:srgbClr val="000000"/>
              </a:solidFill>
              <a:latin typeface="Verdana"/>
              <a:ea typeface="Verdana"/>
              <a:cs typeface="Verdana"/>
              <a:sym typeface="Verdana"/>
            </a:endParaRPr>
          </a:p>
          <a:p>
            <a:pPr indent="-311150" lvl="2" marL="1371600" rtl="0" algn="l">
              <a:spcBef>
                <a:spcPts val="0"/>
              </a:spcBef>
              <a:spcAft>
                <a:spcPts val="0"/>
              </a:spcAft>
              <a:buClr>
                <a:srgbClr val="000000"/>
              </a:buClr>
              <a:buSzPts val="1300"/>
              <a:buFont typeface="Verdana"/>
              <a:buChar char="■"/>
            </a:pPr>
            <a:r>
              <a:rPr b="1" lang="en" sz="1300">
                <a:solidFill>
                  <a:srgbClr val="980000"/>
                </a:solidFill>
                <a:latin typeface="Verdana"/>
                <a:ea typeface="Verdana"/>
                <a:cs typeface="Verdana"/>
                <a:sym typeface="Verdana"/>
              </a:rPr>
              <a:t>counting</a:t>
            </a:r>
            <a:r>
              <a:rPr lang="en" sz="1300">
                <a:solidFill>
                  <a:srgbClr val="000000"/>
                </a:solidFill>
                <a:latin typeface="Verdana"/>
                <a:ea typeface="Verdana"/>
                <a:cs typeface="Verdana"/>
                <a:sym typeface="Verdana"/>
              </a:rPr>
              <a:t> the occurrences of tokens in each document.</a:t>
            </a:r>
            <a:endParaRPr sz="1300">
              <a:solidFill>
                <a:srgbClr val="000000"/>
              </a:solidFill>
              <a:latin typeface="Verdana"/>
              <a:ea typeface="Verdana"/>
              <a:cs typeface="Verdana"/>
              <a:sym typeface="Verdana"/>
            </a:endParaRPr>
          </a:p>
          <a:p>
            <a:pPr indent="-311150" lvl="2" marL="1371600" rtl="0" algn="l">
              <a:spcBef>
                <a:spcPts val="0"/>
              </a:spcBef>
              <a:spcAft>
                <a:spcPts val="0"/>
              </a:spcAft>
              <a:buClr>
                <a:srgbClr val="000000"/>
              </a:buClr>
              <a:buSzPts val="1300"/>
              <a:buFont typeface="Verdana"/>
              <a:buChar char="■"/>
            </a:pPr>
            <a:r>
              <a:rPr b="1" lang="en" sz="1300">
                <a:solidFill>
                  <a:srgbClr val="980000"/>
                </a:solidFill>
                <a:latin typeface="Verdana"/>
                <a:ea typeface="Verdana"/>
                <a:cs typeface="Verdana"/>
                <a:sym typeface="Verdana"/>
              </a:rPr>
              <a:t>normalizing</a:t>
            </a:r>
            <a:r>
              <a:rPr lang="en" sz="1300">
                <a:solidFill>
                  <a:srgbClr val="000000"/>
                </a:solidFill>
                <a:latin typeface="Verdana"/>
                <a:ea typeface="Verdana"/>
                <a:cs typeface="Verdana"/>
                <a:sym typeface="Verdana"/>
              </a:rPr>
              <a:t> and weighting with diminishing importance tokens that occur in the majority of samples / documents.</a:t>
            </a:r>
            <a:br>
              <a:rPr lang="en" sz="1300">
                <a:solidFill>
                  <a:srgbClr val="000000"/>
                </a:solidFill>
                <a:latin typeface="Verdana"/>
                <a:ea typeface="Verdana"/>
                <a:cs typeface="Verdana"/>
                <a:sym typeface="Verdana"/>
              </a:rPr>
            </a:br>
            <a:endParaRPr sz="1300">
              <a:solidFill>
                <a:srgbClr val="000000"/>
              </a:solidFill>
              <a:latin typeface="Verdana"/>
              <a:ea typeface="Verdana"/>
              <a:cs typeface="Verdana"/>
              <a:sym typeface="Verdana"/>
            </a:endParaRPr>
          </a:p>
          <a:p>
            <a:pPr indent="-311150" lvl="1" marL="914400" rtl="0" algn="l">
              <a:spcBef>
                <a:spcPts val="0"/>
              </a:spcBef>
              <a:spcAft>
                <a:spcPts val="0"/>
              </a:spcAft>
              <a:buClr>
                <a:srgbClr val="000000"/>
              </a:buClr>
              <a:buSzPts val="1300"/>
              <a:buFont typeface="Verdana"/>
              <a:buChar char="○"/>
            </a:pPr>
            <a:r>
              <a:rPr lang="en" sz="1300">
                <a:solidFill>
                  <a:srgbClr val="000000"/>
                </a:solidFill>
                <a:latin typeface="Verdana"/>
                <a:ea typeface="Verdana"/>
                <a:cs typeface="Verdana"/>
                <a:sym typeface="Verdana"/>
              </a:rPr>
              <a:t>Completely </a:t>
            </a:r>
            <a:r>
              <a:rPr lang="en" sz="1300">
                <a:solidFill>
                  <a:srgbClr val="0000FF"/>
                </a:solidFill>
                <a:latin typeface="Verdana"/>
                <a:ea typeface="Verdana"/>
                <a:cs typeface="Verdana"/>
                <a:sym typeface="Verdana"/>
              </a:rPr>
              <a:t>ignoring the relative position information of the words</a:t>
            </a:r>
            <a:r>
              <a:rPr lang="en" sz="1300">
                <a:solidFill>
                  <a:srgbClr val="000000"/>
                </a:solidFill>
                <a:latin typeface="Verdana"/>
                <a:ea typeface="Verdana"/>
                <a:cs typeface="Verdana"/>
                <a:sym typeface="Verdana"/>
              </a:rPr>
              <a:t> in the document</a:t>
            </a:r>
            <a:br>
              <a:rPr lang="en" sz="1300">
                <a:solidFill>
                  <a:srgbClr val="000000"/>
                </a:solidFill>
                <a:latin typeface="Verdana"/>
                <a:ea typeface="Verdana"/>
                <a:cs typeface="Verdana"/>
                <a:sym typeface="Verdana"/>
              </a:rPr>
            </a:br>
            <a:endParaRPr sz="1300">
              <a:solidFill>
                <a:srgbClr val="000000"/>
              </a:solidFill>
              <a:latin typeface="Verdana"/>
              <a:ea typeface="Verdana"/>
              <a:cs typeface="Verdana"/>
              <a:sym typeface="Verdana"/>
            </a:endParaRPr>
          </a:p>
          <a:p>
            <a:pPr indent="-311150" lvl="0" marL="457200" rtl="0" algn="l">
              <a:spcBef>
                <a:spcPts val="0"/>
              </a:spcBef>
              <a:spcAft>
                <a:spcPts val="0"/>
              </a:spcAft>
              <a:buClr>
                <a:srgbClr val="000000"/>
              </a:buClr>
              <a:buSzPts val="1300"/>
              <a:buFont typeface="Verdana"/>
              <a:buChar char="●"/>
            </a:pPr>
            <a:r>
              <a:rPr lang="en" sz="1300">
                <a:solidFill>
                  <a:srgbClr val="000000"/>
                </a:solidFill>
                <a:latin typeface="Verdana"/>
                <a:ea typeface="Verdana"/>
                <a:cs typeface="Verdana"/>
                <a:sym typeface="Verdana"/>
              </a:rPr>
              <a:t>Another way is converting texts into structured format is using </a:t>
            </a:r>
            <a:r>
              <a:rPr lang="en" sz="1300" u="sng">
                <a:solidFill>
                  <a:schemeClr val="hlink"/>
                </a:solidFill>
                <a:latin typeface="Verdana"/>
                <a:ea typeface="Verdana"/>
                <a:cs typeface="Verdana"/>
                <a:sym typeface="Verdana"/>
                <a:hlinkClick r:id="rId3"/>
              </a:rPr>
              <a:t>Word Embeddings</a:t>
            </a:r>
            <a:r>
              <a:rPr lang="en" sz="1300">
                <a:solidFill>
                  <a:srgbClr val="000000"/>
                </a:solidFill>
                <a:latin typeface="Verdana"/>
                <a:ea typeface="Verdana"/>
                <a:cs typeface="Verdana"/>
                <a:sym typeface="Verdana"/>
              </a:rPr>
              <a:t>.</a:t>
            </a:r>
            <a:endParaRPr sz="1300">
              <a:solidFill>
                <a:srgbClr val="000000"/>
              </a:solidFill>
              <a:latin typeface="Verdana"/>
              <a:ea typeface="Verdana"/>
              <a:cs typeface="Verdana"/>
              <a:sym typeface="Verdana"/>
            </a:endParaRPr>
          </a:p>
        </p:txBody>
      </p:sp>
      <p:sp>
        <p:nvSpPr>
          <p:cNvPr id="175" name="Google Shape;175;p29"/>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Working with Text Documents</a:t>
            </a:r>
            <a:endParaRPr>
              <a:solidFill>
                <a:srgbClr val="980000"/>
              </a:solidFill>
              <a:latin typeface="Verdana"/>
              <a:ea typeface="Verdana"/>
              <a:cs typeface="Verdana"/>
              <a:sym typeface="Verdan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0"/>
          <p:cNvSpPr txBox="1"/>
          <p:nvPr>
            <p:ph idx="1" type="body"/>
          </p:nvPr>
        </p:nvSpPr>
        <p:spPr>
          <a:xfrm>
            <a:off x="311700" y="763625"/>
            <a:ext cx="8655900" cy="431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sz="1500">
              <a:solidFill>
                <a:srgbClr val="0000FF"/>
              </a:solidFill>
              <a:latin typeface="Verdana"/>
              <a:ea typeface="Verdana"/>
              <a:cs typeface="Verdana"/>
              <a:sym typeface="Verdana"/>
            </a:endParaRPr>
          </a:p>
          <a:p>
            <a:pPr indent="-323850" lvl="0" marL="457200" rtl="0" algn="l">
              <a:spcBef>
                <a:spcPts val="1200"/>
              </a:spcBef>
              <a:spcAft>
                <a:spcPts val="0"/>
              </a:spcAft>
              <a:buClr>
                <a:srgbClr val="000000"/>
              </a:buClr>
              <a:buSzPts val="1500"/>
              <a:buFont typeface="Verdana"/>
              <a:buChar char="●"/>
            </a:pPr>
            <a:r>
              <a:rPr b="1" lang="en" sz="1500">
                <a:solidFill>
                  <a:srgbClr val="0000FF"/>
                </a:solidFill>
                <a:latin typeface="Verdana"/>
                <a:ea typeface="Verdana"/>
                <a:cs typeface="Verdana"/>
                <a:sym typeface="Verdana"/>
              </a:rPr>
              <a:t>Sparsity</a:t>
            </a:r>
            <a:r>
              <a:rPr lang="en" sz="1500">
                <a:solidFill>
                  <a:srgbClr val="000000"/>
                </a:solidFill>
                <a:latin typeface="Verdana"/>
                <a:ea typeface="Verdana"/>
                <a:cs typeface="Verdana"/>
                <a:sym typeface="Verdana"/>
              </a:rPr>
              <a:t> is always an issue with text vectorization. The resulting matrix will have </a:t>
            </a:r>
            <a:r>
              <a:rPr lang="en" sz="1500">
                <a:solidFill>
                  <a:srgbClr val="0000FF"/>
                </a:solidFill>
                <a:latin typeface="Verdana"/>
                <a:ea typeface="Verdana"/>
                <a:cs typeface="Verdana"/>
                <a:sym typeface="Verdana"/>
              </a:rPr>
              <a:t>many feature values that are zeros</a:t>
            </a:r>
            <a:r>
              <a:rPr lang="en" sz="1500">
                <a:solidFill>
                  <a:srgbClr val="000000"/>
                </a:solidFill>
                <a:latin typeface="Verdana"/>
                <a:ea typeface="Verdana"/>
                <a:cs typeface="Verdana"/>
                <a:sym typeface="Verdana"/>
              </a:rPr>
              <a:t> (typically more than 99% of them).</a:t>
            </a: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For instance a collection of 10,000 short text documents (such as emails) will use </a:t>
            </a:r>
            <a:endParaRPr sz="1500">
              <a:solidFill>
                <a:srgbClr val="000000"/>
              </a:solidFill>
              <a:latin typeface="Verdana"/>
              <a:ea typeface="Verdana"/>
              <a:cs typeface="Verdana"/>
              <a:sym typeface="Verdana"/>
            </a:endParaRPr>
          </a:p>
          <a:p>
            <a:pPr indent="-323850" lvl="1" marL="9144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a vocabulary with a size in the order of 100,000 unique words in total</a:t>
            </a:r>
            <a:endParaRPr sz="1500">
              <a:solidFill>
                <a:srgbClr val="000000"/>
              </a:solidFill>
              <a:latin typeface="Verdana"/>
              <a:ea typeface="Verdana"/>
              <a:cs typeface="Verdana"/>
              <a:sym typeface="Verdana"/>
            </a:endParaRPr>
          </a:p>
          <a:p>
            <a:pPr indent="-323850" lvl="1" marL="9144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each document will use 100 to 1000 unique words individually.</a:t>
            </a: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Scikit-learn uses </a:t>
            </a:r>
            <a:r>
              <a:rPr lang="en" sz="1500">
                <a:solidFill>
                  <a:srgbClr val="000000"/>
                </a:solidFill>
                <a:latin typeface="Source Code Pro"/>
                <a:ea typeface="Source Code Pro"/>
                <a:cs typeface="Source Code Pro"/>
                <a:sym typeface="Source Code Pro"/>
              </a:rPr>
              <a:t>scipy.sparse</a:t>
            </a:r>
            <a:r>
              <a:rPr lang="en" sz="1500">
                <a:solidFill>
                  <a:srgbClr val="000000"/>
                </a:solidFill>
                <a:latin typeface="Verdana"/>
                <a:ea typeface="Verdana"/>
                <a:cs typeface="Verdana"/>
                <a:sym typeface="Verdana"/>
              </a:rPr>
              <a:t> package for efficiency reasons. </a:t>
            </a:r>
            <a:endParaRPr sz="1500">
              <a:solidFill>
                <a:srgbClr val="000000"/>
              </a:solidFill>
              <a:latin typeface="Verdana"/>
              <a:ea typeface="Verdana"/>
              <a:cs typeface="Verdana"/>
              <a:sym typeface="Verdana"/>
            </a:endParaRPr>
          </a:p>
          <a:p>
            <a:pPr indent="0" lvl="0" marL="457200" rtl="0" algn="l">
              <a:spcBef>
                <a:spcPts val="1200"/>
              </a:spcBef>
              <a:spcAft>
                <a:spcPts val="1200"/>
              </a:spcAft>
              <a:buNone/>
            </a:pPr>
            <a:r>
              <a:t/>
            </a:r>
            <a:endParaRPr sz="1500">
              <a:solidFill>
                <a:srgbClr val="000000"/>
              </a:solidFill>
              <a:latin typeface="Verdana"/>
              <a:ea typeface="Verdana"/>
              <a:cs typeface="Verdana"/>
              <a:sym typeface="Verdana"/>
            </a:endParaRPr>
          </a:p>
        </p:txBody>
      </p:sp>
      <p:sp>
        <p:nvSpPr>
          <p:cNvPr id="181" name="Google Shape;181;p30"/>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Working with Text Documents</a:t>
            </a:r>
            <a:endParaRPr>
              <a:solidFill>
                <a:srgbClr val="980000"/>
              </a:solidFill>
              <a:latin typeface="Verdana"/>
              <a:ea typeface="Verdana"/>
              <a:cs typeface="Verdana"/>
              <a:sym typeface="Verdan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1"/>
          <p:cNvSpPr txBox="1"/>
          <p:nvPr>
            <p:ph idx="1" type="body"/>
          </p:nvPr>
        </p:nvSpPr>
        <p:spPr>
          <a:xfrm>
            <a:off x="311700" y="763625"/>
            <a:ext cx="8655900" cy="431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50">
                <a:solidFill>
                  <a:srgbClr val="007020"/>
                </a:solidFill>
                <a:highlight>
                  <a:srgbClr val="F8F8F8"/>
                </a:highlight>
                <a:latin typeface="Courier New"/>
                <a:ea typeface="Courier New"/>
                <a:cs typeface="Courier New"/>
                <a:sym typeface="Courier New"/>
              </a:rPr>
              <a:t>from</a:t>
            </a:r>
            <a:r>
              <a:rPr b="1" lang="en" sz="1550">
                <a:solidFill>
                  <a:srgbClr val="212529"/>
                </a:solidFill>
                <a:highlight>
                  <a:srgbClr val="F8F8F8"/>
                </a:highlight>
                <a:latin typeface="Courier New"/>
                <a:ea typeface="Courier New"/>
                <a:cs typeface="Courier New"/>
                <a:sym typeface="Courier New"/>
              </a:rPr>
              <a:t> </a:t>
            </a:r>
            <a:r>
              <a:rPr b="1" lang="en" sz="1550">
                <a:solidFill>
                  <a:srgbClr val="0E84B5"/>
                </a:solidFill>
                <a:highlight>
                  <a:srgbClr val="F8F8F8"/>
                </a:highlight>
                <a:latin typeface="Courier New"/>
                <a:ea typeface="Courier New"/>
                <a:cs typeface="Courier New"/>
                <a:sym typeface="Courier New"/>
              </a:rPr>
              <a:t>sklearn.feature_extraction.text</a:t>
            </a:r>
            <a:r>
              <a:rPr b="1" lang="en" sz="1550">
                <a:solidFill>
                  <a:srgbClr val="212529"/>
                </a:solidFill>
                <a:highlight>
                  <a:srgbClr val="F8F8F8"/>
                </a:highlight>
                <a:latin typeface="Courier New"/>
                <a:ea typeface="Courier New"/>
                <a:cs typeface="Courier New"/>
                <a:sym typeface="Courier New"/>
              </a:rPr>
              <a:t> </a:t>
            </a:r>
            <a:r>
              <a:rPr b="1" lang="en" sz="1550">
                <a:solidFill>
                  <a:srgbClr val="007020"/>
                </a:solidFill>
                <a:highlight>
                  <a:srgbClr val="F8F8F8"/>
                </a:highlight>
                <a:latin typeface="Courier New"/>
                <a:ea typeface="Courier New"/>
                <a:cs typeface="Courier New"/>
                <a:sym typeface="Courier New"/>
              </a:rPr>
              <a:t>import</a:t>
            </a:r>
            <a:r>
              <a:rPr b="1" lang="en" sz="1550">
                <a:solidFill>
                  <a:srgbClr val="212529"/>
                </a:solidFill>
                <a:highlight>
                  <a:srgbClr val="F8F8F8"/>
                </a:highlight>
                <a:latin typeface="Courier New"/>
                <a:ea typeface="Courier New"/>
                <a:cs typeface="Courier New"/>
                <a:sym typeface="Courier New"/>
              </a:rPr>
              <a:t> CountVectorizer</a:t>
            </a:r>
            <a:endParaRPr b="1" sz="1700">
              <a:solidFill>
                <a:srgbClr val="212529"/>
              </a:solidFill>
              <a:highlight>
                <a:srgbClr val="F8F8F8"/>
              </a:highlight>
              <a:latin typeface="Roboto"/>
              <a:ea typeface="Roboto"/>
              <a:cs typeface="Roboto"/>
              <a:sym typeface="Roboto"/>
            </a:endParaRPr>
          </a:p>
          <a:p>
            <a:pPr indent="0" lvl="0" marL="0" rtl="0" algn="l">
              <a:lnSpc>
                <a:spcPct val="135714"/>
              </a:lnSpc>
              <a:spcBef>
                <a:spcPts val="1200"/>
              </a:spcBef>
              <a:spcAft>
                <a:spcPts val="0"/>
              </a:spcAft>
              <a:buNone/>
            </a:pPr>
            <a:r>
              <a:rPr b="1" lang="en" sz="1450">
                <a:solidFill>
                  <a:schemeClr val="dk2"/>
                </a:solidFill>
                <a:highlight>
                  <a:srgbClr val="FFFFFE"/>
                </a:highlight>
                <a:latin typeface="Courier New"/>
                <a:ea typeface="Courier New"/>
                <a:cs typeface="Courier New"/>
                <a:sym typeface="Courier New"/>
              </a:rPr>
              <a:t>vectorizer = CountVectorizer(strip_accents=</a:t>
            </a:r>
            <a:r>
              <a:rPr b="1" lang="en" sz="1450">
                <a:solidFill>
                  <a:srgbClr val="A31515"/>
                </a:solidFill>
                <a:highlight>
                  <a:srgbClr val="FFFFFE"/>
                </a:highlight>
                <a:latin typeface="Courier New"/>
                <a:ea typeface="Courier New"/>
                <a:cs typeface="Courier New"/>
                <a:sym typeface="Courier New"/>
              </a:rPr>
              <a:t>"unicode"</a:t>
            </a:r>
            <a:r>
              <a:rPr b="1" lang="en" sz="1450">
                <a:solidFill>
                  <a:schemeClr val="dk2"/>
                </a:solidFill>
                <a:highlight>
                  <a:srgbClr val="FFFFFE"/>
                </a:highlight>
                <a:latin typeface="Courier New"/>
                <a:ea typeface="Courier New"/>
                <a:cs typeface="Courier New"/>
                <a:sym typeface="Courier New"/>
              </a:rPr>
              <a:t>)</a:t>
            </a:r>
            <a:endParaRPr b="1" sz="14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450">
                <a:solidFill>
                  <a:schemeClr val="dk2"/>
                </a:solidFill>
                <a:highlight>
                  <a:srgbClr val="FFFFFE"/>
                </a:highlight>
                <a:latin typeface="Courier New"/>
                <a:ea typeface="Courier New"/>
                <a:cs typeface="Courier New"/>
                <a:sym typeface="Courier New"/>
              </a:rPr>
              <a:t>corpus = [</a:t>
            </a:r>
            <a:endParaRPr b="1" sz="14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450">
                <a:solidFill>
                  <a:schemeClr val="dk2"/>
                </a:solidFill>
                <a:highlight>
                  <a:srgbClr val="FFFFFE"/>
                </a:highlight>
                <a:latin typeface="Courier New"/>
                <a:ea typeface="Courier New"/>
                <a:cs typeface="Courier New"/>
                <a:sym typeface="Courier New"/>
              </a:rPr>
              <a:t>   </a:t>
            </a:r>
            <a:r>
              <a:rPr b="1" lang="en" sz="1450">
                <a:solidFill>
                  <a:srgbClr val="A31515"/>
                </a:solidFill>
                <a:highlight>
                  <a:srgbClr val="FFFFFE"/>
                </a:highlight>
                <a:latin typeface="Courier New"/>
                <a:ea typeface="Courier New"/>
                <a:cs typeface="Courier New"/>
                <a:sym typeface="Courier New"/>
              </a:rPr>
              <a:t>'This is the first document. ustanbul üstanbul'</a:t>
            </a:r>
            <a:r>
              <a:rPr b="1" lang="en" sz="1450">
                <a:solidFill>
                  <a:schemeClr val="dk2"/>
                </a:solidFill>
                <a:highlight>
                  <a:srgbClr val="FFFFFE"/>
                </a:highlight>
                <a:latin typeface="Courier New"/>
                <a:ea typeface="Courier New"/>
                <a:cs typeface="Courier New"/>
                <a:sym typeface="Courier New"/>
              </a:rPr>
              <a:t>,</a:t>
            </a:r>
            <a:endParaRPr b="1" sz="14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450">
                <a:solidFill>
                  <a:schemeClr val="dk2"/>
                </a:solidFill>
                <a:highlight>
                  <a:srgbClr val="FFFFFE"/>
                </a:highlight>
                <a:latin typeface="Courier New"/>
                <a:ea typeface="Courier New"/>
                <a:cs typeface="Courier New"/>
                <a:sym typeface="Courier New"/>
              </a:rPr>
              <a:t>   </a:t>
            </a:r>
            <a:r>
              <a:rPr b="1" lang="en" sz="1450">
                <a:solidFill>
                  <a:srgbClr val="A31515"/>
                </a:solidFill>
                <a:highlight>
                  <a:srgbClr val="FFFFFE"/>
                </a:highlight>
                <a:latin typeface="Courier New"/>
                <a:ea typeface="Courier New"/>
                <a:cs typeface="Courier New"/>
                <a:sym typeface="Courier New"/>
              </a:rPr>
              <a:t>'This is the second second document.'</a:t>
            </a:r>
            <a:r>
              <a:rPr b="1" lang="en" sz="1450">
                <a:solidFill>
                  <a:schemeClr val="dk2"/>
                </a:solidFill>
                <a:highlight>
                  <a:srgbClr val="FFFFFE"/>
                </a:highlight>
                <a:latin typeface="Courier New"/>
                <a:ea typeface="Courier New"/>
                <a:cs typeface="Courier New"/>
                <a:sym typeface="Courier New"/>
              </a:rPr>
              <a:t>,</a:t>
            </a:r>
            <a:endParaRPr b="1" sz="14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450">
                <a:solidFill>
                  <a:schemeClr val="dk2"/>
                </a:solidFill>
                <a:highlight>
                  <a:srgbClr val="FFFFFE"/>
                </a:highlight>
                <a:latin typeface="Courier New"/>
                <a:ea typeface="Courier New"/>
                <a:cs typeface="Courier New"/>
                <a:sym typeface="Courier New"/>
              </a:rPr>
              <a:t>   </a:t>
            </a:r>
            <a:r>
              <a:rPr b="1" lang="en" sz="1450">
                <a:solidFill>
                  <a:srgbClr val="A31515"/>
                </a:solidFill>
                <a:highlight>
                  <a:srgbClr val="FFFFFE"/>
                </a:highlight>
                <a:latin typeface="Courier New"/>
                <a:ea typeface="Courier New"/>
                <a:cs typeface="Courier New"/>
                <a:sym typeface="Courier New"/>
              </a:rPr>
              <a:t>'And the third one.'</a:t>
            </a:r>
            <a:r>
              <a:rPr b="1" lang="en" sz="1450">
                <a:solidFill>
                  <a:schemeClr val="dk2"/>
                </a:solidFill>
                <a:highlight>
                  <a:srgbClr val="FFFFFE"/>
                </a:highlight>
                <a:latin typeface="Courier New"/>
                <a:ea typeface="Courier New"/>
                <a:cs typeface="Courier New"/>
                <a:sym typeface="Courier New"/>
              </a:rPr>
              <a:t>,</a:t>
            </a:r>
            <a:endParaRPr b="1" sz="14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450">
                <a:solidFill>
                  <a:schemeClr val="dk2"/>
                </a:solidFill>
                <a:highlight>
                  <a:srgbClr val="FFFFFE"/>
                </a:highlight>
                <a:latin typeface="Courier New"/>
                <a:ea typeface="Courier New"/>
                <a:cs typeface="Courier New"/>
                <a:sym typeface="Courier New"/>
              </a:rPr>
              <a:t>   </a:t>
            </a:r>
            <a:r>
              <a:rPr b="1" lang="en" sz="1450">
                <a:solidFill>
                  <a:srgbClr val="A31515"/>
                </a:solidFill>
                <a:highlight>
                  <a:srgbClr val="FFFFFE"/>
                </a:highlight>
                <a:latin typeface="Courier New"/>
                <a:ea typeface="Courier New"/>
                <a:cs typeface="Courier New"/>
                <a:sym typeface="Courier New"/>
              </a:rPr>
              <a:t>'Is this the first document?'</a:t>
            </a:r>
            <a:r>
              <a:rPr b="1" lang="en" sz="1450">
                <a:solidFill>
                  <a:schemeClr val="dk2"/>
                </a:solidFill>
                <a:highlight>
                  <a:srgbClr val="FFFFFE"/>
                </a:highlight>
                <a:latin typeface="Courier New"/>
                <a:ea typeface="Courier New"/>
                <a:cs typeface="Courier New"/>
                <a:sym typeface="Courier New"/>
              </a:rPr>
              <a:t>]</a:t>
            </a:r>
            <a:endParaRPr b="1" sz="14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450">
                <a:solidFill>
                  <a:schemeClr val="dk2"/>
                </a:solidFill>
                <a:highlight>
                  <a:srgbClr val="FFFFFE"/>
                </a:highlight>
                <a:latin typeface="Courier New"/>
                <a:ea typeface="Courier New"/>
                <a:cs typeface="Courier New"/>
                <a:sym typeface="Courier New"/>
              </a:rPr>
              <a:t>X = vectorizer.fit_transform(corpus)</a:t>
            </a:r>
            <a:endParaRPr b="1" sz="14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2"/>
              </a:buClr>
              <a:buSzPts val="1100"/>
              <a:buFont typeface="Arial"/>
              <a:buNone/>
            </a:pPr>
            <a:r>
              <a:rPr b="1" lang="en" sz="1450">
                <a:solidFill>
                  <a:schemeClr val="dk2"/>
                </a:solidFill>
                <a:highlight>
                  <a:srgbClr val="FFFFFE"/>
                </a:highlight>
                <a:latin typeface="Courier New"/>
                <a:ea typeface="Courier New"/>
                <a:cs typeface="Courier New"/>
                <a:sym typeface="Courier New"/>
              </a:rPr>
              <a:t>X.toarray()</a:t>
            </a:r>
            <a:endParaRPr b="1" sz="15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1250">
                <a:solidFill>
                  <a:srgbClr val="212121"/>
                </a:solidFill>
                <a:highlight>
                  <a:srgbClr val="FFFFFF"/>
                </a:highlight>
                <a:latin typeface="Courier New"/>
                <a:ea typeface="Courier New"/>
                <a:cs typeface="Courier New"/>
                <a:sym typeface="Courier New"/>
              </a:rPr>
              <a:t>array([[0, 1, 1, 1, 0, 0, 1, 0, 1, 2],</a:t>
            </a:r>
            <a:endParaRPr sz="1250">
              <a:solidFill>
                <a:srgbClr val="212121"/>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lang="en" sz="1250">
                <a:solidFill>
                  <a:srgbClr val="212121"/>
                </a:solidFill>
                <a:highlight>
                  <a:srgbClr val="FFFFFF"/>
                </a:highlight>
                <a:latin typeface="Courier New"/>
                <a:ea typeface="Courier New"/>
                <a:cs typeface="Courier New"/>
                <a:sym typeface="Courier New"/>
              </a:rPr>
              <a:t>       [0, 1, 0, 1, 0, 2, 1, 0, 1, 0],</a:t>
            </a:r>
            <a:endParaRPr sz="1250">
              <a:solidFill>
                <a:srgbClr val="212121"/>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lang="en" sz="1250">
                <a:solidFill>
                  <a:srgbClr val="212121"/>
                </a:solidFill>
                <a:highlight>
                  <a:srgbClr val="FFFFFF"/>
                </a:highlight>
                <a:latin typeface="Courier New"/>
                <a:ea typeface="Courier New"/>
                <a:cs typeface="Courier New"/>
                <a:sym typeface="Courier New"/>
              </a:rPr>
              <a:t>       [1, 0, 0, 0, 1, 0, 1, 1, 0, 0],</a:t>
            </a:r>
            <a:endParaRPr sz="1250">
              <a:solidFill>
                <a:srgbClr val="212121"/>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lang="en" sz="1250">
                <a:solidFill>
                  <a:srgbClr val="212121"/>
                </a:solidFill>
                <a:highlight>
                  <a:srgbClr val="FFFFFF"/>
                </a:highlight>
                <a:latin typeface="Courier New"/>
                <a:ea typeface="Courier New"/>
                <a:cs typeface="Courier New"/>
                <a:sym typeface="Courier New"/>
              </a:rPr>
              <a:t>       [0, 1, 1, 1, 0, 0, 1, 0, 1, 0]])</a:t>
            </a:r>
            <a:endParaRPr b="1" sz="2000">
              <a:solidFill>
                <a:srgbClr val="000000"/>
              </a:solidFill>
              <a:latin typeface="Verdana"/>
              <a:ea typeface="Verdana"/>
              <a:cs typeface="Verdana"/>
              <a:sym typeface="Verdana"/>
            </a:endParaRPr>
          </a:p>
          <a:p>
            <a:pPr indent="0" lvl="0" marL="457200" rtl="0" algn="l">
              <a:spcBef>
                <a:spcPts val="1200"/>
              </a:spcBef>
              <a:spcAft>
                <a:spcPts val="1200"/>
              </a:spcAft>
              <a:buNone/>
            </a:pPr>
            <a:r>
              <a:t/>
            </a:r>
            <a:endParaRPr b="1">
              <a:solidFill>
                <a:srgbClr val="000000"/>
              </a:solidFill>
              <a:latin typeface="Verdana"/>
              <a:ea typeface="Verdana"/>
              <a:cs typeface="Verdana"/>
              <a:sym typeface="Verdana"/>
            </a:endParaRPr>
          </a:p>
        </p:txBody>
      </p:sp>
      <p:sp>
        <p:nvSpPr>
          <p:cNvPr id="187" name="Google Shape;187;p31"/>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Working with Text Documents</a:t>
            </a:r>
            <a:endParaRPr>
              <a:solidFill>
                <a:srgbClr val="980000"/>
              </a:solidFill>
              <a:latin typeface="Verdana"/>
              <a:ea typeface="Verdana"/>
              <a:cs typeface="Verdana"/>
              <a:sym typeface="Verdan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txBox="1"/>
          <p:nvPr>
            <p:ph idx="1" type="body"/>
          </p:nvPr>
        </p:nvSpPr>
        <p:spPr>
          <a:xfrm>
            <a:off x="311700" y="763625"/>
            <a:ext cx="8655900" cy="4315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2"/>
              </a:buClr>
              <a:buSzPts val="1100"/>
              <a:buFont typeface="Arial"/>
              <a:buNone/>
            </a:pPr>
            <a:r>
              <a:rPr b="1" lang="en" sz="1250">
                <a:solidFill>
                  <a:schemeClr val="dk2"/>
                </a:solidFill>
                <a:highlight>
                  <a:srgbClr val="FFFFFE"/>
                </a:highlight>
                <a:latin typeface="Courier New"/>
                <a:ea typeface="Courier New"/>
                <a:cs typeface="Courier New"/>
                <a:sym typeface="Courier New"/>
              </a:rPr>
              <a:t>vectorizer.get_feature_names()</a:t>
            </a:r>
            <a:endParaRPr b="1" sz="1250">
              <a:solidFill>
                <a:schemeClr val="dk2"/>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rPr lang="en" sz="1050">
                <a:solidFill>
                  <a:srgbClr val="212121"/>
                </a:solidFill>
                <a:highlight>
                  <a:srgbClr val="FFFFFF"/>
                </a:highlight>
                <a:latin typeface="Courier New"/>
                <a:ea typeface="Courier New"/>
                <a:cs typeface="Courier New"/>
                <a:sym typeface="Courier New"/>
              </a:rPr>
              <a:t>['and', 'document', 'first', 'is', 'one', 'second', 'the', 'third', 'this', 'ustanbul']</a:t>
            </a:r>
            <a:endParaRPr b="1" sz="1550">
              <a:solidFill>
                <a:srgbClr val="007020"/>
              </a:solidFill>
              <a:highlight>
                <a:srgbClr val="F8F8F8"/>
              </a:highlight>
              <a:latin typeface="Courier New"/>
              <a:ea typeface="Courier New"/>
              <a:cs typeface="Courier New"/>
              <a:sym typeface="Courier New"/>
            </a:endParaRPr>
          </a:p>
          <a:p>
            <a:pPr indent="0" lvl="0" marL="0" rtl="0" algn="l">
              <a:lnSpc>
                <a:spcPct val="135714"/>
              </a:lnSpc>
              <a:spcBef>
                <a:spcPts val="1200"/>
              </a:spcBef>
              <a:spcAft>
                <a:spcPts val="0"/>
              </a:spcAft>
              <a:buClr>
                <a:schemeClr val="dk2"/>
              </a:buClr>
              <a:buSzPts val="1100"/>
              <a:buFont typeface="Arial"/>
              <a:buNone/>
            </a:pPr>
            <a:r>
              <a:rPr b="1" lang="en" sz="1250">
                <a:solidFill>
                  <a:schemeClr val="dk2"/>
                </a:solidFill>
                <a:highlight>
                  <a:srgbClr val="FFFFFE"/>
                </a:highlight>
                <a:latin typeface="Courier New"/>
                <a:ea typeface="Courier New"/>
                <a:cs typeface="Courier New"/>
                <a:sym typeface="Courier New"/>
              </a:rPr>
              <a:t>vectorizer.transform([</a:t>
            </a:r>
            <a:r>
              <a:rPr b="1" lang="en" sz="1250">
                <a:solidFill>
                  <a:srgbClr val="A31515"/>
                </a:solidFill>
                <a:highlight>
                  <a:srgbClr val="FFFFFE"/>
                </a:highlight>
                <a:latin typeface="Courier New"/>
                <a:ea typeface="Courier New"/>
                <a:cs typeface="Courier New"/>
                <a:sym typeface="Courier New"/>
              </a:rPr>
              <a:t>'Something completely new.'</a:t>
            </a:r>
            <a:r>
              <a:rPr b="1" lang="en" sz="1250">
                <a:solidFill>
                  <a:schemeClr val="dk2"/>
                </a:solidFill>
                <a:highlight>
                  <a:srgbClr val="FFFFFE"/>
                </a:highlight>
                <a:latin typeface="Courier New"/>
                <a:ea typeface="Courier New"/>
                <a:cs typeface="Courier New"/>
                <a:sym typeface="Courier New"/>
              </a:rPr>
              <a:t>]).toarray()</a:t>
            </a:r>
            <a:endParaRPr b="1" sz="1250">
              <a:solidFill>
                <a:schemeClr val="dk2"/>
              </a:solidFill>
              <a:highlight>
                <a:srgbClr val="FFFFFE"/>
              </a:highlight>
              <a:latin typeface="Courier New"/>
              <a:ea typeface="Courier New"/>
              <a:cs typeface="Courier New"/>
              <a:sym typeface="Courier New"/>
            </a:endParaRPr>
          </a:p>
          <a:p>
            <a:pPr indent="0" lvl="0" marL="50800" marR="12700" rtl="0" algn="l">
              <a:spcBef>
                <a:spcPts val="100"/>
              </a:spcBef>
              <a:spcAft>
                <a:spcPts val="0"/>
              </a:spcAft>
              <a:buClr>
                <a:schemeClr val="dk2"/>
              </a:buClr>
              <a:buSzPts val="1100"/>
              <a:buFont typeface="Arial"/>
              <a:buNone/>
            </a:pPr>
            <a:r>
              <a:rPr lang="en" sz="1000">
                <a:solidFill>
                  <a:srgbClr val="212121"/>
                </a:solidFill>
                <a:latin typeface="Courier New"/>
                <a:ea typeface="Courier New"/>
                <a:cs typeface="Courier New"/>
                <a:sym typeface="Courier New"/>
              </a:rPr>
              <a:t>array([[0, 0, 0, 0, 0, 0, 0, 0, 0, 0]])</a:t>
            </a:r>
            <a:endParaRPr sz="1000">
              <a:solidFill>
                <a:srgbClr val="212121"/>
              </a:solidFill>
              <a:latin typeface="Courier New"/>
              <a:ea typeface="Courier New"/>
              <a:cs typeface="Courier New"/>
              <a:sym typeface="Courier New"/>
            </a:endParaRPr>
          </a:p>
          <a:p>
            <a:pPr indent="0" lvl="0" marL="50800" marR="12700" rtl="0" algn="l">
              <a:spcBef>
                <a:spcPts val="100"/>
              </a:spcBef>
              <a:spcAft>
                <a:spcPts val="0"/>
              </a:spcAft>
              <a:buNone/>
            </a:pPr>
            <a:r>
              <a:t/>
            </a:r>
            <a:endParaRPr sz="1000">
              <a:solidFill>
                <a:srgbClr val="212121"/>
              </a:solidFill>
              <a:latin typeface="Roboto"/>
              <a:ea typeface="Roboto"/>
              <a:cs typeface="Roboto"/>
              <a:sym typeface="Roboto"/>
            </a:endParaRPr>
          </a:p>
          <a:p>
            <a:pPr indent="0" lvl="0" marL="0" marR="12700" rtl="0" algn="l">
              <a:spcBef>
                <a:spcPts val="100"/>
              </a:spcBef>
              <a:spcAft>
                <a:spcPts val="0"/>
              </a:spcAft>
              <a:buNone/>
            </a:pPr>
            <a:r>
              <a:t/>
            </a:r>
            <a:endParaRPr sz="1000">
              <a:solidFill>
                <a:srgbClr val="212121"/>
              </a:solidFill>
              <a:latin typeface="Roboto"/>
              <a:ea typeface="Roboto"/>
              <a:cs typeface="Roboto"/>
              <a:sym typeface="Roboto"/>
            </a:endParaRPr>
          </a:p>
          <a:p>
            <a:pPr indent="0" lvl="0" marL="0" marR="12700" rtl="0" algn="l">
              <a:spcBef>
                <a:spcPts val="100"/>
              </a:spcBef>
              <a:spcAft>
                <a:spcPts val="0"/>
              </a:spcAft>
              <a:buClr>
                <a:schemeClr val="dk2"/>
              </a:buClr>
              <a:buSzPts val="1100"/>
              <a:buFont typeface="Arial"/>
              <a:buNone/>
            </a:pPr>
            <a:br>
              <a:rPr lang="en" sz="1000">
                <a:solidFill>
                  <a:srgbClr val="212121"/>
                </a:solidFill>
                <a:latin typeface="Roboto"/>
                <a:ea typeface="Roboto"/>
                <a:cs typeface="Roboto"/>
                <a:sym typeface="Roboto"/>
              </a:rPr>
            </a:br>
            <a:endParaRPr sz="1000">
              <a:solidFill>
                <a:srgbClr val="212121"/>
              </a:solidFill>
              <a:latin typeface="Roboto"/>
              <a:ea typeface="Roboto"/>
              <a:cs typeface="Roboto"/>
              <a:sym typeface="Roboto"/>
            </a:endParaRPr>
          </a:p>
          <a:p>
            <a:pPr indent="0" lvl="0" marL="0" rtl="0" algn="l">
              <a:spcBef>
                <a:spcPts val="0"/>
              </a:spcBef>
              <a:spcAft>
                <a:spcPts val="0"/>
              </a:spcAft>
              <a:buClr>
                <a:schemeClr val="dk2"/>
              </a:buClr>
              <a:buSzPts val="1100"/>
              <a:buFont typeface="Arial"/>
              <a:buNone/>
            </a:pPr>
            <a:r>
              <a:t/>
            </a:r>
            <a:endParaRPr sz="1000">
              <a:solidFill>
                <a:srgbClr val="212121"/>
              </a:solidFill>
              <a:latin typeface="Roboto"/>
              <a:ea typeface="Roboto"/>
              <a:cs typeface="Roboto"/>
              <a:sym typeface="Roboto"/>
            </a:endParaRPr>
          </a:p>
          <a:p>
            <a:pPr indent="0" lvl="0" marL="0" rtl="0" algn="l">
              <a:spcBef>
                <a:spcPts val="0"/>
              </a:spcBef>
              <a:spcAft>
                <a:spcPts val="0"/>
              </a:spcAft>
              <a:buNone/>
            </a:pPr>
            <a:r>
              <a:t/>
            </a:r>
            <a:endParaRPr b="1">
              <a:solidFill>
                <a:srgbClr val="000000"/>
              </a:solidFill>
              <a:latin typeface="Verdana"/>
              <a:ea typeface="Verdana"/>
              <a:cs typeface="Verdana"/>
              <a:sym typeface="Verdana"/>
            </a:endParaRPr>
          </a:p>
          <a:p>
            <a:pPr indent="0" lvl="0" marL="457200" rtl="0" algn="l">
              <a:spcBef>
                <a:spcPts val="1200"/>
              </a:spcBef>
              <a:spcAft>
                <a:spcPts val="1200"/>
              </a:spcAft>
              <a:buNone/>
            </a:pPr>
            <a:r>
              <a:t/>
            </a:r>
            <a:endParaRPr b="1">
              <a:solidFill>
                <a:srgbClr val="000000"/>
              </a:solidFill>
              <a:latin typeface="Verdana"/>
              <a:ea typeface="Verdana"/>
              <a:cs typeface="Verdana"/>
              <a:sym typeface="Verdana"/>
            </a:endParaRPr>
          </a:p>
        </p:txBody>
      </p:sp>
      <p:sp>
        <p:nvSpPr>
          <p:cNvPr id="193" name="Google Shape;193;p32"/>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Working with Text Documents</a:t>
            </a:r>
            <a:endParaRPr>
              <a:solidFill>
                <a:srgbClr val="980000"/>
              </a:solidFill>
              <a:latin typeface="Verdana"/>
              <a:ea typeface="Verdana"/>
              <a:cs typeface="Verdana"/>
              <a:sym typeface="Verdan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3"/>
          <p:cNvSpPr txBox="1"/>
          <p:nvPr>
            <p:ph idx="1" type="body"/>
          </p:nvPr>
        </p:nvSpPr>
        <p:spPr>
          <a:xfrm>
            <a:off x="311700" y="763625"/>
            <a:ext cx="8655900" cy="1585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Clr>
                <a:srgbClr val="000000"/>
              </a:buClr>
              <a:buSzPts val="1300"/>
              <a:buFont typeface="Verdana"/>
              <a:buChar char="●"/>
            </a:pPr>
            <a:r>
              <a:rPr lang="en" sz="1300">
                <a:solidFill>
                  <a:srgbClr val="000000"/>
                </a:solidFill>
                <a:latin typeface="Verdana"/>
                <a:ea typeface="Verdana"/>
                <a:cs typeface="Verdana"/>
                <a:sym typeface="Verdana"/>
              </a:rPr>
              <a:t>Some terms (tokens) in the corpus occur so frequently in many documents. In such cases, </a:t>
            </a:r>
            <a:r>
              <a:rPr lang="en" sz="1300">
                <a:solidFill>
                  <a:srgbClr val="0000FF"/>
                </a:solidFill>
                <a:latin typeface="Verdana"/>
                <a:ea typeface="Verdana"/>
                <a:cs typeface="Verdana"/>
                <a:sym typeface="Verdana"/>
              </a:rPr>
              <a:t>those very frequent terms would shadow the frequencies of rarer yet more interesting terms</a:t>
            </a:r>
            <a:r>
              <a:rPr lang="en" sz="1300">
                <a:solidFill>
                  <a:srgbClr val="000000"/>
                </a:solidFill>
                <a:latin typeface="Verdana"/>
                <a:ea typeface="Verdana"/>
                <a:cs typeface="Verdana"/>
                <a:sym typeface="Verdana"/>
              </a:rPr>
              <a:t>.</a:t>
            </a:r>
            <a:br>
              <a:rPr lang="en" sz="1300">
                <a:solidFill>
                  <a:srgbClr val="000000"/>
                </a:solidFill>
                <a:latin typeface="Verdana"/>
                <a:ea typeface="Verdana"/>
                <a:cs typeface="Verdana"/>
                <a:sym typeface="Verdana"/>
              </a:rPr>
            </a:br>
            <a:endParaRPr sz="1300">
              <a:solidFill>
                <a:srgbClr val="000000"/>
              </a:solidFill>
              <a:latin typeface="Verdana"/>
              <a:ea typeface="Verdana"/>
              <a:cs typeface="Verdana"/>
              <a:sym typeface="Verdana"/>
            </a:endParaRPr>
          </a:p>
          <a:p>
            <a:pPr indent="-311150" lvl="0" marL="457200" rtl="0" algn="l">
              <a:spcBef>
                <a:spcPts val="0"/>
              </a:spcBef>
              <a:spcAft>
                <a:spcPts val="0"/>
              </a:spcAft>
              <a:buClr>
                <a:srgbClr val="000000"/>
              </a:buClr>
              <a:buSzPts val="1300"/>
              <a:buFont typeface="Verdana"/>
              <a:buChar char="●"/>
            </a:pPr>
            <a:r>
              <a:rPr lang="en" sz="1300">
                <a:solidFill>
                  <a:srgbClr val="000000"/>
                </a:solidFill>
                <a:latin typeface="Verdana"/>
                <a:ea typeface="Verdana"/>
                <a:cs typeface="Verdana"/>
                <a:sym typeface="Verdana"/>
              </a:rPr>
              <a:t>t</a:t>
            </a:r>
            <a:r>
              <a:rPr lang="en" sz="1300">
                <a:solidFill>
                  <a:srgbClr val="000000"/>
                </a:solidFill>
                <a:latin typeface="Verdana"/>
                <a:ea typeface="Verdana"/>
                <a:cs typeface="Verdana"/>
                <a:sym typeface="Verdana"/>
              </a:rPr>
              <a:t>f → term frequency</a:t>
            </a:r>
            <a:br>
              <a:rPr lang="en" sz="1300">
                <a:solidFill>
                  <a:srgbClr val="000000"/>
                </a:solidFill>
                <a:latin typeface="Verdana"/>
                <a:ea typeface="Verdana"/>
                <a:cs typeface="Verdana"/>
                <a:sym typeface="Verdana"/>
              </a:rPr>
            </a:br>
            <a:r>
              <a:rPr lang="en" sz="1300">
                <a:solidFill>
                  <a:srgbClr val="000000"/>
                </a:solidFill>
                <a:latin typeface="Verdana"/>
                <a:ea typeface="Verdana"/>
                <a:cs typeface="Verdana"/>
                <a:sym typeface="Verdana"/>
              </a:rPr>
              <a:t>i</a:t>
            </a:r>
            <a:r>
              <a:rPr lang="en" sz="1300">
                <a:solidFill>
                  <a:srgbClr val="000000"/>
                </a:solidFill>
                <a:latin typeface="Verdana"/>
                <a:ea typeface="Verdana"/>
                <a:cs typeface="Verdana"/>
                <a:sym typeface="Verdana"/>
              </a:rPr>
              <a:t>df → inverse document frequency</a:t>
            </a:r>
            <a:br>
              <a:rPr lang="en" sz="1300">
                <a:solidFill>
                  <a:srgbClr val="000000"/>
                </a:solidFill>
                <a:latin typeface="Verdana"/>
                <a:ea typeface="Verdana"/>
                <a:cs typeface="Verdana"/>
                <a:sym typeface="Verdana"/>
              </a:rPr>
            </a:br>
            <a:endParaRPr sz="1300">
              <a:solidFill>
                <a:srgbClr val="000000"/>
              </a:solidFill>
              <a:latin typeface="Verdana"/>
              <a:ea typeface="Verdana"/>
              <a:cs typeface="Verdana"/>
              <a:sym typeface="Verdana"/>
            </a:endParaRPr>
          </a:p>
        </p:txBody>
      </p:sp>
      <p:sp>
        <p:nvSpPr>
          <p:cNvPr id="199" name="Google Shape;199;p33"/>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tf-idf Term Weighting</a:t>
            </a:r>
            <a:endParaRPr>
              <a:solidFill>
                <a:srgbClr val="980000"/>
              </a:solidFill>
              <a:latin typeface="Verdana"/>
              <a:ea typeface="Verdana"/>
              <a:cs typeface="Verdana"/>
              <a:sym typeface="Verdana"/>
            </a:endParaRPr>
          </a:p>
        </p:txBody>
      </p:sp>
      <p:pic>
        <p:nvPicPr>
          <p:cNvPr id="200" name="Google Shape;200;p33"/>
          <p:cNvPicPr preferRelativeResize="0"/>
          <p:nvPr/>
        </p:nvPicPr>
        <p:blipFill>
          <a:blip r:embed="rId3">
            <a:alphaModFix/>
          </a:blip>
          <a:stretch>
            <a:fillRect/>
          </a:stretch>
        </p:blipFill>
        <p:spPr>
          <a:xfrm>
            <a:off x="4324550" y="1528275"/>
            <a:ext cx="3294426" cy="416850"/>
          </a:xfrm>
          <a:prstGeom prst="rect">
            <a:avLst/>
          </a:prstGeom>
          <a:noFill/>
          <a:ln>
            <a:noFill/>
          </a:ln>
        </p:spPr>
      </p:pic>
      <p:grpSp>
        <p:nvGrpSpPr>
          <p:cNvPr id="201" name="Google Shape;201;p33"/>
          <p:cNvGrpSpPr/>
          <p:nvPr/>
        </p:nvGrpSpPr>
        <p:grpSpPr>
          <a:xfrm>
            <a:off x="311700" y="2048800"/>
            <a:ext cx="8520600" cy="1430325"/>
            <a:chOff x="311700" y="2048800"/>
            <a:chExt cx="8520600" cy="1430325"/>
          </a:xfrm>
        </p:grpSpPr>
        <p:pic>
          <p:nvPicPr>
            <p:cNvPr id="202" name="Google Shape;202;p33"/>
            <p:cNvPicPr preferRelativeResize="0"/>
            <p:nvPr/>
          </p:nvPicPr>
          <p:blipFill>
            <a:blip r:embed="rId4">
              <a:alphaModFix/>
            </a:blip>
            <a:stretch>
              <a:fillRect/>
            </a:stretch>
          </p:blipFill>
          <p:spPr>
            <a:xfrm>
              <a:off x="984877" y="2048800"/>
              <a:ext cx="2070891" cy="522950"/>
            </a:xfrm>
            <a:prstGeom prst="rect">
              <a:avLst/>
            </a:prstGeom>
            <a:noFill/>
            <a:ln>
              <a:noFill/>
            </a:ln>
          </p:spPr>
        </p:pic>
        <p:sp>
          <p:nvSpPr>
            <p:cNvPr id="203" name="Google Shape;203;p33"/>
            <p:cNvSpPr txBox="1"/>
            <p:nvPr/>
          </p:nvSpPr>
          <p:spPr>
            <a:xfrm>
              <a:off x="311700" y="2618725"/>
              <a:ext cx="8520600" cy="8604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Clr>
                  <a:schemeClr val="dk2"/>
                </a:buClr>
                <a:buSzPts val="1300"/>
                <a:buFont typeface="Verdana"/>
                <a:buChar char="●"/>
              </a:pPr>
              <a:r>
                <a:rPr lang="en" sz="1300">
                  <a:solidFill>
                    <a:schemeClr val="dk2"/>
                  </a:solidFill>
                  <a:latin typeface="Verdana"/>
                  <a:ea typeface="Verdana"/>
                  <a:cs typeface="Verdana"/>
                  <a:sym typeface="Verdana"/>
                </a:rPr>
                <a:t>where </a:t>
              </a:r>
              <a:r>
                <a:rPr b="1" i="1" lang="en" sz="1300">
                  <a:solidFill>
                    <a:schemeClr val="dk2"/>
                  </a:solidFill>
                  <a:latin typeface="Verdana"/>
                  <a:ea typeface="Verdana"/>
                  <a:cs typeface="Verdana"/>
                  <a:sym typeface="Verdana"/>
                </a:rPr>
                <a:t>n</a:t>
              </a:r>
              <a:r>
                <a:rPr lang="en" sz="1300">
                  <a:solidFill>
                    <a:schemeClr val="dk2"/>
                  </a:solidFill>
                  <a:latin typeface="Verdana"/>
                  <a:ea typeface="Verdana"/>
                  <a:cs typeface="Verdana"/>
                  <a:sym typeface="Verdana"/>
                </a:rPr>
                <a:t> is the total number of documents in the document set, and  </a:t>
              </a:r>
              <a:r>
                <a:rPr b="1" i="1" lang="en" sz="1300">
                  <a:solidFill>
                    <a:schemeClr val="dk2"/>
                  </a:solidFill>
                  <a:latin typeface="Verdana"/>
                  <a:ea typeface="Verdana"/>
                  <a:cs typeface="Verdana"/>
                  <a:sym typeface="Verdana"/>
                </a:rPr>
                <a:t>df(t)</a:t>
              </a:r>
              <a:r>
                <a:rPr lang="en" sz="1300">
                  <a:solidFill>
                    <a:schemeClr val="dk2"/>
                  </a:solidFill>
                  <a:latin typeface="Verdana"/>
                  <a:ea typeface="Verdana"/>
                  <a:cs typeface="Verdana"/>
                  <a:sym typeface="Verdana"/>
                </a:rPr>
                <a:t> is the number of documents in the document set that contain term </a:t>
              </a:r>
              <a:r>
                <a:rPr b="1" i="1" lang="en" sz="1300">
                  <a:solidFill>
                    <a:schemeClr val="dk2"/>
                  </a:solidFill>
                  <a:latin typeface="Verdana"/>
                  <a:ea typeface="Verdana"/>
                  <a:cs typeface="Verdana"/>
                  <a:sym typeface="Verdana"/>
                </a:rPr>
                <a:t>t </a:t>
              </a:r>
              <a:r>
                <a:rPr lang="en" sz="1300">
                  <a:solidFill>
                    <a:schemeClr val="dk2"/>
                  </a:solidFill>
                  <a:latin typeface="Verdana"/>
                  <a:ea typeface="Verdana"/>
                  <a:cs typeface="Verdana"/>
                  <a:sym typeface="Verdana"/>
                </a:rPr>
                <a:t>(when </a:t>
              </a:r>
              <a:r>
                <a:rPr b="1" i="1" lang="en" sz="1300">
                  <a:solidFill>
                    <a:srgbClr val="0000FF"/>
                  </a:solidFill>
                  <a:latin typeface="Source Code Pro"/>
                  <a:ea typeface="Source Code Pro"/>
                  <a:cs typeface="Source Code Pro"/>
                  <a:sym typeface="Source Code Pro"/>
                </a:rPr>
                <a:t>smooth_idf=True</a:t>
              </a:r>
              <a:r>
                <a:rPr lang="en" sz="1300">
                  <a:solidFill>
                    <a:schemeClr val="dk2"/>
                  </a:solidFill>
                  <a:latin typeface="Verdana"/>
                  <a:ea typeface="Verdana"/>
                  <a:cs typeface="Verdana"/>
                  <a:sym typeface="Verdana"/>
                </a:rPr>
                <a:t>). </a:t>
              </a:r>
              <a:br>
                <a:rPr lang="en" sz="1300">
                  <a:solidFill>
                    <a:schemeClr val="dk2"/>
                  </a:solidFill>
                  <a:latin typeface="Verdana"/>
                  <a:ea typeface="Verdana"/>
                  <a:cs typeface="Verdana"/>
                  <a:sym typeface="Verdana"/>
                </a:rPr>
              </a:br>
              <a:endParaRPr>
                <a:latin typeface="Source Sans Pro"/>
                <a:ea typeface="Source Sans Pro"/>
                <a:cs typeface="Source Sans Pro"/>
                <a:sym typeface="Source Sans Pro"/>
              </a:endParaRPr>
            </a:p>
          </p:txBody>
        </p:sp>
      </p:grpSp>
      <p:grpSp>
        <p:nvGrpSpPr>
          <p:cNvPr id="204" name="Google Shape;204;p33"/>
          <p:cNvGrpSpPr/>
          <p:nvPr/>
        </p:nvGrpSpPr>
        <p:grpSpPr>
          <a:xfrm>
            <a:off x="311700" y="3326725"/>
            <a:ext cx="8520600" cy="788475"/>
            <a:chOff x="311700" y="3326725"/>
            <a:chExt cx="8520600" cy="788475"/>
          </a:xfrm>
        </p:grpSpPr>
        <p:pic>
          <p:nvPicPr>
            <p:cNvPr id="205" name="Google Shape;205;p33"/>
            <p:cNvPicPr preferRelativeResize="0"/>
            <p:nvPr/>
          </p:nvPicPr>
          <p:blipFill>
            <a:blip r:embed="rId5">
              <a:alphaModFix/>
            </a:blip>
            <a:stretch>
              <a:fillRect/>
            </a:stretch>
          </p:blipFill>
          <p:spPr>
            <a:xfrm>
              <a:off x="984875" y="3599925"/>
              <a:ext cx="1813400" cy="515275"/>
            </a:xfrm>
            <a:prstGeom prst="rect">
              <a:avLst/>
            </a:prstGeom>
            <a:noFill/>
            <a:ln>
              <a:noFill/>
            </a:ln>
          </p:spPr>
        </p:pic>
        <p:sp>
          <p:nvSpPr>
            <p:cNvPr id="206" name="Google Shape;206;p33"/>
            <p:cNvSpPr txBox="1"/>
            <p:nvPr/>
          </p:nvSpPr>
          <p:spPr>
            <a:xfrm>
              <a:off x="311700" y="3326725"/>
              <a:ext cx="8520600" cy="3849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Clr>
                  <a:schemeClr val="dk2"/>
                </a:buClr>
                <a:buSzPts val="1300"/>
                <a:buFont typeface="Verdana"/>
                <a:buChar char="●"/>
              </a:pPr>
              <a:r>
                <a:rPr lang="en" sz="1300">
                  <a:solidFill>
                    <a:schemeClr val="dk2"/>
                  </a:solidFill>
                  <a:latin typeface="Verdana"/>
                  <a:ea typeface="Verdana"/>
                  <a:cs typeface="Verdana"/>
                  <a:sym typeface="Verdana"/>
                </a:rPr>
                <a:t>When </a:t>
              </a:r>
              <a:r>
                <a:rPr b="1" i="1" lang="en" sz="1300">
                  <a:solidFill>
                    <a:srgbClr val="0000FF"/>
                  </a:solidFill>
                  <a:latin typeface="Source Code Pro"/>
                  <a:ea typeface="Source Code Pro"/>
                  <a:cs typeface="Source Code Pro"/>
                  <a:sym typeface="Source Code Pro"/>
                </a:rPr>
                <a:t>smooth_idf=False</a:t>
              </a:r>
              <a:r>
                <a:rPr lang="en" sz="1300">
                  <a:solidFill>
                    <a:schemeClr val="dk2"/>
                  </a:solidFill>
                  <a:latin typeface="Verdana"/>
                  <a:ea typeface="Verdana"/>
                  <a:cs typeface="Verdana"/>
                  <a:sym typeface="Verdana"/>
                </a:rPr>
                <a:t>, the formula becomes like the following</a:t>
              </a:r>
              <a:endParaRPr sz="1300">
                <a:solidFill>
                  <a:schemeClr val="dk2"/>
                </a:solidFill>
                <a:latin typeface="Verdana"/>
                <a:ea typeface="Verdana"/>
                <a:cs typeface="Verdana"/>
                <a:sym typeface="Verdana"/>
              </a:endParaRPr>
            </a:p>
          </p:txBody>
        </p:sp>
      </p:grpSp>
      <p:grpSp>
        <p:nvGrpSpPr>
          <p:cNvPr id="207" name="Google Shape;207;p33"/>
          <p:cNvGrpSpPr/>
          <p:nvPr/>
        </p:nvGrpSpPr>
        <p:grpSpPr>
          <a:xfrm>
            <a:off x="311700" y="4143800"/>
            <a:ext cx="8520600" cy="952775"/>
            <a:chOff x="311700" y="4143800"/>
            <a:chExt cx="8520600" cy="952775"/>
          </a:xfrm>
        </p:grpSpPr>
        <p:sp>
          <p:nvSpPr>
            <p:cNvPr id="208" name="Google Shape;208;p33"/>
            <p:cNvSpPr txBox="1"/>
            <p:nvPr/>
          </p:nvSpPr>
          <p:spPr>
            <a:xfrm>
              <a:off x="311700" y="4143800"/>
              <a:ext cx="8520600" cy="3849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Clr>
                  <a:schemeClr val="dk2"/>
                </a:buClr>
                <a:buSzPts val="1300"/>
                <a:buFont typeface="Verdana"/>
                <a:buChar char="●"/>
              </a:pPr>
              <a:r>
                <a:rPr lang="en" sz="1300">
                  <a:solidFill>
                    <a:schemeClr val="dk2"/>
                  </a:solidFill>
                  <a:latin typeface="Verdana"/>
                  <a:ea typeface="Verdana"/>
                  <a:cs typeface="Verdana"/>
                  <a:sym typeface="Verdana"/>
                </a:rPr>
                <a:t>The resulting tf-idf vectors are then </a:t>
              </a:r>
              <a:r>
                <a:rPr lang="en" sz="1300">
                  <a:solidFill>
                    <a:srgbClr val="0000FF"/>
                  </a:solidFill>
                  <a:latin typeface="Verdana"/>
                  <a:ea typeface="Verdana"/>
                  <a:cs typeface="Verdana"/>
                  <a:sym typeface="Verdana"/>
                </a:rPr>
                <a:t>normalized</a:t>
              </a:r>
              <a:r>
                <a:rPr lang="en" sz="1300">
                  <a:solidFill>
                    <a:schemeClr val="dk2"/>
                  </a:solidFill>
                  <a:latin typeface="Verdana"/>
                  <a:ea typeface="Verdana"/>
                  <a:cs typeface="Verdana"/>
                  <a:sym typeface="Verdana"/>
                </a:rPr>
                <a:t> by the Euclidean norm</a:t>
              </a:r>
              <a:endParaRPr sz="1300">
                <a:solidFill>
                  <a:schemeClr val="dk2"/>
                </a:solidFill>
                <a:latin typeface="Verdana"/>
                <a:ea typeface="Verdana"/>
                <a:cs typeface="Verdana"/>
                <a:sym typeface="Verdana"/>
              </a:endParaRPr>
            </a:p>
          </p:txBody>
        </p:sp>
        <p:pic>
          <p:nvPicPr>
            <p:cNvPr id="209" name="Google Shape;209;p33"/>
            <p:cNvPicPr preferRelativeResize="0"/>
            <p:nvPr/>
          </p:nvPicPr>
          <p:blipFill>
            <a:blip r:embed="rId6">
              <a:alphaModFix/>
            </a:blip>
            <a:stretch>
              <a:fillRect/>
            </a:stretch>
          </p:blipFill>
          <p:spPr>
            <a:xfrm>
              <a:off x="2498961" y="4473175"/>
              <a:ext cx="3295115" cy="6234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1000"/>
                                        <p:tgtEl>
                                          <p:spTgt spid="2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1000"/>
                                        <p:tgtEl>
                                          <p:spTgt spid="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1000"/>
                                        <p:tgtEl>
                                          <p:spTgt spid="2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4"/>
          <p:cNvSpPr txBox="1"/>
          <p:nvPr>
            <p:ph idx="1" type="body"/>
          </p:nvPr>
        </p:nvSpPr>
        <p:spPr>
          <a:xfrm>
            <a:off x="311700" y="763625"/>
            <a:ext cx="8655900" cy="419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rgbClr val="000000"/>
                </a:solidFill>
                <a:latin typeface="Verdana"/>
                <a:ea typeface="Verdana"/>
                <a:cs typeface="Verdana"/>
                <a:sym typeface="Verdana"/>
              </a:rPr>
              <a:t>For example, we can compute the tf-idf of the first term in the </a:t>
            </a:r>
            <a:r>
              <a:rPr b="1" lang="en" sz="1600">
                <a:solidFill>
                  <a:srgbClr val="0000FF"/>
                </a:solidFill>
                <a:latin typeface="Verdana"/>
                <a:ea typeface="Verdana"/>
                <a:cs typeface="Verdana"/>
                <a:sym typeface="Verdana"/>
              </a:rPr>
              <a:t>first document</a:t>
            </a:r>
            <a:r>
              <a:rPr lang="en" sz="1600">
                <a:solidFill>
                  <a:srgbClr val="000000"/>
                </a:solidFill>
                <a:latin typeface="Verdana"/>
                <a:ea typeface="Verdana"/>
                <a:cs typeface="Verdana"/>
                <a:sym typeface="Verdana"/>
              </a:rPr>
              <a:t> in the </a:t>
            </a:r>
            <a:r>
              <a:rPr b="1" lang="en" sz="1600">
                <a:solidFill>
                  <a:srgbClr val="000000"/>
                </a:solidFill>
                <a:latin typeface="Courier New"/>
                <a:ea typeface="Courier New"/>
                <a:cs typeface="Courier New"/>
                <a:sym typeface="Courier New"/>
              </a:rPr>
              <a:t>counts</a:t>
            </a:r>
            <a:r>
              <a:rPr lang="en" sz="1600">
                <a:solidFill>
                  <a:srgbClr val="000000"/>
                </a:solidFill>
                <a:latin typeface="Verdana"/>
                <a:ea typeface="Verdana"/>
                <a:cs typeface="Verdana"/>
                <a:sym typeface="Verdana"/>
              </a:rPr>
              <a:t> array as follows:</a:t>
            </a:r>
            <a:endParaRPr sz="1600">
              <a:solidFill>
                <a:srgbClr val="000000"/>
              </a:solidFill>
              <a:latin typeface="Verdana"/>
              <a:ea typeface="Verdana"/>
              <a:cs typeface="Verdana"/>
              <a:sym typeface="Verdana"/>
            </a:endParaRPr>
          </a:p>
          <a:p>
            <a:pPr indent="0" lvl="0" marL="0" rtl="0" algn="l">
              <a:spcBef>
                <a:spcPts val="1200"/>
              </a:spcBef>
              <a:spcAft>
                <a:spcPts val="0"/>
              </a:spcAft>
              <a:buNone/>
            </a:pPr>
            <a:r>
              <a:t/>
            </a:r>
            <a:endParaRPr sz="1600">
              <a:solidFill>
                <a:srgbClr val="000000"/>
              </a:solidFill>
              <a:latin typeface="Verdana"/>
              <a:ea typeface="Verdana"/>
              <a:cs typeface="Verdana"/>
              <a:sym typeface="Verdana"/>
            </a:endParaRPr>
          </a:p>
          <a:p>
            <a:pPr indent="0" lvl="0" marL="0" rtl="0" algn="l">
              <a:spcBef>
                <a:spcPts val="1200"/>
              </a:spcBef>
              <a:spcAft>
                <a:spcPts val="1200"/>
              </a:spcAft>
              <a:buNone/>
            </a:pPr>
            <a:r>
              <a:t/>
            </a:r>
            <a:endParaRPr sz="1600">
              <a:solidFill>
                <a:srgbClr val="000000"/>
              </a:solidFill>
              <a:latin typeface="Verdana"/>
              <a:ea typeface="Verdana"/>
              <a:cs typeface="Verdana"/>
              <a:sym typeface="Verdana"/>
            </a:endParaRPr>
          </a:p>
        </p:txBody>
      </p:sp>
      <p:sp>
        <p:nvSpPr>
          <p:cNvPr id="215" name="Google Shape;215;p34"/>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tf-idf Term Weighting (Example)</a:t>
            </a:r>
            <a:endParaRPr>
              <a:solidFill>
                <a:srgbClr val="980000"/>
              </a:solidFill>
              <a:latin typeface="Verdana"/>
              <a:ea typeface="Verdana"/>
              <a:cs typeface="Verdana"/>
              <a:sym typeface="Verdana"/>
            </a:endParaRPr>
          </a:p>
        </p:txBody>
      </p:sp>
      <p:pic>
        <p:nvPicPr>
          <p:cNvPr id="216" name="Google Shape;216;p34"/>
          <p:cNvPicPr preferRelativeResize="0"/>
          <p:nvPr/>
        </p:nvPicPr>
        <p:blipFill>
          <a:blip r:embed="rId3">
            <a:alphaModFix/>
          </a:blip>
          <a:stretch>
            <a:fillRect/>
          </a:stretch>
        </p:blipFill>
        <p:spPr>
          <a:xfrm>
            <a:off x="114574" y="1667225"/>
            <a:ext cx="3977651" cy="2830401"/>
          </a:xfrm>
          <a:prstGeom prst="rect">
            <a:avLst/>
          </a:prstGeom>
          <a:noFill/>
          <a:ln>
            <a:noFill/>
          </a:ln>
        </p:spPr>
      </p:pic>
      <p:pic>
        <p:nvPicPr>
          <p:cNvPr id="217" name="Google Shape;217;p34"/>
          <p:cNvPicPr preferRelativeResize="0"/>
          <p:nvPr/>
        </p:nvPicPr>
        <p:blipFill>
          <a:blip r:embed="rId4">
            <a:alphaModFix/>
          </a:blip>
          <a:stretch>
            <a:fillRect/>
          </a:stretch>
        </p:blipFill>
        <p:spPr>
          <a:xfrm>
            <a:off x="4038550" y="1525625"/>
            <a:ext cx="5259302" cy="3588050"/>
          </a:xfrm>
          <a:prstGeom prst="rect">
            <a:avLst/>
          </a:prstGeom>
          <a:noFill/>
          <a:ln>
            <a:noFill/>
          </a:ln>
        </p:spPr>
      </p:pic>
      <p:sp>
        <p:nvSpPr>
          <p:cNvPr id="218" name="Google Shape;218;p34"/>
          <p:cNvSpPr/>
          <p:nvPr/>
        </p:nvSpPr>
        <p:spPr>
          <a:xfrm>
            <a:off x="573800" y="3547425"/>
            <a:ext cx="2368500" cy="198300"/>
          </a:xfrm>
          <a:prstGeom prst="roundRect">
            <a:avLst>
              <a:gd fmla="val 16667" name="adj"/>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5"/>
          <p:cNvSpPr txBox="1"/>
          <p:nvPr>
            <p:ph idx="1" type="body"/>
          </p:nvPr>
        </p:nvSpPr>
        <p:spPr>
          <a:xfrm>
            <a:off x="311700" y="763625"/>
            <a:ext cx="8655900" cy="419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rgbClr val="000000"/>
                </a:solidFill>
                <a:latin typeface="Verdana"/>
                <a:ea typeface="Verdana"/>
                <a:cs typeface="Verdana"/>
                <a:sym typeface="Verdana"/>
              </a:rPr>
              <a:t>Furthermore, </a:t>
            </a:r>
            <a:r>
              <a:rPr b="1" lang="en" sz="1600">
                <a:solidFill>
                  <a:srgbClr val="E06666"/>
                </a:solidFill>
                <a:latin typeface="Verdana"/>
                <a:ea typeface="Verdana"/>
                <a:cs typeface="Verdana"/>
                <a:sym typeface="Verdana"/>
              </a:rPr>
              <a:t>the default parameter</a:t>
            </a:r>
            <a:r>
              <a:rPr lang="en" sz="1600">
                <a:solidFill>
                  <a:srgbClr val="000000"/>
                </a:solidFill>
                <a:latin typeface="Verdana"/>
                <a:ea typeface="Verdana"/>
                <a:cs typeface="Verdana"/>
                <a:sym typeface="Verdana"/>
              </a:rPr>
              <a:t> </a:t>
            </a:r>
            <a:r>
              <a:rPr b="1" lang="en" sz="1600">
                <a:solidFill>
                  <a:srgbClr val="0000FF"/>
                </a:solidFill>
                <a:latin typeface="Source Code Pro"/>
                <a:ea typeface="Source Code Pro"/>
                <a:cs typeface="Source Code Pro"/>
                <a:sym typeface="Source Code Pro"/>
              </a:rPr>
              <a:t>smooth_idf=True</a:t>
            </a:r>
            <a:r>
              <a:rPr lang="en" sz="1600">
                <a:solidFill>
                  <a:srgbClr val="000000"/>
                </a:solidFill>
                <a:latin typeface="Verdana"/>
                <a:ea typeface="Verdana"/>
                <a:cs typeface="Verdana"/>
                <a:sym typeface="Verdana"/>
              </a:rPr>
              <a:t> adds </a:t>
            </a:r>
            <a:r>
              <a:rPr lang="en" sz="1600">
                <a:solidFill>
                  <a:srgbClr val="000000"/>
                </a:solidFill>
                <a:latin typeface="Verdana"/>
                <a:ea typeface="Verdana"/>
                <a:cs typeface="Verdana"/>
                <a:sym typeface="Verdana"/>
              </a:rPr>
              <a:t>"</a:t>
            </a:r>
            <a:r>
              <a:rPr lang="en" sz="1600">
                <a:solidFill>
                  <a:srgbClr val="000000"/>
                </a:solidFill>
                <a:latin typeface="Verdana"/>
                <a:ea typeface="Verdana"/>
                <a:cs typeface="Verdana"/>
                <a:sym typeface="Verdana"/>
              </a:rPr>
              <a:t>1</a:t>
            </a:r>
            <a:r>
              <a:rPr lang="en" sz="1600">
                <a:solidFill>
                  <a:srgbClr val="000000"/>
                </a:solidFill>
                <a:latin typeface="Verdana"/>
                <a:ea typeface="Verdana"/>
                <a:cs typeface="Verdana"/>
                <a:sym typeface="Verdana"/>
              </a:rPr>
              <a:t>"</a:t>
            </a:r>
            <a:r>
              <a:rPr lang="en" sz="1600">
                <a:solidFill>
                  <a:srgbClr val="000000"/>
                </a:solidFill>
                <a:latin typeface="Verdana"/>
                <a:ea typeface="Verdana"/>
                <a:cs typeface="Verdana"/>
                <a:sym typeface="Verdana"/>
              </a:rPr>
              <a:t> to the numerator and denominator to prevent zero divisions:</a:t>
            </a:r>
            <a:endParaRPr sz="1600">
              <a:solidFill>
                <a:srgbClr val="000000"/>
              </a:solidFill>
              <a:latin typeface="Verdana"/>
              <a:ea typeface="Verdana"/>
              <a:cs typeface="Verdana"/>
              <a:sym typeface="Verdana"/>
            </a:endParaRPr>
          </a:p>
          <a:p>
            <a:pPr indent="0" lvl="0" marL="0" rtl="0" algn="l">
              <a:spcBef>
                <a:spcPts val="1200"/>
              </a:spcBef>
              <a:spcAft>
                <a:spcPts val="0"/>
              </a:spcAft>
              <a:buNone/>
            </a:pPr>
            <a:r>
              <a:t/>
            </a:r>
            <a:endParaRPr sz="1600">
              <a:solidFill>
                <a:srgbClr val="000000"/>
              </a:solidFill>
              <a:latin typeface="Verdana"/>
              <a:ea typeface="Verdana"/>
              <a:cs typeface="Verdana"/>
              <a:sym typeface="Verdana"/>
            </a:endParaRPr>
          </a:p>
          <a:p>
            <a:pPr indent="0" lvl="0" marL="0" rtl="0" algn="l">
              <a:spcBef>
                <a:spcPts val="1200"/>
              </a:spcBef>
              <a:spcAft>
                <a:spcPts val="1200"/>
              </a:spcAft>
              <a:buNone/>
            </a:pPr>
            <a:r>
              <a:t/>
            </a:r>
            <a:endParaRPr sz="1600">
              <a:solidFill>
                <a:srgbClr val="000000"/>
              </a:solidFill>
              <a:latin typeface="Verdana"/>
              <a:ea typeface="Verdana"/>
              <a:cs typeface="Verdana"/>
              <a:sym typeface="Verdana"/>
            </a:endParaRPr>
          </a:p>
        </p:txBody>
      </p:sp>
      <p:sp>
        <p:nvSpPr>
          <p:cNvPr id="224" name="Google Shape;224;p35"/>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tf-idf Term Weighting (Example)</a:t>
            </a:r>
            <a:endParaRPr>
              <a:solidFill>
                <a:srgbClr val="980000"/>
              </a:solidFill>
              <a:latin typeface="Verdana"/>
              <a:ea typeface="Verdana"/>
              <a:cs typeface="Verdana"/>
              <a:sym typeface="Verdana"/>
            </a:endParaRPr>
          </a:p>
        </p:txBody>
      </p:sp>
      <p:pic>
        <p:nvPicPr>
          <p:cNvPr id="225" name="Google Shape;225;p35"/>
          <p:cNvPicPr preferRelativeResize="0"/>
          <p:nvPr/>
        </p:nvPicPr>
        <p:blipFill>
          <a:blip r:embed="rId3">
            <a:alphaModFix/>
          </a:blip>
          <a:stretch>
            <a:fillRect/>
          </a:stretch>
        </p:blipFill>
        <p:spPr>
          <a:xfrm>
            <a:off x="838200" y="2741348"/>
            <a:ext cx="6610126" cy="2298724"/>
          </a:xfrm>
          <a:prstGeom prst="rect">
            <a:avLst/>
          </a:prstGeom>
          <a:noFill/>
          <a:ln>
            <a:noFill/>
          </a:ln>
        </p:spPr>
      </p:pic>
      <p:pic>
        <p:nvPicPr>
          <p:cNvPr id="226" name="Google Shape;226;p35"/>
          <p:cNvPicPr preferRelativeResize="0"/>
          <p:nvPr/>
        </p:nvPicPr>
        <p:blipFill>
          <a:blip r:embed="rId4">
            <a:alphaModFix/>
          </a:blip>
          <a:stretch>
            <a:fillRect/>
          </a:stretch>
        </p:blipFill>
        <p:spPr>
          <a:xfrm>
            <a:off x="4627075" y="1543450"/>
            <a:ext cx="4018400" cy="1585700"/>
          </a:xfrm>
          <a:prstGeom prst="rect">
            <a:avLst/>
          </a:prstGeom>
          <a:noFill/>
          <a:ln>
            <a:noFill/>
          </a:ln>
        </p:spPr>
      </p:pic>
      <p:sp>
        <p:nvSpPr>
          <p:cNvPr id="227" name="Google Shape;227;p35"/>
          <p:cNvSpPr/>
          <p:nvPr/>
        </p:nvSpPr>
        <p:spPr>
          <a:xfrm>
            <a:off x="5267000" y="1938975"/>
            <a:ext cx="3039600" cy="198300"/>
          </a:xfrm>
          <a:prstGeom prst="roundRect">
            <a:avLst>
              <a:gd fmla="val 16667" name="adj"/>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6"/>
          <p:cNvSpPr txBox="1"/>
          <p:nvPr>
            <p:ph idx="1" type="body"/>
          </p:nvPr>
        </p:nvSpPr>
        <p:spPr>
          <a:xfrm>
            <a:off x="311700" y="763625"/>
            <a:ext cx="8655900" cy="4194000"/>
          </a:xfrm>
          <a:prstGeom prst="rect">
            <a:avLst/>
          </a:prstGeom>
        </p:spPr>
        <p:txBody>
          <a:bodyPr anchorCtr="0" anchor="t" bIns="91425" lIns="91425" spcFirstLastPara="1" rIns="91425" wrap="square" tIns="91425">
            <a:normAutofit/>
          </a:bodyPr>
          <a:lstStyle/>
          <a:p>
            <a:pPr indent="0" lvl="0" marL="0" rtl="0" algn="l">
              <a:lnSpc>
                <a:spcPct val="135714"/>
              </a:lnSpc>
              <a:spcBef>
                <a:spcPts val="0"/>
              </a:spcBef>
              <a:spcAft>
                <a:spcPts val="0"/>
              </a:spcAft>
              <a:buNone/>
            </a:pPr>
            <a:r>
              <a:rPr b="1" lang="en" sz="1350">
                <a:solidFill>
                  <a:srgbClr val="AF00DB"/>
                </a:solidFill>
                <a:highlight>
                  <a:srgbClr val="FFFFFE"/>
                </a:highlight>
                <a:latin typeface="Courier New"/>
                <a:ea typeface="Courier New"/>
                <a:cs typeface="Courier New"/>
                <a:sym typeface="Courier New"/>
              </a:rPr>
              <a:t>from</a:t>
            </a:r>
            <a:r>
              <a:rPr b="1" lang="en" sz="1350">
                <a:solidFill>
                  <a:schemeClr val="dk2"/>
                </a:solidFill>
                <a:highlight>
                  <a:srgbClr val="FFFFFE"/>
                </a:highlight>
                <a:latin typeface="Courier New"/>
                <a:ea typeface="Courier New"/>
                <a:cs typeface="Courier New"/>
                <a:sym typeface="Courier New"/>
              </a:rPr>
              <a:t> sklearn.feature_extraction.text </a:t>
            </a:r>
            <a:r>
              <a:rPr b="1" lang="en" sz="1350">
                <a:solidFill>
                  <a:srgbClr val="AF00DB"/>
                </a:solidFill>
                <a:highlight>
                  <a:srgbClr val="FFFFFE"/>
                </a:highlight>
                <a:latin typeface="Courier New"/>
                <a:ea typeface="Courier New"/>
                <a:cs typeface="Courier New"/>
                <a:sym typeface="Courier New"/>
              </a:rPr>
              <a:t>import</a:t>
            </a:r>
            <a:r>
              <a:rPr b="1" lang="en" sz="1350">
                <a:solidFill>
                  <a:schemeClr val="dk2"/>
                </a:solidFill>
                <a:highlight>
                  <a:srgbClr val="FFFFFE"/>
                </a:highlight>
                <a:latin typeface="Courier New"/>
                <a:ea typeface="Courier New"/>
                <a:cs typeface="Courier New"/>
                <a:sym typeface="Courier New"/>
              </a:rPr>
              <a:t> CountVectorizer, TfidfTransformer</a:t>
            </a:r>
            <a:br>
              <a:rPr b="1" lang="en" sz="1350">
                <a:solidFill>
                  <a:schemeClr val="dk2"/>
                </a:solidFill>
                <a:highlight>
                  <a:srgbClr val="FFFFFE"/>
                </a:highlight>
                <a:latin typeface="Courier New"/>
                <a:ea typeface="Courier New"/>
                <a:cs typeface="Courier New"/>
                <a:sym typeface="Courier New"/>
              </a:rPr>
            </a:br>
            <a:endParaRPr b="1" sz="13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450">
                <a:solidFill>
                  <a:schemeClr val="dk2"/>
                </a:solidFill>
                <a:highlight>
                  <a:srgbClr val="FFFFFE"/>
                </a:highlight>
                <a:latin typeface="Courier New"/>
                <a:ea typeface="Courier New"/>
                <a:cs typeface="Courier New"/>
                <a:sym typeface="Courier New"/>
              </a:rPr>
              <a:t>corpus = [</a:t>
            </a:r>
            <a:endParaRPr b="1" sz="14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450">
                <a:solidFill>
                  <a:schemeClr val="dk2"/>
                </a:solidFill>
                <a:highlight>
                  <a:srgbClr val="FFFFFE"/>
                </a:highlight>
                <a:latin typeface="Courier New"/>
                <a:ea typeface="Courier New"/>
                <a:cs typeface="Courier New"/>
                <a:sym typeface="Courier New"/>
              </a:rPr>
              <a:t>   </a:t>
            </a:r>
            <a:r>
              <a:rPr b="1" lang="en" sz="1450">
                <a:solidFill>
                  <a:srgbClr val="A31515"/>
                </a:solidFill>
                <a:highlight>
                  <a:srgbClr val="FFFFFE"/>
                </a:highlight>
                <a:latin typeface="Courier New"/>
                <a:ea typeface="Courier New"/>
                <a:cs typeface="Courier New"/>
                <a:sym typeface="Courier New"/>
              </a:rPr>
              <a:t>'This is the first document. ustanbul üstanbul'</a:t>
            </a:r>
            <a:r>
              <a:rPr b="1" lang="en" sz="1450">
                <a:solidFill>
                  <a:schemeClr val="dk2"/>
                </a:solidFill>
                <a:highlight>
                  <a:srgbClr val="FFFFFE"/>
                </a:highlight>
                <a:latin typeface="Courier New"/>
                <a:ea typeface="Courier New"/>
                <a:cs typeface="Courier New"/>
                <a:sym typeface="Courier New"/>
              </a:rPr>
              <a:t>,</a:t>
            </a:r>
            <a:endParaRPr b="1" sz="14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450">
                <a:solidFill>
                  <a:schemeClr val="dk2"/>
                </a:solidFill>
                <a:highlight>
                  <a:srgbClr val="FFFFFE"/>
                </a:highlight>
                <a:latin typeface="Courier New"/>
                <a:ea typeface="Courier New"/>
                <a:cs typeface="Courier New"/>
                <a:sym typeface="Courier New"/>
              </a:rPr>
              <a:t>   </a:t>
            </a:r>
            <a:r>
              <a:rPr b="1" lang="en" sz="1450">
                <a:solidFill>
                  <a:srgbClr val="A31515"/>
                </a:solidFill>
                <a:highlight>
                  <a:srgbClr val="FFFFFE"/>
                </a:highlight>
                <a:latin typeface="Courier New"/>
                <a:ea typeface="Courier New"/>
                <a:cs typeface="Courier New"/>
                <a:sym typeface="Courier New"/>
              </a:rPr>
              <a:t>'This is the second second document.'</a:t>
            </a:r>
            <a:r>
              <a:rPr b="1" lang="en" sz="1450">
                <a:solidFill>
                  <a:schemeClr val="dk2"/>
                </a:solidFill>
                <a:highlight>
                  <a:srgbClr val="FFFFFE"/>
                </a:highlight>
                <a:latin typeface="Courier New"/>
                <a:ea typeface="Courier New"/>
                <a:cs typeface="Courier New"/>
                <a:sym typeface="Courier New"/>
              </a:rPr>
              <a:t>,</a:t>
            </a:r>
            <a:endParaRPr b="1" sz="14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450">
                <a:solidFill>
                  <a:schemeClr val="dk2"/>
                </a:solidFill>
                <a:highlight>
                  <a:srgbClr val="FFFFFE"/>
                </a:highlight>
                <a:latin typeface="Courier New"/>
                <a:ea typeface="Courier New"/>
                <a:cs typeface="Courier New"/>
                <a:sym typeface="Courier New"/>
              </a:rPr>
              <a:t>   </a:t>
            </a:r>
            <a:r>
              <a:rPr b="1" lang="en" sz="1450">
                <a:solidFill>
                  <a:srgbClr val="A31515"/>
                </a:solidFill>
                <a:highlight>
                  <a:srgbClr val="FFFFFE"/>
                </a:highlight>
                <a:latin typeface="Courier New"/>
                <a:ea typeface="Courier New"/>
                <a:cs typeface="Courier New"/>
                <a:sym typeface="Courier New"/>
              </a:rPr>
              <a:t>'And the third one.'</a:t>
            </a:r>
            <a:r>
              <a:rPr b="1" lang="en" sz="1450">
                <a:solidFill>
                  <a:schemeClr val="dk2"/>
                </a:solidFill>
                <a:highlight>
                  <a:srgbClr val="FFFFFE"/>
                </a:highlight>
                <a:latin typeface="Courier New"/>
                <a:ea typeface="Courier New"/>
                <a:cs typeface="Courier New"/>
                <a:sym typeface="Courier New"/>
              </a:rPr>
              <a:t>,</a:t>
            </a:r>
            <a:endParaRPr b="1" sz="14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450">
                <a:solidFill>
                  <a:schemeClr val="dk2"/>
                </a:solidFill>
                <a:highlight>
                  <a:srgbClr val="FFFFFE"/>
                </a:highlight>
                <a:latin typeface="Courier New"/>
                <a:ea typeface="Courier New"/>
                <a:cs typeface="Courier New"/>
                <a:sym typeface="Courier New"/>
              </a:rPr>
              <a:t>   </a:t>
            </a:r>
            <a:r>
              <a:rPr b="1" lang="en" sz="1450">
                <a:solidFill>
                  <a:srgbClr val="A31515"/>
                </a:solidFill>
                <a:highlight>
                  <a:srgbClr val="FFFFFE"/>
                </a:highlight>
                <a:latin typeface="Courier New"/>
                <a:ea typeface="Courier New"/>
                <a:cs typeface="Courier New"/>
                <a:sym typeface="Courier New"/>
              </a:rPr>
              <a:t>'Is this the first document?'</a:t>
            </a:r>
            <a:r>
              <a:rPr b="1" lang="en" sz="1450">
                <a:solidFill>
                  <a:schemeClr val="dk2"/>
                </a:solidFill>
                <a:highlight>
                  <a:srgbClr val="FFFFFE"/>
                </a:highlight>
                <a:latin typeface="Courier New"/>
                <a:ea typeface="Courier New"/>
                <a:cs typeface="Courier New"/>
                <a:sym typeface="Courier New"/>
              </a:rPr>
              <a:t>]</a:t>
            </a:r>
            <a:endParaRPr b="1" sz="14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2"/>
              </a:buClr>
              <a:buSzPts val="1100"/>
              <a:buFont typeface="Arial"/>
              <a:buNone/>
            </a:pPr>
            <a:r>
              <a:t/>
            </a:r>
            <a:endParaRPr b="1" sz="13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2"/>
              </a:buClr>
              <a:buSzPts val="1100"/>
              <a:buFont typeface="Arial"/>
              <a:buNone/>
            </a:pPr>
            <a:r>
              <a:rPr b="1" lang="en" sz="1650">
                <a:solidFill>
                  <a:schemeClr val="dk2"/>
                </a:solidFill>
                <a:highlight>
                  <a:srgbClr val="FFFFFE"/>
                </a:highlight>
                <a:latin typeface="Courier New"/>
                <a:ea typeface="Courier New"/>
                <a:cs typeface="Courier New"/>
                <a:sym typeface="Courier New"/>
              </a:rPr>
              <a:t>vectorizer = CountVectorizer(strip_accents=</a:t>
            </a:r>
            <a:r>
              <a:rPr b="1" lang="en" sz="1650">
                <a:solidFill>
                  <a:srgbClr val="A31515"/>
                </a:solidFill>
                <a:highlight>
                  <a:srgbClr val="FFFFFE"/>
                </a:highlight>
                <a:latin typeface="Courier New"/>
                <a:ea typeface="Courier New"/>
                <a:cs typeface="Courier New"/>
                <a:sym typeface="Courier New"/>
              </a:rPr>
              <a:t>"unicode"</a:t>
            </a:r>
            <a:r>
              <a:rPr b="1" lang="en" sz="1650">
                <a:solidFill>
                  <a:schemeClr val="dk2"/>
                </a:solidFill>
                <a:highlight>
                  <a:srgbClr val="FFFFFE"/>
                </a:highlight>
                <a:latin typeface="Courier New"/>
                <a:ea typeface="Courier New"/>
                <a:cs typeface="Courier New"/>
                <a:sym typeface="Courier New"/>
              </a:rPr>
              <a:t>)</a:t>
            </a:r>
            <a:endParaRPr b="1" sz="16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650">
                <a:solidFill>
                  <a:schemeClr val="dk2"/>
                </a:solidFill>
                <a:highlight>
                  <a:srgbClr val="FFFFFE"/>
                </a:highlight>
                <a:latin typeface="Courier New"/>
                <a:ea typeface="Courier New"/>
                <a:cs typeface="Courier New"/>
                <a:sym typeface="Courier New"/>
              </a:rPr>
              <a:t>X = vectorizer.fit_transform(corpus)</a:t>
            </a:r>
            <a:endParaRPr b="1" sz="16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2"/>
              </a:buClr>
              <a:buSzPts val="1100"/>
              <a:buFont typeface="Arial"/>
              <a:buNone/>
            </a:pPr>
            <a:r>
              <a:t/>
            </a:r>
            <a:endParaRPr b="1" sz="16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2"/>
              </a:buClr>
              <a:buSzPts val="1100"/>
              <a:buFont typeface="Arial"/>
              <a:buNone/>
            </a:pPr>
            <a:r>
              <a:rPr b="1" lang="en" sz="1650">
                <a:solidFill>
                  <a:schemeClr val="dk2"/>
                </a:solidFill>
                <a:highlight>
                  <a:srgbClr val="FFFFFE"/>
                </a:highlight>
                <a:latin typeface="Courier New"/>
                <a:ea typeface="Courier New"/>
                <a:cs typeface="Courier New"/>
                <a:sym typeface="Courier New"/>
              </a:rPr>
              <a:t>transformer = TfidfTransformer(smooth_idf=</a:t>
            </a:r>
            <a:r>
              <a:rPr b="1" lang="en" sz="1650">
                <a:solidFill>
                  <a:srgbClr val="0000FF"/>
                </a:solidFill>
                <a:highlight>
                  <a:srgbClr val="FFFFFE"/>
                </a:highlight>
                <a:latin typeface="Courier New"/>
                <a:ea typeface="Courier New"/>
                <a:cs typeface="Courier New"/>
                <a:sym typeface="Courier New"/>
              </a:rPr>
              <a:t>False</a:t>
            </a:r>
            <a:r>
              <a:rPr b="1" lang="en" sz="1650">
                <a:solidFill>
                  <a:schemeClr val="dk2"/>
                </a:solidFill>
                <a:highlight>
                  <a:srgbClr val="FFFFFE"/>
                </a:highlight>
                <a:latin typeface="Courier New"/>
                <a:ea typeface="Courier New"/>
                <a:cs typeface="Courier New"/>
                <a:sym typeface="Courier New"/>
              </a:rPr>
              <a:t>)</a:t>
            </a:r>
            <a:endParaRPr b="1" sz="16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650">
                <a:solidFill>
                  <a:schemeClr val="dk2"/>
                </a:solidFill>
                <a:highlight>
                  <a:srgbClr val="FFFFFE"/>
                </a:highlight>
                <a:latin typeface="Courier New"/>
                <a:ea typeface="Courier New"/>
                <a:cs typeface="Courier New"/>
                <a:sym typeface="Courier New"/>
              </a:rPr>
              <a:t>transformer.fit_transform(X).toarray()</a:t>
            </a:r>
            <a:endParaRPr b="1" sz="1600">
              <a:solidFill>
                <a:srgbClr val="000000"/>
              </a:solidFill>
              <a:latin typeface="Verdana"/>
              <a:ea typeface="Verdana"/>
              <a:cs typeface="Verdana"/>
              <a:sym typeface="Verdana"/>
            </a:endParaRPr>
          </a:p>
        </p:txBody>
      </p:sp>
      <p:sp>
        <p:nvSpPr>
          <p:cNvPr id="233" name="Google Shape;233;p36"/>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tf-idf Term Weighting</a:t>
            </a:r>
            <a:endParaRPr>
              <a:solidFill>
                <a:srgbClr val="980000"/>
              </a:solidFill>
              <a:latin typeface="Verdana"/>
              <a:ea typeface="Verdana"/>
              <a:cs typeface="Verdana"/>
              <a:sym typeface="Verdan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7"/>
          <p:cNvSpPr txBox="1"/>
          <p:nvPr>
            <p:ph idx="1" type="body"/>
          </p:nvPr>
        </p:nvSpPr>
        <p:spPr>
          <a:xfrm>
            <a:off x="311700" y="763625"/>
            <a:ext cx="8655900" cy="4194000"/>
          </a:xfrm>
          <a:prstGeom prst="rect">
            <a:avLst/>
          </a:prstGeom>
        </p:spPr>
        <p:txBody>
          <a:bodyPr anchorCtr="0" anchor="t" bIns="91425" lIns="91425" spcFirstLastPara="1" rIns="91425" wrap="square" tIns="91425">
            <a:normAutofit/>
          </a:bodyPr>
          <a:lstStyle/>
          <a:p>
            <a:pPr indent="0" lvl="0" marL="0" rtl="0" algn="l">
              <a:lnSpc>
                <a:spcPct val="135714"/>
              </a:lnSpc>
              <a:spcBef>
                <a:spcPts val="0"/>
              </a:spcBef>
              <a:spcAft>
                <a:spcPts val="0"/>
              </a:spcAft>
              <a:buNone/>
            </a:pPr>
            <a:r>
              <a:rPr b="1" lang="en" sz="1350">
                <a:solidFill>
                  <a:srgbClr val="AF00DB"/>
                </a:solidFill>
                <a:highlight>
                  <a:srgbClr val="FFFFFE"/>
                </a:highlight>
                <a:latin typeface="Courier New"/>
                <a:ea typeface="Courier New"/>
                <a:cs typeface="Courier New"/>
                <a:sym typeface="Courier New"/>
              </a:rPr>
              <a:t>from</a:t>
            </a:r>
            <a:r>
              <a:rPr b="1" lang="en" sz="1350">
                <a:solidFill>
                  <a:schemeClr val="dk2"/>
                </a:solidFill>
                <a:highlight>
                  <a:srgbClr val="FFFFFE"/>
                </a:highlight>
                <a:latin typeface="Courier New"/>
                <a:ea typeface="Courier New"/>
                <a:cs typeface="Courier New"/>
                <a:sym typeface="Courier New"/>
              </a:rPr>
              <a:t> sklearn.feature_extraction.text </a:t>
            </a:r>
            <a:r>
              <a:rPr b="1" lang="en" sz="1350">
                <a:solidFill>
                  <a:srgbClr val="AF00DB"/>
                </a:solidFill>
                <a:highlight>
                  <a:srgbClr val="FFFFFE"/>
                </a:highlight>
                <a:latin typeface="Courier New"/>
                <a:ea typeface="Courier New"/>
                <a:cs typeface="Courier New"/>
                <a:sym typeface="Courier New"/>
              </a:rPr>
              <a:t>import</a:t>
            </a:r>
            <a:r>
              <a:rPr b="1" lang="en" sz="1350">
                <a:solidFill>
                  <a:schemeClr val="dk2"/>
                </a:solidFill>
                <a:highlight>
                  <a:srgbClr val="FFFFFE"/>
                </a:highlight>
                <a:latin typeface="Courier New"/>
                <a:ea typeface="Courier New"/>
                <a:cs typeface="Courier New"/>
                <a:sym typeface="Courier New"/>
              </a:rPr>
              <a:t> CountVectorizer, TfidfTransformer</a:t>
            </a:r>
            <a:endParaRPr b="1" sz="13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AF00DB"/>
                </a:solidFill>
                <a:highlight>
                  <a:srgbClr val="FFFFFE"/>
                </a:highlight>
                <a:latin typeface="Courier New"/>
                <a:ea typeface="Courier New"/>
                <a:cs typeface="Courier New"/>
                <a:sym typeface="Courier New"/>
              </a:rPr>
              <a:t>from</a:t>
            </a:r>
            <a:r>
              <a:rPr b="1" lang="en" sz="1350">
                <a:solidFill>
                  <a:schemeClr val="dk2"/>
                </a:solidFill>
                <a:highlight>
                  <a:srgbClr val="FFFFFE"/>
                </a:highlight>
                <a:latin typeface="Courier New"/>
                <a:ea typeface="Courier New"/>
                <a:cs typeface="Courier New"/>
                <a:sym typeface="Courier New"/>
              </a:rPr>
              <a:t> sklearn.pipeline </a:t>
            </a:r>
            <a:r>
              <a:rPr b="1" lang="en" sz="1350">
                <a:solidFill>
                  <a:srgbClr val="AF00DB"/>
                </a:solidFill>
                <a:highlight>
                  <a:srgbClr val="FFFFFE"/>
                </a:highlight>
                <a:latin typeface="Courier New"/>
                <a:ea typeface="Courier New"/>
                <a:cs typeface="Courier New"/>
                <a:sym typeface="Courier New"/>
              </a:rPr>
              <a:t>import</a:t>
            </a:r>
            <a:r>
              <a:rPr b="1" lang="en" sz="1350">
                <a:solidFill>
                  <a:schemeClr val="dk2"/>
                </a:solidFill>
                <a:highlight>
                  <a:srgbClr val="FFFFFE"/>
                </a:highlight>
                <a:latin typeface="Courier New"/>
                <a:ea typeface="Courier New"/>
                <a:cs typeface="Courier New"/>
                <a:sym typeface="Courier New"/>
              </a:rPr>
              <a:t> Pipeline</a:t>
            </a:r>
            <a:endParaRPr b="1" sz="13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br>
              <a:rPr b="1" lang="en" sz="1350">
                <a:solidFill>
                  <a:schemeClr val="dk2"/>
                </a:solidFill>
                <a:highlight>
                  <a:srgbClr val="FFFFFE"/>
                </a:highlight>
                <a:latin typeface="Courier New"/>
                <a:ea typeface="Courier New"/>
                <a:cs typeface="Courier New"/>
                <a:sym typeface="Courier New"/>
              </a:rPr>
            </a:br>
            <a:r>
              <a:rPr b="1" lang="en" sz="1350">
                <a:solidFill>
                  <a:srgbClr val="980000"/>
                </a:solidFill>
                <a:highlight>
                  <a:srgbClr val="FFFFFE"/>
                </a:highlight>
                <a:latin typeface="Courier New"/>
                <a:ea typeface="Courier New"/>
                <a:cs typeface="Courier New"/>
                <a:sym typeface="Courier New"/>
              </a:rPr>
              <a:t># or it</a:t>
            </a:r>
            <a:r>
              <a:rPr b="1" lang="en" sz="1350">
                <a:solidFill>
                  <a:srgbClr val="980000"/>
                </a:solidFill>
                <a:highlight>
                  <a:srgbClr val="FFFFFE"/>
                </a:highlight>
                <a:latin typeface="Courier New"/>
                <a:ea typeface="Courier New"/>
                <a:cs typeface="Courier New"/>
                <a:sym typeface="Courier New"/>
              </a:rPr>
              <a:t>'</a:t>
            </a:r>
            <a:r>
              <a:rPr b="1" lang="en" sz="1350">
                <a:solidFill>
                  <a:srgbClr val="980000"/>
                </a:solidFill>
                <a:highlight>
                  <a:srgbClr val="FFFFFE"/>
                </a:highlight>
                <a:latin typeface="Courier New"/>
                <a:ea typeface="Courier New"/>
                <a:cs typeface="Courier New"/>
                <a:sym typeface="Courier New"/>
              </a:rPr>
              <a:t>s better to use pipeline</a:t>
            </a:r>
            <a:endParaRPr b="1" sz="1350">
              <a:solidFill>
                <a:srgbClr val="980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650">
                <a:solidFill>
                  <a:schemeClr val="dk2"/>
                </a:solidFill>
                <a:highlight>
                  <a:srgbClr val="FFFFFE"/>
                </a:highlight>
                <a:latin typeface="Courier New"/>
                <a:ea typeface="Courier New"/>
                <a:cs typeface="Courier New"/>
                <a:sym typeface="Courier New"/>
              </a:rPr>
              <a:t>pipe = Pipeline([</a:t>
            </a:r>
            <a:endParaRPr b="1" sz="16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650">
                <a:solidFill>
                  <a:schemeClr val="dk2"/>
                </a:solidFill>
                <a:highlight>
                  <a:srgbClr val="FFFFFE"/>
                </a:highlight>
                <a:latin typeface="Courier New"/>
                <a:ea typeface="Courier New"/>
                <a:cs typeface="Courier New"/>
                <a:sym typeface="Courier New"/>
              </a:rPr>
              <a:t>      ("count_vec", CountVectorizer(strip_accents="unicode")),</a:t>
            </a:r>
            <a:endParaRPr b="1" sz="16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650">
                <a:solidFill>
                  <a:schemeClr val="dk2"/>
                </a:solidFill>
                <a:highlight>
                  <a:srgbClr val="FFFFFE"/>
                </a:highlight>
                <a:latin typeface="Courier New"/>
                <a:ea typeface="Courier New"/>
                <a:cs typeface="Courier New"/>
                <a:sym typeface="Courier New"/>
              </a:rPr>
              <a:t>      ("tfidf_vec", TfidfTransformer(smooth_idf=False))</a:t>
            </a:r>
            <a:endParaRPr b="1" sz="16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650">
                <a:solidFill>
                  <a:schemeClr val="dk2"/>
                </a:solidFill>
                <a:highlight>
                  <a:srgbClr val="FFFFFE"/>
                </a:highlight>
                <a:latin typeface="Courier New"/>
                <a:ea typeface="Courier New"/>
                <a:cs typeface="Courier New"/>
                <a:sym typeface="Courier New"/>
              </a:rPr>
              <a:t>])</a:t>
            </a:r>
            <a:endParaRPr b="1" sz="16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650">
                <a:solidFill>
                  <a:schemeClr val="dk2"/>
                </a:solidFill>
                <a:highlight>
                  <a:srgbClr val="FFFFFE"/>
                </a:highlight>
                <a:latin typeface="Courier New"/>
                <a:ea typeface="Courier New"/>
                <a:cs typeface="Courier New"/>
                <a:sym typeface="Courier New"/>
              </a:rPr>
              <a:t>pipe.fit_transform(corpus)</a:t>
            </a:r>
            <a:endParaRPr b="1" sz="1650">
              <a:solidFill>
                <a:schemeClr val="dk2"/>
              </a:solidFill>
              <a:highlight>
                <a:srgbClr val="FFFFFE"/>
              </a:highlight>
              <a:latin typeface="Courier New"/>
              <a:ea typeface="Courier New"/>
              <a:cs typeface="Courier New"/>
              <a:sym typeface="Courier New"/>
            </a:endParaRPr>
          </a:p>
          <a:p>
            <a:pPr indent="0" lvl="0" marL="0" rtl="0" algn="l">
              <a:spcBef>
                <a:spcPts val="0"/>
              </a:spcBef>
              <a:spcAft>
                <a:spcPts val="1200"/>
              </a:spcAft>
              <a:buNone/>
            </a:pPr>
            <a:r>
              <a:t/>
            </a:r>
            <a:endParaRPr b="1" sz="1600">
              <a:solidFill>
                <a:srgbClr val="000000"/>
              </a:solidFill>
              <a:latin typeface="Verdana"/>
              <a:ea typeface="Verdana"/>
              <a:cs typeface="Verdana"/>
              <a:sym typeface="Verdana"/>
            </a:endParaRPr>
          </a:p>
        </p:txBody>
      </p:sp>
      <p:sp>
        <p:nvSpPr>
          <p:cNvPr id="239" name="Google Shape;239;p37"/>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tf-idf Term Weighting</a:t>
            </a:r>
            <a:endParaRPr>
              <a:solidFill>
                <a:srgbClr val="980000"/>
              </a:solidFill>
              <a:latin typeface="Verdana"/>
              <a:ea typeface="Verdana"/>
              <a:cs typeface="Verdana"/>
              <a:sym typeface="Verdan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8"/>
          <p:cNvSpPr txBox="1"/>
          <p:nvPr>
            <p:ph idx="1" type="body"/>
          </p:nvPr>
        </p:nvSpPr>
        <p:spPr>
          <a:xfrm>
            <a:off x="311700" y="763625"/>
            <a:ext cx="8655900" cy="4194000"/>
          </a:xfrm>
          <a:prstGeom prst="rect">
            <a:avLst/>
          </a:prstGeom>
        </p:spPr>
        <p:txBody>
          <a:bodyPr anchorCtr="0" anchor="t" bIns="91425" lIns="91425" spcFirstLastPara="1" rIns="91425" wrap="square" tIns="91425">
            <a:normAutofit/>
          </a:bodyPr>
          <a:lstStyle/>
          <a:p>
            <a:pPr indent="0" lvl="0" marL="0" rtl="0" algn="l">
              <a:lnSpc>
                <a:spcPct val="135714"/>
              </a:lnSpc>
              <a:spcBef>
                <a:spcPts val="0"/>
              </a:spcBef>
              <a:spcAft>
                <a:spcPts val="0"/>
              </a:spcAft>
              <a:buNone/>
            </a:pPr>
            <a:r>
              <a:rPr b="1" lang="en" sz="1350">
                <a:solidFill>
                  <a:srgbClr val="AF00DB"/>
                </a:solidFill>
                <a:highlight>
                  <a:srgbClr val="FFFFFE"/>
                </a:highlight>
                <a:latin typeface="Courier New"/>
                <a:ea typeface="Courier New"/>
                <a:cs typeface="Courier New"/>
                <a:sym typeface="Courier New"/>
              </a:rPr>
              <a:t>from</a:t>
            </a:r>
            <a:r>
              <a:rPr b="1" lang="en" sz="1350">
                <a:solidFill>
                  <a:schemeClr val="dk2"/>
                </a:solidFill>
                <a:highlight>
                  <a:srgbClr val="FFFFFE"/>
                </a:highlight>
                <a:latin typeface="Courier New"/>
                <a:ea typeface="Courier New"/>
                <a:cs typeface="Courier New"/>
                <a:sym typeface="Courier New"/>
              </a:rPr>
              <a:t> sklearn.feature_extraction.text </a:t>
            </a:r>
            <a:r>
              <a:rPr b="1" lang="en" sz="1350">
                <a:solidFill>
                  <a:srgbClr val="AF00DB"/>
                </a:solidFill>
                <a:highlight>
                  <a:srgbClr val="FFFFFE"/>
                </a:highlight>
                <a:latin typeface="Courier New"/>
                <a:ea typeface="Courier New"/>
                <a:cs typeface="Courier New"/>
                <a:sym typeface="Courier New"/>
              </a:rPr>
              <a:t>import</a:t>
            </a:r>
            <a:r>
              <a:rPr b="1" lang="en" sz="1350">
                <a:solidFill>
                  <a:schemeClr val="dk2"/>
                </a:solidFill>
                <a:highlight>
                  <a:srgbClr val="FFFFFE"/>
                </a:highlight>
                <a:latin typeface="Courier New"/>
                <a:ea typeface="Courier New"/>
                <a:cs typeface="Courier New"/>
                <a:sym typeface="Courier New"/>
              </a:rPr>
              <a:t> </a:t>
            </a:r>
            <a:r>
              <a:rPr b="1" lang="en" sz="1350">
                <a:solidFill>
                  <a:schemeClr val="dk2"/>
                </a:solidFill>
                <a:highlight>
                  <a:srgbClr val="FFFFFE"/>
                </a:highlight>
                <a:latin typeface="Courier New"/>
                <a:ea typeface="Courier New"/>
                <a:cs typeface="Courier New"/>
                <a:sym typeface="Courier New"/>
              </a:rPr>
              <a:t>TfidfVectorizer</a:t>
            </a:r>
            <a:endParaRPr b="1" sz="13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3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br>
              <a:rPr b="1" lang="en" sz="1350">
                <a:solidFill>
                  <a:schemeClr val="dk2"/>
                </a:solidFill>
                <a:highlight>
                  <a:srgbClr val="FFFFFE"/>
                </a:highlight>
                <a:latin typeface="Courier New"/>
                <a:ea typeface="Courier New"/>
                <a:cs typeface="Courier New"/>
                <a:sym typeface="Courier New"/>
              </a:rPr>
            </a:br>
            <a:r>
              <a:rPr b="1" lang="en" sz="1350">
                <a:solidFill>
                  <a:srgbClr val="980000"/>
                </a:solidFill>
                <a:highlight>
                  <a:srgbClr val="FFFFFE"/>
                </a:highlight>
                <a:latin typeface="Courier New"/>
                <a:ea typeface="Courier New"/>
                <a:cs typeface="Courier New"/>
                <a:sym typeface="Courier New"/>
              </a:rPr>
              <a:t># or we can directly use TfidfVectorizer</a:t>
            </a:r>
            <a:endParaRPr b="1" sz="1350">
              <a:solidFill>
                <a:srgbClr val="980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650">
                <a:solidFill>
                  <a:schemeClr val="dk2"/>
                </a:solidFill>
                <a:highlight>
                  <a:srgbClr val="FFFFFE"/>
                </a:highlight>
                <a:latin typeface="Courier New"/>
                <a:ea typeface="Courier New"/>
                <a:cs typeface="Courier New"/>
                <a:sym typeface="Courier New"/>
              </a:rPr>
              <a:t>tf_vect = TfidfVectorizer(strip_accents="unicode", smooth_idf=False)</a:t>
            </a:r>
            <a:endParaRPr b="1" sz="1650">
              <a:solidFill>
                <a:schemeClr val="dk2"/>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650">
                <a:solidFill>
                  <a:schemeClr val="dk2"/>
                </a:solidFill>
                <a:highlight>
                  <a:srgbClr val="FFFFFE"/>
                </a:highlight>
                <a:latin typeface="Courier New"/>
                <a:ea typeface="Courier New"/>
                <a:cs typeface="Courier New"/>
                <a:sym typeface="Courier New"/>
              </a:rPr>
              <a:t>tf_vect.fit_transform(corpus)</a:t>
            </a:r>
            <a:endParaRPr b="1" sz="1650">
              <a:solidFill>
                <a:schemeClr val="dk2"/>
              </a:solidFill>
              <a:highlight>
                <a:srgbClr val="FFFFFE"/>
              </a:highlight>
              <a:latin typeface="Courier New"/>
              <a:ea typeface="Courier New"/>
              <a:cs typeface="Courier New"/>
              <a:sym typeface="Courier New"/>
            </a:endParaRPr>
          </a:p>
          <a:p>
            <a:pPr indent="0" lvl="0" marL="0" rtl="0" algn="l">
              <a:spcBef>
                <a:spcPts val="0"/>
              </a:spcBef>
              <a:spcAft>
                <a:spcPts val="1200"/>
              </a:spcAft>
              <a:buNone/>
            </a:pPr>
            <a:r>
              <a:t/>
            </a:r>
            <a:endParaRPr b="1" sz="1600">
              <a:solidFill>
                <a:srgbClr val="000000"/>
              </a:solidFill>
              <a:latin typeface="Verdana"/>
              <a:ea typeface="Verdana"/>
              <a:cs typeface="Verdana"/>
              <a:sym typeface="Verdana"/>
            </a:endParaRPr>
          </a:p>
        </p:txBody>
      </p:sp>
      <p:sp>
        <p:nvSpPr>
          <p:cNvPr id="245" name="Google Shape;245;p38"/>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tf-idf Term Weighting</a:t>
            </a:r>
            <a:endParaRPr>
              <a:solidFill>
                <a:srgbClr val="980000"/>
              </a:solidFill>
              <a:latin typeface="Verdana"/>
              <a:ea typeface="Verdana"/>
              <a:cs typeface="Verdana"/>
              <a:sym typeface="Verdan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9" name="Shape 249"/>
        <p:cNvGrpSpPr/>
        <p:nvPr/>
      </p:nvGrpSpPr>
      <p:grpSpPr>
        <a:xfrm>
          <a:off x="0" y="0"/>
          <a:ext cx="0" cy="0"/>
          <a:chOff x="0" y="0"/>
          <a:chExt cx="0" cy="0"/>
        </a:xfrm>
      </p:grpSpPr>
      <p:sp>
        <p:nvSpPr>
          <p:cNvPr id="250" name="Google Shape;250;p39"/>
          <p:cNvSpPr txBox="1"/>
          <p:nvPr>
            <p:ph idx="1" type="body"/>
          </p:nvPr>
        </p:nvSpPr>
        <p:spPr>
          <a:xfrm>
            <a:off x="311700" y="763625"/>
            <a:ext cx="8655900" cy="4194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rgbClr val="000000"/>
              </a:buClr>
              <a:buSzPts val="1600"/>
              <a:buFont typeface="Verdana"/>
              <a:buChar char="●"/>
            </a:pPr>
            <a:r>
              <a:rPr lang="en" sz="1600">
                <a:solidFill>
                  <a:srgbClr val="000000"/>
                </a:solidFill>
                <a:latin typeface="Verdana"/>
                <a:ea typeface="Verdana"/>
                <a:cs typeface="Verdana"/>
                <a:sym typeface="Verdana"/>
              </a:rPr>
              <a:t>One may set </a:t>
            </a:r>
            <a:r>
              <a:rPr b="1" lang="en" sz="1600">
                <a:solidFill>
                  <a:srgbClr val="0000FF"/>
                </a:solidFill>
                <a:latin typeface="Courier New"/>
                <a:ea typeface="Courier New"/>
                <a:cs typeface="Courier New"/>
                <a:sym typeface="Courier New"/>
              </a:rPr>
              <a:t>binary=True</a:t>
            </a:r>
            <a:r>
              <a:rPr lang="en" sz="1600">
                <a:solidFill>
                  <a:srgbClr val="000000"/>
                </a:solidFill>
                <a:latin typeface="Verdana"/>
                <a:ea typeface="Verdana"/>
                <a:cs typeface="Verdana"/>
                <a:sym typeface="Verdana"/>
              </a:rPr>
              <a:t> of </a:t>
            </a:r>
            <a:r>
              <a:rPr lang="en" sz="1600">
                <a:solidFill>
                  <a:srgbClr val="980000"/>
                </a:solidFill>
                <a:latin typeface="Verdana"/>
                <a:ea typeface="Verdana"/>
                <a:cs typeface="Verdana"/>
                <a:sym typeface="Verdana"/>
              </a:rPr>
              <a:t>CountVectorizer</a:t>
            </a:r>
            <a:r>
              <a:rPr lang="en" sz="1600">
                <a:solidFill>
                  <a:srgbClr val="000000"/>
                </a:solidFill>
                <a:latin typeface="Verdana"/>
                <a:ea typeface="Verdana"/>
                <a:cs typeface="Verdana"/>
                <a:sym typeface="Verdana"/>
              </a:rPr>
              <a:t>, so all non zero counts are set to 1. Then </a:t>
            </a:r>
            <a:r>
              <a:rPr b="1" lang="en" sz="1600">
                <a:solidFill>
                  <a:srgbClr val="0000FF"/>
                </a:solidFill>
                <a:latin typeface="Verdana"/>
                <a:ea typeface="Verdana"/>
                <a:cs typeface="Verdana"/>
                <a:sym typeface="Verdana"/>
              </a:rPr>
              <a:t>BernoulliNB</a:t>
            </a:r>
            <a:r>
              <a:rPr lang="en" sz="1600">
                <a:solidFill>
                  <a:srgbClr val="000000"/>
                </a:solidFill>
                <a:latin typeface="Verdana"/>
                <a:ea typeface="Verdana"/>
                <a:cs typeface="Verdana"/>
                <a:sym typeface="Verdana"/>
              </a:rPr>
              <a:t> can be used for further classification.</a:t>
            </a:r>
            <a:br>
              <a:rPr lang="en" sz="1600">
                <a:solidFill>
                  <a:srgbClr val="000000"/>
                </a:solidFill>
                <a:latin typeface="Verdana"/>
                <a:ea typeface="Verdana"/>
                <a:cs typeface="Verdana"/>
                <a:sym typeface="Verdana"/>
              </a:rPr>
            </a:br>
            <a:endParaRPr sz="1600">
              <a:solidFill>
                <a:srgbClr val="000000"/>
              </a:solidFill>
              <a:latin typeface="Verdana"/>
              <a:ea typeface="Verdana"/>
              <a:cs typeface="Verdana"/>
              <a:sym typeface="Verdana"/>
            </a:endParaRPr>
          </a:p>
          <a:p>
            <a:pPr indent="-330200" lvl="0" marL="457200" rtl="0" algn="l">
              <a:spcBef>
                <a:spcPts val="0"/>
              </a:spcBef>
              <a:spcAft>
                <a:spcPts val="0"/>
              </a:spcAft>
              <a:buClr>
                <a:srgbClr val="000000"/>
              </a:buClr>
              <a:buSzPts val="1600"/>
              <a:buFont typeface="Verdana"/>
              <a:buChar char="●"/>
            </a:pPr>
            <a:r>
              <a:rPr b="1" lang="en" sz="1600">
                <a:solidFill>
                  <a:srgbClr val="0000FF"/>
                </a:solidFill>
                <a:latin typeface="Verdana"/>
                <a:ea typeface="Verdana"/>
                <a:cs typeface="Verdana"/>
                <a:sym typeface="Verdana"/>
              </a:rPr>
              <a:t>CategoricalNB</a:t>
            </a:r>
            <a:r>
              <a:rPr lang="en" sz="1600">
                <a:solidFill>
                  <a:srgbClr val="000000"/>
                </a:solidFill>
                <a:latin typeface="Verdana"/>
                <a:ea typeface="Verdana"/>
                <a:cs typeface="Verdana"/>
                <a:sym typeface="Verdana"/>
              </a:rPr>
              <a:t> implements the categorical naive Bayes algorithm for categorically distributed data. It assumes that e</a:t>
            </a:r>
            <a:r>
              <a:rPr lang="en" sz="1600">
                <a:solidFill>
                  <a:srgbClr val="980000"/>
                </a:solidFill>
                <a:latin typeface="Verdana"/>
                <a:ea typeface="Verdana"/>
                <a:cs typeface="Verdana"/>
                <a:sym typeface="Verdana"/>
              </a:rPr>
              <a:t>ach feature, which is described by the index , has its own categorical distribution</a:t>
            </a:r>
            <a:r>
              <a:rPr lang="en" sz="1600">
                <a:solidFill>
                  <a:srgbClr val="000000"/>
                </a:solidFill>
                <a:latin typeface="Verdana"/>
                <a:ea typeface="Verdana"/>
                <a:cs typeface="Verdana"/>
                <a:sym typeface="Verdana"/>
              </a:rPr>
              <a:t>.</a:t>
            </a:r>
            <a:br>
              <a:rPr lang="en" sz="1600">
                <a:solidFill>
                  <a:srgbClr val="000000"/>
                </a:solidFill>
                <a:latin typeface="Verdana"/>
                <a:ea typeface="Verdana"/>
                <a:cs typeface="Verdana"/>
                <a:sym typeface="Verdana"/>
              </a:rPr>
            </a:br>
            <a:endParaRPr sz="1600">
              <a:solidFill>
                <a:srgbClr val="000000"/>
              </a:solidFill>
              <a:latin typeface="Verdana"/>
              <a:ea typeface="Verdana"/>
              <a:cs typeface="Verdana"/>
              <a:sym typeface="Verdana"/>
            </a:endParaRPr>
          </a:p>
          <a:p>
            <a:pPr indent="-330200" lvl="0" marL="457200" rtl="0" algn="l">
              <a:spcBef>
                <a:spcPts val="0"/>
              </a:spcBef>
              <a:spcAft>
                <a:spcPts val="0"/>
              </a:spcAft>
              <a:buClr>
                <a:srgbClr val="000000"/>
              </a:buClr>
              <a:buSzPts val="1600"/>
              <a:buFont typeface="Verdana"/>
              <a:buChar char="●"/>
            </a:pPr>
            <a:r>
              <a:rPr b="1" lang="en" sz="1600">
                <a:solidFill>
                  <a:srgbClr val="0000FF"/>
                </a:solidFill>
                <a:latin typeface="Verdana"/>
                <a:ea typeface="Verdana"/>
                <a:cs typeface="Verdana"/>
                <a:sym typeface="Verdana"/>
              </a:rPr>
              <a:t>CategoricalNB</a:t>
            </a:r>
            <a:r>
              <a:rPr lang="en" sz="1600">
                <a:solidFill>
                  <a:srgbClr val="000000"/>
                </a:solidFill>
                <a:latin typeface="Verdana"/>
                <a:ea typeface="Verdana"/>
                <a:cs typeface="Verdana"/>
                <a:sym typeface="Verdana"/>
              </a:rPr>
              <a:t> assumes that the sample matrix </a:t>
            </a:r>
            <a:r>
              <a:rPr b="1" i="1" lang="en" sz="1600">
                <a:solidFill>
                  <a:srgbClr val="000000"/>
                </a:solidFill>
                <a:latin typeface="Verdana"/>
                <a:ea typeface="Verdana"/>
                <a:cs typeface="Verdana"/>
                <a:sym typeface="Verdana"/>
              </a:rPr>
              <a:t>X</a:t>
            </a:r>
            <a:r>
              <a:rPr lang="en" sz="1600">
                <a:solidFill>
                  <a:srgbClr val="000000"/>
                </a:solidFill>
                <a:latin typeface="Verdana"/>
                <a:ea typeface="Verdana"/>
                <a:cs typeface="Verdana"/>
                <a:sym typeface="Verdana"/>
              </a:rPr>
              <a:t> is encoded (for instance with the help of </a:t>
            </a:r>
            <a:r>
              <a:rPr i="1" lang="en" sz="1600">
                <a:solidFill>
                  <a:srgbClr val="980000"/>
                </a:solidFill>
                <a:latin typeface="Verdana"/>
                <a:ea typeface="Verdana"/>
                <a:cs typeface="Verdana"/>
                <a:sym typeface="Verdana"/>
              </a:rPr>
              <a:t>OrdinalEncoder</a:t>
            </a:r>
            <a:r>
              <a:rPr lang="en" sz="1600">
                <a:solidFill>
                  <a:srgbClr val="000000"/>
                </a:solidFill>
                <a:latin typeface="Verdana"/>
                <a:ea typeface="Verdana"/>
                <a:cs typeface="Verdana"/>
                <a:sym typeface="Verdana"/>
              </a:rPr>
              <a:t>) such that all categories for each feature </a:t>
            </a:r>
            <a:r>
              <a:rPr b="1" i="1" lang="en" sz="1600">
                <a:solidFill>
                  <a:srgbClr val="000000"/>
                </a:solidFill>
                <a:latin typeface="Verdana"/>
                <a:ea typeface="Verdana"/>
                <a:cs typeface="Verdana"/>
                <a:sym typeface="Verdana"/>
              </a:rPr>
              <a:t>i</a:t>
            </a:r>
            <a:r>
              <a:rPr lang="en" sz="1600">
                <a:solidFill>
                  <a:srgbClr val="000000"/>
                </a:solidFill>
                <a:latin typeface="Verdana"/>
                <a:ea typeface="Verdana"/>
                <a:cs typeface="Verdana"/>
                <a:sym typeface="Verdana"/>
              </a:rPr>
              <a:t> are represented with numbers </a:t>
            </a:r>
            <a:r>
              <a:rPr i="1" lang="en" sz="1600">
                <a:solidFill>
                  <a:srgbClr val="000000"/>
                </a:solidFill>
                <a:latin typeface="Courier New"/>
                <a:ea typeface="Courier New"/>
                <a:cs typeface="Courier New"/>
                <a:sym typeface="Courier New"/>
              </a:rPr>
              <a:t>0,1,2,…,n</a:t>
            </a:r>
            <a:r>
              <a:rPr baseline="-25000" i="1" lang="en" sz="1600">
                <a:solidFill>
                  <a:srgbClr val="000000"/>
                </a:solidFill>
                <a:latin typeface="Courier New"/>
                <a:ea typeface="Courier New"/>
                <a:cs typeface="Courier New"/>
                <a:sym typeface="Courier New"/>
              </a:rPr>
              <a:t>i</a:t>
            </a:r>
            <a:r>
              <a:rPr i="1" lang="en" sz="1600">
                <a:solidFill>
                  <a:srgbClr val="000000"/>
                </a:solidFill>
                <a:latin typeface="Courier New"/>
                <a:ea typeface="Courier New"/>
                <a:cs typeface="Courier New"/>
                <a:sym typeface="Courier New"/>
              </a:rPr>
              <a:t>-1 </a:t>
            </a:r>
            <a:r>
              <a:rPr lang="en" sz="1600">
                <a:solidFill>
                  <a:srgbClr val="000000"/>
                </a:solidFill>
                <a:latin typeface="Verdana"/>
                <a:ea typeface="Verdana"/>
                <a:cs typeface="Verdana"/>
                <a:sym typeface="Verdana"/>
              </a:rPr>
              <a:t>where </a:t>
            </a:r>
            <a:r>
              <a:rPr i="1" lang="en" sz="1600">
                <a:solidFill>
                  <a:schemeClr val="dk2"/>
                </a:solidFill>
                <a:latin typeface="Courier New"/>
                <a:ea typeface="Courier New"/>
                <a:cs typeface="Courier New"/>
                <a:sym typeface="Courier New"/>
              </a:rPr>
              <a:t>n</a:t>
            </a:r>
            <a:r>
              <a:rPr baseline="-25000" i="1" lang="en" sz="1600">
                <a:solidFill>
                  <a:schemeClr val="dk2"/>
                </a:solidFill>
                <a:latin typeface="Courier New"/>
                <a:ea typeface="Courier New"/>
                <a:cs typeface="Courier New"/>
                <a:sym typeface="Courier New"/>
              </a:rPr>
              <a:t>i</a:t>
            </a:r>
            <a:r>
              <a:rPr lang="en" sz="1600">
                <a:solidFill>
                  <a:srgbClr val="000000"/>
                </a:solidFill>
                <a:latin typeface="Verdana"/>
                <a:ea typeface="Verdana"/>
                <a:cs typeface="Verdana"/>
                <a:sym typeface="Verdana"/>
              </a:rPr>
              <a:t> </a:t>
            </a:r>
            <a:r>
              <a:rPr lang="en" sz="1600">
                <a:solidFill>
                  <a:srgbClr val="000000"/>
                </a:solidFill>
                <a:latin typeface="Verdana"/>
                <a:ea typeface="Verdana"/>
                <a:cs typeface="Verdana"/>
                <a:sym typeface="Verdana"/>
              </a:rPr>
              <a:t>is the number of available categories of feature.</a:t>
            </a:r>
            <a:endParaRPr sz="1600">
              <a:solidFill>
                <a:srgbClr val="000000"/>
              </a:solidFill>
              <a:latin typeface="Verdana"/>
              <a:ea typeface="Verdana"/>
              <a:cs typeface="Verdana"/>
              <a:sym typeface="Verdana"/>
            </a:endParaRPr>
          </a:p>
        </p:txBody>
      </p:sp>
      <p:sp>
        <p:nvSpPr>
          <p:cNvPr id="251" name="Google Shape;251;p39"/>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Additional Notes</a:t>
            </a:r>
            <a:endParaRPr>
              <a:solidFill>
                <a:srgbClr val="980000"/>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0" st="0"/>
                                            </p:txEl>
                                          </p:spTgt>
                                        </p:tgtEl>
                                        <p:attrNameLst>
                                          <p:attrName>style.visibility</p:attrName>
                                        </p:attrNameLst>
                                      </p:cBhvr>
                                      <p:to>
                                        <p:strVal val="visible"/>
                                      </p:to>
                                    </p:set>
                                    <p:animEffect filter="fade" transition="in">
                                      <p:cBhvr>
                                        <p:cTn dur="1000"/>
                                        <p:tgtEl>
                                          <p:spTgt spid="25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1" st="1"/>
                                            </p:txEl>
                                          </p:spTgt>
                                        </p:tgtEl>
                                        <p:attrNameLst>
                                          <p:attrName>style.visibility</p:attrName>
                                        </p:attrNameLst>
                                      </p:cBhvr>
                                      <p:to>
                                        <p:strVal val="visible"/>
                                      </p:to>
                                    </p:set>
                                    <p:animEffect filter="fade" transition="in">
                                      <p:cBhvr>
                                        <p:cTn dur="1000"/>
                                        <p:tgtEl>
                                          <p:spTgt spid="25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2" st="2"/>
                                            </p:txEl>
                                          </p:spTgt>
                                        </p:tgtEl>
                                        <p:attrNameLst>
                                          <p:attrName>style.visibility</p:attrName>
                                        </p:attrNameLst>
                                      </p:cBhvr>
                                      <p:to>
                                        <p:strVal val="visible"/>
                                      </p:to>
                                    </p:set>
                                    <p:animEffect filter="fade" transition="in">
                                      <p:cBhvr>
                                        <p:cTn dur="1000"/>
                                        <p:tgtEl>
                                          <p:spTgt spid="250">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5" name="Shape 255"/>
        <p:cNvGrpSpPr/>
        <p:nvPr/>
      </p:nvGrpSpPr>
      <p:grpSpPr>
        <a:xfrm>
          <a:off x="0" y="0"/>
          <a:ext cx="0" cy="0"/>
          <a:chOff x="0" y="0"/>
          <a:chExt cx="0" cy="0"/>
        </a:xfrm>
      </p:grpSpPr>
      <p:sp>
        <p:nvSpPr>
          <p:cNvPr id="256" name="Google Shape;256;p40"/>
          <p:cNvSpPr txBox="1"/>
          <p:nvPr>
            <p:ph idx="1" type="body"/>
          </p:nvPr>
        </p:nvSpPr>
        <p:spPr>
          <a:xfrm>
            <a:off x="311700" y="763625"/>
            <a:ext cx="8655900" cy="419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rgbClr val="000000"/>
                </a:solidFill>
                <a:latin typeface="Verdana"/>
                <a:ea typeface="Verdana"/>
                <a:cs typeface="Verdana"/>
                <a:sym typeface="Verdana"/>
              </a:rPr>
              <a:t>It encodes categorical features as an integer array.</a:t>
            </a:r>
            <a:br>
              <a:rPr lang="en" sz="1600">
                <a:solidFill>
                  <a:srgbClr val="000000"/>
                </a:solidFill>
                <a:latin typeface="Verdana"/>
                <a:ea typeface="Verdana"/>
                <a:cs typeface="Verdana"/>
                <a:sym typeface="Verdana"/>
              </a:rPr>
            </a:br>
            <a:endParaRPr sz="1600">
              <a:solidFill>
                <a:srgbClr val="000000"/>
              </a:solidFill>
              <a:latin typeface="Verdana"/>
              <a:ea typeface="Verdana"/>
              <a:cs typeface="Verdana"/>
              <a:sym typeface="Verdana"/>
            </a:endParaRPr>
          </a:p>
          <a:p>
            <a:pPr indent="0" lvl="0" marL="0" rtl="0" algn="l">
              <a:spcBef>
                <a:spcPts val="1200"/>
              </a:spcBef>
              <a:spcAft>
                <a:spcPts val="0"/>
              </a:spcAft>
              <a:buNone/>
            </a:pPr>
            <a:r>
              <a:t/>
            </a:r>
            <a:endParaRPr sz="1600">
              <a:solidFill>
                <a:srgbClr val="000000"/>
              </a:solidFill>
              <a:latin typeface="Verdana"/>
              <a:ea typeface="Verdana"/>
              <a:cs typeface="Verdana"/>
              <a:sym typeface="Verdana"/>
            </a:endParaRPr>
          </a:p>
          <a:p>
            <a:pPr indent="0" lvl="0" marL="0" rtl="0" algn="l">
              <a:spcBef>
                <a:spcPts val="1200"/>
              </a:spcBef>
              <a:spcAft>
                <a:spcPts val="0"/>
              </a:spcAft>
              <a:buNone/>
            </a:pPr>
            <a:r>
              <a:t/>
            </a:r>
            <a:endParaRPr sz="1600">
              <a:solidFill>
                <a:srgbClr val="000000"/>
              </a:solidFill>
              <a:latin typeface="Verdana"/>
              <a:ea typeface="Verdana"/>
              <a:cs typeface="Verdana"/>
              <a:sym typeface="Verdana"/>
            </a:endParaRPr>
          </a:p>
          <a:p>
            <a:pPr indent="0" lvl="0" marL="0" rtl="0" algn="l">
              <a:spcBef>
                <a:spcPts val="1200"/>
              </a:spcBef>
              <a:spcAft>
                <a:spcPts val="1200"/>
              </a:spcAft>
              <a:buNone/>
            </a:pPr>
            <a:r>
              <a:t/>
            </a:r>
            <a:endParaRPr sz="1600">
              <a:solidFill>
                <a:srgbClr val="000000"/>
              </a:solidFill>
              <a:latin typeface="Verdana"/>
              <a:ea typeface="Verdana"/>
              <a:cs typeface="Verdana"/>
              <a:sym typeface="Verdana"/>
            </a:endParaRPr>
          </a:p>
        </p:txBody>
      </p:sp>
      <p:sp>
        <p:nvSpPr>
          <p:cNvPr id="257" name="Google Shape;257;p40"/>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Ordinal Encoding</a:t>
            </a:r>
            <a:endParaRPr>
              <a:solidFill>
                <a:srgbClr val="980000"/>
              </a:solidFill>
              <a:latin typeface="Verdana"/>
              <a:ea typeface="Verdana"/>
              <a:cs typeface="Verdana"/>
              <a:sym typeface="Verdana"/>
            </a:endParaRPr>
          </a:p>
        </p:txBody>
      </p:sp>
      <p:pic>
        <p:nvPicPr>
          <p:cNvPr id="258" name="Google Shape;258;p40"/>
          <p:cNvPicPr preferRelativeResize="0"/>
          <p:nvPr/>
        </p:nvPicPr>
        <p:blipFill>
          <a:blip r:embed="rId3">
            <a:alphaModFix/>
          </a:blip>
          <a:stretch>
            <a:fillRect/>
          </a:stretch>
        </p:blipFill>
        <p:spPr>
          <a:xfrm>
            <a:off x="705488" y="1313325"/>
            <a:ext cx="7868326" cy="351539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1"/>
          <p:cNvSpPr txBox="1"/>
          <p:nvPr>
            <p:ph idx="1" type="body"/>
          </p:nvPr>
        </p:nvSpPr>
        <p:spPr>
          <a:xfrm>
            <a:off x="311700" y="763625"/>
            <a:ext cx="8655900" cy="4194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2"/>
              </a:buClr>
              <a:buSzPts val="1600"/>
              <a:buFont typeface="Verdana"/>
              <a:buChar char="●"/>
            </a:pPr>
            <a:r>
              <a:rPr b="1" lang="en" sz="1600">
                <a:solidFill>
                  <a:schemeClr val="dk1"/>
                </a:solidFill>
                <a:latin typeface="Verdana"/>
                <a:ea typeface="Verdana"/>
                <a:cs typeface="Verdana"/>
                <a:sym typeface="Verdana"/>
              </a:rPr>
              <a:t>Tokenization</a:t>
            </a:r>
            <a:r>
              <a:rPr lang="en" sz="1600">
                <a:solidFill>
                  <a:srgbClr val="000000"/>
                </a:solidFill>
                <a:latin typeface="Verdana"/>
                <a:ea typeface="Verdana"/>
                <a:cs typeface="Verdana"/>
                <a:sym typeface="Verdana"/>
              </a:rPr>
              <a:t> is a way of separating a piece of text into smaller units called </a:t>
            </a:r>
            <a:r>
              <a:rPr b="1" lang="en" sz="1600">
                <a:solidFill>
                  <a:schemeClr val="accent4"/>
                </a:solidFill>
                <a:latin typeface="Verdana"/>
                <a:ea typeface="Verdana"/>
                <a:cs typeface="Verdana"/>
                <a:sym typeface="Verdana"/>
              </a:rPr>
              <a:t>tokens</a:t>
            </a:r>
            <a:r>
              <a:rPr lang="en" sz="1600">
                <a:solidFill>
                  <a:srgbClr val="000000"/>
                </a:solidFill>
                <a:latin typeface="Verdana"/>
                <a:ea typeface="Verdana"/>
                <a:cs typeface="Verdana"/>
                <a:sym typeface="Verdana"/>
              </a:rPr>
              <a:t>.</a:t>
            </a:r>
            <a:br>
              <a:rPr lang="en" sz="1600">
                <a:solidFill>
                  <a:srgbClr val="000000"/>
                </a:solidFill>
                <a:latin typeface="Verdana"/>
                <a:ea typeface="Verdana"/>
                <a:cs typeface="Verdana"/>
                <a:sym typeface="Verdana"/>
              </a:rPr>
            </a:br>
            <a:endParaRPr sz="1600">
              <a:solidFill>
                <a:srgbClr val="000000"/>
              </a:solidFill>
              <a:latin typeface="Verdana"/>
              <a:ea typeface="Verdana"/>
              <a:cs typeface="Verdana"/>
              <a:sym typeface="Verdana"/>
            </a:endParaRPr>
          </a:p>
          <a:p>
            <a:pPr indent="-330200" lvl="0" marL="457200" rtl="0" algn="l">
              <a:spcBef>
                <a:spcPts val="0"/>
              </a:spcBef>
              <a:spcAft>
                <a:spcPts val="0"/>
              </a:spcAft>
              <a:buClr>
                <a:schemeClr val="dk2"/>
              </a:buClr>
              <a:buSzPts val="1600"/>
              <a:buFont typeface="Verdana"/>
              <a:buChar char="●"/>
            </a:pPr>
            <a:r>
              <a:rPr lang="en" sz="1600">
                <a:solidFill>
                  <a:srgbClr val="000000"/>
                </a:solidFill>
                <a:latin typeface="Verdana"/>
                <a:ea typeface="Verdana"/>
                <a:cs typeface="Verdana"/>
                <a:sym typeface="Verdana"/>
              </a:rPr>
              <a:t>Tokenization can be applied to generate words or characters. We will mainly focus on words.</a:t>
            </a:r>
            <a:br>
              <a:rPr lang="en" sz="1600">
                <a:solidFill>
                  <a:srgbClr val="000000"/>
                </a:solidFill>
                <a:latin typeface="Verdana"/>
                <a:ea typeface="Verdana"/>
                <a:cs typeface="Verdana"/>
                <a:sym typeface="Verdana"/>
              </a:rPr>
            </a:br>
            <a:endParaRPr sz="1600">
              <a:solidFill>
                <a:srgbClr val="000000"/>
              </a:solidFill>
              <a:latin typeface="Verdana"/>
              <a:ea typeface="Verdana"/>
              <a:cs typeface="Verdana"/>
              <a:sym typeface="Verdana"/>
            </a:endParaRPr>
          </a:p>
          <a:p>
            <a:pPr indent="-330200" lvl="0" marL="457200" rtl="0" algn="l">
              <a:spcBef>
                <a:spcPts val="0"/>
              </a:spcBef>
              <a:spcAft>
                <a:spcPts val="0"/>
              </a:spcAft>
              <a:buClr>
                <a:srgbClr val="000000"/>
              </a:buClr>
              <a:buSzPts val="1600"/>
              <a:buFont typeface="Verdana"/>
              <a:buChar char="●"/>
            </a:pPr>
            <a:r>
              <a:rPr lang="en" sz="1600">
                <a:solidFill>
                  <a:srgbClr val="000000"/>
                </a:solidFill>
                <a:latin typeface="Verdana"/>
                <a:ea typeface="Verdana"/>
                <a:cs typeface="Verdana"/>
                <a:sym typeface="Verdana"/>
              </a:rPr>
              <a:t>There are different tokenizers that we can utilize in our problems. </a:t>
            </a:r>
            <a:br>
              <a:rPr lang="en" sz="1600">
                <a:solidFill>
                  <a:srgbClr val="000000"/>
                </a:solidFill>
                <a:latin typeface="Verdana"/>
                <a:ea typeface="Verdana"/>
                <a:cs typeface="Verdana"/>
                <a:sym typeface="Verdana"/>
              </a:rPr>
            </a:br>
            <a:endParaRPr sz="1600">
              <a:solidFill>
                <a:srgbClr val="000000"/>
              </a:solidFill>
              <a:latin typeface="Verdana"/>
              <a:ea typeface="Verdana"/>
              <a:cs typeface="Verdana"/>
              <a:sym typeface="Verdana"/>
            </a:endParaRPr>
          </a:p>
          <a:p>
            <a:pPr indent="-330200" lvl="0" marL="457200" rtl="0" algn="l">
              <a:spcBef>
                <a:spcPts val="0"/>
              </a:spcBef>
              <a:spcAft>
                <a:spcPts val="0"/>
              </a:spcAft>
              <a:buClr>
                <a:srgbClr val="000000"/>
              </a:buClr>
              <a:buSzPts val="1600"/>
              <a:buFont typeface="Verdana"/>
              <a:buChar char="●"/>
            </a:pPr>
            <a:r>
              <a:rPr lang="en" sz="1600">
                <a:solidFill>
                  <a:srgbClr val="000000"/>
                </a:solidFill>
                <a:latin typeface="Verdana"/>
                <a:ea typeface="Verdana"/>
                <a:cs typeface="Verdana"/>
                <a:sym typeface="Verdana"/>
              </a:rPr>
              <a:t>Scikit-learn uses a “regular expression tokenizer” (</a:t>
            </a:r>
            <a:r>
              <a:rPr b="1" lang="en" sz="1600">
                <a:solidFill>
                  <a:schemeClr val="accent2"/>
                </a:solidFill>
                <a:latin typeface="Verdana"/>
                <a:ea typeface="Verdana"/>
                <a:cs typeface="Verdana"/>
                <a:sym typeface="Verdana"/>
              </a:rPr>
              <a:t>r”(?u)\b\w\w+\b”</a:t>
            </a:r>
            <a:r>
              <a:rPr lang="en" sz="1600">
                <a:solidFill>
                  <a:srgbClr val="000000"/>
                </a:solidFill>
                <a:latin typeface="Verdana"/>
                <a:ea typeface="Verdana"/>
                <a:cs typeface="Verdana"/>
                <a:sym typeface="Verdana"/>
              </a:rPr>
              <a:t>). The default regexp (regular expression) selects tokens of 2 or more alphanumeric characters (punctuation is completely ignored and always treated as a token separator).</a:t>
            </a:r>
            <a:endParaRPr sz="1600">
              <a:solidFill>
                <a:srgbClr val="000000"/>
              </a:solidFill>
              <a:latin typeface="Verdana"/>
              <a:ea typeface="Verdana"/>
              <a:cs typeface="Verdana"/>
              <a:sym typeface="Verdana"/>
            </a:endParaRPr>
          </a:p>
        </p:txBody>
      </p:sp>
      <p:sp>
        <p:nvSpPr>
          <p:cNvPr id="264" name="Google Shape;264;p41"/>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Tokenization</a:t>
            </a:r>
            <a:endParaRPr>
              <a:solidFill>
                <a:srgbClr val="980000"/>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0" st="0"/>
                                            </p:txEl>
                                          </p:spTgt>
                                        </p:tgtEl>
                                        <p:attrNameLst>
                                          <p:attrName>style.visibility</p:attrName>
                                        </p:attrNameLst>
                                      </p:cBhvr>
                                      <p:to>
                                        <p:strVal val="visible"/>
                                      </p:to>
                                    </p:set>
                                    <p:animEffect filter="fade" transition="in">
                                      <p:cBhvr>
                                        <p:cTn dur="1000"/>
                                        <p:tgtEl>
                                          <p:spTgt spid="2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1" st="1"/>
                                            </p:txEl>
                                          </p:spTgt>
                                        </p:tgtEl>
                                        <p:attrNameLst>
                                          <p:attrName>style.visibility</p:attrName>
                                        </p:attrNameLst>
                                      </p:cBhvr>
                                      <p:to>
                                        <p:strVal val="visible"/>
                                      </p:to>
                                    </p:set>
                                    <p:animEffect filter="fade" transition="in">
                                      <p:cBhvr>
                                        <p:cTn dur="1000"/>
                                        <p:tgtEl>
                                          <p:spTgt spid="2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2" st="2"/>
                                            </p:txEl>
                                          </p:spTgt>
                                        </p:tgtEl>
                                        <p:attrNameLst>
                                          <p:attrName>style.visibility</p:attrName>
                                        </p:attrNameLst>
                                      </p:cBhvr>
                                      <p:to>
                                        <p:strVal val="visible"/>
                                      </p:to>
                                    </p:set>
                                    <p:animEffect filter="fade" transition="in">
                                      <p:cBhvr>
                                        <p:cTn dur="1000"/>
                                        <p:tgtEl>
                                          <p:spTgt spid="2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3" st="3"/>
                                            </p:txEl>
                                          </p:spTgt>
                                        </p:tgtEl>
                                        <p:attrNameLst>
                                          <p:attrName>style.visibility</p:attrName>
                                        </p:attrNameLst>
                                      </p:cBhvr>
                                      <p:to>
                                        <p:strVal val="visible"/>
                                      </p:to>
                                    </p:set>
                                    <p:animEffect filter="fade" transition="in">
                                      <p:cBhvr>
                                        <p:cTn dur="1000"/>
                                        <p:tgtEl>
                                          <p:spTgt spid="263">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2"/>
          <p:cNvSpPr txBox="1"/>
          <p:nvPr>
            <p:ph idx="1" type="body"/>
          </p:nvPr>
        </p:nvSpPr>
        <p:spPr>
          <a:xfrm>
            <a:off x="311700" y="763625"/>
            <a:ext cx="8655900" cy="419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600">
                <a:solidFill>
                  <a:srgbClr val="000000"/>
                </a:solidFill>
                <a:latin typeface="Verdana"/>
                <a:ea typeface="Verdana"/>
                <a:cs typeface="Verdana"/>
                <a:sym typeface="Verdana"/>
              </a:rPr>
              <a:t>Remember the sklearn’s default tokenizer</a:t>
            </a:r>
            <a:endParaRPr sz="1600">
              <a:solidFill>
                <a:srgbClr val="000000"/>
              </a:solidFill>
              <a:latin typeface="Verdana"/>
              <a:ea typeface="Verdana"/>
              <a:cs typeface="Verdana"/>
              <a:sym typeface="Verdana"/>
            </a:endParaRPr>
          </a:p>
        </p:txBody>
      </p:sp>
      <p:sp>
        <p:nvSpPr>
          <p:cNvPr id="270" name="Google Shape;270;p42"/>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Sklearn Default Tokenizer</a:t>
            </a:r>
            <a:endParaRPr>
              <a:solidFill>
                <a:srgbClr val="980000"/>
              </a:solidFill>
              <a:latin typeface="Verdana"/>
              <a:ea typeface="Verdana"/>
              <a:cs typeface="Verdana"/>
              <a:sym typeface="Verdana"/>
            </a:endParaRPr>
          </a:p>
        </p:txBody>
      </p:sp>
      <p:pic>
        <p:nvPicPr>
          <p:cNvPr id="271" name="Google Shape;271;p42"/>
          <p:cNvPicPr preferRelativeResize="0"/>
          <p:nvPr/>
        </p:nvPicPr>
        <p:blipFill>
          <a:blip r:embed="rId3">
            <a:alphaModFix/>
          </a:blip>
          <a:stretch>
            <a:fillRect/>
          </a:stretch>
        </p:blipFill>
        <p:spPr>
          <a:xfrm>
            <a:off x="67650" y="1484526"/>
            <a:ext cx="7316201" cy="1840375"/>
          </a:xfrm>
          <a:prstGeom prst="rect">
            <a:avLst/>
          </a:prstGeom>
          <a:noFill/>
          <a:ln>
            <a:noFill/>
          </a:ln>
        </p:spPr>
      </p:pic>
      <p:pic>
        <p:nvPicPr>
          <p:cNvPr id="272" name="Google Shape;272;p42"/>
          <p:cNvPicPr preferRelativeResize="0"/>
          <p:nvPr/>
        </p:nvPicPr>
        <p:blipFill>
          <a:blip r:embed="rId4">
            <a:alphaModFix/>
          </a:blip>
          <a:stretch>
            <a:fillRect/>
          </a:stretch>
        </p:blipFill>
        <p:spPr>
          <a:xfrm>
            <a:off x="7453250" y="1072300"/>
            <a:ext cx="1693975" cy="3897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1000"/>
                                        <p:tgtEl>
                                          <p:spTgt spid="2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3"/>
          <p:cNvSpPr txBox="1"/>
          <p:nvPr>
            <p:ph idx="1" type="body"/>
          </p:nvPr>
        </p:nvSpPr>
        <p:spPr>
          <a:xfrm>
            <a:off x="311700" y="763625"/>
            <a:ext cx="8655900" cy="419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rgbClr val="000000"/>
                </a:solidFill>
                <a:latin typeface="Verdana"/>
                <a:ea typeface="Verdana"/>
                <a:cs typeface="Verdana"/>
                <a:sym typeface="Verdana"/>
              </a:rPr>
              <a:t>Twitter-aware tokenizer, designed to be flexible and easy to adapt to new domains and tasks.</a:t>
            </a:r>
            <a:endParaRPr sz="1500">
              <a:solidFill>
                <a:srgbClr val="000000"/>
              </a:solidFill>
              <a:latin typeface="Verdana"/>
              <a:ea typeface="Verdana"/>
              <a:cs typeface="Verdana"/>
              <a:sym typeface="Verdana"/>
            </a:endParaRPr>
          </a:p>
        </p:txBody>
      </p:sp>
      <p:sp>
        <p:nvSpPr>
          <p:cNvPr id="278" name="Google Shape;278;p43"/>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NLTK Tokenizers - Casual Mode</a:t>
            </a:r>
            <a:endParaRPr>
              <a:solidFill>
                <a:srgbClr val="980000"/>
              </a:solidFill>
              <a:latin typeface="Verdana"/>
              <a:ea typeface="Verdana"/>
              <a:cs typeface="Verdana"/>
              <a:sym typeface="Verdana"/>
            </a:endParaRPr>
          </a:p>
        </p:txBody>
      </p:sp>
      <p:pic>
        <p:nvPicPr>
          <p:cNvPr id="279" name="Google Shape;279;p43"/>
          <p:cNvPicPr preferRelativeResize="0"/>
          <p:nvPr/>
        </p:nvPicPr>
        <p:blipFill>
          <a:blip r:embed="rId3">
            <a:alphaModFix/>
          </a:blip>
          <a:stretch>
            <a:fillRect/>
          </a:stretch>
        </p:blipFill>
        <p:spPr>
          <a:xfrm>
            <a:off x="0" y="1845253"/>
            <a:ext cx="9144002" cy="253144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4"/>
          <p:cNvSpPr txBox="1"/>
          <p:nvPr>
            <p:ph idx="1" type="body"/>
          </p:nvPr>
        </p:nvSpPr>
        <p:spPr>
          <a:xfrm>
            <a:off x="311700" y="763625"/>
            <a:ext cx="8655900" cy="41940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A </a:t>
            </a:r>
            <a:r>
              <a:rPr b="1" lang="en" sz="1500">
                <a:solidFill>
                  <a:srgbClr val="000000"/>
                </a:solidFill>
                <a:latin typeface="Verdana"/>
                <a:ea typeface="Verdana"/>
                <a:cs typeface="Verdana"/>
                <a:sym typeface="Verdana"/>
              </a:rPr>
              <a:t>RegexpTokenizer</a:t>
            </a:r>
            <a:r>
              <a:rPr lang="en" sz="1500">
                <a:solidFill>
                  <a:srgbClr val="000000"/>
                </a:solidFill>
                <a:latin typeface="Verdana"/>
                <a:ea typeface="Verdana"/>
                <a:cs typeface="Verdana"/>
                <a:sym typeface="Verdana"/>
              </a:rPr>
              <a:t> splits a string into substrings using a regular expression. </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For example, the following tokenizer forms tokens out of alphabetic sequences, money expressions, and any other non-whitespace sequences:</a:t>
            </a: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Another RegexpTokenizer can use its regexp to match </a:t>
            </a:r>
            <a:r>
              <a:rPr b="1" lang="en" sz="1500">
                <a:solidFill>
                  <a:srgbClr val="000000"/>
                </a:solidFill>
                <a:latin typeface="Verdana"/>
                <a:ea typeface="Verdana"/>
                <a:cs typeface="Verdana"/>
                <a:sym typeface="Verdana"/>
              </a:rPr>
              <a:t>delimiters</a:t>
            </a:r>
            <a:r>
              <a:rPr lang="en" sz="1500">
                <a:solidFill>
                  <a:srgbClr val="000000"/>
                </a:solidFill>
                <a:latin typeface="Verdana"/>
                <a:ea typeface="Verdana"/>
                <a:cs typeface="Verdana"/>
                <a:sym typeface="Verdana"/>
              </a:rPr>
              <a:t> instead (setting </a:t>
            </a:r>
            <a:r>
              <a:rPr b="1" lang="en" sz="1500">
                <a:solidFill>
                  <a:srgbClr val="000000"/>
                </a:solidFill>
                <a:latin typeface="Verdana"/>
                <a:ea typeface="Verdana"/>
                <a:cs typeface="Verdana"/>
                <a:sym typeface="Verdana"/>
              </a:rPr>
              <a:t>gap</a:t>
            </a:r>
            <a:r>
              <a:rPr lang="en" sz="1500">
                <a:solidFill>
                  <a:srgbClr val="000000"/>
                </a:solidFill>
                <a:latin typeface="Verdana"/>
                <a:ea typeface="Verdana"/>
                <a:cs typeface="Verdana"/>
                <a:sym typeface="Verdana"/>
              </a:rPr>
              <a:t> parameter as True):</a:t>
            </a:r>
            <a:endParaRPr sz="1500">
              <a:solidFill>
                <a:srgbClr val="000000"/>
              </a:solidFill>
              <a:latin typeface="Verdana"/>
              <a:ea typeface="Verdana"/>
              <a:cs typeface="Verdana"/>
              <a:sym typeface="Verdana"/>
            </a:endParaRPr>
          </a:p>
        </p:txBody>
      </p:sp>
      <p:sp>
        <p:nvSpPr>
          <p:cNvPr id="285" name="Google Shape;285;p44"/>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NLTK Tokenizers - regexp Module</a:t>
            </a:r>
            <a:endParaRPr>
              <a:solidFill>
                <a:srgbClr val="980000"/>
              </a:solidFill>
              <a:latin typeface="Verdana"/>
              <a:ea typeface="Verdana"/>
              <a:cs typeface="Verdana"/>
              <a:sym typeface="Verdana"/>
            </a:endParaRPr>
          </a:p>
        </p:txBody>
      </p:sp>
      <p:pic>
        <p:nvPicPr>
          <p:cNvPr id="286" name="Google Shape;286;p44"/>
          <p:cNvPicPr preferRelativeResize="0"/>
          <p:nvPr/>
        </p:nvPicPr>
        <p:blipFill>
          <a:blip r:embed="rId3">
            <a:alphaModFix/>
          </a:blip>
          <a:stretch>
            <a:fillRect/>
          </a:stretch>
        </p:blipFill>
        <p:spPr>
          <a:xfrm>
            <a:off x="857663" y="1942789"/>
            <a:ext cx="7563973" cy="1073675"/>
          </a:xfrm>
          <a:prstGeom prst="rect">
            <a:avLst/>
          </a:prstGeom>
          <a:noFill/>
          <a:ln>
            <a:noFill/>
          </a:ln>
        </p:spPr>
      </p:pic>
      <p:pic>
        <p:nvPicPr>
          <p:cNvPr id="287" name="Google Shape;287;p44"/>
          <p:cNvPicPr preferRelativeResize="0"/>
          <p:nvPr/>
        </p:nvPicPr>
        <p:blipFill>
          <a:blip r:embed="rId4">
            <a:alphaModFix/>
          </a:blip>
          <a:stretch>
            <a:fillRect/>
          </a:stretch>
        </p:blipFill>
        <p:spPr>
          <a:xfrm>
            <a:off x="857675" y="3880800"/>
            <a:ext cx="7563950" cy="90115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5"/>
          <p:cNvSpPr txBox="1"/>
          <p:nvPr>
            <p:ph idx="1" type="body"/>
          </p:nvPr>
        </p:nvSpPr>
        <p:spPr>
          <a:xfrm>
            <a:off x="311700" y="763625"/>
            <a:ext cx="8655900" cy="41940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Font typeface="Verdana"/>
              <a:buChar char="●"/>
            </a:pPr>
            <a:r>
              <a:rPr b="1" lang="en" sz="1500">
                <a:solidFill>
                  <a:srgbClr val="000000"/>
                </a:solidFill>
                <a:latin typeface="Verdana"/>
                <a:ea typeface="Verdana"/>
                <a:cs typeface="Verdana"/>
                <a:sym typeface="Verdana"/>
              </a:rPr>
              <a:t>WordPunctTokenizer</a:t>
            </a:r>
            <a:r>
              <a:rPr lang="en" sz="1500">
                <a:solidFill>
                  <a:srgbClr val="000000"/>
                </a:solidFill>
                <a:latin typeface="Verdana"/>
                <a:ea typeface="Verdana"/>
                <a:cs typeface="Verdana"/>
                <a:sym typeface="Verdana"/>
              </a:rPr>
              <a:t> tokenizes a text into a sequence of alphabetic and non-alphabetic characters, using the regexp \w+|[^\w\s]+.</a:t>
            </a: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r>
              <a:rPr lang="en" sz="1500">
                <a:solidFill>
                  <a:srgbClr val="000000"/>
                </a:solidFill>
                <a:latin typeface="Verdana"/>
                <a:ea typeface="Verdana"/>
                <a:cs typeface="Verdana"/>
                <a:sym typeface="Verdana"/>
              </a:rPr>
              <a:t>It can also be called as follows</a:t>
            </a:r>
            <a:endParaRPr sz="1500">
              <a:solidFill>
                <a:srgbClr val="000000"/>
              </a:solidFill>
              <a:latin typeface="Verdana"/>
              <a:ea typeface="Verdana"/>
              <a:cs typeface="Verdana"/>
              <a:sym typeface="Verdana"/>
            </a:endParaRPr>
          </a:p>
        </p:txBody>
      </p:sp>
      <p:sp>
        <p:nvSpPr>
          <p:cNvPr id="293" name="Google Shape;293;p45"/>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NLTK Tokenizers - </a:t>
            </a:r>
            <a:r>
              <a:rPr lang="en">
                <a:solidFill>
                  <a:srgbClr val="980000"/>
                </a:solidFill>
                <a:latin typeface="Verdana"/>
                <a:ea typeface="Verdana"/>
                <a:cs typeface="Verdana"/>
                <a:sym typeface="Verdana"/>
              </a:rPr>
              <a:t>WordPunctTokenizer</a:t>
            </a:r>
            <a:endParaRPr>
              <a:solidFill>
                <a:srgbClr val="980000"/>
              </a:solidFill>
              <a:latin typeface="Verdana"/>
              <a:ea typeface="Verdana"/>
              <a:cs typeface="Verdana"/>
              <a:sym typeface="Verdana"/>
            </a:endParaRPr>
          </a:p>
        </p:txBody>
      </p:sp>
      <p:pic>
        <p:nvPicPr>
          <p:cNvPr id="294" name="Google Shape;294;p45"/>
          <p:cNvPicPr preferRelativeResize="0"/>
          <p:nvPr/>
        </p:nvPicPr>
        <p:blipFill>
          <a:blip r:embed="rId3">
            <a:alphaModFix/>
          </a:blip>
          <a:stretch>
            <a:fillRect/>
          </a:stretch>
        </p:blipFill>
        <p:spPr>
          <a:xfrm>
            <a:off x="445088" y="1688949"/>
            <a:ext cx="8389125" cy="1005800"/>
          </a:xfrm>
          <a:prstGeom prst="rect">
            <a:avLst/>
          </a:prstGeom>
          <a:noFill/>
          <a:ln>
            <a:noFill/>
          </a:ln>
        </p:spPr>
      </p:pic>
      <p:pic>
        <p:nvPicPr>
          <p:cNvPr id="295" name="Google Shape;295;p45"/>
          <p:cNvPicPr preferRelativeResize="0"/>
          <p:nvPr/>
        </p:nvPicPr>
        <p:blipFill>
          <a:blip r:embed="rId4">
            <a:alphaModFix/>
          </a:blip>
          <a:stretch>
            <a:fillRect/>
          </a:stretch>
        </p:blipFill>
        <p:spPr>
          <a:xfrm>
            <a:off x="445100" y="3715024"/>
            <a:ext cx="8389101" cy="83780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6"/>
          <p:cNvSpPr txBox="1"/>
          <p:nvPr>
            <p:ph idx="1" type="body"/>
          </p:nvPr>
        </p:nvSpPr>
        <p:spPr>
          <a:xfrm>
            <a:off x="311700" y="763625"/>
            <a:ext cx="8655900" cy="4194000"/>
          </a:xfrm>
          <a:prstGeom prst="rect">
            <a:avLst/>
          </a:prstGeom>
        </p:spPr>
        <p:txBody>
          <a:bodyPr anchorCtr="0" anchor="t" bIns="91425" lIns="91425" spcFirstLastPara="1" rIns="91425" wrap="square" tIns="91425">
            <a:normAutofit fontScale="85000" lnSpcReduction="20000"/>
          </a:bodyPr>
          <a:lstStyle/>
          <a:p>
            <a:pPr indent="-309562" lvl="0" marL="457200" rtl="0" algn="l">
              <a:spcBef>
                <a:spcPts val="0"/>
              </a:spcBef>
              <a:spcAft>
                <a:spcPts val="0"/>
              </a:spcAft>
              <a:buClr>
                <a:srgbClr val="000000"/>
              </a:buClr>
              <a:buSzPct val="100000"/>
              <a:buFont typeface="Verdana"/>
              <a:buChar char="●"/>
            </a:pPr>
            <a:r>
              <a:rPr b="1" lang="en" sz="1500">
                <a:solidFill>
                  <a:srgbClr val="000000"/>
                </a:solidFill>
                <a:latin typeface="Verdana"/>
                <a:ea typeface="Verdana"/>
                <a:cs typeface="Verdana"/>
                <a:sym typeface="Verdana"/>
              </a:rPr>
              <a:t>word_tokenize</a:t>
            </a:r>
            <a:r>
              <a:rPr lang="en" sz="1500">
                <a:solidFill>
                  <a:srgbClr val="000000"/>
                </a:solidFill>
                <a:latin typeface="Verdana"/>
                <a:ea typeface="Verdana"/>
                <a:cs typeface="Verdana"/>
                <a:sym typeface="Verdana"/>
              </a:rPr>
              <a:t> on the other hand is based on a </a:t>
            </a:r>
            <a:r>
              <a:rPr lang="en" sz="1500">
                <a:solidFill>
                  <a:schemeClr val="dk1"/>
                </a:solidFill>
                <a:latin typeface="Verdana"/>
                <a:ea typeface="Verdana"/>
                <a:cs typeface="Verdana"/>
                <a:sym typeface="Verdana"/>
              </a:rPr>
              <a:t>TreebankWordTokenizer</a:t>
            </a:r>
            <a:r>
              <a:rPr lang="en" sz="1500">
                <a:solidFill>
                  <a:srgbClr val="000000"/>
                </a:solidFill>
                <a:latin typeface="Verdana"/>
                <a:ea typeface="Verdana"/>
                <a:cs typeface="Verdana"/>
                <a:sym typeface="Verdana"/>
              </a:rPr>
              <a:t>.</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09562" lvl="0" marL="457200" rtl="0" algn="l">
              <a:spcBef>
                <a:spcPts val="0"/>
              </a:spcBef>
              <a:spcAft>
                <a:spcPts val="0"/>
              </a:spcAft>
              <a:buClr>
                <a:srgbClr val="000000"/>
              </a:buClr>
              <a:buSzPct val="100000"/>
              <a:buFont typeface="Verdana"/>
              <a:buChar char="●"/>
            </a:pPr>
            <a:r>
              <a:rPr b="1" lang="en" sz="1500">
                <a:solidFill>
                  <a:schemeClr val="dk2"/>
                </a:solidFill>
                <a:latin typeface="Verdana"/>
                <a:ea typeface="Verdana"/>
                <a:cs typeface="Verdana"/>
                <a:sym typeface="Verdana"/>
              </a:rPr>
              <a:t>WordPunctTokenizer</a:t>
            </a:r>
            <a:r>
              <a:rPr lang="en" sz="1500">
                <a:solidFill>
                  <a:srgbClr val="000000"/>
                </a:solidFill>
                <a:latin typeface="Verdana"/>
                <a:ea typeface="Verdana"/>
                <a:cs typeface="Verdana"/>
                <a:sym typeface="Verdana"/>
              </a:rPr>
              <a:t> will split pretty much at all special symbols and treat them as separate units. On the other hand, </a:t>
            </a:r>
            <a:r>
              <a:rPr b="1" lang="en" sz="1500">
                <a:solidFill>
                  <a:srgbClr val="000000"/>
                </a:solidFill>
                <a:latin typeface="Verdana"/>
                <a:ea typeface="Verdana"/>
                <a:cs typeface="Verdana"/>
                <a:sym typeface="Verdana"/>
              </a:rPr>
              <a:t>word_tokenize</a:t>
            </a:r>
            <a:r>
              <a:rPr lang="en" sz="1500">
                <a:solidFill>
                  <a:srgbClr val="000000"/>
                </a:solidFill>
                <a:latin typeface="Verdana"/>
                <a:ea typeface="Verdana"/>
                <a:cs typeface="Verdana"/>
                <a:sym typeface="Verdana"/>
              </a:rPr>
              <a:t> keeps things like </a:t>
            </a:r>
            <a:r>
              <a:rPr b="1" lang="en" sz="1500">
                <a:solidFill>
                  <a:srgbClr val="A31515"/>
                </a:solidFill>
                <a:latin typeface="Verdana"/>
                <a:ea typeface="Verdana"/>
                <a:cs typeface="Verdana"/>
                <a:sym typeface="Verdana"/>
              </a:rPr>
              <a:t>'m</a:t>
            </a:r>
            <a:r>
              <a:rPr lang="en" sz="1500">
                <a:solidFill>
                  <a:srgbClr val="000000"/>
                </a:solidFill>
                <a:latin typeface="Verdana"/>
                <a:ea typeface="Verdana"/>
                <a:cs typeface="Verdana"/>
                <a:sym typeface="Verdana"/>
              </a:rPr>
              <a:t> (from </a:t>
            </a:r>
            <a:r>
              <a:rPr lang="en" sz="1500">
                <a:solidFill>
                  <a:srgbClr val="A31515"/>
                </a:solidFill>
                <a:latin typeface="Verdana"/>
                <a:ea typeface="Verdana"/>
                <a:cs typeface="Verdana"/>
                <a:sym typeface="Verdana"/>
              </a:rPr>
              <a:t>I'm</a:t>
            </a:r>
            <a:r>
              <a:rPr lang="en" sz="1500">
                <a:solidFill>
                  <a:srgbClr val="000000"/>
                </a:solidFill>
                <a:latin typeface="Verdana"/>
                <a:ea typeface="Verdana"/>
                <a:cs typeface="Verdana"/>
                <a:sym typeface="Verdana"/>
              </a:rPr>
              <a:t>)</a:t>
            </a:r>
            <a:r>
              <a:rPr lang="en" sz="1500">
                <a:solidFill>
                  <a:srgbClr val="000000"/>
                </a:solidFill>
                <a:latin typeface="Verdana"/>
                <a:ea typeface="Verdana"/>
                <a:cs typeface="Verdana"/>
                <a:sym typeface="Verdana"/>
              </a:rPr>
              <a:t> together. Here is an </a:t>
            </a:r>
            <a:r>
              <a:rPr lang="en" sz="1500" u="sng">
                <a:solidFill>
                  <a:schemeClr val="hlink"/>
                </a:solidFill>
                <a:latin typeface="Verdana"/>
                <a:ea typeface="Verdana"/>
                <a:cs typeface="Verdana"/>
                <a:sym typeface="Verdana"/>
                <a:hlinkClick r:id="rId3"/>
              </a:rPr>
              <a:t>example</a:t>
            </a:r>
            <a:r>
              <a:rPr lang="en" sz="1500">
                <a:solidFill>
                  <a:srgbClr val="000000"/>
                </a:solidFill>
                <a:latin typeface="Verdana"/>
                <a:ea typeface="Verdana"/>
                <a:cs typeface="Verdana"/>
                <a:sym typeface="Verdana"/>
              </a:rPr>
              <a:t>:</a:t>
            </a: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r>
              <a:rPr lang="en" sz="1500">
                <a:solidFill>
                  <a:srgbClr val="000000"/>
                </a:solidFill>
                <a:latin typeface="Source Code Pro"/>
                <a:ea typeface="Source Code Pro"/>
                <a:cs typeface="Source Code Pro"/>
                <a:sym typeface="Source Code Pro"/>
              </a:rPr>
              <a:t>&gt;&gt;&gt; </a:t>
            </a:r>
            <a:r>
              <a:rPr b="1" i="1" lang="en" sz="1500">
                <a:solidFill>
                  <a:srgbClr val="000000"/>
                </a:solidFill>
                <a:latin typeface="Source Code Pro"/>
                <a:ea typeface="Source Code Pro"/>
                <a:cs typeface="Source Code Pro"/>
                <a:sym typeface="Source Code Pro"/>
              </a:rPr>
              <a:t>sent = "I'm a dog and it's great! You're cool and Sandy's book is big. Don't tell her, you'll regret it! 'Hey', she'll say!"</a:t>
            </a:r>
            <a:endParaRPr b="1" i="1" sz="1500">
              <a:solidFill>
                <a:srgbClr val="000000"/>
              </a:solidFill>
              <a:latin typeface="Source Code Pro"/>
              <a:ea typeface="Source Code Pro"/>
              <a:cs typeface="Source Code Pro"/>
              <a:sym typeface="Source Code Pro"/>
            </a:endParaRPr>
          </a:p>
          <a:p>
            <a:pPr indent="0" lvl="0" marL="457200" rtl="0" algn="l">
              <a:spcBef>
                <a:spcPts val="1200"/>
              </a:spcBef>
              <a:spcAft>
                <a:spcPts val="0"/>
              </a:spcAft>
              <a:buNone/>
            </a:pPr>
            <a:r>
              <a:rPr lang="en" sz="1500">
                <a:solidFill>
                  <a:srgbClr val="000000"/>
                </a:solidFill>
                <a:latin typeface="Source Code Pro"/>
                <a:ea typeface="Source Code Pro"/>
                <a:cs typeface="Source Code Pro"/>
                <a:sym typeface="Source Code Pro"/>
              </a:rPr>
              <a:t>&gt;&gt;&gt; </a:t>
            </a:r>
            <a:r>
              <a:rPr b="1" i="1" lang="en" sz="1500">
                <a:solidFill>
                  <a:srgbClr val="000000"/>
                </a:solidFill>
                <a:latin typeface="Source Code Pro"/>
                <a:ea typeface="Source Code Pro"/>
                <a:cs typeface="Source Code Pro"/>
                <a:sym typeface="Source Code Pro"/>
              </a:rPr>
              <a:t>word_tokenize(sent)</a:t>
            </a:r>
            <a:endParaRPr b="1" i="1" sz="1500">
              <a:solidFill>
                <a:srgbClr val="000000"/>
              </a:solidFill>
              <a:latin typeface="Source Code Pro"/>
              <a:ea typeface="Source Code Pro"/>
              <a:cs typeface="Source Code Pro"/>
              <a:sym typeface="Source Code Pro"/>
            </a:endParaRPr>
          </a:p>
          <a:p>
            <a:pPr indent="0" lvl="0" marL="457200" rtl="0" algn="l">
              <a:spcBef>
                <a:spcPts val="1200"/>
              </a:spcBef>
              <a:spcAft>
                <a:spcPts val="0"/>
              </a:spcAft>
              <a:buNone/>
            </a:pPr>
            <a:r>
              <a:rPr lang="en" sz="1500">
                <a:solidFill>
                  <a:srgbClr val="000000"/>
                </a:solidFill>
                <a:latin typeface="Source Code Pro"/>
                <a:ea typeface="Source Code Pro"/>
                <a:cs typeface="Source Code Pro"/>
                <a:sym typeface="Source Code Pro"/>
              </a:rPr>
              <a:t>['I', "'m", 'a', 'dog', 'and', 'it', "'s", 'great', '!', 'You', "'re",  'cool', 'and', 'Sandy', "'s", 'book', 'is', 'big', '.', 'Do', "n't", 'tell', 'her', ',', 'you', "'ll", 'regret', 'it', '!', "'Hey", "'", ',', 'she', "'ll", 'say', '!']</a:t>
            </a:r>
            <a:endParaRPr sz="1500">
              <a:solidFill>
                <a:srgbClr val="000000"/>
              </a:solidFill>
              <a:latin typeface="Source Code Pro"/>
              <a:ea typeface="Source Code Pro"/>
              <a:cs typeface="Source Code Pro"/>
              <a:sym typeface="Source Code Pro"/>
            </a:endParaRPr>
          </a:p>
          <a:p>
            <a:pPr indent="0" lvl="0" marL="457200" rtl="0" algn="l">
              <a:spcBef>
                <a:spcPts val="1200"/>
              </a:spcBef>
              <a:spcAft>
                <a:spcPts val="0"/>
              </a:spcAft>
              <a:buNone/>
            </a:pPr>
            <a:r>
              <a:rPr lang="en" sz="1500">
                <a:solidFill>
                  <a:srgbClr val="000000"/>
                </a:solidFill>
                <a:latin typeface="Source Code Pro"/>
                <a:ea typeface="Source Code Pro"/>
                <a:cs typeface="Source Code Pro"/>
                <a:sym typeface="Source Code Pro"/>
              </a:rPr>
              <a:t>&gt;&gt;&gt; </a:t>
            </a:r>
            <a:r>
              <a:rPr b="1" i="1" lang="en" sz="1500">
                <a:solidFill>
                  <a:srgbClr val="000000"/>
                </a:solidFill>
                <a:latin typeface="Source Code Pro"/>
                <a:ea typeface="Source Code Pro"/>
                <a:cs typeface="Source Code Pro"/>
                <a:sym typeface="Source Code Pro"/>
              </a:rPr>
              <a:t>wordpunct_tokenize(sent)</a:t>
            </a:r>
            <a:endParaRPr b="1" i="1" sz="1500">
              <a:solidFill>
                <a:srgbClr val="000000"/>
              </a:solidFill>
              <a:latin typeface="Source Code Pro"/>
              <a:ea typeface="Source Code Pro"/>
              <a:cs typeface="Source Code Pro"/>
              <a:sym typeface="Source Code Pro"/>
            </a:endParaRPr>
          </a:p>
          <a:p>
            <a:pPr indent="0" lvl="0" marL="457200" rtl="0" algn="l">
              <a:spcBef>
                <a:spcPts val="1200"/>
              </a:spcBef>
              <a:spcAft>
                <a:spcPts val="1200"/>
              </a:spcAft>
              <a:buNone/>
            </a:pPr>
            <a:r>
              <a:rPr lang="en" sz="1500">
                <a:solidFill>
                  <a:srgbClr val="000000"/>
                </a:solidFill>
                <a:latin typeface="Source Code Pro"/>
                <a:ea typeface="Source Code Pro"/>
                <a:cs typeface="Source Code Pro"/>
                <a:sym typeface="Source Code Pro"/>
              </a:rPr>
              <a:t>['I', "'", 'm', 'a', 'dog', 'and', 'it', "'", 's', 'great', '!', 'You', "'", 're', 'cool', 'and', 'Sandy', "'", 's', 'book', 'is', 'big', '.', 'Don', "'", 't', 'tell', 'her', ',', 'you', "'", 'll', 'regret', 'it', '!', "'",  'Hey', "',", 'she', "'", 'll', 'say', '!']</a:t>
            </a:r>
            <a:endParaRPr sz="1500">
              <a:solidFill>
                <a:srgbClr val="000000"/>
              </a:solidFill>
              <a:latin typeface="Source Code Pro"/>
              <a:ea typeface="Source Code Pro"/>
              <a:cs typeface="Source Code Pro"/>
              <a:sym typeface="Source Code Pro"/>
            </a:endParaRPr>
          </a:p>
        </p:txBody>
      </p:sp>
      <p:sp>
        <p:nvSpPr>
          <p:cNvPr id="301" name="Google Shape;301;p46"/>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NLTK Tokenizers - </a:t>
            </a:r>
            <a:r>
              <a:rPr lang="en">
                <a:solidFill>
                  <a:srgbClr val="980000"/>
                </a:solidFill>
                <a:latin typeface="Verdana"/>
                <a:ea typeface="Verdana"/>
                <a:cs typeface="Verdana"/>
                <a:sym typeface="Verdana"/>
              </a:rPr>
              <a:t>word_tokenize</a:t>
            </a:r>
            <a:endParaRPr>
              <a:solidFill>
                <a:srgbClr val="980000"/>
              </a:solidFill>
              <a:latin typeface="Verdana"/>
              <a:ea typeface="Verdana"/>
              <a:cs typeface="Verdana"/>
              <a:sym typeface="Verdan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7"/>
          <p:cNvSpPr txBox="1"/>
          <p:nvPr>
            <p:ph idx="1" type="body"/>
          </p:nvPr>
        </p:nvSpPr>
        <p:spPr>
          <a:xfrm>
            <a:off x="311700" y="763625"/>
            <a:ext cx="8655900" cy="41940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Font typeface="Source Code Pro"/>
              <a:buChar char="●"/>
            </a:pPr>
            <a:r>
              <a:rPr lang="en" sz="1500">
                <a:solidFill>
                  <a:srgbClr val="000000"/>
                </a:solidFill>
                <a:latin typeface="Verdana"/>
                <a:ea typeface="Verdana"/>
                <a:cs typeface="Verdana"/>
                <a:sym typeface="Verdana"/>
              </a:rPr>
              <a:t>It is used to </a:t>
            </a:r>
            <a:r>
              <a:rPr lang="en" sz="1500">
                <a:solidFill>
                  <a:srgbClr val="000000"/>
                </a:solidFill>
                <a:latin typeface="Verdana"/>
                <a:ea typeface="Verdana"/>
                <a:cs typeface="Verdana"/>
                <a:sym typeface="Verdana"/>
              </a:rPr>
              <a:t>separate</a:t>
            </a:r>
            <a:r>
              <a:rPr lang="en" sz="1500">
                <a:solidFill>
                  <a:srgbClr val="000000"/>
                </a:solidFill>
                <a:latin typeface="Verdana"/>
                <a:ea typeface="Verdana"/>
                <a:cs typeface="Verdana"/>
                <a:sym typeface="Verdana"/>
              </a:rPr>
              <a:t> sentences from a paragraph or a document (in case of needed).</a:t>
            </a:r>
            <a:endParaRPr sz="1500">
              <a:solidFill>
                <a:srgbClr val="000000"/>
              </a:solidFill>
              <a:latin typeface="Source Code Pro"/>
              <a:ea typeface="Source Code Pro"/>
              <a:cs typeface="Source Code Pro"/>
              <a:sym typeface="Source Code Pro"/>
            </a:endParaRPr>
          </a:p>
        </p:txBody>
      </p:sp>
      <p:sp>
        <p:nvSpPr>
          <p:cNvPr id="307" name="Google Shape;307;p47"/>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NLTK Tokenizers - sent_tokenize</a:t>
            </a:r>
            <a:endParaRPr>
              <a:solidFill>
                <a:srgbClr val="980000"/>
              </a:solidFill>
              <a:latin typeface="Verdana"/>
              <a:ea typeface="Verdana"/>
              <a:cs typeface="Verdana"/>
              <a:sym typeface="Verdana"/>
            </a:endParaRPr>
          </a:p>
        </p:txBody>
      </p:sp>
      <p:pic>
        <p:nvPicPr>
          <p:cNvPr id="308" name="Google Shape;308;p47"/>
          <p:cNvPicPr preferRelativeResize="0"/>
          <p:nvPr/>
        </p:nvPicPr>
        <p:blipFill>
          <a:blip r:embed="rId3">
            <a:alphaModFix/>
          </a:blip>
          <a:stretch>
            <a:fillRect/>
          </a:stretch>
        </p:blipFill>
        <p:spPr>
          <a:xfrm>
            <a:off x="434000" y="2138925"/>
            <a:ext cx="8312700" cy="12120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8"/>
          <p:cNvSpPr txBox="1"/>
          <p:nvPr>
            <p:ph idx="1" type="body"/>
          </p:nvPr>
        </p:nvSpPr>
        <p:spPr>
          <a:xfrm>
            <a:off x="311700" y="763625"/>
            <a:ext cx="8655900" cy="419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600">
                <a:solidFill>
                  <a:srgbClr val="000000"/>
                </a:solidFill>
                <a:latin typeface="Verdana"/>
                <a:ea typeface="Verdana"/>
                <a:cs typeface="Verdana"/>
                <a:sym typeface="Verdana"/>
              </a:rPr>
              <a:t>Remember the sklearn’s default tokenizer</a:t>
            </a:r>
            <a:endParaRPr sz="1600">
              <a:solidFill>
                <a:srgbClr val="000000"/>
              </a:solidFill>
              <a:latin typeface="Verdana"/>
              <a:ea typeface="Verdana"/>
              <a:cs typeface="Verdana"/>
              <a:sym typeface="Verdana"/>
            </a:endParaRPr>
          </a:p>
        </p:txBody>
      </p:sp>
      <p:sp>
        <p:nvSpPr>
          <p:cNvPr id="314" name="Google Shape;314;p48"/>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Sklearn Default Tokenizer</a:t>
            </a:r>
            <a:endParaRPr>
              <a:solidFill>
                <a:srgbClr val="980000"/>
              </a:solidFill>
              <a:latin typeface="Verdana"/>
              <a:ea typeface="Verdana"/>
              <a:cs typeface="Verdana"/>
              <a:sym typeface="Verdana"/>
            </a:endParaRPr>
          </a:p>
        </p:txBody>
      </p:sp>
      <p:pic>
        <p:nvPicPr>
          <p:cNvPr id="315" name="Google Shape;315;p48"/>
          <p:cNvPicPr preferRelativeResize="0"/>
          <p:nvPr/>
        </p:nvPicPr>
        <p:blipFill>
          <a:blip r:embed="rId3">
            <a:alphaModFix/>
          </a:blip>
          <a:stretch>
            <a:fillRect/>
          </a:stretch>
        </p:blipFill>
        <p:spPr>
          <a:xfrm>
            <a:off x="67650" y="1484526"/>
            <a:ext cx="7316201" cy="1840375"/>
          </a:xfrm>
          <a:prstGeom prst="rect">
            <a:avLst/>
          </a:prstGeom>
          <a:noFill/>
          <a:ln>
            <a:noFill/>
          </a:ln>
        </p:spPr>
      </p:pic>
      <p:pic>
        <p:nvPicPr>
          <p:cNvPr id="316" name="Google Shape;316;p48"/>
          <p:cNvPicPr preferRelativeResize="0"/>
          <p:nvPr/>
        </p:nvPicPr>
        <p:blipFill>
          <a:blip r:embed="rId4">
            <a:alphaModFix/>
          </a:blip>
          <a:stretch>
            <a:fillRect/>
          </a:stretch>
        </p:blipFill>
        <p:spPr>
          <a:xfrm>
            <a:off x="7453250" y="1072300"/>
            <a:ext cx="1693975" cy="3897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1000"/>
                                        <p:tgtEl>
                                          <p:spTgt spid="3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9"/>
          <p:cNvSpPr txBox="1"/>
          <p:nvPr>
            <p:ph idx="1" type="body"/>
          </p:nvPr>
        </p:nvSpPr>
        <p:spPr>
          <a:xfrm>
            <a:off x="311700" y="763625"/>
            <a:ext cx="8655900" cy="419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sz="1600">
              <a:solidFill>
                <a:srgbClr val="000000"/>
              </a:solidFill>
              <a:latin typeface="Verdana"/>
              <a:ea typeface="Verdana"/>
              <a:cs typeface="Verdana"/>
              <a:sym typeface="Verdana"/>
            </a:endParaRPr>
          </a:p>
        </p:txBody>
      </p:sp>
      <p:sp>
        <p:nvSpPr>
          <p:cNvPr id="322" name="Google Shape;322;p49"/>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Using</a:t>
            </a:r>
            <a:r>
              <a:rPr lang="en">
                <a:solidFill>
                  <a:srgbClr val="980000"/>
                </a:solidFill>
                <a:latin typeface="Verdana"/>
                <a:ea typeface="Verdana"/>
                <a:cs typeface="Verdana"/>
                <a:sym typeface="Verdana"/>
              </a:rPr>
              <a:t> a Custom Tokenizer with Sklearn</a:t>
            </a:r>
            <a:endParaRPr>
              <a:solidFill>
                <a:srgbClr val="980000"/>
              </a:solidFill>
              <a:latin typeface="Verdana"/>
              <a:ea typeface="Verdana"/>
              <a:cs typeface="Verdana"/>
              <a:sym typeface="Verdana"/>
            </a:endParaRPr>
          </a:p>
        </p:txBody>
      </p:sp>
      <p:pic>
        <p:nvPicPr>
          <p:cNvPr id="323" name="Google Shape;323;p49"/>
          <p:cNvPicPr preferRelativeResize="0"/>
          <p:nvPr/>
        </p:nvPicPr>
        <p:blipFill>
          <a:blip r:embed="rId3">
            <a:alphaModFix/>
          </a:blip>
          <a:stretch>
            <a:fillRect/>
          </a:stretch>
        </p:blipFill>
        <p:spPr>
          <a:xfrm>
            <a:off x="83100" y="1642325"/>
            <a:ext cx="6912602" cy="1905450"/>
          </a:xfrm>
          <a:prstGeom prst="rect">
            <a:avLst/>
          </a:prstGeom>
          <a:noFill/>
          <a:ln>
            <a:noFill/>
          </a:ln>
        </p:spPr>
      </p:pic>
      <p:pic>
        <p:nvPicPr>
          <p:cNvPr id="324" name="Google Shape;324;p49"/>
          <p:cNvPicPr preferRelativeResize="0"/>
          <p:nvPr/>
        </p:nvPicPr>
        <p:blipFill>
          <a:blip r:embed="rId4">
            <a:alphaModFix/>
          </a:blip>
          <a:stretch>
            <a:fillRect/>
          </a:stretch>
        </p:blipFill>
        <p:spPr>
          <a:xfrm>
            <a:off x="7374152" y="833600"/>
            <a:ext cx="1517400" cy="42463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1000"/>
                                        <p:tgtEl>
                                          <p:spTgt spid="3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0"/>
          <p:cNvSpPr txBox="1"/>
          <p:nvPr>
            <p:ph idx="1" type="body"/>
          </p:nvPr>
        </p:nvSpPr>
        <p:spPr>
          <a:xfrm>
            <a:off x="311700" y="763625"/>
            <a:ext cx="8655900" cy="419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600">
                <a:solidFill>
                  <a:srgbClr val="000000"/>
                </a:solidFill>
                <a:latin typeface="Verdana"/>
                <a:ea typeface="Verdana"/>
                <a:cs typeface="Verdana"/>
                <a:sym typeface="Verdana"/>
              </a:rPr>
              <a:t>Let’s filter short tokens whose length is smaller than 3.</a:t>
            </a:r>
            <a:endParaRPr sz="1600">
              <a:solidFill>
                <a:srgbClr val="000000"/>
              </a:solidFill>
              <a:latin typeface="Verdana"/>
              <a:ea typeface="Verdana"/>
              <a:cs typeface="Verdana"/>
              <a:sym typeface="Verdana"/>
            </a:endParaRPr>
          </a:p>
        </p:txBody>
      </p:sp>
      <p:sp>
        <p:nvSpPr>
          <p:cNvPr id="330" name="Google Shape;330;p50"/>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Using a Custom Tokenizer with Sklearn</a:t>
            </a:r>
            <a:endParaRPr>
              <a:solidFill>
                <a:srgbClr val="980000"/>
              </a:solidFill>
              <a:latin typeface="Verdana"/>
              <a:ea typeface="Verdana"/>
              <a:cs typeface="Verdana"/>
              <a:sym typeface="Verdana"/>
            </a:endParaRPr>
          </a:p>
        </p:txBody>
      </p:sp>
      <p:pic>
        <p:nvPicPr>
          <p:cNvPr id="331" name="Google Shape;331;p50"/>
          <p:cNvPicPr preferRelativeResize="0"/>
          <p:nvPr/>
        </p:nvPicPr>
        <p:blipFill>
          <a:blip r:embed="rId3">
            <a:alphaModFix/>
          </a:blip>
          <a:stretch>
            <a:fillRect/>
          </a:stretch>
        </p:blipFill>
        <p:spPr>
          <a:xfrm>
            <a:off x="174400" y="1594301"/>
            <a:ext cx="7029127" cy="3007475"/>
          </a:xfrm>
          <a:prstGeom prst="rect">
            <a:avLst/>
          </a:prstGeom>
          <a:noFill/>
          <a:ln>
            <a:noFill/>
          </a:ln>
        </p:spPr>
      </p:pic>
      <p:pic>
        <p:nvPicPr>
          <p:cNvPr id="332" name="Google Shape;332;p50"/>
          <p:cNvPicPr preferRelativeResize="0"/>
          <p:nvPr/>
        </p:nvPicPr>
        <p:blipFill>
          <a:blip r:embed="rId4">
            <a:alphaModFix/>
          </a:blip>
          <a:stretch>
            <a:fillRect/>
          </a:stretch>
        </p:blipFill>
        <p:spPr>
          <a:xfrm>
            <a:off x="7580925" y="1821875"/>
            <a:ext cx="1391825" cy="2273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1000"/>
                                        <p:tgtEl>
                                          <p:spTgt spid="3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1"/>
          <p:cNvSpPr txBox="1"/>
          <p:nvPr>
            <p:ph idx="1" type="body"/>
          </p:nvPr>
        </p:nvSpPr>
        <p:spPr>
          <a:xfrm>
            <a:off x="311700" y="763625"/>
            <a:ext cx="8655900" cy="41940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Stop words are common words in any language that occur with a high frequency but carry much less substantive information about the meaning of a phrase.</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Some examples: </a:t>
            </a:r>
            <a:r>
              <a:rPr b="1" lang="en" sz="1500">
                <a:solidFill>
                  <a:schemeClr val="accent4"/>
                </a:solidFill>
                <a:latin typeface="Verdana"/>
                <a:ea typeface="Verdana"/>
                <a:cs typeface="Verdana"/>
                <a:sym typeface="Verdana"/>
              </a:rPr>
              <a:t>of, an, a, the, this, and, or</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Generally, stop words are tend to be removed from the data. Even though the words themselves carry little information, the stop words can still provide important relational information as part of an </a:t>
            </a:r>
            <a:r>
              <a:rPr b="1" lang="en" sz="1500">
                <a:solidFill>
                  <a:schemeClr val="accent4"/>
                </a:solidFill>
                <a:latin typeface="Verdana"/>
                <a:ea typeface="Verdana"/>
                <a:cs typeface="Verdana"/>
                <a:sym typeface="Verdana"/>
              </a:rPr>
              <a:t>n-gram</a:t>
            </a:r>
            <a:r>
              <a:rPr lang="en" sz="1500">
                <a:solidFill>
                  <a:srgbClr val="000000"/>
                </a:solidFill>
                <a:latin typeface="Verdana"/>
                <a:ea typeface="Verdana"/>
                <a:cs typeface="Verdana"/>
                <a:sym typeface="Verdana"/>
              </a:rPr>
              <a:t>. For example,</a:t>
            </a:r>
            <a:br>
              <a:rPr lang="en" sz="1500">
                <a:solidFill>
                  <a:srgbClr val="000000"/>
                </a:solidFill>
                <a:latin typeface="Verdana"/>
                <a:ea typeface="Verdana"/>
                <a:cs typeface="Verdana"/>
                <a:sym typeface="Verdana"/>
              </a:rPr>
            </a:br>
            <a:br>
              <a:rPr lang="en" sz="1500">
                <a:solidFill>
                  <a:srgbClr val="000000"/>
                </a:solidFill>
                <a:latin typeface="Source Code Pro"/>
                <a:ea typeface="Source Code Pro"/>
                <a:cs typeface="Source Code Pro"/>
                <a:sym typeface="Source Code Pro"/>
              </a:rPr>
            </a:br>
            <a:r>
              <a:rPr lang="en" sz="1500">
                <a:solidFill>
                  <a:srgbClr val="000000"/>
                </a:solidFill>
                <a:latin typeface="Source Code Pro"/>
                <a:ea typeface="Source Code Pro"/>
                <a:cs typeface="Source Code Pro"/>
                <a:sym typeface="Source Code Pro"/>
              </a:rPr>
              <a:t>“Mark </a:t>
            </a:r>
            <a:r>
              <a:rPr lang="en" sz="1500">
                <a:solidFill>
                  <a:srgbClr val="A31515"/>
                </a:solidFill>
                <a:latin typeface="Source Code Pro"/>
                <a:ea typeface="Source Code Pro"/>
                <a:cs typeface="Source Code Pro"/>
                <a:sym typeface="Source Code Pro"/>
              </a:rPr>
              <a:t>reported to the CEO</a:t>
            </a:r>
            <a:r>
              <a:rPr lang="en" sz="1500">
                <a:solidFill>
                  <a:srgbClr val="000000"/>
                </a:solidFill>
                <a:latin typeface="Source Code Pro"/>
                <a:ea typeface="Source Code Pro"/>
                <a:cs typeface="Source Code Pro"/>
                <a:sym typeface="Source Code Pro"/>
              </a:rPr>
              <a:t>”</a:t>
            </a:r>
            <a:endParaRPr sz="1500">
              <a:solidFill>
                <a:srgbClr val="000000"/>
              </a:solidFill>
              <a:latin typeface="Source Code Pro"/>
              <a:ea typeface="Source Code Pro"/>
              <a:cs typeface="Source Code Pro"/>
              <a:sym typeface="Source Code Pro"/>
            </a:endParaRPr>
          </a:p>
          <a:p>
            <a:pPr indent="0" lvl="0" marL="457200" rtl="0" algn="l">
              <a:spcBef>
                <a:spcPts val="1200"/>
              </a:spcBef>
              <a:spcAft>
                <a:spcPts val="0"/>
              </a:spcAft>
              <a:buNone/>
            </a:pPr>
            <a:r>
              <a:rPr lang="en" sz="1500">
                <a:solidFill>
                  <a:srgbClr val="000000"/>
                </a:solidFill>
                <a:latin typeface="Source Code Pro"/>
                <a:ea typeface="Source Code Pro"/>
                <a:cs typeface="Source Code Pro"/>
                <a:sym typeface="Source Code Pro"/>
              </a:rPr>
              <a:t>“Suzanne </a:t>
            </a:r>
            <a:r>
              <a:rPr lang="en" sz="1500">
                <a:solidFill>
                  <a:srgbClr val="A31515"/>
                </a:solidFill>
                <a:latin typeface="Source Code Pro"/>
                <a:ea typeface="Source Code Pro"/>
                <a:cs typeface="Source Code Pro"/>
                <a:sym typeface="Source Code Pro"/>
              </a:rPr>
              <a:t>reported as the CEO</a:t>
            </a:r>
            <a:r>
              <a:rPr lang="en" sz="1500">
                <a:solidFill>
                  <a:srgbClr val="000000"/>
                </a:solidFill>
                <a:latin typeface="Source Code Pro"/>
                <a:ea typeface="Source Code Pro"/>
                <a:cs typeface="Source Code Pro"/>
                <a:sym typeface="Source Code Pro"/>
              </a:rPr>
              <a:t> to the board”</a:t>
            </a:r>
            <a:endParaRPr sz="1500">
              <a:solidFill>
                <a:srgbClr val="000000"/>
              </a:solidFill>
              <a:latin typeface="Source Code Pro"/>
              <a:ea typeface="Source Code Pro"/>
              <a:cs typeface="Source Code Pro"/>
              <a:sym typeface="Source Code Pro"/>
            </a:endParaRPr>
          </a:p>
          <a:p>
            <a:pPr indent="-323850" lvl="0" marL="457200" rtl="0" algn="l">
              <a:spcBef>
                <a:spcPts val="1200"/>
              </a:spcBef>
              <a:spcAft>
                <a:spcPts val="0"/>
              </a:spcAft>
              <a:buClr>
                <a:srgbClr val="000000"/>
              </a:buClr>
              <a:buSzPts val="1500"/>
              <a:buFont typeface="Verdana"/>
              <a:buChar char="●"/>
            </a:pPr>
            <a:r>
              <a:rPr lang="en" sz="1500">
                <a:solidFill>
                  <a:schemeClr val="dk2"/>
                </a:solidFill>
                <a:latin typeface="Source Code Pro"/>
                <a:ea typeface="Source Code Pro"/>
                <a:cs typeface="Source Code Pro"/>
                <a:sym typeface="Source Code Pro"/>
              </a:rPr>
              <a:t>“</a:t>
            </a:r>
            <a:r>
              <a:rPr lang="en" sz="1500">
                <a:solidFill>
                  <a:schemeClr val="dk2"/>
                </a:solidFill>
                <a:latin typeface="Source Code Pro"/>
                <a:ea typeface="Source Code Pro"/>
                <a:cs typeface="Source Code Pro"/>
                <a:sym typeface="Source Code Pro"/>
              </a:rPr>
              <a:t>reported to the CEO” vs “reported as the CEO”</a:t>
            </a:r>
            <a:r>
              <a:rPr lang="en" sz="1500">
                <a:solidFill>
                  <a:srgbClr val="000000"/>
                </a:solidFill>
                <a:latin typeface="Verdana"/>
                <a:ea typeface="Verdana"/>
                <a:cs typeface="Verdana"/>
                <a:sym typeface="Verdana"/>
              </a:rPr>
              <a:t> are two different concepts that indicates the hierarchy. If we remove stop words, then we lose this information. However, we need to use n-grams to catch this information.</a:t>
            </a:r>
            <a:endParaRPr sz="1500">
              <a:solidFill>
                <a:srgbClr val="000000"/>
              </a:solidFill>
              <a:latin typeface="Verdana"/>
              <a:ea typeface="Verdana"/>
              <a:cs typeface="Verdana"/>
              <a:sym typeface="Verdana"/>
            </a:endParaRPr>
          </a:p>
        </p:txBody>
      </p:sp>
      <p:sp>
        <p:nvSpPr>
          <p:cNvPr id="338" name="Google Shape;338;p51"/>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Stop Words</a:t>
            </a:r>
            <a:endParaRPr>
              <a:solidFill>
                <a:srgbClr val="980000"/>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0" st="0"/>
                                            </p:txEl>
                                          </p:spTgt>
                                        </p:tgtEl>
                                        <p:attrNameLst>
                                          <p:attrName>style.visibility</p:attrName>
                                        </p:attrNameLst>
                                      </p:cBhvr>
                                      <p:to>
                                        <p:strVal val="visible"/>
                                      </p:to>
                                    </p:set>
                                    <p:animEffect filter="fade" transition="in">
                                      <p:cBhvr>
                                        <p:cTn dur="1000"/>
                                        <p:tgtEl>
                                          <p:spTgt spid="3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1" st="1"/>
                                            </p:txEl>
                                          </p:spTgt>
                                        </p:tgtEl>
                                        <p:attrNameLst>
                                          <p:attrName>style.visibility</p:attrName>
                                        </p:attrNameLst>
                                      </p:cBhvr>
                                      <p:to>
                                        <p:strVal val="visible"/>
                                      </p:to>
                                    </p:set>
                                    <p:animEffect filter="fade" transition="in">
                                      <p:cBhvr>
                                        <p:cTn dur="1000"/>
                                        <p:tgtEl>
                                          <p:spTgt spid="33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2" st="2"/>
                                            </p:txEl>
                                          </p:spTgt>
                                        </p:tgtEl>
                                        <p:attrNameLst>
                                          <p:attrName>style.visibility</p:attrName>
                                        </p:attrNameLst>
                                      </p:cBhvr>
                                      <p:to>
                                        <p:strVal val="visible"/>
                                      </p:to>
                                    </p:set>
                                    <p:animEffect filter="fade" transition="in">
                                      <p:cBhvr>
                                        <p:cTn dur="1000"/>
                                        <p:tgtEl>
                                          <p:spTgt spid="33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3" st="3"/>
                                            </p:txEl>
                                          </p:spTgt>
                                        </p:tgtEl>
                                        <p:attrNameLst>
                                          <p:attrName>style.visibility</p:attrName>
                                        </p:attrNameLst>
                                      </p:cBhvr>
                                      <p:to>
                                        <p:strVal val="visible"/>
                                      </p:to>
                                    </p:set>
                                    <p:animEffect filter="fade" transition="in">
                                      <p:cBhvr>
                                        <p:cTn dur="1000"/>
                                        <p:tgtEl>
                                          <p:spTgt spid="33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4" st="4"/>
                                            </p:txEl>
                                          </p:spTgt>
                                        </p:tgtEl>
                                        <p:attrNameLst>
                                          <p:attrName>style.visibility</p:attrName>
                                        </p:attrNameLst>
                                      </p:cBhvr>
                                      <p:to>
                                        <p:strVal val="visible"/>
                                      </p:to>
                                    </p:set>
                                    <p:animEffect filter="fade" transition="in">
                                      <p:cBhvr>
                                        <p:cTn dur="1000"/>
                                        <p:tgtEl>
                                          <p:spTgt spid="337">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body"/>
          </p:nvPr>
        </p:nvSpPr>
        <p:spPr>
          <a:xfrm>
            <a:off x="311700" y="763625"/>
            <a:ext cx="8655900" cy="4380000"/>
          </a:xfrm>
          <a:prstGeom prst="rect">
            <a:avLst/>
          </a:prstGeom>
        </p:spPr>
        <p:txBody>
          <a:bodyPr anchorCtr="0" anchor="t" bIns="91425" lIns="91425" spcFirstLastPara="1" rIns="91425" wrap="square" tIns="91425">
            <a:normAutofit lnSpcReduction="20000"/>
          </a:bodyPr>
          <a:lstStyle/>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If you worry about the </a:t>
            </a:r>
            <a:r>
              <a:rPr b="1" lang="en" sz="1500">
                <a:solidFill>
                  <a:schemeClr val="dk1"/>
                </a:solidFill>
                <a:latin typeface="Verdana"/>
                <a:ea typeface="Verdana"/>
                <a:cs typeface="Verdana"/>
                <a:sym typeface="Verdana"/>
              </a:rPr>
              <a:t>complexity</a:t>
            </a:r>
            <a:r>
              <a:rPr lang="en" sz="1500">
                <a:solidFill>
                  <a:srgbClr val="000000"/>
                </a:solidFill>
                <a:latin typeface="Verdana"/>
                <a:ea typeface="Verdana"/>
                <a:cs typeface="Verdana"/>
                <a:sym typeface="Verdana"/>
              </a:rPr>
              <a:t> of the model due to the huge dimension size, </a:t>
            </a:r>
            <a:r>
              <a:rPr b="1" lang="en" sz="1500">
                <a:solidFill>
                  <a:schemeClr val="accent4"/>
                </a:solidFill>
                <a:latin typeface="Verdana"/>
                <a:ea typeface="Verdana"/>
                <a:cs typeface="Verdana"/>
                <a:sym typeface="Verdana"/>
              </a:rPr>
              <a:t>stop words will not increase the dimension</a:t>
            </a:r>
            <a:r>
              <a:rPr lang="en" sz="1500">
                <a:solidFill>
                  <a:srgbClr val="000000"/>
                </a:solidFill>
                <a:latin typeface="Verdana"/>
                <a:ea typeface="Verdana"/>
                <a:cs typeface="Verdana"/>
                <a:sym typeface="Verdana"/>
              </a:rPr>
              <a:t> that much.</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A typical stop word list has only around 100 words. But a vocabulary size of 20</a:t>
            </a:r>
            <a:r>
              <a:rPr lang="en" sz="1500">
                <a:solidFill>
                  <a:srgbClr val="000000"/>
                </a:solidFill>
                <a:latin typeface="Verdana"/>
                <a:ea typeface="Verdana"/>
                <a:cs typeface="Verdana"/>
                <a:sym typeface="Verdana"/>
              </a:rPr>
              <a:t>,</a:t>
            </a:r>
            <a:r>
              <a:rPr lang="en" sz="1500">
                <a:solidFill>
                  <a:srgbClr val="000000"/>
                </a:solidFill>
                <a:latin typeface="Verdana"/>
                <a:ea typeface="Verdana"/>
                <a:cs typeface="Verdana"/>
                <a:sym typeface="Verdana"/>
              </a:rPr>
              <a:t>000 words would be required to keep track of 95% of the words seen in a large corpus of tweets, blogs, and news articles (</a:t>
            </a:r>
            <a:r>
              <a:rPr lang="en" sz="1500" u="sng">
                <a:solidFill>
                  <a:schemeClr val="hlink"/>
                </a:solidFill>
                <a:latin typeface="Verdana"/>
                <a:ea typeface="Verdana"/>
                <a:cs typeface="Verdana"/>
                <a:sym typeface="Verdana"/>
                <a:hlinkClick r:id="rId3"/>
              </a:rPr>
              <a:t>source</a:t>
            </a:r>
            <a:r>
              <a:rPr lang="en" sz="1500">
                <a:solidFill>
                  <a:srgbClr val="000000"/>
                </a:solidFill>
                <a:latin typeface="Verdana"/>
                <a:ea typeface="Verdana"/>
                <a:cs typeface="Verdana"/>
                <a:sym typeface="Verdana"/>
              </a:rPr>
              <a:t>).</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Therefore, removing stop words will not help you to speed up your algorithm and escaping from overfitting. Additionally, if you </a:t>
            </a:r>
            <a:r>
              <a:rPr lang="en" sz="1500">
                <a:solidFill>
                  <a:srgbClr val="000000"/>
                </a:solidFill>
                <a:latin typeface="Verdana"/>
                <a:ea typeface="Verdana"/>
                <a:cs typeface="Verdana"/>
                <a:sym typeface="Verdana"/>
              </a:rPr>
              <a:t>remove</a:t>
            </a:r>
            <a:r>
              <a:rPr lang="en" sz="1500">
                <a:solidFill>
                  <a:srgbClr val="000000"/>
                </a:solidFill>
                <a:latin typeface="Verdana"/>
                <a:ea typeface="Verdana"/>
                <a:cs typeface="Verdana"/>
                <a:sym typeface="Verdana"/>
              </a:rPr>
              <a:t> all the stop words, then you may lose a lot of information from 2-grams. For instance,</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1" marL="9144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“The Shining” (</a:t>
            </a:r>
            <a:r>
              <a:rPr lang="en" sz="1500" u="sng">
                <a:solidFill>
                  <a:schemeClr val="hlink"/>
                </a:solidFill>
                <a:latin typeface="Verdana"/>
                <a:ea typeface="Verdana"/>
                <a:cs typeface="Verdana"/>
                <a:sym typeface="Verdana"/>
                <a:hlinkClick r:id="rId4"/>
              </a:rPr>
              <a:t>a horror movie</a:t>
            </a:r>
            <a:r>
              <a:rPr lang="en" sz="1500">
                <a:solidFill>
                  <a:srgbClr val="000000"/>
                </a:solidFill>
                <a:latin typeface="Verdana"/>
                <a:ea typeface="Verdana"/>
                <a:cs typeface="Verdana"/>
                <a:sym typeface="Verdana"/>
              </a:rPr>
              <a:t>)</a:t>
            </a:r>
            <a:endParaRPr sz="1500">
              <a:solidFill>
                <a:srgbClr val="000000"/>
              </a:solidFill>
              <a:latin typeface="Verdana"/>
              <a:ea typeface="Verdana"/>
              <a:cs typeface="Verdana"/>
              <a:sym typeface="Verdana"/>
            </a:endParaRPr>
          </a:p>
          <a:p>
            <a:pPr indent="-323850" lvl="1" marL="9144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“Shining light”</a:t>
            </a: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r>
              <a:rPr lang="en" sz="1500">
                <a:solidFill>
                  <a:srgbClr val="000000"/>
                </a:solidFill>
                <a:latin typeface="Verdana"/>
                <a:ea typeface="Verdana"/>
                <a:cs typeface="Verdana"/>
                <a:sym typeface="Verdana"/>
              </a:rPr>
              <a:t>would be treated as same token.</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Last but not least, different versions of nltk and sklearn have different stop words set, it may prevent you reproduce your results. </a:t>
            </a:r>
            <a:endParaRPr sz="1500">
              <a:solidFill>
                <a:srgbClr val="000000"/>
              </a:solidFill>
              <a:latin typeface="Verdana"/>
              <a:ea typeface="Verdana"/>
              <a:cs typeface="Verdana"/>
              <a:sym typeface="Verdana"/>
            </a:endParaRPr>
          </a:p>
        </p:txBody>
      </p:sp>
      <p:sp>
        <p:nvSpPr>
          <p:cNvPr id="344" name="Google Shape;344;p52"/>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Stop Words</a:t>
            </a:r>
            <a:endParaRPr>
              <a:solidFill>
                <a:srgbClr val="980000"/>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xEl>
                                              <p:pRg end="0" st="0"/>
                                            </p:txEl>
                                          </p:spTgt>
                                        </p:tgtEl>
                                        <p:attrNameLst>
                                          <p:attrName>style.visibility</p:attrName>
                                        </p:attrNameLst>
                                      </p:cBhvr>
                                      <p:to>
                                        <p:strVal val="visible"/>
                                      </p:to>
                                    </p:set>
                                    <p:animEffect filter="fade" transition="in">
                                      <p:cBhvr>
                                        <p:cTn dur="1000"/>
                                        <p:tgtEl>
                                          <p:spTgt spid="3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xEl>
                                              <p:pRg end="1" st="1"/>
                                            </p:txEl>
                                          </p:spTgt>
                                        </p:tgtEl>
                                        <p:attrNameLst>
                                          <p:attrName>style.visibility</p:attrName>
                                        </p:attrNameLst>
                                      </p:cBhvr>
                                      <p:to>
                                        <p:strVal val="visible"/>
                                      </p:to>
                                    </p:set>
                                    <p:animEffect filter="fade" transition="in">
                                      <p:cBhvr>
                                        <p:cTn dur="1000"/>
                                        <p:tgtEl>
                                          <p:spTgt spid="3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xEl>
                                              <p:pRg end="2" st="2"/>
                                            </p:txEl>
                                          </p:spTgt>
                                        </p:tgtEl>
                                        <p:attrNameLst>
                                          <p:attrName>style.visibility</p:attrName>
                                        </p:attrNameLst>
                                      </p:cBhvr>
                                      <p:to>
                                        <p:strVal val="visible"/>
                                      </p:to>
                                    </p:set>
                                    <p:animEffect filter="fade" transition="in">
                                      <p:cBhvr>
                                        <p:cTn dur="1000"/>
                                        <p:tgtEl>
                                          <p:spTgt spid="34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xEl>
                                              <p:pRg end="3" st="3"/>
                                            </p:txEl>
                                          </p:spTgt>
                                        </p:tgtEl>
                                        <p:attrNameLst>
                                          <p:attrName>style.visibility</p:attrName>
                                        </p:attrNameLst>
                                      </p:cBhvr>
                                      <p:to>
                                        <p:strVal val="visible"/>
                                      </p:to>
                                    </p:set>
                                    <p:animEffect filter="fade" transition="in">
                                      <p:cBhvr>
                                        <p:cTn dur="1000"/>
                                        <p:tgtEl>
                                          <p:spTgt spid="34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xEl>
                                              <p:pRg end="4" st="4"/>
                                            </p:txEl>
                                          </p:spTgt>
                                        </p:tgtEl>
                                        <p:attrNameLst>
                                          <p:attrName>style.visibility</p:attrName>
                                        </p:attrNameLst>
                                      </p:cBhvr>
                                      <p:to>
                                        <p:strVal val="visible"/>
                                      </p:to>
                                    </p:set>
                                    <p:animEffect filter="fade" transition="in">
                                      <p:cBhvr>
                                        <p:cTn dur="1000"/>
                                        <p:tgtEl>
                                          <p:spTgt spid="34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xEl>
                                              <p:pRg end="5" st="5"/>
                                            </p:txEl>
                                          </p:spTgt>
                                        </p:tgtEl>
                                        <p:attrNameLst>
                                          <p:attrName>style.visibility</p:attrName>
                                        </p:attrNameLst>
                                      </p:cBhvr>
                                      <p:to>
                                        <p:strVal val="visible"/>
                                      </p:to>
                                    </p:set>
                                    <p:animEffect filter="fade" transition="in">
                                      <p:cBhvr>
                                        <p:cTn dur="1000"/>
                                        <p:tgtEl>
                                          <p:spTgt spid="343">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3"/>
          <p:cNvSpPr txBox="1"/>
          <p:nvPr>
            <p:ph idx="1" type="body"/>
          </p:nvPr>
        </p:nvSpPr>
        <p:spPr>
          <a:xfrm>
            <a:off x="311700" y="763625"/>
            <a:ext cx="8655900" cy="4380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rgbClr val="000000"/>
              </a:buClr>
              <a:buSzPts val="1600"/>
              <a:buFont typeface="Verdana"/>
              <a:buChar char="●"/>
            </a:pPr>
            <a:r>
              <a:rPr lang="en" sz="1600">
                <a:solidFill>
                  <a:srgbClr val="000000"/>
                </a:solidFill>
                <a:latin typeface="Verdana"/>
                <a:ea typeface="Verdana"/>
                <a:cs typeface="Verdana"/>
                <a:sym typeface="Verdana"/>
              </a:rPr>
              <a:t>There are 3 different types of vocabulary normalization:</a:t>
            </a:r>
            <a:br>
              <a:rPr lang="en" sz="1600">
                <a:solidFill>
                  <a:srgbClr val="000000"/>
                </a:solidFill>
                <a:latin typeface="Verdana"/>
                <a:ea typeface="Verdana"/>
                <a:cs typeface="Verdana"/>
                <a:sym typeface="Verdana"/>
              </a:rPr>
            </a:br>
            <a:endParaRPr sz="1600">
              <a:solidFill>
                <a:srgbClr val="000000"/>
              </a:solidFill>
              <a:latin typeface="Verdana"/>
              <a:ea typeface="Verdana"/>
              <a:cs typeface="Verdana"/>
              <a:sym typeface="Verdana"/>
            </a:endParaRPr>
          </a:p>
          <a:p>
            <a:pPr indent="-330200" lvl="1" marL="914400" rtl="0" algn="l">
              <a:spcBef>
                <a:spcPts val="0"/>
              </a:spcBef>
              <a:spcAft>
                <a:spcPts val="0"/>
              </a:spcAft>
              <a:buClr>
                <a:srgbClr val="000000"/>
              </a:buClr>
              <a:buSzPts val="1600"/>
              <a:buFont typeface="Verdana"/>
              <a:buChar char="○"/>
            </a:pPr>
            <a:r>
              <a:rPr lang="en" sz="1600">
                <a:solidFill>
                  <a:srgbClr val="000000"/>
                </a:solidFill>
                <a:latin typeface="Verdana"/>
                <a:ea typeface="Verdana"/>
                <a:cs typeface="Verdana"/>
                <a:sym typeface="Verdana"/>
              </a:rPr>
              <a:t>Case folding</a:t>
            </a:r>
            <a:endParaRPr sz="1600">
              <a:solidFill>
                <a:srgbClr val="000000"/>
              </a:solidFill>
              <a:latin typeface="Verdana"/>
              <a:ea typeface="Verdana"/>
              <a:cs typeface="Verdana"/>
              <a:sym typeface="Verdana"/>
            </a:endParaRPr>
          </a:p>
          <a:p>
            <a:pPr indent="-330200" lvl="1" marL="914400" rtl="0" algn="l">
              <a:spcBef>
                <a:spcPts val="0"/>
              </a:spcBef>
              <a:spcAft>
                <a:spcPts val="0"/>
              </a:spcAft>
              <a:buClr>
                <a:srgbClr val="000000"/>
              </a:buClr>
              <a:buSzPts val="1600"/>
              <a:buFont typeface="Verdana"/>
              <a:buChar char="○"/>
            </a:pPr>
            <a:r>
              <a:rPr lang="en" sz="1600">
                <a:solidFill>
                  <a:srgbClr val="000000"/>
                </a:solidFill>
                <a:latin typeface="Verdana"/>
                <a:ea typeface="Verdana"/>
                <a:cs typeface="Verdana"/>
                <a:sym typeface="Verdana"/>
              </a:rPr>
              <a:t>Stemming</a:t>
            </a:r>
            <a:endParaRPr sz="1600">
              <a:solidFill>
                <a:srgbClr val="000000"/>
              </a:solidFill>
              <a:latin typeface="Verdana"/>
              <a:ea typeface="Verdana"/>
              <a:cs typeface="Verdana"/>
              <a:sym typeface="Verdana"/>
            </a:endParaRPr>
          </a:p>
          <a:p>
            <a:pPr indent="-330200" lvl="1" marL="914400" rtl="0" algn="l">
              <a:spcBef>
                <a:spcPts val="0"/>
              </a:spcBef>
              <a:spcAft>
                <a:spcPts val="0"/>
              </a:spcAft>
              <a:buClr>
                <a:srgbClr val="000000"/>
              </a:buClr>
              <a:buSzPts val="1600"/>
              <a:buFont typeface="Verdana"/>
              <a:buChar char="○"/>
            </a:pPr>
            <a:r>
              <a:rPr lang="en" sz="1600">
                <a:solidFill>
                  <a:srgbClr val="000000"/>
                </a:solidFill>
                <a:latin typeface="Verdana"/>
                <a:ea typeface="Verdana"/>
                <a:cs typeface="Verdana"/>
                <a:sym typeface="Verdana"/>
              </a:rPr>
              <a:t>Lemmatization</a:t>
            </a:r>
            <a:endParaRPr sz="1600">
              <a:solidFill>
                <a:srgbClr val="000000"/>
              </a:solidFill>
              <a:latin typeface="Verdana"/>
              <a:ea typeface="Verdana"/>
              <a:cs typeface="Verdana"/>
              <a:sym typeface="Verdana"/>
            </a:endParaRPr>
          </a:p>
        </p:txBody>
      </p:sp>
      <p:sp>
        <p:nvSpPr>
          <p:cNvPr id="350" name="Google Shape;350;p53"/>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Vocabulary Normalization</a:t>
            </a:r>
            <a:endParaRPr>
              <a:solidFill>
                <a:srgbClr val="980000"/>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
                                            <p:txEl>
                                              <p:pRg end="0" st="0"/>
                                            </p:txEl>
                                          </p:spTgt>
                                        </p:tgtEl>
                                        <p:attrNameLst>
                                          <p:attrName>style.visibility</p:attrName>
                                        </p:attrNameLst>
                                      </p:cBhvr>
                                      <p:to>
                                        <p:strVal val="visible"/>
                                      </p:to>
                                    </p:set>
                                    <p:animEffect filter="fade" transition="in">
                                      <p:cBhvr>
                                        <p:cTn dur="1000"/>
                                        <p:tgtEl>
                                          <p:spTgt spid="3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
                                            <p:txEl>
                                              <p:pRg end="1" st="1"/>
                                            </p:txEl>
                                          </p:spTgt>
                                        </p:tgtEl>
                                        <p:attrNameLst>
                                          <p:attrName>style.visibility</p:attrName>
                                        </p:attrNameLst>
                                      </p:cBhvr>
                                      <p:to>
                                        <p:strVal val="visible"/>
                                      </p:to>
                                    </p:set>
                                    <p:animEffect filter="fade" transition="in">
                                      <p:cBhvr>
                                        <p:cTn dur="1000"/>
                                        <p:tgtEl>
                                          <p:spTgt spid="3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
                                            <p:txEl>
                                              <p:pRg end="2" st="2"/>
                                            </p:txEl>
                                          </p:spTgt>
                                        </p:tgtEl>
                                        <p:attrNameLst>
                                          <p:attrName>style.visibility</p:attrName>
                                        </p:attrNameLst>
                                      </p:cBhvr>
                                      <p:to>
                                        <p:strVal val="visible"/>
                                      </p:to>
                                    </p:set>
                                    <p:animEffect filter="fade" transition="in">
                                      <p:cBhvr>
                                        <p:cTn dur="1000"/>
                                        <p:tgtEl>
                                          <p:spTgt spid="3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
                                            <p:txEl>
                                              <p:pRg end="3" st="3"/>
                                            </p:txEl>
                                          </p:spTgt>
                                        </p:tgtEl>
                                        <p:attrNameLst>
                                          <p:attrName>style.visibility</p:attrName>
                                        </p:attrNameLst>
                                      </p:cBhvr>
                                      <p:to>
                                        <p:strVal val="visible"/>
                                      </p:to>
                                    </p:set>
                                    <p:animEffect filter="fade" transition="in">
                                      <p:cBhvr>
                                        <p:cTn dur="1000"/>
                                        <p:tgtEl>
                                          <p:spTgt spid="34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4"/>
          <p:cNvSpPr txBox="1"/>
          <p:nvPr>
            <p:ph idx="1" type="body"/>
          </p:nvPr>
        </p:nvSpPr>
        <p:spPr>
          <a:xfrm>
            <a:off x="311700" y="763625"/>
            <a:ext cx="8655900" cy="4380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rgbClr val="000000"/>
              </a:buClr>
              <a:buSzPts val="1600"/>
              <a:buFont typeface="Verdana"/>
              <a:buChar char="●"/>
            </a:pPr>
            <a:r>
              <a:rPr b="1" lang="en" sz="1600">
                <a:solidFill>
                  <a:schemeClr val="accent4"/>
                </a:solidFill>
                <a:latin typeface="Verdana"/>
                <a:ea typeface="Verdana"/>
                <a:cs typeface="Verdana"/>
                <a:sym typeface="Verdana"/>
              </a:rPr>
              <a:t>Case folding </a:t>
            </a:r>
            <a:r>
              <a:rPr lang="en" sz="1600">
                <a:solidFill>
                  <a:schemeClr val="dk2"/>
                </a:solidFill>
                <a:latin typeface="Verdana"/>
                <a:ea typeface="Verdana"/>
                <a:cs typeface="Verdana"/>
                <a:sym typeface="Verdana"/>
              </a:rPr>
              <a:t>(also known as</a:t>
            </a:r>
            <a:r>
              <a:rPr b="1" lang="en" sz="1600">
                <a:solidFill>
                  <a:schemeClr val="accent4"/>
                </a:solidFill>
                <a:latin typeface="Verdana"/>
                <a:ea typeface="Verdana"/>
                <a:cs typeface="Verdana"/>
                <a:sym typeface="Verdana"/>
              </a:rPr>
              <a:t> case normalization</a:t>
            </a:r>
            <a:r>
              <a:rPr lang="en" sz="1600">
                <a:solidFill>
                  <a:schemeClr val="dk2"/>
                </a:solidFill>
                <a:latin typeface="Verdana"/>
                <a:ea typeface="Verdana"/>
                <a:cs typeface="Verdana"/>
                <a:sym typeface="Verdana"/>
              </a:rPr>
              <a:t>)</a:t>
            </a:r>
            <a:r>
              <a:rPr lang="en" sz="1600">
                <a:solidFill>
                  <a:srgbClr val="000000"/>
                </a:solidFill>
                <a:latin typeface="Verdana"/>
                <a:ea typeface="Verdana"/>
                <a:cs typeface="Verdana"/>
                <a:sym typeface="Verdana"/>
              </a:rPr>
              <a:t> is a super easy operation and the purpose is to normalize words into the same form in case (e.g. “The” and “the” will be treated as two different unigrams if no case-folding)</a:t>
            </a:r>
            <a:br>
              <a:rPr lang="en" sz="1600">
                <a:solidFill>
                  <a:srgbClr val="000000"/>
                </a:solidFill>
                <a:latin typeface="Verdana"/>
                <a:ea typeface="Verdana"/>
                <a:cs typeface="Verdana"/>
                <a:sym typeface="Verdana"/>
              </a:rPr>
            </a:br>
            <a:endParaRPr sz="1600">
              <a:solidFill>
                <a:srgbClr val="000000"/>
              </a:solidFill>
              <a:latin typeface="Verdana"/>
              <a:ea typeface="Verdana"/>
              <a:cs typeface="Verdana"/>
              <a:sym typeface="Verdana"/>
            </a:endParaRPr>
          </a:p>
          <a:p>
            <a:pPr indent="-330200" lvl="0" marL="457200" rtl="0" algn="l">
              <a:spcBef>
                <a:spcPts val="0"/>
              </a:spcBef>
              <a:spcAft>
                <a:spcPts val="0"/>
              </a:spcAft>
              <a:buClr>
                <a:srgbClr val="000000"/>
              </a:buClr>
              <a:buSzPts val="1600"/>
              <a:buFont typeface="Verdana"/>
              <a:buChar char="●"/>
            </a:pPr>
            <a:r>
              <a:rPr lang="en" sz="1600">
                <a:solidFill>
                  <a:srgbClr val="000000"/>
                </a:solidFill>
                <a:latin typeface="Verdana"/>
                <a:ea typeface="Verdana"/>
                <a:cs typeface="Verdana"/>
                <a:sym typeface="Verdana"/>
              </a:rPr>
              <a:t>However, </a:t>
            </a:r>
            <a:r>
              <a:rPr lang="en" sz="1600">
                <a:solidFill>
                  <a:srgbClr val="000000"/>
                </a:solidFill>
                <a:latin typeface="Verdana"/>
                <a:ea typeface="Verdana"/>
                <a:cs typeface="Verdana"/>
                <a:sym typeface="Verdana"/>
              </a:rPr>
              <a:t>capitalization</a:t>
            </a:r>
            <a:r>
              <a:rPr lang="en" sz="1600">
                <a:solidFill>
                  <a:srgbClr val="000000"/>
                </a:solidFill>
                <a:latin typeface="Verdana"/>
                <a:ea typeface="Verdana"/>
                <a:cs typeface="Verdana"/>
                <a:sym typeface="Verdana"/>
              </a:rPr>
              <a:t> carries some information. For instance “</a:t>
            </a:r>
            <a:r>
              <a:rPr b="1" lang="en" sz="1600">
                <a:solidFill>
                  <a:schemeClr val="accent4"/>
                </a:solidFill>
                <a:latin typeface="Verdana"/>
                <a:ea typeface="Verdana"/>
                <a:cs typeface="Verdana"/>
                <a:sym typeface="Verdana"/>
              </a:rPr>
              <a:t>Doctor</a:t>
            </a:r>
            <a:r>
              <a:rPr lang="en" sz="1600">
                <a:solidFill>
                  <a:srgbClr val="000000"/>
                </a:solidFill>
                <a:latin typeface="Verdana"/>
                <a:ea typeface="Verdana"/>
                <a:cs typeface="Verdana"/>
                <a:sym typeface="Verdana"/>
              </a:rPr>
              <a:t>” and “</a:t>
            </a:r>
            <a:r>
              <a:rPr b="1" lang="en" sz="1600">
                <a:solidFill>
                  <a:schemeClr val="accent4"/>
                </a:solidFill>
                <a:latin typeface="Verdana"/>
                <a:ea typeface="Verdana"/>
                <a:cs typeface="Verdana"/>
                <a:sym typeface="Verdana"/>
              </a:rPr>
              <a:t>doctor</a:t>
            </a:r>
            <a:r>
              <a:rPr lang="en" sz="1600">
                <a:solidFill>
                  <a:srgbClr val="000000"/>
                </a:solidFill>
                <a:latin typeface="Verdana"/>
                <a:ea typeface="Verdana"/>
                <a:cs typeface="Verdana"/>
                <a:sym typeface="Verdana"/>
              </a:rPr>
              <a:t>” have </a:t>
            </a:r>
            <a:r>
              <a:rPr lang="en" sz="1600">
                <a:solidFill>
                  <a:srgbClr val="000000"/>
                </a:solidFill>
                <a:latin typeface="Verdana"/>
                <a:ea typeface="Verdana"/>
                <a:cs typeface="Verdana"/>
                <a:sym typeface="Verdana"/>
              </a:rPr>
              <a:t>different</a:t>
            </a:r>
            <a:r>
              <a:rPr lang="en" sz="1600">
                <a:solidFill>
                  <a:srgbClr val="000000"/>
                </a:solidFill>
                <a:latin typeface="Verdana"/>
                <a:ea typeface="Verdana"/>
                <a:cs typeface="Verdana"/>
                <a:sym typeface="Verdana"/>
              </a:rPr>
              <a:t> meanings. Again, “</a:t>
            </a:r>
            <a:r>
              <a:rPr b="1" lang="en" sz="1600">
                <a:solidFill>
                  <a:schemeClr val="accent4"/>
                </a:solidFill>
                <a:latin typeface="Verdana"/>
                <a:ea typeface="Verdana"/>
                <a:cs typeface="Verdana"/>
                <a:sym typeface="Verdana"/>
              </a:rPr>
              <a:t>The Shining</a:t>
            </a:r>
            <a:r>
              <a:rPr lang="en" sz="1600">
                <a:solidFill>
                  <a:srgbClr val="000000"/>
                </a:solidFill>
                <a:latin typeface="Verdana"/>
                <a:ea typeface="Verdana"/>
                <a:cs typeface="Verdana"/>
                <a:sym typeface="Verdana"/>
              </a:rPr>
              <a:t>” (movie) and “</a:t>
            </a:r>
            <a:r>
              <a:rPr b="1" lang="en" sz="1600">
                <a:solidFill>
                  <a:schemeClr val="accent4"/>
                </a:solidFill>
                <a:latin typeface="Verdana"/>
                <a:ea typeface="Verdana"/>
                <a:cs typeface="Verdana"/>
                <a:sym typeface="Verdana"/>
              </a:rPr>
              <a:t>shining light</a:t>
            </a:r>
            <a:r>
              <a:rPr lang="en" sz="1600">
                <a:solidFill>
                  <a:srgbClr val="000000"/>
                </a:solidFill>
                <a:latin typeface="Verdana"/>
                <a:ea typeface="Verdana"/>
                <a:cs typeface="Verdana"/>
                <a:sym typeface="Verdana"/>
              </a:rPr>
              <a:t>” has different shining tokens.</a:t>
            </a:r>
            <a:br>
              <a:rPr lang="en" sz="1600">
                <a:solidFill>
                  <a:srgbClr val="000000"/>
                </a:solidFill>
                <a:latin typeface="Verdana"/>
                <a:ea typeface="Verdana"/>
                <a:cs typeface="Verdana"/>
                <a:sym typeface="Verdana"/>
              </a:rPr>
            </a:br>
            <a:endParaRPr sz="1600">
              <a:solidFill>
                <a:srgbClr val="000000"/>
              </a:solidFill>
              <a:latin typeface="Verdana"/>
              <a:ea typeface="Verdana"/>
              <a:cs typeface="Verdana"/>
              <a:sym typeface="Verdana"/>
            </a:endParaRPr>
          </a:p>
          <a:p>
            <a:pPr indent="-330200" lvl="0" marL="457200" rtl="0" algn="l">
              <a:spcBef>
                <a:spcPts val="0"/>
              </a:spcBef>
              <a:spcAft>
                <a:spcPts val="0"/>
              </a:spcAft>
              <a:buClr>
                <a:srgbClr val="000000"/>
              </a:buClr>
              <a:buSzPts val="1600"/>
              <a:buFont typeface="Verdana"/>
              <a:buChar char="●"/>
            </a:pPr>
            <a:r>
              <a:rPr lang="en" sz="1600">
                <a:solidFill>
                  <a:srgbClr val="000000"/>
                </a:solidFill>
                <a:latin typeface="Verdana"/>
                <a:ea typeface="Verdana"/>
                <a:cs typeface="Verdana"/>
                <a:sym typeface="Verdana"/>
              </a:rPr>
              <a:t>Often capitalization is used to indicate that a word is a proper noun, the name of a person, place, or thing.</a:t>
            </a:r>
            <a:br>
              <a:rPr lang="en" sz="1600">
                <a:solidFill>
                  <a:srgbClr val="000000"/>
                </a:solidFill>
                <a:latin typeface="Verdana"/>
                <a:ea typeface="Verdana"/>
                <a:cs typeface="Verdana"/>
                <a:sym typeface="Verdana"/>
              </a:rPr>
            </a:br>
            <a:endParaRPr sz="1600">
              <a:solidFill>
                <a:srgbClr val="000000"/>
              </a:solidFill>
              <a:latin typeface="Verdana"/>
              <a:ea typeface="Verdana"/>
              <a:cs typeface="Verdana"/>
              <a:sym typeface="Verdana"/>
            </a:endParaRPr>
          </a:p>
          <a:p>
            <a:pPr indent="-330200" lvl="0" marL="457200" rtl="0" algn="l">
              <a:spcBef>
                <a:spcPts val="0"/>
              </a:spcBef>
              <a:spcAft>
                <a:spcPts val="0"/>
              </a:spcAft>
              <a:buClr>
                <a:srgbClr val="000000"/>
              </a:buClr>
              <a:buSzPts val="1600"/>
              <a:buFont typeface="Verdana"/>
              <a:buChar char="●"/>
            </a:pPr>
            <a:r>
              <a:rPr lang="en" sz="1600">
                <a:solidFill>
                  <a:srgbClr val="000000"/>
                </a:solidFill>
                <a:latin typeface="Verdana"/>
                <a:ea typeface="Verdana"/>
                <a:cs typeface="Verdana"/>
                <a:sym typeface="Verdana"/>
              </a:rPr>
              <a:t>On the other hand, if you do not normalize capital letters, then your </a:t>
            </a:r>
            <a:r>
              <a:rPr b="1" lang="en" sz="1600">
                <a:solidFill>
                  <a:schemeClr val="accent4"/>
                </a:solidFill>
                <a:latin typeface="Verdana"/>
                <a:ea typeface="Verdana"/>
                <a:cs typeface="Verdana"/>
                <a:sym typeface="Verdana"/>
              </a:rPr>
              <a:t>vocabulary</a:t>
            </a:r>
            <a:r>
              <a:rPr b="1" lang="en" sz="1600">
                <a:solidFill>
                  <a:schemeClr val="accent4"/>
                </a:solidFill>
                <a:latin typeface="Verdana"/>
                <a:ea typeface="Verdana"/>
                <a:cs typeface="Verdana"/>
                <a:sym typeface="Verdana"/>
              </a:rPr>
              <a:t> will be much bigger</a:t>
            </a:r>
            <a:r>
              <a:rPr lang="en" sz="1600">
                <a:solidFill>
                  <a:srgbClr val="000000"/>
                </a:solidFill>
                <a:latin typeface="Verdana"/>
                <a:ea typeface="Verdana"/>
                <a:cs typeface="Verdana"/>
                <a:sym typeface="Verdana"/>
              </a:rPr>
              <a:t> and may lead </a:t>
            </a:r>
            <a:r>
              <a:rPr b="1" lang="en" sz="1600">
                <a:solidFill>
                  <a:srgbClr val="A31515"/>
                </a:solidFill>
                <a:latin typeface="Verdana"/>
                <a:ea typeface="Verdana"/>
                <a:cs typeface="Verdana"/>
                <a:sym typeface="Verdana"/>
              </a:rPr>
              <a:t>overfitting</a:t>
            </a:r>
            <a:r>
              <a:rPr lang="en" sz="1600">
                <a:solidFill>
                  <a:srgbClr val="000000"/>
                </a:solidFill>
                <a:latin typeface="Verdana"/>
                <a:ea typeface="Verdana"/>
                <a:cs typeface="Verdana"/>
                <a:sym typeface="Verdana"/>
              </a:rPr>
              <a:t>.</a:t>
            </a:r>
            <a:endParaRPr sz="1600">
              <a:solidFill>
                <a:srgbClr val="000000"/>
              </a:solidFill>
              <a:latin typeface="Verdana"/>
              <a:ea typeface="Verdana"/>
              <a:cs typeface="Verdana"/>
              <a:sym typeface="Verdana"/>
            </a:endParaRPr>
          </a:p>
        </p:txBody>
      </p:sp>
      <p:sp>
        <p:nvSpPr>
          <p:cNvPr id="356" name="Google Shape;356;p54"/>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Vocabulary Normalization - Case Folding</a:t>
            </a:r>
            <a:endParaRPr>
              <a:solidFill>
                <a:srgbClr val="980000"/>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
                                            <p:txEl>
                                              <p:pRg end="0" st="0"/>
                                            </p:txEl>
                                          </p:spTgt>
                                        </p:tgtEl>
                                        <p:attrNameLst>
                                          <p:attrName>style.visibility</p:attrName>
                                        </p:attrNameLst>
                                      </p:cBhvr>
                                      <p:to>
                                        <p:strVal val="visible"/>
                                      </p:to>
                                    </p:set>
                                    <p:animEffect filter="fade" transition="in">
                                      <p:cBhvr>
                                        <p:cTn dur="1000"/>
                                        <p:tgtEl>
                                          <p:spTgt spid="3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
                                            <p:txEl>
                                              <p:pRg end="1" st="1"/>
                                            </p:txEl>
                                          </p:spTgt>
                                        </p:tgtEl>
                                        <p:attrNameLst>
                                          <p:attrName>style.visibility</p:attrName>
                                        </p:attrNameLst>
                                      </p:cBhvr>
                                      <p:to>
                                        <p:strVal val="visible"/>
                                      </p:to>
                                    </p:set>
                                    <p:animEffect filter="fade" transition="in">
                                      <p:cBhvr>
                                        <p:cTn dur="1000"/>
                                        <p:tgtEl>
                                          <p:spTgt spid="35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
                                            <p:txEl>
                                              <p:pRg end="2" st="2"/>
                                            </p:txEl>
                                          </p:spTgt>
                                        </p:tgtEl>
                                        <p:attrNameLst>
                                          <p:attrName>style.visibility</p:attrName>
                                        </p:attrNameLst>
                                      </p:cBhvr>
                                      <p:to>
                                        <p:strVal val="visible"/>
                                      </p:to>
                                    </p:set>
                                    <p:animEffect filter="fade" transition="in">
                                      <p:cBhvr>
                                        <p:cTn dur="1000"/>
                                        <p:tgtEl>
                                          <p:spTgt spid="35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
                                            <p:txEl>
                                              <p:pRg end="3" st="3"/>
                                            </p:txEl>
                                          </p:spTgt>
                                        </p:tgtEl>
                                        <p:attrNameLst>
                                          <p:attrName>style.visibility</p:attrName>
                                        </p:attrNameLst>
                                      </p:cBhvr>
                                      <p:to>
                                        <p:strVal val="visible"/>
                                      </p:to>
                                    </p:set>
                                    <p:animEffect filter="fade" transition="in">
                                      <p:cBhvr>
                                        <p:cTn dur="1000"/>
                                        <p:tgtEl>
                                          <p:spTgt spid="355">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5"/>
          <p:cNvSpPr txBox="1"/>
          <p:nvPr>
            <p:ph idx="1" type="body"/>
          </p:nvPr>
        </p:nvSpPr>
        <p:spPr>
          <a:xfrm>
            <a:off x="311700" y="763625"/>
            <a:ext cx="8655900" cy="4380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2"/>
              </a:buClr>
              <a:buSzPts val="1600"/>
              <a:buFont typeface="Verdana"/>
              <a:buChar char="●"/>
            </a:pPr>
            <a:r>
              <a:rPr lang="en" sz="1600">
                <a:solidFill>
                  <a:schemeClr val="dk2"/>
                </a:solidFill>
                <a:latin typeface="Verdana"/>
                <a:ea typeface="Verdana"/>
                <a:cs typeface="Verdana"/>
                <a:sym typeface="Verdana"/>
              </a:rPr>
              <a:t>One option would be to normalize only the first word of the sentence.  This prevents “</a:t>
            </a:r>
            <a:r>
              <a:rPr b="1" lang="en" sz="1600">
                <a:solidFill>
                  <a:schemeClr val="accent4"/>
                </a:solidFill>
                <a:latin typeface="Verdana"/>
                <a:ea typeface="Verdana"/>
                <a:cs typeface="Verdana"/>
                <a:sym typeface="Verdana"/>
              </a:rPr>
              <a:t>Joe</a:t>
            </a:r>
            <a:r>
              <a:rPr lang="en" sz="1600">
                <a:solidFill>
                  <a:schemeClr val="dk2"/>
                </a:solidFill>
                <a:latin typeface="Verdana"/>
                <a:ea typeface="Verdana"/>
                <a:cs typeface="Verdana"/>
                <a:sym typeface="Verdana"/>
              </a:rPr>
              <a:t>” from being confused with “</a:t>
            </a:r>
            <a:r>
              <a:rPr lang="en" sz="1600" u="sng">
                <a:solidFill>
                  <a:schemeClr val="hlink"/>
                </a:solidFill>
                <a:latin typeface="Verdana"/>
                <a:ea typeface="Verdana"/>
                <a:cs typeface="Verdana"/>
                <a:sym typeface="Verdana"/>
                <a:hlinkClick r:id="rId3"/>
              </a:rPr>
              <a:t>coffee</a:t>
            </a:r>
            <a:r>
              <a:rPr lang="en" sz="1600">
                <a:solidFill>
                  <a:schemeClr val="dk2"/>
                </a:solidFill>
                <a:latin typeface="Verdana"/>
                <a:ea typeface="Verdana"/>
                <a:cs typeface="Verdana"/>
                <a:sym typeface="Verdana"/>
              </a:rPr>
              <a:t>” (“</a:t>
            </a:r>
            <a:r>
              <a:rPr b="1" lang="en" sz="1600">
                <a:solidFill>
                  <a:schemeClr val="accent4"/>
                </a:solidFill>
                <a:latin typeface="Verdana"/>
                <a:ea typeface="Verdana"/>
                <a:cs typeface="Verdana"/>
                <a:sym typeface="Verdana"/>
              </a:rPr>
              <a:t>joe</a:t>
            </a:r>
            <a:r>
              <a:rPr lang="en" sz="1600">
                <a:solidFill>
                  <a:schemeClr val="dk2"/>
                </a:solidFill>
                <a:latin typeface="Verdana"/>
                <a:ea typeface="Verdana"/>
                <a:cs typeface="Verdana"/>
                <a:sym typeface="Verdana"/>
              </a:rPr>
              <a:t>”) (surely, if “Joe” is not the first word of the sentence).</a:t>
            </a:r>
            <a:br>
              <a:rPr lang="en" sz="1600">
                <a:solidFill>
                  <a:schemeClr val="dk2"/>
                </a:solidFill>
                <a:latin typeface="Verdana"/>
                <a:ea typeface="Verdana"/>
                <a:cs typeface="Verdana"/>
                <a:sym typeface="Verdana"/>
              </a:rPr>
            </a:br>
            <a:endParaRPr sz="1600">
              <a:solidFill>
                <a:schemeClr val="dk2"/>
              </a:solidFill>
              <a:latin typeface="Verdana"/>
              <a:ea typeface="Verdana"/>
              <a:cs typeface="Verdana"/>
              <a:sym typeface="Verdana"/>
            </a:endParaRPr>
          </a:p>
          <a:p>
            <a:pPr indent="-330200" lvl="0" marL="457200" rtl="0" algn="l">
              <a:spcBef>
                <a:spcPts val="0"/>
              </a:spcBef>
              <a:spcAft>
                <a:spcPts val="0"/>
              </a:spcAft>
              <a:buClr>
                <a:schemeClr val="dk2"/>
              </a:buClr>
              <a:buSzPts val="1600"/>
              <a:buFont typeface="Verdana"/>
              <a:buChar char="●"/>
            </a:pPr>
            <a:r>
              <a:rPr lang="en" sz="1600">
                <a:solidFill>
                  <a:schemeClr val="dk2"/>
                </a:solidFill>
                <a:latin typeface="Verdana"/>
                <a:ea typeface="Verdana"/>
                <a:cs typeface="Verdana"/>
                <a:sym typeface="Verdana"/>
              </a:rPr>
              <a:t>However, “</a:t>
            </a:r>
            <a:r>
              <a:rPr b="1" lang="en" sz="1600">
                <a:solidFill>
                  <a:schemeClr val="accent4"/>
                </a:solidFill>
                <a:latin typeface="Verdana"/>
                <a:ea typeface="Verdana"/>
                <a:cs typeface="Verdana"/>
                <a:sym typeface="Verdana"/>
              </a:rPr>
              <a:t>Joe Smith, the word smith, with a cup of joe.</a:t>
            </a:r>
            <a:r>
              <a:rPr lang="en" sz="1600">
                <a:solidFill>
                  <a:schemeClr val="dk2"/>
                </a:solidFill>
                <a:latin typeface="Verdana"/>
                <a:ea typeface="Verdana"/>
                <a:cs typeface="Verdana"/>
                <a:sym typeface="Verdana"/>
              </a:rPr>
              <a:t>” will have a different tokens than “</a:t>
            </a:r>
            <a:r>
              <a:rPr b="1" lang="en" sz="1600">
                <a:solidFill>
                  <a:schemeClr val="accent4"/>
                </a:solidFill>
                <a:latin typeface="Verdana"/>
                <a:ea typeface="Verdana"/>
                <a:cs typeface="Verdana"/>
                <a:sym typeface="Verdana"/>
              </a:rPr>
              <a:t>Smith the word with a cup of joe, Joe Smith.</a:t>
            </a:r>
            <a:r>
              <a:rPr lang="en" sz="1600">
                <a:solidFill>
                  <a:schemeClr val="dk2"/>
                </a:solidFill>
                <a:latin typeface="Verdana"/>
                <a:ea typeface="Verdana"/>
                <a:cs typeface="Verdana"/>
                <a:sym typeface="Verdana"/>
              </a:rPr>
              <a:t>” </a:t>
            </a:r>
            <a:br>
              <a:rPr lang="en" sz="1600">
                <a:solidFill>
                  <a:schemeClr val="dk2"/>
                </a:solidFill>
                <a:latin typeface="Verdana"/>
                <a:ea typeface="Verdana"/>
                <a:cs typeface="Verdana"/>
                <a:sym typeface="Verdana"/>
              </a:rPr>
            </a:br>
            <a:endParaRPr sz="1600">
              <a:solidFill>
                <a:schemeClr val="dk2"/>
              </a:solidFill>
              <a:latin typeface="Verdana"/>
              <a:ea typeface="Verdana"/>
              <a:cs typeface="Verdana"/>
              <a:sym typeface="Verdana"/>
            </a:endParaRPr>
          </a:p>
          <a:p>
            <a:pPr indent="-330200" lvl="0" marL="457200" rtl="0" algn="l">
              <a:spcBef>
                <a:spcPts val="0"/>
              </a:spcBef>
              <a:spcAft>
                <a:spcPts val="0"/>
              </a:spcAft>
              <a:buClr>
                <a:schemeClr val="dk2"/>
              </a:buClr>
              <a:buSzPts val="1600"/>
              <a:buFont typeface="Verdana"/>
              <a:buChar char="●"/>
            </a:pPr>
            <a:r>
              <a:rPr lang="en" sz="1600">
                <a:solidFill>
                  <a:schemeClr val="dk2"/>
                </a:solidFill>
                <a:latin typeface="Verdana"/>
                <a:ea typeface="Verdana"/>
                <a:cs typeface="Verdana"/>
                <a:sym typeface="Verdana"/>
              </a:rPr>
              <a:t>For all of these reasons, many NLP applications do not use case normalization.</a:t>
            </a:r>
            <a:br>
              <a:rPr lang="en" sz="1600">
                <a:solidFill>
                  <a:schemeClr val="dk2"/>
                </a:solidFill>
                <a:latin typeface="Verdana"/>
                <a:ea typeface="Verdana"/>
                <a:cs typeface="Verdana"/>
                <a:sym typeface="Verdana"/>
              </a:rPr>
            </a:br>
            <a:endParaRPr sz="1600">
              <a:solidFill>
                <a:schemeClr val="dk2"/>
              </a:solidFill>
              <a:latin typeface="Verdana"/>
              <a:ea typeface="Verdana"/>
              <a:cs typeface="Verdana"/>
              <a:sym typeface="Verdana"/>
            </a:endParaRPr>
          </a:p>
          <a:p>
            <a:pPr indent="-330200" lvl="0" marL="457200" rtl="0" algn="l">
              <a:spcBef>
                <a:spcPts val="0"/>
              </a:spcBef>
              <a:spcAft>
                <a:spcPts val="0"/>
              </a:spcAft>
              <a:buClr>
                <a:schemeClr val="dk2"/>
              </a:buClr>
              <a:buSzPts val="1600"/>
              <a:buFont typeface="Verdana"/>
              <a:buChar char="●"/>
            </a:pPr>
            <a:r>
              <a:rPr lang="en" sz="1600">
                <a:solidFill>
                  <a:schemeClr val="dk2"/>
                </a:solidFill>
                <a:latin typeface="Verdana"/>
                <a:ea typeface="Verdana"/>
                <a:cs typeface="Verdana"/>
                <a:sym typeface="Verdana"/>
              </a:rPr>
              <a:t>The best way is to try different approaches, and find the approach which gives the best result for your problem.</a:t>
            </a:r>
            <a:endParaRPr sz="1600">
              <a:solidFill>
                <a:schemeClr val="dk2"/>
              </a:solidFill>
              <a:latin typeface="Verdana"/>
              <a:ea typeface="Verdana"/>
              <a:cs typeface="Verdana"/>
              <a:sym typeface="Verdana"/>
            </a:endParaRPr>
          </a:p>
        </p:txBody>
      </p:sp>
      <p:sp>
        <p:nvSpPr>
          <p:cNvPr id="362" name="Google Shape;362;p55"/>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Vocabulary Normalization - Case Folding</a:t>
            </a:r>
            <a:endParaRPr>
              <a:solidFill>
                <a:srgbClr val="980000"/>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
                                            <p:txEl>
                                              <p:pRg end="0" st="0"/>
                                            </p:txEl>
                                          </p:spTgt>
                                        </p:tgtEl>
                                        <p:attrNameLst>
                                          <p:attrName>style.visibility</p:attrName>
                                        </p:attrNameLst>
                                      </p:cBhvr>
                                      <p:to>
                                        <p:strVal val="visible"/>
                                      </p:to>
                                    </p:set>
                                    <p:animEffect filter="fade" transition="in">
                                      <p:cBhvr>
                                        <p:cTn dur="1000"/>
                                        <p:tgtEl>
                                          <p:spTgt spid="3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
                                            <p:txEl>
                                              <p:pRg end="1" st="1"/>
                                            </p:txEl>
                                          </p:spTgt>
                                        </p:tgtEl>
                                        <p:attrNameLst>
                                          <p:attrName>style.visibility</p:attrName>
                                        </p:attrNameLst>
                                      </p:cBhvr>
                                      <p:to>
                                        <p:strVal val="visible"/>
                                      </p:to>
                                    </p:set>
                                    <p:animEffect filter="fade" transition="in">
                                      <p:cBhvr>
                                        <p:cTn dur="1000"/>
                                        <p:tgtEl>
                                          <p:spTgt spid="3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
                                            <p:txEl>
                                              <p:pRg end="2" st="2"/>
                                            </p:txEl>
                                          </p:spTgt>
                                        </p:tgtEl>
                                        <p:attrNameLst>
                                          <p:attrName>style.visibility</p:attrName>
                                        </p:attrNameLst>
                                      </p:cBhvr>
                                      <p:to>
                                        <p:strVal val="visible"/>
                                      </p:to>
                                    </p:set>
                                    <p:animEffect filter="fade" transition="in">
                                      <p:cBhvr>
                                        <p:cTn dur="1000"/>
                                        <p:tgtEl>
                                          <p:spTgt spid="36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
                                            <p:txEl>
                                              <p:pRg end="3" st="3"/>
                                            </p:txEl>
                                          </p:spTgt>
                                        </p:tgtEl>
                                        <p:attrNameLst>
                                          <p:attrName>style.visibility</p:attrName>
                                        </p:attrNameLst>
                                      </p:cBhvr>
                                      <p:to>
                                        <p:strVal val="visible"/>
                                      </p:to>
                                    </p:set>
                                    <p:animEffect filter="fade" transition="in">
                                      <p:cBhvr>
                                        <p:cTn dur="1000"/>
                                        <p:tgtEl>
                                          <p:spTgt spid="36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6"/>
          <p:cNvSpPr txBox="1"/>
          <p:nvPr>
            <p:ph idx="1" type="body"/>
          </p:nvPr>
        </p:nvSpPr>
        <p:spPr>
          <a:xfrm>
            <a:off x="311700" y="1167800"/>
            <a:ext cx="8655900" cy="39759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2"/>
              </a:buClr>
              <a:buSzPts val="1600"/>
              <a:buFont typeface="Verdana"/>
              <a:buChar char="●"/>
            </a:pPr>
            <a:r>
              <a:rPr b="1" lang="en" sz="1600">
                <a:solidFill>
                  <a:schemeClr val="accent4"/>
                </a:solidFill>
                <a:latin typeface="Verdana"/>
                <a:ea typeface="Verdana"/>
                <a:cs typeface="Verdana"/>
                <a:sym typeface="Verdana"/>
              </a:rPr>
              <a:t>Stemming</a:t>
            </a:r>
            <a:r>
              <a:rPr lang="en" sz="1600">
                <a:solidFill>
                  <a:schemeClr val="dk2"/>
                </a:solidFill>
                <a:latin typeface="Verdana"/>
                <a:ea typeface="Verdana"/>
                <a:cs typeface="Verdana"/>
                <a:sym typeface="Verdana"/>
              </a:rPr>
              <a:t> just removes or stems the last few characters of a word, often leading to incorrect meanings and spelling. </a:t>
            </a:r>
            <a:br>
              <a:rPr lang="en" sz="1600">
                <a:solidFill>
                  <a:schemeClr val="dk2"/>
                </a:solidFill>
                <a:latin typeface="Verdana"/>
                <a:ea typeface="Verdana"/>
                <a:cs typeface="Verdana"/>
                <a:sym typeface="Verdana"/>
              </a:rPr>
            </a:br>
            <a:endParaRPr sz="1600">
              <a:solidFill>
                <a:schemeClr val="dk2"/>
              </a:solidFill>
              <a:latin typeface="Verdana"/>
              <a:ea typeface="Verdana"/>
              <a:cs typeface="Verdana"/>
              <a:sym typeface="Verdana"/>
            </a:endParaRPr>
          </a:p>
          <a:p>
            <a:pPr indent="-330200" lvl="0" marL="457200" rtl="0" algn="l">
              <a:spcBef>
                <a:spcPts val="0"/>
              </a:spcBef>
              <a:spcAft>
                <a:spcPts val="0"/>
              </a:spcAft>
              <a:buClr>
                <a:schemeClr val="dk2"/>
              </a:buClr>
              <a:buSzPts val="1600"/>
              <a:buFont typeface="Verdana"/>
              <a:buChar char="●"/>
            </a:pPr>
            <a:r>
              <a:rPr b="1" lang="en" sz="1600">
                <a:solidFill>
                  <a:schemeClr val="accent4"/>
                </a:solidFill>
                <a:latin typeface="Verdana"/>
                <a:ea typeface="Verdana"/>
                <a:cs typeface="Verdana"/>
                <a:sym typeface="Verdana"/>
              </a:rPr>
              <a:t>Lemmatization</a:t>
            </a:r>
            <a:r>
              <a:rPr lang="en" sz="1600">
                <a:solidFill>
                  <a:schemeClr val="dk2"/>
                </a:solidFill>
                <a:latin typeface="Verdana"/>
                <a:ea typeface="Verdana"/>
                <a:cs typeface="Verdana"/>
                <a:sym typeface="Verdana"/>
              </a:rPr>
              <a:t> considers the context and converts the word to its meaningful base form, which is called Lemma. Sometimes, the same word can have multiple different Lemmas. We should identify the Part of Speech (POS) tag for the word in that specific context. </a:t>
            </a:r>
            <a:endParaRPr sz="1600">
              <a:solidFill>
                <a:schemeClr val="dk2"/>
              </a:solidFill>
              <a:latin typeface="Verdana"/>
              <a:ea typeface="Verdana"/>
              <a:cs typeface="Verdana"/>
              <a:sym typeface="Verdana"/>
            </a:endParaRPr>
          </a:p>
        </p:txBody>
      </p:sp>
      <p:sp>
        <p:nvSpPr>
          <p:cNvPr id="368" name="Google Shape;368;p56"/>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Vocabulary Normalization - Stemming &amp; Lemmatization</a:t>
            </a:r>
            <a:endParaRPr>
              <a:solidFill>
                <a:srgbClr val="980000"/>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0" st="0"/>
                                            </p:txEl>
                                          </p:spTgt>
                                        </p:tgtEl>
                                        <p:attrNameLst>
                                          <p:attrName>style.visibility</p:attrName>
                                        </p:attrNameLst>
                                      </p:cBhvr>
                                      <p:to>
                                        <p:strVal val="visible"/>
                                      </p:to>
                                    </p:set>
                                    <p:animEffect filter="fade" transition="in">
                                      <p:cBhvr>
                                        <p:cTn dur="1000"/>
                                        <p:tgtEl>
                                          <p:spTgt spid="3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1" st="1"/>
                                            </p:txEl>
                                          </p:spTgt>
                                        </p:tgtEl>
                                        <p:attrNameLst>
                                          <p:attrName>style.visibility</p:attrName>
                                        </p:attrNameLst>
                                      </p:cBhvr>
                                      <p:to>
                                        <p:strVal val="visible"/>
                                      </p:to>
                                    </p:set>
                                    <p:animEffect filter="fade" transition="in">
                                      <p:cBhvr>
                                        <p:cTn dur="1000"/>
                                        <p:tgtEl>
                                          <p:spTgt spid="367">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7"/>
          <p:cNvSpPr txBox="1"/>
          <p:nvPr>
            <p:ph idx="1" type="body"/>
          </p:nvPr>
        </p:nvSpPr>
        <p:spPr>
          <a:xfrm>
            <a:off x="311700" y="1068425"/>
            <a:ext cx="8655900" cy="41316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2"/>
              </a:buClr>
              <a:buSzPts val="1600"/>
              <a:buFont typeface="Verdana"/>
              <a:buChar char="●"/>
            </a:pPr>
            <a:r>
              <a:rPr lang="en" sz="1600">
                <a:solidFill>
                  <a:schemeClr val="dk2"/>
                </a:solidFill>
                <a:latin typeface="Verdana"/>
                <a:ea typeface="Verdana"/>
                <a:cs typeface="Verdana"/>
                <a:sym typeface="Verdana"/>
              </a:rPr>
              <a:t>Here are the examples to illustrate all the differences and use cases:</a:t>
            </a:r>
            <a:br>
              <a:rPr lang="en" sz="1600">
                <a:solidFill>
                  <a:schemeClr val="dk2"/>
                </a:solidFill>
                <a:latin typeface="Verdana"/>
                <a:ea typeface="Verdana"/>
                <a:cs typeface="Verdana"/>
                <a:sym typeface="Verdana"/>
              </a:rPr>
            </a:br>
            <a:endParaRPr sz="1600">
              <a:solidFill>
                <a:schemeClr val="dk2"/>
              </a:solidFill>
              <a:latin typeface="Verdana"/>
              <a:ea typeface="Verdana"/>
              <a:cs typeface="Verdana"/>
              <a:sym typeface="Verdana"/>
            </a:endParaRPr>
          </a:p>
          <a:p>
            <a:pPr indent="-330200" lvl="1" marL="914400" rtl="0" algn="l">
              <a:spcBef>
                <a:spcPts val="0"/>
              </a:spcBef>
              <a:spcAft>
                <a:spcPts val="0"/>
              </a:spcAft>
              <a:buClr>
                <a:schemeClr val="dk2"/>
              </a:buClr>
              <a:buSzPts val="1600"/>
              <a:buFont typeface="Verdana"/>
              <a:buChar char="○"/>
            </a:pPr>
            <a:r>
              <a:rPr lang="en" sz="1600">
                <a:solidFill>
                  <a:schemeClr val="dk2"/>
                </a:solidFill>
                <a:latin typeface="Verdana"/>
                <a:ea typeface="Verdana"/>
                <a:cs typeface="Verdana"/>
                <a:sym typeface="Verdana"/>
              </a:rPr>
              <a:t>If you </a:t>
            </a:r>
            <a:r>
              <a:rPr b="1" lang="en" sz="1600">
                <a:solidFill>
                  <a:schemeClr val="accent4"/>
                </a:solidFill>
                <a:latin typeface="Verdana"/>
                <a:ea typeface="Verdana"/>
                <a:cs typeface="Verdana"/>
                <a:sym typeface="Verdana"/>
              </a:rPr>
              <a:t>lemmatize</a:t>
            </a:r>
            <a:r>
              <a:rPr lang="en" sz="1600">
                <a:solidFill>
                  <a:schemeClr val="dk2"/>
                </a:solidFill>
                <a:latin typeface="Verdana"/>
                <a:ea typeface="Verdana"/>
                <a:cs typeface="Verdana"/>
                <a:sym typeface="Verdana"/>
              </a:rPr>
              <a:t> the word </a:t>
            </a:r>
            <a:r>
              <a:rPr b="1" lang="en" sz="1600">
                <a:solidFill>
                  <a:srgbClr val="A31515"/>
                </a:solidFill>
                <a:latin typeface="Verdana"/>
                <a:ea typeface="Verdana"/>
                <a:cs typeface="Verdana"/>
                <a:sym typeface="Verdana"/>
              </a:rPr>
              <a:t>'Caring'</a:t>
            </a:r>
            <a:r>
              <a:rPr lang="en" sz="1600">
                <a:solidFill>
                  <a:schemeClr val="dk2"/>
                </a:solidFill>
                <a:latin typeface="Verdana"/>
                <a:ea typeface="Verdana"/>
                <a:cs typeface="Verdana"/>
                <a:sym typeface="Verdana"/>
              </a:rPr>
              <a:t>, it would return </a:t>
            </a:r>
            <a:r>
              <a:rPr b="1" lang="en" sz="1600">
                <a:solidFill>
                  <a:srgbClr val="980000"/>
                </a:solidFill>
                <a:latin typeface="Verdana"/>
                <a:ea typeface="Verdana"/>
                <a:cs typeface="Verdana"/>
                <a:sym typeface="Verdana"/>
              </a:rPr>
              <a:t>'Care'</a:t>
            </a:r>
            <a:r>
              <a:rPr lang="en" sz="1600">
                <a:solidFill>
                  <a:schemeClr val="dk2"/>
                </a:solidFill>
                <a:latin typeface="Verdana"/>
                <a:ea typeface="Verdana"/>
                <a:cs typeface="Verdana"/>
                <a:sym typeface="Verdana"/>
              </a:rPr>
              <a:t>. If you stem, it would return </a:t>
            </a:r>
            <a:r>
              <a:rPr b="1" lang="en" sz="1600">
                <a:solidFill>
                  <a:srgbClr val="A31515"/>
                </a:solidFill>
                <a:latin typeface="Verdana"/>
                <a:ea typeface="Verdana"/>
                <a:cs typeface="Verdana"/>
                <a:sym typeface="Verdana"/>
              </a:rPr>
              <a:t>'Car'</a:t>
            </a:r>
            <a:r>
              <a:rPr lang="en" sz="1600">
                <a:solidFill>
                  <a:schemeClr val="dk2"/>
                </a:solidFill>
                <a:latin typeface="Verdana"/>
                <a:ea typeface="Verdana"/>
                <a:cs typeface="Verdana"/>
                <a:sym typeface="Verdana"/>
              </a:rPr>
              <a:t> and this is erroneous.</a:t>
            </a:r>
            <a:endParaRPr sz="1600">
              <a:solidFill>
                <a:schemeClr val="dk2"/>
              </a:solidFill>
              <a:latin typeface="Verdana"/>
              <a:ea typeface="Verdana"/>
              <a:cs typeface="Verdana"/>
              <a:sym typeface="Verdana"/>
            </a:endParaRPr>
          </a:p>
          <a:p>
            <a:pPr indent="-330200" lvl="1" marL="914400" rtl="0" algn="l">
              <a:spcBef>
                <a:spcPts val="0"/>
              </a:spcBef>
              <a:spcAft>
                <a:spcPts val="0"/>
              </a:spcAft>
              <a:buClr>
                <a:schemeClr val="dk2"/>
              </a:buClr>
              <a:buSzPts val="1600"/>
              <a:buFont typeface="Verdana"/>
              <a:buChar char="○"/>
            </a:pPr>
            <a:r>
              <a:rPr lang="en" sz="1600">
                <a:solidFill>
                  <a:schemeClr val="dk2"/>
                </a:solidFill>
                <a:latin typeface="Verdana"/>
                <a:ea typeface="Verdana"/>
                <a:cs typeface="Verdana"/>
                <a:sym typeface="Verdana"/>
              </a:rPr>
              <a:t>If you lemmatize the word </a:t>
            </a:r>
            <a:r>
              <a:rPr b="1" lang="en" sz="1600">
                <a:solidFill>
                  <a:srgbClr val="A31515"/>
                </a:solidFill>
                <a:latin typeface="Verdana"/>
                <a:ea typeface="Verdana"/>
                <a:cs typeface="Verdana"/>
                <a:sym typeface="Verdana"/>
              </a:rPr>
              <a:t>'Stripes'</a:t>
            </a:r>
            <a:r>
              <a:rPr lang="en" sz="1600">
                <a:solidFill>
                  <a:schemeClr val="dk2"/>
                </a:solidFill>
                <a:latin typeface="Verdana"/>
                <a:ea typeface="Verdana"/>
                <a:cs typeface="Verdana"/>
                <a:sym typeface="Verdana"/>
              </a:rPr>
              <a:t> in </a:t>
            </a:r>
            <a:r>
              <a:rPr lang="en" sz="1600" u="sng">
                <a:solidFill>
                  <a:schemeClr val="dk2"/>
                </a:solidFill>
                <a:latin typeface="Verdana"/>
                <a:ea typeface="Verdana"/>
                <a:cs typeface="Verdana"/>
                <a:sym typeface="Verdana"/>
              </a:rPr>
              <a:t>verb</a:t>
            </a:r>
            <a:r>
              <a:rPr lang="en" sz="1600">
                <a:solidFill>
                  <a:schemeClr val="dk2"/>
                </a:solidFill>
                <a:latin typeface="Verdana"/>
                <a:ea typeface="Verdana"/>
                <a:cs typeface="Verdana"/>
                <a:sym typeface="Verdana"/>
              </a:rPr>
              <a:t> context, it would return </a:t>
            </a:r>
            <a:r>
              <a:rPr b="1" lang="en" sz="1600">
                <a:solidFill>
                  <a:srgbClr val="A31515"/>
                </a:solidFill>
                <a:latin typeface="Verdana"/>
                <a:ea typeface="Verdana"/>
                <a:cs typeface="Verdana"/>
                <a:sym typeface="Verdana"/>
              </a:rPr>
              <a:t>'Strip'</a:t>
            </a:r>
            <a:r>
              <a:rPr lang="en" sz="1600">
                <a:solidFill>
                  <a:schemeClr val="dk2"/>
                </a:solidFill>
                <a:latin typeface="Verdana"/>
                <a:ea typeface="Verdana"/>
                <a:cs typeface="Verdana"/>
                <a:sym typeface="Verdana"/>
              </a:rPr>
              <a:t>. If you lemmatize it in </a:t>
            </a:r>
            <a:r>
              <a:rPr lang="en" sz="1600" u="sng">
                <a:solidFill>
                  <a:schemeClr val="dk2"/>
                </a:solidFill>
                <a:latin typeface="Verdana"/>
                <a:ea typeface="Verdana"/>
                <a:cs typeface="Verdana"/>
                <a:sym typeface="Verdana"/>
              </a:rPr>
              <a:t>noun</a:t>
            </a:r>
            <a:r>
              <a:rPr lang="en" sz="1600">
                <a:solidFill>
                  <a:schemeClr val="dk2"/>
                </a:solidFill>
                <a:latin typeface="Verdana"/>
                <a:ea typeface="Verdana"/>
                <a:cs typeface="Verdana"/>
                <a:sym typeface="Verdana"/>
              </a:rPr>
              <a:t> context, it would return </a:t>
            </a:r>
            <a:r>
              <a:rPr b="1" lang="en" sz="1600">
                <a:solidFill>
                  <a:srgbClr val="A31515"/>
                </a:solidFill>
                <a:latin typeface="Verdana"/>
                <a:ea typeface="Verdana"/>
                <a:cs typeface="Verdana"/>
                <a:sym typeface="Verdana"/>
              </a:rPr>
              <a:t>'Stripe'</a:t>
            </a:r>
            <a:r>
              <a:rPr lang="en" sz="1600">
                <a:solidFill>
                  <a:schemeClr val="dk2"/>
                </a:solidFill>
                <a:latin typeface="Verdana"/>
                <a:ea typeface="Verdana"/>
                <a:cs typeface="Verdana"/>
                <a:sym typeface="Verdana"/>
              </a:rPr>
              <a:t>. If you just </a:t>
            </a:r>
            <a:r>
              <a:rPr b="1" lang="en" sz="1600">
                <a:solidFill>
                  <a:schemeClr val="accent4"/>
                </a:solidFill>
                <a:latin typeface="Verdana"/>
                <a:ea typeface="Verdana"/>
                <a:cs typeface="Verdana"/>
                <a:sym typeface="Verdana"/>
              </a:rPr>
              <a:t>stem</a:t>
            </a:r>
            <a:r>
              <a:rPr lang="en" sz="1600">
                <a:solidFill>
                  <a:schemeClr val="dk2"/>
                </a:solidFill>
                <a:latin typeface="Verdana"/>
                <a:ea typeface="Verdana"/>
                <a:cs typeface="Verdana"/>
                <a:sym typeface="Verdana"/>
              </a:rPr>
              <a:t> it, it would just return </a:t>
            </a:r>
            <a:r>
              <a:rPr b="1" lang="en" sz="1600">
                <a:solidFill>
                  <a:srgbClr val="A31515"/>
                </a:solidFill>
                <a:latin typeface="Verdana"/>
                <a:ea typeface="Verdana"/>
                <a:cs typeface="Verdana"/>
                <a:sym typeface="Verdana"/>
              </a:rPr>
              <a:t>'Strip'</a:t>
            </a:r>
            <a:r>
              <a:rPr lang="en" sz="1600">
                <a:solidFill>
                  <a:schemeClr val="dk2"/>
                </a:solidFill>
                <a:latin typeface="Verdana"/>
                <a:ea typeface="Verdana"/>
                <a:cs typeface="Verdana"/>
                <a:sym typeface="Verdana"/>
              </a:rPr>
              <a:t>.</a:t>
            </a:r>
            <a:endParaRPr sz="1600">
              <a:solidFill>
                <a:schemeClr val="dk2"/>
              </a:solidFill>
              <a:latin typeface="Verdana"/>
              <a:ea typeface="Verdana"/>
              <a:cs typeface="Verdana"/>
              <a:sym typeface="Verdana"/>
            </a:endParaRPr>
          </a:p>
          <a:p>
            <a:pPr indent="-330200" lvl="1" marL="914400" rtl="0" algn="l">
              <a:spcBef>
                <a:spcPts val="0"/>
              </a:spcBef>
              <a:spcAft>
                <a:spcPts val="0"/>
              </a:spcAft>
              <a:buClr>
                <a:schemeClr val="dk2"/>
              </a:buClr>
              <a:buSzPts val="1600"/>
              <a:buFont typeface="Verdana"/>
              <a:buChar char="○"/>
            </a:pPr>
            <a:r>
              <a:rPr lang="en" sz="1600">
                <a:solidFill>
                  <a:schemeClr val="dk2"/>
                </a:solidFill>
                <a:latin typeface="Verdana"/>
                <a:ea typeface="Verdana"/>
                <a:cs typeface="Verdana"/>
                <a:sym typeface="Verdana"/>
              </a:rPr>
              <a:t>You would get same results whether you </a:t>
            </a:r>
            <a:r>
              <a:rPr b="1" lang="en" sz="1600">
                <a:solidFill>
                  <a:schemeClr val="accent4"/>
                </a:solidFill>
                <a:latin typeface="Verdana"/>
                <a:ea typeface="Verdana"/>
                <a:cs typeface="Verdana"/>
                <a:sym typeface="Verdana"/>
              </a:rPr>
              <a:t>lemmatize</a:t>
            </a:r>
            <a:r>
              <a:rPr lang="en" sz="1600">
                <a:solidFill>
                  <a:schemeClr val="dk2"/>
                </a:solidFill>
                <a:latin typeface="Verdana"/>
                <a:ea typeface="Verdana"/>
                <a:cs typeface="Verdana"/>
                <a:sym typeface="Verdana"/>
              </a:rPr>
              <a:t> or </a:t>
            </a:r>
            <a:r>
              <a:rPr b="1" lang="en" sz="1600">
                <a:solidFill>
                  <a:schemeClr val="accent4"/>
                </a:solidFill>
                <a:latin typeface="Verdana"/>
                <a:ea typeface="Verdana"/>
                <a:cs typeface="Verdana"/>
                <a:sym typeface="Verdana"/>
              </a:rPr>
              <a:t>stem</a:t>
            </a:r>
            <a:r>
              <a:rPr lang="en" sz="1600">
                <a:solidFill>
                  <a:schemeClr val="dk2"/>
                </a:solidFill>
                <a:latin typeface="Verdana"/>
                <a:ea typeface="Verdana"/>
                <a:cs typeface="Verdana"/>
                <a:sym typeface="Verdana"/>
              </a:rPr>
              <a:t> words such as </a:t>
            </a:r>
            <a:r>
              <a:rPr b="1" lang="en" sz="1600">
                <a:solidFill>
                  <a:srgbClr val="A31515"/>
                </a:solidFill>
                <a:latin typeface="Verdana"/>
                <a:ea typeface="Verdana"/>
                <a:cs typeface="Verdana"/>
                <a:sym typeface="Verdana"/>
              </a:rPr>
              <a:t>walking</a:t>
            </a:r>
            <a:r>
              <a:rPr lang="en" sz="1600">
                <a:solidFill>
                  <a:schemeClr val="dk2"/>
                </a:solidFill>
                <a:latin typeface="Verdana"/>
                <a:ea typeface="Verdana"/>
                <a:cs typeface="Verdana"/>
                <a:sym typeface="Verdana"/>
              </a:rPr>
              <a:t>, </a:t>
            </a:r>
            <a:r>
              <a:rPr b="1" lang="en" sz="1600">
                <a:solidFill>
                  <a:srgbClr val="A31515"/>
                </a:solidFill>
                <a:latin typeface="Verdana"/>
                <a:ea typeface="Verdana"/>
                <a:cs typeface="Verdana"/>
                <a:sym typeface="Verdana"/>
              </a:rPr>
              <a:t>running</a:t>
            </a:r>
            <a:r>
              <a:rPr lang="en" sz="1600">
                <a:solidFill>
                  <a:schemeClr val="dk2"/>
                </a:solidFill>
                <a:latin typeface="Verdana"/>
                <a:ea typeface="Verdana"/>
                <a:cs typeface="Verdana"/>
                <a:sym typeface="Verdana"/>
              </a:rPr>
              <a:t>, </a:t>
            </a:r>
            <a:r>
              <a:rPr b="1" lang="en" sz="1600">
                <a:solidFill>
                  <a:srgbClr val="A31515"/>
                </a:solidFill>
                <a:latin typeface="Verdana"/>
                <a:ea typeface="Verdana"/>
                <a:cs typeface="Verdana"/>
                <a:sym typeface="Verdana"/>
              </a:rPr>
              <a:t>swimming</a:t>
            </a:r>
            <a:r>
              <a:rPr lang="en" sz="1600">
                <a:solidFill>
                  <a:schemeClr val="dk2"/>
                </a:solidFill>
                <a:latin typeface="Verdana"/>
                <a:ea typeface="Verdana"/>
                <a:cs typeface="Verdana"/>
                <a:sym typeface="Verdana"/>
              </a:rPr>
              <a:t>... to </a:t>
            </a:r>
            <a:r>
              <a:rPr b="1" lang="en" sz="1600">
                <a:solidFill>
                  <a:srgbClr val="A31515"/>
                </a:solidFill>
                <a:latin typeface="Verdana"/>
                <a:ea typeface="Verdana"/>
                <a:cs typeface="Verdana"/>
                <a:sym typeface="Verdana"/>
              </a:rPr>
              <a:t>walk</a:t>
            </a:r>
            <a:r>
              <a:rPr lang="en" sz="1600">
                <a:solidFill>
                  <a:schemeClr val="dk2"/>
                </a:solidFill>
                <a:latin typeface="Verdana"/>
                <a:ea typeface="Verdana"/>
                <a:cs typeface="Verdana"/>
                <a:sym typeface="Verdana"/>
              </a:rPr>
              <a:t>, </a:t>
            </a:r>
            <a:r>
              <a:rPr b="1" lang="en" sz="1600">
                <a:solidFill>
                  <a:srgbClr val="A31515"/>
                </a:solidFill>
                <a:latin typeface="Verdana"/>
                <a:ea typeface="Verdana"/>
                <a:cs typeface="Verdana"/>
                <a:sym typeface="Verdana"/>
              </a:rPr>
              <a:t>run</a:t>
            </a:r>
            <a:r>
              <a:rPr lang="en" sz="1600">
                <a:solidFill>
                  <a:schemeClr val="dk2"/>
                </a:solidFill>
                <a:latin typeface="Verdana"/>
                <a:ea typeface="Verdana"/>
                <a:cs typeface="Verdana"/>
                <a:sym typeface="Verdana"/>
              </a:rPr>
              <a:t>, </a:t>
            </a:r>
            <a:r>
              <a:rPr b="1" lang="en" sz="1600">
                <a:solidFill>
                  <a:srgbClr val="A31515"/>
                </a:solidFill>
                <a:latin typeface="Verdana"/>
                <a:ea typeface="Verdana"/>
                <a:cs typeface="Verdana"/>
                <a:sym typeface="Verdana"/>
              </a:rPr>
              <a:t>swim</a:t>
            </a:r>
            <a:r>
              <a:rPr lang="en" sz="1600">
                <a:solidFill>
                  <a:schemeClr val="dk2"/>
                </a:solidFill>
                <a:latin typeface="Verdana"/>
                <a:ea typeface="Verdana"/>
                <a:cs typeface="Verdana"/>
                <a:sym typeface="Verdana"/>
              </a:rPr>
              <a:t> etc.</a:t>
            </a:r>
            <a:endParaRPr sz="1600">
              <a:solidFill>
                <a:schemeClr val="dk2"/>
              </a:solidFill>
              <a:latin typeface="Verdana"/>
              <a:ea typeface="Verdana"/>
              <a:cs typeface="Verdana"/>
              <a:sym typeface="Verdana"/>
            </a:endParaRPr>
          </a:p>
          <a:p>
            <a:pPr indent="-330200" lvl="1" marL="914400" rtl="0" algn="l">
              <a:spcBef>
                <a:spcPts val="0"/>
              </a:spcBef>
              <a:spcAft>
                <a:spcPts val="0"/>
              </a:spcAft>
              <a:buClr>
                <a:schemeClr val="dk2"/>
              </a:buClr>
              <a:buSzPts val="1600"/>
              <a:buFont typeface="Verdana"/>
              <a:buChar char="○"/>
            </a:pPr>
            <a:r>
              <a:rPr b="1" lang="en" sz="1600">
                <a:solidFill>
                  <a:schemeClr val="accent4"/>
                </a:solidFill>
                <a:latin typeface="Verdana"/>
                <a:ea typeface="Verdana"/>
                <a:cs typeface="Verdana"/>
                <a:sym typeface="Verdana"/>
              </a:rPr>
              <a:t>Lemmatization</a:t>
            </a:r>
            <a:r>
              <a:rPr lang="en" sz="1600">
                <a:solidFill>
                  <a:schemeClr val="dk2"/>
                </a:solidFill>
                <a:latin typeface="Verdana"/>
                <a:ea typeface="Verdana"/>
                <a:cs typeface="Verdana"/>
                <a:sym typeface="Verdana"/>
              </a:rPr>
              <a:t> is computationally expensive since it involves look-up tables and what not. </a:t>
            </a:r>
            <a:r>
              <a:rPr lang="en" sz="1600" u="sng">
                <a:solidFill>
                  <a:schemeClr val="dk2"/>
                </a:solidFill>
                <a:latin typeface="Verdana"/>
                <a:ea typeface="Verdana"/>
                <a:cs typeface="Verdana"/>
                <a:sym typeface="Verdana"/>
              </a:rPr>
              <a:t>If you have large dataset and performance is an issue, go with </a:t>
            </a:r>
            <a:r>
              <a:rPr b="1" lang="en" sz="1600" u="sng">
                <a:solidFill>
                  <a:schemeClr val="accent4"/>
                </a:solidFill>
                <a:latin typeface="Verdana"/>
                <a:ea typeface="Verdana"/>
                <a:cs typeface="Verdana"/>
                <a:sym typeface="Verdana"/>
              </a:rPr>
              <a:t>Stemming</a:t>
            </a:r>
            <a:r>
              <a:rPr lang="en" sz="1600">
                <a:solidFill>
                  <a:schemeClr val="dk2"/>
                </a:solidFill>
                <a:latin typeface="Verdana"/>
                <a:ea typeface="Verdana"/>
                <a:cs typeface="Verdana"/>
                <a:sym typeface="Verdana"/>
              </a:rPr>
              <a:t>. Remember you can also add your own rules to Stemming. If accuracy is important and dataset isn't huge, go with </a:t>
            </a:r>
            <a:r>
              <a:rPr b="1" lang="en" sz="1600">
                <a:solidFill>
                  <a:schemeClr val="accent4"/>
                </a:solidFill>
                <a:latin typeface="Verdana"/>
                <a:ea typeface="Verdana"/>
                <a:cs typeface="Verdana"/>
                <a:sym typeface="Verdana"/>
              </a:rPr>
              <a:t>Lemmatization</a:t>
            </a:r>
            <a:r>
              <a:rPr lang="en" sz="1600">
                <a:solidFill>
                  <a:schemeClr val="dk2"/>
                </a:solidFill>
                <a:latin typeface="Verdana"/>
                <a:ea typeface="Verdana"/>
                <a:cs typeface="Verdana"/>
                <a:sym typeface="Verdana"/>
              </a:rPr>
              <a:t>. (</a:t>
            </a:r>
            <a:r>
              <a:rPr lang="en" sz="1600" u="sng">
                <a:solidFill>
                  <a:schemeClr val="hlink"/>
                </a:solidFill>
                <a:latin typeface="Verdana"/>
                <a:ea typeface="Verdana"/>
                <a:cs typeface="Verdana"/>
                <a:sym typeface="Verdana"/>
                <a:hlinkClick r:id="rId3"/>
              </a:rPr>
              <a:t>Source</a:t>
            </a:r>
            <a:r>
              <a:rPr lang="en" sz="1600">
                <a:solidFill>
                  <a:schemeClr val="dk2"/>
                </a:solidFill>
                <a:latin typeface="Verdana"/>
                <a:ea typeface="Verdana"/>
                <a:cs typeface="Verdana"/>
                <a:sym typeface="Verdana"/>
              </a:rPr>
              <a:t>)</a:t>
            </a:r>
            <a:endParaRPr sz="1600">
              <a:solidFill>
                <a:schemeClr val="dk2"/>
              </a:solidFill>
              <a:latin typeface="Verdana"/>
              <a:ea typeface="Verdana"/>
              <a:cs typeface="Verdana"/>
              <a:sym typeface="Verdana"/>
            </a:endParaRPr>
          </a:p>
        </p:txBody>
      </p:sp>
      <p:sp>
        <p:nvSpPr>
          <p:cNvPr id="374" name="Google Shape;374;p57"/>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6"/>
              <a:buFont typeface="Arial"/>
              <a:buNone/>
            </a:pPr>
            <a:r>
              <a:rPr lang="en">
                <a:solidFill>
                  <a:srgbClr val="980000"/>
                </a:solidFill>
                <a:latin typeface="Verdana"/>
                <a:ea typeface="Verdana"/>
                <a:cs typeface="Verdana"/>
                <a:sym typeface="Verdana"/>
              </a:rPr>
              <a:t>Vocabulary Normalization - Stemming &amp; Lemmatization</a:t>
            </a:r>
            <a:endParaRPr>
              <a:solidFill>
                <a:srgbClr val="980000"/>
              </a:solidFill>
              <a:latin typeface="Verdana"/>
              <a:ea typeface="Verdana"/>
              <a:cs typeface="Verdana"/>
              <a:sym typeface="Verdana"/>
            </a:endParaRPr>
          </a:p>
          <a:p>
            <a:pPr indent="0" lvl="0" marL="0" rtl="0" algn="l">
              <a:spcBef>
                <a:spcPts val="0"/>
              </a:spcBef>
              <a:spcAft>
                <a:spcPts val="0"/>
              </a:spcAft>
              <a:buNone/>
            </a:pPr>
            <a:r>
              <a:t/>
            </a:r>
            <a:endParaRPr>
              <a:solidFill>
                <a:srgbClr val="980000"/>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0" st="0"/>
                                            </p:txEl>
                                          </p:spTgt>
                                        </p:tgtEl>
                                        <p:attrNameLst>
                                          <p:attrName>style.visibility</p:attrName>
                                        </p:attrNameLst>
                                      </p:cBhvr>
                                      <p:to>
                                        <p:strVal val="visible"/>
                                      </p:to>
                                    </p:set>
                                    <p:animEffect filter="fade" transition="in">
                                      <p:cBhvr>
                                        <p:cTn dur="1000"/>
                                        <p:tgtEl>
                                          <p:spTgt spid="3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1" st="1"/>
                                            </p:txEl>
                                          </p:spTgt>
                                        </p:tgtEl>
                                        <p:attrNameLst>
                                          <p:attrName>style.visibility</p:attrName>
                                        </p:attrNameLst>
                                      </p:cBhvr>
                                      <p:to>
                                        <p:strVal val="visible"/>
                                      </p:to>
                                    </p:set>
                                    <p:animEffect filter="fade" transition="in">
                                      <p:cBhvr>
                                        <p:cTn dur="1000"/>
                                        <p:tgtEl>
                                          <p:spTgt spid="3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2" st="2"/>
                                            </p:txEl>
                                          </p:spTgt>
                                        </p:tgtEl>
                                        <p:attrNameLst>
                                          <p:attrName>style.visibility</p:attrName>
                                        </p:attrNameLst>
                                      </p:cBhvr>
                                      <p:to>
                                        <p:strVal val="visible"/>
                                      </p:to>
                                    </p:set>
                                    <p:animEffect filter="fade" transition="in">
                                      <p:cBhvr>
                                        <p:cTn dur="1000"/>
                                        <p:tgtEl>
                                          <p:spTgt spid="3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3" st="3"/>
                                            </p:txEl>
                                          </p:spTgt>
                                        </p:tgtEl>
                                        <p:attrNameLst>
                                          <p:attrName>style.visibility</p:attrName>
                                        </p:attrNameLst>
                                      </p:cBhvr>
                                      <p:to>
                                        <p:strVal val="visible"/>
                                      </p:to>
                                    </p:set>
                                    <p:animEffect filter="fade" transition="in">
                                      <p:cBhvr>
                                        <p:cTn dur="1000"/>
                                        <p:tgtEl>
                                          <p:spTgt spid="3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4" st="4"/>
                                            </p:txEl>
                                          </p:spTgt>
                                        </p:tgtEl>
                                        <p:attrNameLst>
                                          <p:attrName>style.visibility</p:attrName>
                                        </p:attrNameLst>
                                      </p:cBhvr>
                                      <p:to>
                                        <p:strVal val="visible"/>
                                      </p:to>
                                    </p:set>
                                    <p:animEffect filter="fade" transition="in">
                                      <p:cBhvr>
                                        <p:cTn dur="1000"/>
                                        <p:tgtEl>
                                          <p:spTgt spid="37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8"/>
          <p:cNvSpPr txBox="1"/>
          <p:nvPr>
            <p:ph idx="1" type="body"/>
          </p:nvPr>
        </p:nvSpPr>
        <p:spPr>
          <a:xfrm>
            <a:off x="311700" y="1167800"/>
            <a:ext cx="8655900" cy="3975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600">
                <a:solidFill>
                  <a:schemeClr val="dk2"/>
                </a:solidFill>
                <a:latin typeface="Source Code Pro"/>
                <a:ea typeface="Source Code Pro"/>
                <a:cs typeface="Source Code Pro"/>
                <a:sym typeface="Source Code Pro"/>
              </a:rPr>
              <a:t>from nltk.stem import WordNetLemmatizer</a:t>
            </a: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0"/>
              </a:spcAft>
              <a:buNone/>
            </a:pPr>
            <a:r>
              <a:rPr b="1" lang="en" sz="1600">
                <a:solidFill>
                  <a:schemeClr val="dk2"/>
                </a:solidFill>
                <a:latin typeface="Source Code Pro"/>
                <a:ea typeface="Source Code Pro"/>
                <a:cs typeface="Source Code Pro"/>
                <a:sym typeface="Source Code Pro"/>
              </a:rPr>
              <a:t>from nltk import word_tokenize, wordpunct_tokenize, pos_tag</a:t>
            </a: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0"/>
              </a:spcAft>
              <a:buNone/>
            </a:pPr>
            <a:r>
              <a:rPr b="1" lang="en" sz="1600">
                <a:solidFill>
                  <a:schemeClr val="dk2"/>
                </a:solidFill>
                <a:latin typeface="Source Code Pro"/>
                <a:ea typeface="Source Code Pro"/>
                <a:cs typeface="Source Code Pro"/>
                <a:sym typeface="Source Code Pro"/>
              </a:rPr>
              <a:t>import nltk</a:t>
            </a: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0"/>
              </a:spcAft>
              <a:buNone/>
            </a:pPr>
            <a:r>
              <a:rPr b="1" lang="en" sz="1600">
                <a:solidFill>
                  <a:schemeClr val="dk2"/>
                </a:solidFill>
                <a:latin typeface="Source Code Pro"/>
                <a:ea typeface="Source Code Pro"/>
                <a:cs typeface="Source Code Pro"/>
                <a:sym typeface="Source Code Pro"/>
              </a:rPr>
              <a:t>from nltk.corpus import wordnet</a:t>
            </a: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0"/>
              </a:spcAft>
              <a:buNone/>
            </a:pPr>
            <a:r>
              <a:rPr b="1" lang="en" sz="1600">
                <a:solidFill>
                  <a:schemeClr val="dk2"/>
                </a:solidFill>
                <a:latin typeface="Source Code Pro"/>
                <a:ea typeface="Source Code Pro"/>
                <a:cs typeface="Source Code Pro"/>
                <a:sym typeface="Source Code Pro"/>
              </a:rPr>
              <a:t>nltk.download('wordnet')</a:t>
            </a: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0"/>
              </a:spcAft>
              <a:buNone/>
            </a:pPr>
            <a:r>
              <a:rPr b="1" lang="en" sz="1600">
                <a:solidFill>
                  <a:schemeClr val="dk2"/>
                </a:solidFill>
                <a:latin typeface="Source Code Pro"/>
                <a:ea typeface="Source Code Pro"/>
                <a:cs typeface="Source Code Pro"/>
                <a:sym typeface="Source Code Pro"/>
              </a:rPr>
              <a:t>nltk.download('averaged_perceptron_tagger')</a:t>
            </a:r>
            <a:br>
              <a:rPr b="1" lang="en" sz="1600">
                <a:solidFill>
                  <a:schemeClr val="dk2"/>
                </a:solidFill>
                <a:latin typeface="Source Code Pro"/>
                <a:ea typeface="Source Code Pro"/>
                <a:cs typeface="Source Code Pro"/>
                <a:sym typeface="Source Code Pro"/>
              </a:rPr>
            </a:b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0"/>
              </a:spcAft>
              <a:buNone/>
            </a:pPr>
            <a:r>
              <a:rPr b="1" lang="en" sz="1600">
                <a:solidFill>
                  <a:schemeClr val="dk2"/>
                </a:solidFill>
                <a:latin typeface="Source Code Pro"/>
                <a:ea typeface="Source Code Pro"/>
                <a:cs typeface="Source Code Pro"/>
                <a:sym typeface="Source Code Pro"/>
              </a:rPr>
              <a:t>nltk.pos_tag(["going"]) </a:t>
            </a:r>
            <a:r>
              <a:rPr b="1" lang="en" sz="1600">
                <a:solidFill>
                  <a:srgbClr val="007020"/>
                </a:solidFill>
                <a:latin typeface="Source Code Pro"/>
                <a:ea typeface="Source Code Pro"/>
                <a:cs typeface="Source Code Pro"/>
                <a:sym typeface="Source Code Pro"/>
              </a:rPr>
              <a:t># outputs -&gt; [('going', 'VBG')]</a:t>
            </a:r>
            <a:endParaRPr b="1" sz="1600">
              <a:solidFill>
                <a:srgbClr val="007020"/>
              </a:solidFill>
              <a:latin typeface="Source Code Pro"/>
              <a:ea typeface="Source Code Pro"/>
              <a:cs typeface="Source Code Pro"/>
              <a:sym typeface="Source Code Pro"/>
            </a:endParaRPr>
          </a:p>
          <a:p>
            <a:pPr indent="0" lvl="0" marL="0" rtl="0" algn="l">
              <a:spcBef>
                <a:spcPts val="1200"/>
              </a:spcBef>
              <a:spcAft>
                <a:spcPts val="1200"/>
              </a:spcAft>
              <a:buNone/>
            </a:pPr>
            <a:r>
              <a:t/>
            </a:r>
            <a:endParaRPr b="1" sz="1600">
              <a:solidFill>
                <a:schemeClr val="dk2"/>
              </a:solidFill>
              <a:latin typeface="Source Code Pro"/>
              <a:ea typeface="Source Code Pro"/>
              <a:cs typeface="Source Code Pro"/>
              <a:sym typeface="Source Code Pro"/>
            </a:endParaRPr>
          </a:p>
        </p:txBody>
      </p:sp>
      <p:sp>
        <p:nvSpPr>
          <p:cNvPr id="380" name="Google Shape;380;p58"/>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Vocabulary Normalization - Stemming &amp; Lemmatization</a:t>
            </a:r>
            <a:endParaRPr>
              <a:solidFill>
                <a:srgbClr val="980000"/>
              </a:solidFill>
              <a:latin typeface="Verdana"/>
              <a:ea typeface="Verdana"/>
              <a:cs typeface="Verdana"/>
              <a:sym typeface="Verdana"/>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9"/>
          <p:cNvSpPr txBox="1"/>
          <p:nvPr>
            <p:ph idx="1" type="body"/>
          </p:nvPr>
        </p:nvSpPr>
        <p:spPr>
          <a:xfrm>
            <a:off x="311700" y="1167800"/>
            <a:ext cx="8655900" cy="3975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Clr>
                <a:schemeClr val="dk2"/>
              </a:buClr>
              <a:buSzPct val="68750"/>
              <a:buFont typeface="Arial"/>
              <a:buNone/>
            </a:pPr>
            <a:r>
              <a:rPr b="1" lang="en" sz="1600">
                <a:solidFill>
                  <a:schemeClr val="dk2"/>
                </a:solidFill>
                <a:latin typeface="Source Code Pro"/>
                <a:ea typeface="Source Code Pro"/>
                <a:cs typeface="Source Code Pro"/>
                <a:sym typeface="Source Code Pro"/>
              </a:rPr>
              <a:t>def get_wordnet_pos(word):</a:t>
            </a: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0"/>
              </a:spcAft>
              <a:buClr>
                <a:schemeClr val="dk2"/>
              </a:buClr>
              <a:buSzPct val="68750"/>
              <a:buFont typeface="Arial"/>
              <a:buNone/>
            </a:pPr>
            <a:r>
              <a:rPr b="1" lang="en" sz="1600">
                <a:solidFill>
                  <a:schemeClr val="dk2"/>
                </a:solidFill>
                <a:latin typeface="Source Code Pro"/>
                <a:ea typeface="Source Code Pro"/>
                <a:cs typeface="Source Code Pro"/>
                <a:sym typeface="Source Code Pro"/>
              </a:rPr>
              <a:t>    </a:t>
            </a:r>
            <a:r>
              <a:rPr b="1" lang="en" sz="1600">
                <a:solidFill>
                  <a:srgbClr val="A31515"/>
                </a:solidFill>
                <a:latin typeface="Source Code Pro"/>
                <a:ea typeface="Source Code Pro"/>
                <a:cs typeface="Source Code Pro"/>
                <a:sym typeface="Source Code Pro"/>
              </a:rPr>
              <a:t>"""Map POS tag to first character lemmatize() accepts"""</a:t>
            </a:r>
            <a:endParaRPr b="1" sz="1600">
              <a:solidFill>
                <a:srgbClr val="A31515"/>
              </a:solidFill>
              <a:latin typeface="Source Code Pro"/>
              <a:ea typeface="Source Code Pro"/>
              <a:cs typeface="Source Code Pro"/>
              <a:sym typeface="Source Code Pro"/>
            </a:endParaRPr>
          </a:p>
          <a:p>
            <a:pPr indent="0" lvl="0" marL="0" rtl="0" algn="l">
              <a:spcBef>
                <a:spcPts val="1200"/>
              </a:spcBef>
              <a:spcAft>
                <a:spcPts val="0"/>
              </a:spcAft>
              <a:buClr>
                <a:schemeClr val="dk2"/>
              </a:buClr>
              <a:buSzPct val="68750"/>
              <a:buFont typeface="Arial"/>
              <a:buNone/>
            </a:pPr>
            <a:r>
              <a:rPr b="1" lang="en" sz="1600">
                <a:solidFill>
                  <a:schemeClr val="dk2"/>
                </a:solidFill>
                <a:latin typeface="Source Code Pro"/>
                <a:ea typeface="Source Code Pro"/>
                <a:cs typeface="Source Code Pro"/>
                <a:sym typeface="Source Code Pro"/>
              </a:rPr>
              <a:t>    tag = nltk.pos_tag([word])[0][1][0].upper()</a:t>
            </a: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0"/>
              </a:spcAft>
              <a:buClr>
                <a:schemeClr val="dk2"/>
              </a:buClr>
              <a:buSzPct val="68750"/>
              <a:buFont typeface="Arial"/>
              <a:buNone/>
            </a:pPr>
            <a:r>
              <a:rPr b="1" lang="en" sz="1600">
                <a:solidFill>
                  <a:schemeClr val="dk2"/>
                </a:solidFill>
                <a:latin typeface="Source Code Pro"/>
                <a:ea typeface="Source Code Pro"/>
                <a:cs typeface="Source Code Pro"/>
                <a:sym typeface="Source Code Pro"/>
              </a:rPr>
              <a:t>    tag_dict = {"J": wordnet.ADJ,</a:t>
            </a: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0"/>
              </a:spcAft>
              <a:buClr>
                <a:schemeClr val="dk2"/>
              </a:buClr>
              <a:buSzPct val="68750"/>
              <a:buFont typeface="Arial"/>
              <a:buNone/>
            </a:pPr>
            <a:r>
              <a:rPr b="1" lang="en" sz="1600">
                <a:solidFill>
                  <a:schemeClr val="dk2"/>
                </a:solidFill>
                <a:latin typeface="Source Code Pro"/>
                <a:ea typeface="Source Code Pro"/>
                <a:cs typeface="Source Code Pro"/>
                <a:sym typeface="Source Code Pro"/>
              </a:rPr>
              <a:t>                "N": wordnet.NOUN,</a:t>
            </a: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0"/>
              </a:spcAft>
              <a:buClr>
                <a:schemeClr val="dk2"/>
              </a:buClr>
              <a:buSzPct val="68750"/>
              <a:buFont typeface="Arial"/>
              <a:buNone/>
            </a:pPr>
            <a:r>
              <a:rPr b="1" lang="en" sz="1600">
                <a:solidFill>
                  <a:schemeClr val="dk2"/>
                </a:solidFill>
                <a:latin typeface="Source Code Pro"/>
                <a:ea typeface="Source Code Pro"/>
                <a:cs typeface="Source Code Pro"/>
                <a:sym typeface="Source Code Pro"/>
              </a:rPr>
              <a:t>                "V": wordnet.VERB,</a:t>
            </a: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0"/>
              </a:spcAft>
              <a:buClr>
                <a:schemeClr val="dk2"/>
              </a:buClr>
              <a:buSzPct val="68750"/>
              <a:buFont typeface="Arial"/>
              <a:buNone/>
            </a:pPr>
            <a:r>
              <a:rPr b="1" lang="en" sz="1600">
                <a:solidFill>
                  <a:schemeClr val="dk2"/>
                </a:solidFill>
                <a:latin typeface="Source Code Pro"/>
                <a:ea typeface="Source Code Pro"/>
                <a:cs typeface="Source Code Pro"/>
                <a:sym typeface="Source Code Pro"/>
              </a:rPr>
              <a:t>                "R": wordnet.ADV}</a:t>
            </a: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0"/>
              </a:spcAft>
              <a:buNone/>
            </a:pPr>
            <a:r>
              <a:rPr b="1" lang="en" sz="1600">
                <a:solidFill>
                  <a:schemeClr val="dk2"/>
                </a:solidFill>
                <a:latin typeface="Source Code Pro"/>
                <a:ea typeface="Source Code Pro"/>
                <a:cs typeface="Source Code Pro"/>
                <a:sym typeface="Source Code Pro"/>
              </a:rPr>
              <a:t>    return tag_dict.get(tag, wordnet.NOUN)</a:t>
            </a:r>
            <a:br>
              <a:rPr b="1" lang="en" sz="1600">
                <a:solidFill>
                  <a:schemeClr val="dk2"/>
                </a:solidFill>
                <a:latin typeface="Source Code Pro"/>
                <a:ea typeface="Source Code Pro"/>
                <a:cs typeface="Source Code Pro"/>
                <a:sym typeface="Source Code Pro"/>
              </a:rPr>
            </a:b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0"/>
              </a:spcAft>
              <a:buNone/>
            </a:pPr>
            <a:r>
              <a:rPr b="1" lang="en" sz="1600">
                <a:solidFill>
                  <a:schemeClr val="dk2"/>
                </a:solidFill>
                <a:latin typeface="Source Code Pro"/>
                <a:ea typeface="Source Code Pro"/>
                <a:cs typeface="Source Code Pro"/>
                <a:sym typeface="Source Code Pro"/>
              </a:rPr>
              <a:t>get_wordnet_pos("going")</a:t>
            </a:r>
            <a:r>
              <a:rPr b="1" lang="en" sz="1600">
                <a:solidFill>
                  <a:schemeClr val="dk2"/>
                </a:solidFill>
                <a:latin typeface="Source Code Pro"/>
                <a:ea typeface="Source Code Pro"/>
                <a:cs typeface="Source Code Pro"/>
                <a:sym typeface="Source Code Pro"/>
              </a:rPr>
              <a:t> </a:t>
            </a:r>
            <a:r>
              <a:rPr b="1" lang="en" sz="1600">
                <a:solidFill>
                  <a:srgbClr val="007020"/>
                </a:solidFill>
                <a:latin typeface="Source Code Pro"/>
                <a:ea typeface="Source Code Pro"/>
                <a:cs typeface="Source Code Pro"/>
                <a:sym typeface="Source Code Pro"/>
              </a:rPr>
              <a:t># returns -&gt; </a:t>
            </a:r>
            <a:r>
              <a:rPr b="1" lang="en" sz="1600">
                <a:solidFill>
                  <a:srgbClr val="007020"/>
                </a:solidFill>
                <a:latin typeface="Source Code Pro"/>
                <a:ea typeface="Source Code Pro"/>
                <a:cs typeface="Source Code Pro"/>
                <a:sym typeface="Source Code Pro"/>
              </a:rPr>
              <a:t>'v'</a:t>
            </a:r>
            <a:endParaRPr b="1" sz="1600">
              <a:solidFill>
                <a:srgbClr val="007020"/>
              </a:solidFill>
              <a:latin typeface="Source Code Pro"/>
              <a:ea typeface="Source Code Pro"/>
              <a:cs typeface="Source Code Pro"/>
              <a:sym typeface="Source Code Pro"/>
            </a:endParaRPr>
          </a:p>
          <a:p>
            <a:pPr indent="0" lvl="0" marL="0" rtl="0" algn="l">
              <a:spcBef>
                <a:spcPts val="1200"/>
              </a:spcBef>
              <a:spcAft>
                <a:spcPts val="1200"/>
              </a:spcAft>
              <a:buNone/>
            </a:pPr>
            <a:r>
              <a:rPr b="1" lang="en" sz="1600">
                <a:solidFill>
                  <a:schemeClr val="dk2"/>
                </a:solidFill>
                <a:latin typeface="Source Code Pro"/>
                <a:ea typeface="Source Code Pro"/>
                <a:cs typeface="Source Code Pro"/>
                <a:sym typeface="Source Code Pro"/>
              </a:rPr>
              <a:t>get_wordnet_pos("table") </a:t>
            </a:r>
            <a:r>
              <a:rPr b="1" lang="en" sz="1600">
                <a:solidFill>
                  <a:srgbClr val="007020"/>
                </a:solidFill>
                <a:latin typeface="Source Code Pro"/>
                <a:ea typeface="Source Code Pro"/>
                <a:cs typeface="Source Code Pro"/>
                <a:sym typeface="Source Code Pro"/>
              </a:rPr>
              <a:t># returns -&gt; 'n'</a:t>
            </a:r>
            <a:endParaRPr b="1" sz="1600">
              <a:solidFill>
                <a:schemeClr val="dk2"/>
              </a:solidFill>
              <a:latin typeface="Source Code Pro"/>
              <a:ea typeface="Source Code Pro"/>
              <a:cs typeface="Source Code Pro"/>
              <a:sym typeface="Source Code Pro"/>
            </a:endParaRPr>
          </a:p>
        </p:txBody>
      </p:sp>
      <p:sp>
        <p:nvSpPr>
          <p:cNvPr id="386" name="Google Shape;386;p59"/>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Vocabulary Normalization - Stemming &amp; Lemmatization</a:t>
            </a:r>
            <a:endParaRPr>
              <a:solidFill>
                <a:srgbClr val="980000"/>
              </a:solidFill>
              <a:latin typeface="Verdana"/>
              <a:ea typeface="Verdana"/>
              <a:cs typeface="Verdana"/>
              <a:sym typeface="Verdana"/>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60"/>
          <p:cNvSpPr txBox="1"/>
          <p:nvPr>
            <p:ph idx="1" type="body"/>
          </p:nvPr>
        </p:nvSpPr>
        <p:spPr>
          <a:xfrm>
            <a:off x="311700" y="1167800"/>
            <a:ext cx="8655900" cy="3975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600">
                <a:solidFill>
                  <a:schemeClr val="dk2"/>
                </a:solidFill>
                <a:latin typeface="Source Code Pro"/>
                <a:ea typeface="Source Code Pro"/>
                <a:cs typeface="Source Code Pro"/>
                <a:sym typeface="Source Code Pro"/>
              </a:rPr>
              <a:t>def myOwnTokenizer(text): </a:t>
            </a: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0"/>
              </a:spcAft>
              <a:buNone/>
            </a:pPr>
            <a:r>
              <a:rPr b="1" lang="en" sz="1600">
                <a:solidFill>
                  <a:schemeClr val="dk2"/>
                </a:solidFill>
                <a:latin typeface="Source Code Pro"/>
                <a:ea typeface="Source Code Pro"/>
                <a:cs typeface="Source Code Pro"/>
                <a:sym typeface="Source Code Pro"/>
              </a:rPr>
              <a:t>  </a:t>
            </a:r>
            <a:r>
              <a:rPr b="1" lang="en" sz="1600">
                <a:solidFill>
                  <a:srgbClr val="A31515"/>
                </a:solidFill>
                <a:latin typeface="Source Code Pro"/>
                <a:ea typeface="Source Code Pro"/>
                <a:cs typeface="Source Code Pro"/>
                <a:sym typeface="Source Code Pro"/>
              </a:rPr>
              <a:t>lemmatizer = WordNetLemmatizer()</a:t>
            </a:r>
            <a:endParaRPr b="1" sz="1600">
              <a:solidFill>
                <a:srgbClr val="A31515"/>
              </a:solidFill>
              <a:latin typeface="Source Code Pro"/>
              <a:ea typeface="Source Code Pro"/>
              <a:cs typeface="Source Code Pro"/>
              <a:sym typeface="Source Code Pro"/>
            </a:endParaRPr>
          </a:p>
          <a:p>
            <a:pPr indent="0" lvl="0" marL="0" rtl="0" algn="l">
              <a:spcBef>
                <a:spcPts val="1200"/>
              </a:spcBef>
              <a:spcAft>
                <a:spcPts val="0"/>
              </a:spcAft>
              <a:buNone/>
            </a:pPr>
            <a:r>
              <a:rPr b="1" lang="en" sz="1600">
                <a:solidFill>
                  <a:schemeClr val="dk2"/>
                </a:solidFill>
                <a:latin typeface="Source Code Pro"/>
                <a:ea typeface="Source Code Pro"/>
                <a:cs typeface="Source Code Pro"/>
                <a:sym typeface="Source Code Pro"/>
              </a:rPr>
              <a:t>  tokens = wordpunct_tokenize(text)</a:t>
            </a: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0"/>
              </a:spcAft>
              <a:buNone/>
            </a:pPr>
            <a:r>
              <a:rPr b="1" lang="en" sz="1600">
                <a:solidFill>
                  <a:schemeClr val="dk2"/>
                </a:solidFill>
                <a:latin typeface="Source Code Pro"/>
                <a:ea typeface="Source Code Pro"/>
                <a:cs typeface="Source Code Pro"/>
                <a:sym typeface="Source Code Pro"/>
              </a:rPr>
              <a:t>  result = []</a:t>
            </a: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0"/>
              </a:spcAft>
              <a:buNone/>
            </a:pPr>
            <a:r>
              <a:rPr b="1" lang="en" sz="1600">
                <a:solidFill>
                  <a:schemeClr val="dk2"/>
                </a:solidFill>
                <a:latin typeface="Source Code Pro"/>
                <a:ea typeface="Source Code Pro"/>
                <a:cs typeface="Source Code Pro"/>
                <a:sym typeface="Source Code Pro"/>
              </a:rPr>
              <a:t>  for token in tokens:</a:t>
            </a: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0"/>
              </a:spcAft>
              <a:buNone/>
            </a:pPr>
            <a:r>
              <a:rPr b="1" lang="en" sz="1600">
                <a:solidFill>
                  <a:schemeClr val="dk2"/>
                </a:solidFill>
                <a:latin typeface="Source Code Pro"/>
                <a:ea typeface="Source Code Pro"/>
                <a:cs typeface="Source Code Pro"/>
                <a:sym typeface="Source Code Pro"/>
              </a:rPr>
              <a:t>    </a:t>
            </a:r>
            <a:r>
              <a:rPr b="1" lang="en" sz="1600">
                <a:solidFill>
                  <a:srgbClr val="A31515"/>
                </a:solidFill>
                <a:latin typeface="Source Code Pro"/>
                <a:ea typeface="Source Code Pro"/>
                <a:cs typeface="Source Code Pro"/>
                <a:sym typeface="Source Code Pro"/>
              </a:rPr>
              <a:t>token = lemmatizer.lemmatize(token,  get_wordnet_pos(token))</a:t>
            </a:r>
            <a:endParaRPr b="1" sz="1600">
              <a:solidFill>
                <a:srgbClr val="A31515"/>
              </a:solidFill>
              <a:latin typeface="Source Code Pro"/>
              <a:ea typeface="Source Code Pro"/>
              <a:cs typeface="Source Code Pro"/>
              <a:sym typeface="Source Code Pro"/>
            </a:endParaRPr>
          </a:p>
          <a:p>
            <a:pPr indent="0" lvl="0" marL="0" rtl="0" algn="l">
              <a:spcBef>
                <a:spcPts val="1200"/>
              </a:spcBef>
              <a:spcAft>
                <a:spcPts val="0"/>
              </a:spcAft>
              <a:buNone/>
            </a:pPr>
            <a:r>
              <a:rPr b="1" lang="en" sz="1600">
                <a:solidFill>
                  <a:schemeClr val="dk2"/>
                </a:solidFill>
                <a:latin typeface="Source Code Pro"/>
                <a:ea typeface="Source Code Pro"/>
                <a:cs typeface="Source Code Pro"/>
                <a:sym typeface="Source Code Pro"/>
              </a:rPr>
              <a:t>    result.append(token)</a:t>
            </a: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1200"/>
              </a:spcAft>
              <a:buNone/>
            </a:pPr>
            <a:r>
              <a:rPr b="1" lang="en" sz="1600">
                <a:solidFill>
                  <a:schemeClr val="dk2"/>
                </a:solidFill>
                <a:latin typeface="Source Code Pro"/>
                <a:ea typeface="Source Code Pro"/>
                <a:cs typeface="Source Code Pro"/>
                <a:sym typeface="Source Code Pro"/>
              </a:rPr>
              <a:t>  return result</a:t>
            </a:r>
            <a:endParaRPr b="1" sz="1600">
              <a:solidFill>
                <a:schemeClr val="dk2"/>
              </a:solidFill>
              <a:latin typeface="Source Code Pro"/>
              <a:ea typeface="Source Code Pro"/>
              <a:cs typeface="Source Code Pro"/>
              <a:sym typeface="Source Code Pro"/>
            </a:endParaRPr>
          </a:p>
        </p:txBody>
      </p:sp>
      <p:sp>
        <p:nvSpPr>
          <p:cNvPr id="392" name="Google Shape;392;p60"/>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Vocabulary Normalization - Stemming &amp; Lemmatization</a:t>
            </a:r>
            <a:endParaRPr>
              <a:solidFill>
                <a:srgbClr val="980000"/>
              </a:solidFill>
              <a:latin typeface="Verdana"/>
              <a:ea typeface="Verdana"/>
              <a:cs typeface="Verdana"/>
              <a:sym typeface="Verdana"/>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1"/>
          <p:cNvSpPr txBox="1"/>
          <p:nvPr>
            <p:ph idx="1" type="body"/>
          </p:nvPr>
        </p:nvSpPr>
        <p:spPr>
          <a:xfrm>
            <a:off x="311700" y="1167800"/>
            <a:ext cx="8655900" cy="3975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1600">
                <a:solidFill>
                  <a:schemeClr val="dk2"/>
                </a:solidFill>
                <a:latin typeface="Source Code Pro"/>
                <a:ea typeface="Source Code Pro"/>
                <a:cs typeface="Source Code Pro"/>
                <a:sym typeface="Source Code Pro"/>
              </a:rPr>
              <a:t>documents = [</a:t>
            </a: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0"/>
              </a:spcAft>
              <a:buNone/>
            </a:pPr>
            <a:r>
              <a:rPr b="1" lang="en" sz="1600">
                <a:solidFill>
                  <a:schemeClr val="dk2"/>
                </a:solidFill>
                <a:latin typeface="Source Code Pro"/>
                <a:ea typeface="Source Code Pro"/>
                <a:cs typeface="Source Code Pro"/>
                <a:sym typeface="Source Code Pro"/>
              </a:rPr>
              <a:t>             "Testing testing testing one two three",</a:t>
            </a: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0"/>
              </a:spcAft>
              <a:buNone/>
            </a:pPr>
            <a:r>
              <a:rPr b="1" lang="en" sz="1600">
                <a:solidFill>
                  <a:schemeClr val="dk2"/>
                </a:solidFill>
                <a:latin typeface="Source Code Pro"/>
                <a:ea typeface="Source Code Pro"/>
                <a:cs typeface="Source Code Pro"/>
                <a:sym typeface="Source Code Pro"/>
              </a:rPr>
              <a:t>             "She is flying to New york, and it's surprising.",</a:t>
            </a: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0"/>
              </a:spcAft>
              <a:buNone/>
            </a:pPr>
            <a:r>
              <a:rPr b="1" lang="en" sz="1600">
                <a:solidFill>
                  <a:schemeClr val="dk2"/>
                </a:solidFill>
                <a:latin typeface="Source Code Pro"/>
                <a:ea typeface="Source Code Pro"/>
                <a:cs typeface="Source Code Pro"/>
                <a:sym typeface="Source Code Pro"/>
              </a:rPr>
              <a:t>             "Good muffins cost $3.88\nin New York.  Please buy me\ntwo of them.\n\nThanks."</a:t>
            </a: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0"/>
              </a:spcAft>
              <a:buNone/>
            </a:pPr>
            <a:r>
              <a:rPr b="1" lang="en" sz="1600">
                <a:solidFill>
                  <a:schemeClr val="dk2"/>
                </a:solidFill>
                <a:latin typeface="Source Code Pro"/>
                <a:ea typeface="Source Code Pro"/>
                <a:cs typeface="Source Code Pro"/>
                <a:sym typeface="Source Code Pro"/>
              </a:rPr>
              <a:t>]</a:t>
            </a: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0"/>
              </a:spcAft>
              <a:buNone/>
            </a:pPr>
            <a:r>
              <a:rPr b="1" lang="en" sz="1600">
                <a:solidFill>
                  <a:schemeClr val="dk2"/>
                </a:solidFill>
                <a:latin typeface="Source Code Pro"/>
                <a:ea typeface="Source Code Pro"/>
                <a:cs typeface="Source Code Pro"/>
                <a:sym typeface="Source Code Pro"/>
              </a:rPr>
              <a:t>t = text.TfidfVectorizer(tokenizer=myOwnTokenizer, stop_words="english")</a:t>
            </a: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0"/>
              </a:spcAft>
              <a:buNone/>
            </a:pPr>
            <a:r>
              <a:rPr b="1" lang="en" sz="1600">
                <a:solidFill>
                  <a:schemeClr val="dk2"/>
                </a:solidFill>
                <a:latin typeface="Source Code Pro"/>
                <a:ea typeface="Source Code Pro"/>
                <a:cs typeface="Source Code Pro"/>
                <a:sym typeface="Source Code Pro"/>
              </a:rPr>
              <a:t>t.fit(documents)</a:t>
            </a:r>
            <a:endParaRPr b="1" sz="1600">
              <a:solidFill>
                <a:schemeClr val="dk2"/>
              </a:solidFill>
              <a:latin typeface="Source Code Pro"/>
              <a:ea typeface="Source Code Pro"/>
              <a:cs typeface="Source Code Pro"/>
              <a:sym typeface="Source Code Pro"/>
            </a:endParaRPr>
          </a:p>
          <a:p>
            <a:pPr indent="0" lvl="0" marL="0" rtl="0" algn="l">
              <a:spcBef>
                <a:spcPts val="1200"/>
              </a:spcBef>
              <a:spcAft>
                <a:spcPts val="1200"/>
              </a:spcAft>
              <a:buNone/>
            </a:pPr>
            <a:r>
              <a:rPr b="1" lang="en" sz="1600">
                <a:solidFill>
                  <a:schemeClr val="dk2"/>
                </a:solidFill>
                <a:latin typeface="Source Code Pro"/>
                <a:ea typeface="Source Code Pro"/>
                <a:cs typeface="Source Code Pro"/>
                <a:sym typeface="Source Code Pro"/>
              </a:rPr>
              <a:t>t.vocabulary_</a:t>
            </a:r>
            <a:endParaRPr b="1" sz="1600">
              <a:solidFill>
                <a:schemeClr val="dk2"/>
              </a:solidFill>
              <a:latin typeface="Source Code Pro"/>
              <a:ea typeface="Source Code Pro"/>
              <a:cs typeface="Source Code Pro"/>
              <a:sym typeface="Source Code Pro"/>
            </a:endParaRPr>
          </a:p>
        </p:txBody>
      </p:sp>
      <p:sp>
        <p:nvSpPr>
          <p:cNvPr id="398" name="Google Shape;398;p61"/>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Vocabulary Normalization - Stemming &amp; Lemmatization</a:t>
            </a:r>
            <a:endParaRPr>
              <a:solidFill>
                <a:srgbClr val="980000"/>
              </a:solidFill>
              <a:latin typeface="Verdana"/>
              <a:ea typeface="Verdana"/>
              <a:cs typeface="Verdana"/>
              <a:sym typeface="Verdana"/>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2"/>
          <p:cNvSpPr txBox="1"/>
          <p:nvPr>
            <p:ph idx="1" type="body"/>
          </p:nvPr>
        </p:nvSpPr>
        <p:spPr>
          <a:xfrm>
            <a:off x="311700" y="1167800"/>
            <a:ext cx="8655900" cy="3975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b="1" sz="1600">
              <a:solidFill>
                <a:schemeClr val="dk2"/>
              </a:solidFill>
              <a:latin typeface="Source Code Pro"/>
              <a:ea typeface="Source Code Pro"/>
              <a:cs typeface="Source Code Pro"/>
              <a:sym typeface="Source Code Pro"/>
            </a:endParaRPr>
          </a:p>
        </p:txBody>
      </p:sp>
      <p:sp>
        <p:nvSpPr>
          <p:cNvPr id="404" name="Google Shape;404;p62"/>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Vocabulary Normalization - Stemming &amp; Lemmatization</a:t>
            </a:r>
            <a:endParaRPr>
              <a:solidFill>
                <a:srgbClr val="980000"/>
              </a:solidFill>
              <a:latin typeface="Verdana"/>
              <a:ea typeface="Verdana"/>
              <a:cs typeface="Verdana"/>
              <a:sym typeface="Verdana"/>
            </a:endParaRPr>
          </a:p>
        </p:txBody>
      </p:sp>
      <p:pic>
        <p:nvPicPr>
          <p:cNvPr id="405" name="Google Shape;405;p62"/>
          <p:cNvPicPr preferRelativeResize="0"/>
          <p:nvPr/>
        </p:nvPicPr>
        <p:blipFill>
          <a:blip r:embed="rId3">
            <a:alphaModFix/>
          </a:blip>
          <a:stretch>
            <a:fillRect/>
          </a:stretch>
        </p:blipFill>
        <p:spPr>
          <a:xfrm>
            <a:off x="3133300" y="1170550"/>
            <a:ext cx="2133200" cy="38891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