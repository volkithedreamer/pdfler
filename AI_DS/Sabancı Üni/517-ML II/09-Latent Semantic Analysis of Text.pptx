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aleway"/>
      <p:regular r:id="rId23"/>
      <p:bold r:id="rId24"/>
      <p:italic r:id="rId25"/>
      <p:boldItalic r:id="rId26"/>
    </p:embeddedFont>
    <p:embeddedFont>
      <p:font typeface="Source Sans Pr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SourceSansPro-bold.fntdata"/><Relationship Id="rId27" Type="http://schemas.openxmlformats.org/officeDocument/2006/relationships/font" Target="fonts/SourceSansPr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SansPr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SourceSansPr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78c2f53b4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78c2f53b4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d0170a009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d0170a009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d0170a009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d0170a009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d0170a009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d0170a009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d0170a009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d0170a009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d56edaf7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d56edaf7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d58c68e45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d58c68e45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d58c68e45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d58c68e45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d58c68e45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d58c68e45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d58c68e45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d58c68e45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d58c68e45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d58c68e45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d58c68e45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d58c68e45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d58c68e45b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d58c68e45b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d0170a009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d0170a009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d0170a009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d0170a009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d0170a009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d0170a009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l.acm.org/doi/10.5555/944919.944937" TargetMode="Externa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2093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rPr>
              <a:t>Latent Semantic Analysis (LSA)</a:t>
            </a:r>
            <a:br>
              <a:rPr lang="en">
                <a:solidFill>
                  <a:srgbClr val="980000"/>
                </a:solidFill>
              </a:rPr>
            </a:br>
            <a:r>
              <a:rPr b="0" lang="en" sz="2400">
                <a:solidFill>
                  <a:schemeClr val="lt2"/>
                </a:solidFill>
                <a:latin typeface="Source Sans Pro"/>
                <a:ea typeface="Source Sans Pro"/>
                <a:cs typeface="Source Sans Pro"/>
                <a:sym typeface="Source Sans Pro"/>
              </a:rPr>
              <a:t>Some images and notes were retrieved from Datacamp.com, Hapke et. al Natural Language Processing in Action (2019), Applied Text Analysis with Python Bengfort et. al (2018), and StatQuest</a:t>
            </a:r>
            <a:endParaRPr sz="2500">
              <a:solidFill>
                <a:srgbClr val="98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idx="1" type="body"/>
          </p:nvPr>
        </p:nvSpPr>
        <p:spPr>
          <a:xfrm>
            <a:off x="311700" y="763625"/>
            <a:ext cx="8520600" cy="42240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Previously, we have learnt </a:t>
            </a:r>
            <a:endParaRPr sz="1500">
              <a:solidFill>
                <a:srgbClr val="000000"/>
              </a:solidFill>
              <a:latin typeface="Verdana"/>
              <a:ea typeface="Verdana"/>
              <a:cs typeface="Verdana"/>
              <a:sym typeface="Verdana"/>
            </a:endParaRPr>
          </a:p>
          <a:p>
            <a:pPr indent="-323850" lvl="1" marL="914400" rtl="0" algn="l">
              <a:spcBef>
                <a:spcPts val="0"/>
              </a:spcBef>
              <a:spcAft>
                <a:spcPts val="0"/>
              </a:spcAft>
              <a:buSzPts val="1500"/>
              <a:buFont typeface="Verdana"/>
              <a:buChar char="○"/>
            </a:pPr>
            <a:r>
              <a:rPr lang="en" sz="1500">
                <a:solidFill>
                  <a:srgbClr val="000000"/>
                </a:solidFill>
                <a:latin typeface="Verdana"/>
                <a:ea typeface="Verdana"/>
                <a:cs typeface="Verdana"/>
                <a:sym typeface="Verdana"/>
              </a:rPr>
              <a:t>how to generate</a:t>
            </a:r>
            <a:r>
              <a:rPr b="1" lang="en" sz="1500">
                <a:solidFill>
                  <a:schemeClr val="accent4"/>
                </a:solidFill>
                <a:latin typeface="Verdana"/>
                <a:ea typeface="Verdana"/>
                <a:cs typeface="Verdana"/>
                <a:sym typeface="Verdana"/>
              </a:rPr>
              <a:t> count &amp; tf-idf vectors</a:t>
            </a:r>
            <a:r>
              <a:rPr lang="en" sz="1500">
                <a:solidFill>
                  <a:srgbClr val="000000"/>
                </a:solidFill>
                <a:latin typeface="Verdana"/>
                <a:ea typeface="Verdana"/>
                <a:cs typeface="Verdana"/>
                <a:sym typeface="Verdana"/>
              </a:rPr>
              <a:t>, </a:t>
            </a:r>
            <a:endParaRPr sz="1500">
              <a:solidFill>
                <a:srgbClr val="000000"/>
              </a:solidFill>
              <a:latin typeface="Verdana"/>
              <a:ea typeface="Verdana"/>
              <a:cs typeface="Verdana"/>
              <a:sym typeface="Verdana"/>
            </a:endParaRPr>
          </a:p>
          <a:p>
            <a:pPr indent="-323850" lvl="1" marL="914400" rtl="0" algn="l">
              <a:spcBef>
                <a:spcPts val="0"/>
              </a:spcBef>
              <a:spcAft>
                <a:spcPts val="0"/>
              </a:spcAft>
              <a:buSzPts val="1500"/>
              <a:buFont typeface="Verdana"/>
              <a:buChar char="○"/>
            </a:pPr>
            <a:r>
              <a:rPr lang="en" sz="1500">
                <a:solidFill>
                  <a:srgbClr val="000000"/>
                </a:solidFill>
                <a:latin typeface="Verdana"/>
                <a:ea typeface="Verdana"/>
                <a:cs typeface="Verdana"/>
                <a:sym typeface="Verdana"/>
              </a:rPr>
              <a:t>how to indicate </a:t>
            </a:r>
            <a:r>
              <a:rPr b="1" lang="en" sz="1500">
                <a:solidFill>
                  <a:schemeClr val="accent4"/>
                </a:solidFill>
                <a:latin typeface="Verdana"/>
                <a:ea typeface="Verdana"/>
                <a:cs typeface="Verdana"/>
                <a:sym typeface="Verdana"/>
              </a:rPr>
              <a:t>importance of a token</a:t>
            </a:r>
            <a:r>
              <a:rPr lang="en" sz="1500">
                <a:solidFill>
                  <a:srgbClr val="000000"/>
                </a:solidFill>
                <a:latin typeface="Verdana"/>
                <a:ea typeface="Verdana"/>
                <a:cs typeface="Verdana"/>
                <a:sym typeface="Verdana"/>
              </a:rPr>
              <a:t> in a given document.</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However, it may not be </a:t>
            </a:r>
            <a:r>
              <a:rPr lang="en" sz="1500">
                <a:solidFill>
                  <a:srgbClr val="000000"/>
                </a:solidFill>
                <a:latin typeface="Verdana"/>
                <a:ea typeface="Verdana"/>
                <a:cs typeface="Verdana"/>
                <a:sym typeface="Verdana"/>
              </a:rPr>
              <a:t>enough</a:t>
            </a:r>
            <a:r>
              <a:rPr lang="en" sz="1500">
                <a:solidFill>
                  <a:srgbClr val="000000"/>
                </a:solidFill>
                <a:latin typeface="Verdana"/>
                <a:ea typeface="Verdana"/>
                <a:cs typeface="Verdana"/>
                <a:sym typeface="Verdana"/>
              </a:rPr>
              <a:t>. We may also capture the </a:t>
            </a:r>
            <a:r>
              <a:rPr b="1" lang="en" sz="1500">
                <a:solidFill>
                  <a:srgbClr val="A31515"/>
                </a:solidFill>
                <a:latin typeface="Verdana"/>
                <a:ea typeface="Verdana"/>
                <a:cs typeface="Verdana"/>
                <a:sym typeface="Verdana"/>
              </a:rPr>
              <a:t>meanings (semantics)</a:t>
            </a:r>
            <a:r>
              <a:rPr lang="en" sz="1500">
                <a:solidFill>
                  <a:srgbClr val="000000"/>
                </a:solidFill>
                <a:latin typeface="Verdana"/>
                <a:ea typeface="Verdana"/>
                <a:cs typeface="Verdana"/>
                <a:sym typeface="Verdana"/>
              </a:rPr>
              <a:t> of words.</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What about the </a:t>
            </a:r>
            <a:r>
              <a:rPr b="1" lang="en" sz="1500">
                <a:solidFill>
                  <a:schemeClr val="accent2"/>
                </a:solidFill>
                <a:latin typeface="Verdana"/>
                <a:ea typeface="Verdana"/>
                <a:cs typeface="Verdana"/>
                <a:sym typeface="Verdana"/>
              </a:rPr>
              <a:t>lemmatization</a:t>
            </a:r>
            <a:r>
              <a:rPr lang="en" sz="1500">
                <a:solidFill>
                  <a:srgbClr val="000000"/>
                </a:solidFill>
                <a:latin typeface="Verdana"/>
                <a:ea typeface="Verdana"/>
                <a:cs typeface="Verdana"/>
                <a:sym typeface="Verdana"/>
              </a:rPr>
              <a:t> process? Lemmatization </a:t>
            </a:r>
            <a:r>
              <a:rPr b="1" lang="en" sz="1500">
                <a:solidFill>
                  <a:srgbClr val="0000FF"/>
                </a:solidFill>
                <a:latin typeface="Verdana"/>
                <a:ea typeface="Verdana"/>
                <a:cs typeface="Verdana"/>
                <a:sym typeface="Verdana"/>
              </a:rPr>
              <a:t>keeps similarly spelled</a:t>
            </a:r>
            <a:r>
              <a:rPr lang="en" sz="1500">
                <a:solidFill>
                  <a:srgbClr val="000000"/>
                </a:solidFill>
                <a:latin typeface="Verdana"/>
                <a:ea typeface="Verdana"/>
                <a:cs typeface="Verdana"/>
                <a:sym typeface="Verdana"/>
              </a:rPr>
              <a:t> words together, </a:t>
            </a:r>
            <a:r>
              <a:rPr lang="en" sz="1500" u="sng">
                <a:solidFill>
                  <a:srgbClr val="000000"/>
                </a:solidFill>
                <a:latin typeface="Verdana"/>
                <a:ea typeface="Verdana"/>
                <a:cs typeface="Verdana"/>
                <a:sym typeface="Verdana"/>
              </a:rPr>
              <a:t>but not necessarily words with similar meanings</a:t>
            </a:r>
            <a:r>
              <a:rPr lang="en" sz="1500">
                <a:solidFill>
                  <a:srgbClr val="000000"/>
                </a:solidFill>
                <a:latin typeface="Verdana"/>
                <a:ea typeface="Verdana"/>
                <a:cs typeface="Verdana"/>
                <a:sym typeface="Verdana"/>
              </a:rPr>
              <a:t>.</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Additionally, </a:t>
            </a:r>
            <a:r>
              <a:rPr lang="en" sz="1500">
                <a:solidFill>
                  <a:srgbClr val="000000"/>
                </a:solidFill>
                <a:latin typeface="Verdana"/>
                <a:ea typeface="Verdana"/>
                <a:cs typeface="Verdana"/>
                <a:sym typeface="Verdana"/>
              </a:rPr>
              <a:t>lemmatization</a:t>
            </a:r>
            <a:r>
              <a:rPr lang="en" sz="1500">
                <a:solidFill>
                  <a:srgbClr val="000000"/>
                </a:solidFill>
                <a:latin typeface="Verdana"/>
                <a:ea typeface="Verdana"/>
                <a:cs typeface="Verdana"/>
                <a:sym typeface="Verdana"/>
              </a:rPr>
              <a:t> fails to pair up most synonyms. Synonyms usually differ in more ways than just the word endings, therefore </a:t>
            </a:r>
            <a:r>
              <a:rPr b="1" lang="en" sz="1500">
                <a:solidFill>
                  <a:schemeClr val="accent2"/>
                </a:solidFill>
                <a:latin typeface="Verdana"/>
                <a:ea typeface="Verdana"/>
                <a:cs typeface="Verdana"/>
                <a:sym typeface="Verdana"/>
              </a:rPr>
              <a:t>lemmatization</a:t>
            </a:r>
            <a:r>
              <a:rPr lang="en" sz="1500">
                <a:solidFill>
                  <a:srgbClr val="000000"/>
                </a:solidFill>
                <a:latin typeface="Verdana"/>
                <a:ea typeface="Verdana"/>
                <a:cs typeface="Verdana"/>
                <a:sym typeface="Verdana"/>
              </a:rPr>
              <a:t> and </a:t>
            </a:r>
            <a:r>
              <a:rPr b="1" lang="en" sz="1500">
                <a:solidFill>
                  <a:schemeClr val="accent2"/>
                </a:solidFill>
                <a:latin typeface="Verdana"/>
                <a:ea typeface="Verdana"/>
                <a:cs typeface="Verdana"/>
                <a:sym typeface="Verdana"/>
              </a:rPr>
              <a:t>stemming</a:t>
            </a:r>
            <a:r>
              <a:rPr lang="en" sz="1500">
                <a:solidFill>
                  <a:srgbClr val="000000"/>
                </a:solidFill>
                <a:latin typeface="Verdana"/>
                <a:ea typeface="Verdana"/>
                <a:cs typeface="Verdana"/>
                <a:sym typeface="Verdana"/>
              </a:rPr>
              <a:t> cannot deal with this situation.</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Last but not least, </a:t>
            </a:r>
            <a:r>
              <a:rPr b="1" lang="en" sz="1500">
                <a:solidFill>
                  <a:schemeClr val="accent2"/>
                </a:solidFill>
                <a:latin typeface="Verdana"/>
                <a:ea typeface="Verdana"/>
                <a:cs typeface="Verdana"/>
                <a:sym typeface="Verdana"/>
              </a:rPr>
              <a:t>lemmatization</a:t>
            </a:r>
            <a:r>
              <a:rPr lang="en" sz="1500">
                <a:solidFill>
                  <a:schemeClr val="dk2"/>
                </a:solidFill>
                <a:latin typeface="Verdana"/>
                <a:ea typeface="Verdana"/>
                <a:cs typeface="Verdana"/>
                <a:sym typeface="Verdana"/>
              </a:rPr>
              <a:t> and </a:t>
            </a:r>
            <a:r>
              <a:rPr b="1" lang="en" sz="1500">
                <a:solidFill>
                  <a:schemeClr val="accent2"/>
                </a:solidFill>
                <a:latin typeface="Verdana"/>
                <a:ea typeface="Verdana"/>
                <a:cs typeface="Verdana"/>
                <a:sym typeface="Verdana"/>
              </a:rPr>
              <a:t>stemming</a:t>
            </a:r>
            <a:r>
              <a:rPr lang="en" sz="1500">
                <a:solidFill>
                  <a:schemeClr val="dk2"/>
                </a:solidFill>
                <a:latin typeface="Verdana"/>
                <a:ea typeface="Verdana"/>
                <a:cs typeface="Verdana"/>
                <a:sym typeface="Verdana"/>
              </a:rPr>
              <a:t> sometimes pairs up some words with opposite meanings.</a:t>
            </a:r>
            <a:endParaRPr sz="1500">
              <a:solidFill>
                <a:srgbClr val="000000"/>
              </a:solidFill>
              <a:latin typeface="Verdana"/>
              <a:ea typeface="Verdana"/>
              <a:cs typeface="Verdana"/>
              <a:sym typeface="Verdana"/>
            </a:endParaRPr>
          </a:p>
        </p:txBody>
      </p:sp>
      <p:sp>
        <p:nvSpPr>
          <p:cNvPr id="64" name="Google Shape;64;p14"/>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Latent Semantic Analysis (LSA)</a:t>
            </a:r>
            <a:endParaRPr>
              <a:solidFill>
                <a:srgbClr val="980000"/>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0" st="0"/>
                                            </p:txEl>
                                          </p:spTgt>
                                        </p:tgtEl>
                                        <p:attrNameLst>
                                          <p:attrName>style.visibility</p:attrName>
                                        </p:attrNameLst>
                                      </p:cBhvr>
                                      <p:to>
                                        <p:strVal val="visible"/>
                                      </p:to>
                                    </p:set>
                                    <p:animEffect filter="fade" transition="in">
                                      <p:cBhvr>
                                        <p:cTn dur="1000"/>
                                        <p:tgtEl>
                                          <p:spTgt spid="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1" st="1"/>
                                            </p:txEl>
                                          </p:spTgt>
                                        </p:tgtEl>
                                        <p:attrNameLst>
                                          <p:attrName>style.visibility</p:attrName>
                                        </p:attrNameLst>
                                      </p:cBhvr>
                                      <p:to>
                                        <p:strVal val="visible"/>
                                      </p:to>
                                    </p:set>
                                    <p:animEffect filter="fade" transition="in">
                                      <p:cBhvr>
                                        <p:cTn dur="1000"/>
                                        <p:tgtEl>
                                          <p:spTgt spid="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2" st="2"/>
                                            </p:txEl>
                                          </p:spTgt>
                                        </p:tgtEl>
                                        <p:attrNameLst>
                                          <p:attrName>style.visibility</p:attrName>
                                        </p:attrNameLst>
                                      </p:cBhvr>
                                      <p:to>
                                        <p:strVal val="visible"/>
                                      </p:to>
                                    </p:set>
                                    <p:animEffect filter="fade" transition="in">
                                      <p:cBhvr>
                                        <p:cTn dur="1000"/>
                                        <p:tgtEl>
                                          <p:spTgt spid="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3" st="3"/>
                                            </p:txEl>
                                          </p:spTgt>
                                        </p:tgtEl>
                                        <p:attrNameLst>
                                          <p:attrName>style.visibility</p:attrName>
                                        </p:attrNameLst>
                                      </p:cBhvr>
                                      <p:to>
                                        <p:strVal val="visible"/>
                                      </p:to>
                                    </p:set>
                                    <p:animEffect filter="fade" transition="in">
                                      <p:cBhvr>
                                        <p:cTn dur="1000"/>
                                        <p:tgtEl>
                                          <p:spTgt spid="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4" st="4"/>
                                            </p:txEl>
                                          </p:spTgt>
                                        </p:tgtEl>
                                        <p:attrNameLst>
                                          <p:attrName>style.visibility</p:attrName>
                                        </p:attrNameLst>
                                      </p:cBhvr>
                                      <p:to>
                                        <p:strVal val="visible"/>
                                      </p:to>
                                    </p:set>
                                    <p:animEffect filter="fade" transition="in">
                                      <p:cBhvr>
                                        <p:cTn dur="1000"/>
                                        <p:tgtEl>
                                          <p:spTgt spid="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5" st="5"/>
                                            </p:txEl>
                                          </p:spTgt>
                                        </p:tgtEl>
                                        <p:attrNameLst>
                                          <p:attrName>style.visibility</p:attrName>
                                        </p:attrNameLst>
                                      </p:cBhvr>
                                      <p:to>
                                        <p:strVal val="visible"/>
                                      </p:to>
                                    </p:set>
                                    <p:animEffect filter="fade" transition="in">
                                      <p:cBhvr>
                                        <p:cTn dur="1000"/>
                                        <p:tgtEl>
                                          <p:spTgt spid="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xEl>
                                              <p:pRg end="6" st="6"/>
                                            </p:txEl>
                                          </p:spTgt>
                                        </p:tgtEl>
                                        <p:attrNameLst>
                                          <p:attrName>style.visibility</p:attrName>
                                        </p:attrNameLst>
                                      </p:cBhvr>
                                      <p:to>
                                        <p:strVal val="visible"/>
                                      </p:to>
                                    </p:set>
                                    <p:animEffect filter="fade" transition="in">
                                      <p:cBhvr>
                                        <p:cTn dur="1000"/>
                                        <p:tgtEl>
                                          <p:spTgt spid="6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idx="1" type="body"/>
          </p:nvPr>
        </p:nvSpPr>
        <p:spPr>
          <a:xfrm>
            <a:off x="311700" y="763625"/>
            <a:ext cx="8520600" cy="4260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b="1" lang="en" sz="1500">
                <a:solidFill>
                  <a:schemeClr val="accent4"/>
                </a:solidFill>
                <a:latin typeface="Verdana"/>
                <a:ea typeface="Verdana"/>
                <a:cs typeface="Verdana"/>
                <a:sym typeface="Verdana"/>
              </a:rPr>
              <a:t>Topic modeling</a:t>
            </a:r>
            <a:r>
              <a:rPr lang="en" sz="1500">
                <a:solidFill>
                  <a:srgbClr val="000000"/>
                </a:solidFill>
                <a:latin typeface="Verdana"/>
                <a:ea typeface="Verdana"/>
                <a:cs typeface="Verdana"/>
                <a:sym typeface="Verdana"/>
              </a:rPr>
              <a:t> means extracting hidden themes from given documents.</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0" lvl="0" marL="0" rtl="0" algn="l">
              <a:spcBef>
                <a:spcPts val="1200"/>
              </a:spcBef>
              <a:spcAft>
                <a:spcPts val="1200"/>
              </a:spcAft>
              <a:buNone/>
            </a:pPr>
            <a:r>
              <a:t/>
            </a:r>
            <a:endParaRPr sz="1500">
              <a:solidFill>
                <a:srgbClr val="000000"/>
              </a:solidFill>
              <a:latin typeface="Verdana"/>
              <a:ea typeface="Verdana"/>
              <a:cs typeface="Verdana"/>
              <a:sym typeface="Verdana"/>
            </a:endParaRPr>
          </a:p>
        </p:txBody>
      </p:sp>
      <p:pic>
        <p:nvPicPr>
          <p:cNvPr id="70" name="Google Shape;70;p15"/>
          <p:cNvPicPr preferRelativeResize="0"/>
          <p:nvPr/>
        </p:nvPicPr>
        <p:blipFill>
          <a:blip r:embed="rId3">
            <a:alphaModFix/>
          </a:blip>
          <a:stretch>
            <a:fillRect/>
          </a:stretch>
        </p:blipFill>
        <p:spPr>
          <a:xfrm>
            <a:off x="904175" y="1489375"/>
            <a:ext cx="7241501" cy="3269650"/>
          </a:xfrm>
          <a:prstGeom prst="rect">
            <a:avLst/>
          </a:prstGeom>
          <a:noFill/>
          <a:ln>
            <a:noFill/>
          </a:ln>
        </p:spPr>
      </p:pic>
      <p:sp>
        <p:nvSpPr>
          <p:cNvPr id="71" name="Google Shape;71;p15"/>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Latent </a:t>
            </a:r>
            <a:r>
              <a:rPr lang="en">
                <a:solidFill>
                  <a:srgbClr val="980000"/>
                </a:solidFill>
                <a:latin typeface="Verdana"/>
                <a:ea typeface="Verdana"/>
                <a:cs typeface="Verdana"/>
                <a:sym typeface="Verdana"/>
              </a:rPr>
              <a:t>Semantic Analysis (Topic Modeling)</a:t>
            </a:r>
            <a:endParaRPr>
              <a:solidFill>
                <a:srgbClr val="980000"/>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body"/>
          </p:nvPr>
        </p:nvSpPr>
        <p:spPr>
          <a:xfrm>
            <a:off x="311700" y="763625"/>
            <a:ext cx="8520600" cy="422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We want to create compact vectors to indicate</a:t>
            </a:r>
            <a:endParaRPr sz="1500">
              <a:solidFill>
                <a:schemeClr val="dk2"/>
              </a:solidFill>
              <a:latin typeface="Verdana"/>
              <a:ea typeface="Verdana"/>
              <a:cs typeface="Verdana"/>
              <a:sym typeface="Verdana"/>
            </a:endParaRPr>
          </a:p>
          <a:p>
            <a:pPr indent="-323850" lvl="1" marL="9144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word-topic relationship</a:t>
            </a:r>
            <a:endParaRPr sz="1500">
              <a:solidFill>
                <a:schemeClr val="dk2"/>
              </a:solidFill>
              <a:latin typeface="Verdana"/>
              <a:ea typeface="Verdana"/>
              <a:cs typeface="Verdana"/>
              <a:sym typeface="Verdana"/>
            </a:endParaRPr>
          </a:p>
          <a:p>
            <a:pPr indent="-323850" lvl="1" marL="9144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document-topic relationship</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And we expect that words and documents similar to each other will have close vectors. </a:t>
            </a:r>
            <a:endParaRPr sz="1500">
              <a:solidFill>
                <a:srgbClr val="000000"/>
              </a:solidFill>
              <a:latin typeface="Verdana"/>
              <a:ea typeface="Verdana"/>
              <a:cs typeface="Verdana"/>
              <a:sym typeface="Verdana"/>
            </a:endParaRPr>
          </a:p>
        </p:txBody>
      </p:sp>
      <p:sp>
        <p:nvSpPr>
          <p:cNvPr id="77" name="Google Shape;77;p16"/>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Latent Semantic Analysis (Topic Modeling)</a:t>
            </a:r>
            <a:endParaRPr>
              <a:solidFill>
                <a:srgbClr val="980000"/>
              </a:solidFill>
              <a:latin typeface="Verdana"/>
              <a:ea typeface="Verdana"/>
              <a:cs typeface="Verdana"/>
              <a:sym typeface="Verdana"/>
            </a:endParaRPr>
          </a:p>
        </p:txBody>
      </p:sp>
      <p:pic>
        <p:nvPicPr>
          <p:cNvPr id="78" name="Google Shape;78;p16"/>
          <p:cNvPicPr preferRelativeResize="0"/>
          <p:nvPr/>
        </p:nvPicPr>
        <p:blipFill>
          <a:blip r:embed="rId3">
            <a:alphaModFix/>
          </a:blip>
          <a:stretch>
            <a:fillRect/>
          </a:stretch>
        </p:blipFill>
        <p:spPr>
          <a:xfrm>
            <a:off x="1292522" y="2552300"/>
            <a:ext cx="6122701" cy="2457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idx="1" type="body"/>
          </p:nvPr>
        </p:nvSpPr>
        <p:spPr>
          <a:xfrm>
            <a:off x="311700" y="763625"/>
            <a:ext cx="8520600" cy="422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Once we have topic vectors for documents and terms, we </a:t>
            </a:r>
            <a:r>
              <a:rPr b="1" lang="en" sz="1500">
                <a:solidFill>
                  <a:srgbClr val="A31515"/>
                </a:solidFill>
                <a:latin typeface="Verdana"/>
                <a:ea typeface="Verdana"/>
                <a:cs typeface="Verdana"/>
                <a:sym typeface="Verdana"/>
              </a:rPr>
              <a:t>won’t have to reprocess the entire corpus</a:t>
            </a:r>
            <a:r>
              <a:rPr lang="en" sz="1500">
                <a:solidFill>
                  <a:schemeClr val="dk2"/>
                </a:solidFill>
                <a:latin typeface="Verdana"/>
                <a:ea typeface="Verdana"/>
                <a:cs typeface="Verdana"/>
                <a:sym typeface="Verdana"/>
              </a:rPr>
              <a:t> to compute a new topic vector for a new document.</a:t>
            </a:r>
            <a:br>
              <a:rPr lang="en" sz="1500">
                <a:solidFill>
                  <a:schemeClr val="dk2"/>
                </a:solidFill>
                <a:latin typeface="Verdana"/>
                <a:ea typeface="Verdana"/>
                <a:cs typeface="Verdana"/>
                <a:sym typeface="Verdana"/>
              </a:rPr>
            </a:br>
            <a:r>
              <a:rPr lang="en" sz="1500">
                <a:solidFill>
                  <a:schemeClr val="dk2"/>
                </a:solidFill>
                <a:latin typeface="Verdana"/>
                <a:ea typeface="Verdana"/>
                <a:cs typeface="Verdana"/>
                <a:sym typeface="Verdana"/>
              </a:rPr>
              <a:t> </a:t>
            </a: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Since we have a topic vector for each word in your vocabulary, and we can compute the topic vector for any new coming document.</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LSA is an algorithm to analyze your TF-IDF matrix (table of TF-IDF vectors) to create these topics. These vectors can be bag-of-words vectors, but TF-IDF vectors are generally better.</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We can also use LSA techniques to </a:t>
            </a:r>
            <a:r>
              <a:rPr b="1" lang="en" sz="1500">
                <a:solidFill>
                  <a:srgbClr val="A31515"/>
                </a:solidFill>
                <a:latin typeface="Verdana"/>
                <a:ea typeface="Verdana"/>
                <a:cs typeface="Verdana"/>
                <a:sym typeface="Verdana"/>
              </a:rPr>
              <a:t>reduce the dimensionality</a:t>
            </a:r>
            <a:r>
              <a:rPr lang="en" sz="1500">
                <a:solidFill>
                  <a:schemeClr val="dk2"/>
                </a:solidFill>
                <a:latin typeface="Verdana"/>
                <a:ea typeface="Verdana"/>
                <a:cs typeface="Verdana"/>
                <a:sym typeface="Verdana"/>
              </a:rPr>
              <a:t>.</a:t>
            </a:r>
            <a:endParaRPr sz="1500">
              <a:solidFill>
                <a:schemeClr val="dk2"/>
              </a:solidFill>
              <a:latin typeface="Verdana"/>
              <a:ea typeface="Verdana"/>
              <a:cs typeface="Verdana"/>
              <a:sym typeface="Verdana"/>
            </a:endParaRPr>
          </a:p>
        </p:txBody>
      </p:sp>
      <p:sp>
        <p:nvSpPr>
          <p:cNvPr id="84" name="Google Shape;84;p17"/>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Latent Semantic Analysis (Topic Modeling)</a:t>
            </a:r>
            <a:endParaRPr>
              <a:solidFill>
                <a:srgbClr val="980000"/>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idx="1" type="body"/>
          </p:nvPr>
        </p:nvSpPr>
        <p:spPr>
          <a:xfrm>
            <a:off x="311700" y="763625"/>
            <a:ext cx="8520600" cy="422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b="1" lang="en" sz="1500">
                <a:solidFill>
                  <a:schemeClr val="accent4"/>
                </a:solidFill>
                <a:latin typeface="Verdana"/>
                <a:ea typeface="Verdana"/>
                <a:cs typeface="Verdana"/>
                <a:sym typeface="Verdana"/>
              </a:rPr>
              <a:t>Linear Discriminant Analysis (LDA)</a:t>
            </a:r>
            <a:r>
              <a:rPr b="1" lang="en" sz="1500">
                <a:solidFill>
                  <a:srgbClr val="A31515"/>
                </a:solidFill>
                <a:latin typeface="Verdana"/>
                <a:ea typeface="Verdana"/>
                <a:cs typeface="Verdana"/>
                <a:sym typeface="Verdana"/>
              </a:rPr>
              <a:t> </a:t>
            </a:r>
            <a:r>
              <a:rPr lang="en" sz="1500">
                <a:solidFill>
                  <a:schemeClr val="dk2"/>
                </a:solidFill>
                <a:latin typeface="Verdana"/>
                <a:ea typeface="Verdana"/>
                <a:cs typeface="Verdana"/>
                <a:sym typeface="Verdana"/>
              </a:rPr>
              <a:t>is one of the most straightforward and fast dimension reduction and classification models.</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An LDA classifier is a supervised learning algorithm, therefore </a:t>
            </a:r>
            <a:r>
              <a:rPr b="1" lang="en" sz="1500">
                <a:solidFill>
                  <a:schemeClr val="accent4"/>
                </a:solidFill>
                <a:latin typeface="Verdana"/>
                <a:ea typeface="Verdana"/>
                <a:cs typeface="Verdana"/>
                <a:sym typeface="Verdana"/>
              </a:rPr>
              <a:t>we need class labels</a:t>
            </a:r>
            <a:r>
              <a:rPr lang="en" sz="1500">
                <a:solidFill>
                  <a:schemeClr val="dk2"/>
                </a:solidFill>
                <a:latin typeface="Verdana"/>
                <a:ea typeface="Verdana"/>
                <a:cs typeface="Verdana"/>
                <a:sym typeface="Verdana"/>
              </a:rPr>
              <a:t>. But LDA requires far fewer samples than fancier algorithms.</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Differently from PCA, LDA </a:t>
            </a:r>
            <a:r>
              <a:rPr b="1" lang="en" sz="1500">
                <a:solidFill>
                  <a:srgbClr val="0000FF"/>
                </a:solidFill>
                <a:latin typeface="Verdana"/>
                <a:ea typeface="Verdana"/>
                <a:cs typeface="Verdana"/>
                <a:sym typeface="Verdana"/>
              </a:rPr>
              <a:t>does not try to maximize variance</a:t>
            </a:r>
            <a:r>
              <a:rPr lang="en" sz="1500">
                <a:solidFill>
                  <a:schemeClr val="dk2"/>
                </a:solidFill>
                <a:latin typeface="Verdana"/>
                <a:ea typeface="Verdana"/>
                <a:cs typeface="Verdana"/>
                <a:sym typeface="Verdana"/>
              </a:rPr>
              <a:t> in the data, instead it tries to provide </a:t>
            </a:r>
            <a:r>
              <a:rPr b="1" lang="en" sz="1500">
                <a:solidFill>
                  <a:srgbClr val="A31515"/>
                </a:solidFill>
                <a:latin typeface="Verdana"/>
                <a:ea typeface="Verdana"/>
                <a:cs typeface="Verdana"/>
                <a:sym typeface="Verdana"/>
              </a:rPr>
              <a:t>maximum separability among classes</a:t>
            </a:r>
            <a:r>
              <a:rPr lang="en" sz="1500">
                <a:solidFill>
                  <a:schemeClr val="dk2"/>
                </a:solidFill>
                <a:latin typeface="Verdana"/>
                <a:ea typeface="Verdana"/>
                <a:cs typeface="Verdana"/>
                <a:sym typeface="Verdana"/>
              </a:rPr>
              <a:t>. </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NOTE: Usually, a Naive Bayes classifier does not work well when your vocabulary is much larger than the document number.</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Remind that LSA techniques reduces the dimension, in this way it may help escape from overfitting.</a:t>
            </a:r>
            <a:endParaRPr sz="1500">
              <a:solidFill>
                <a:schemeClr val="dk2"/>
              </a:solidFill>
              <a:latin typeface="Verdana"/>
              <a:ea typeface="Verdana"/>
              <a:cs typeface="Verdana"/>
              <a:sym typeface="Verdana"/>
            </a:endParaRPr>
          </a:p>
        </p:txBody>
      </p:sp>
      <p:sp>
        <p:nvSpPr>
          <p:cNvPr id="90" name="Google Shape;90;p18"/>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a:t>
            </a:r>
            <a:r>
              <a:rPr lang="en">
                <a:solidFill>
                  <a:srgbClr val="980000"/>
                </a:solidFill>
                <a:latin typeface="Verdana"/>
                <a:ea typeface="Verdana"/>
                <a:cs typeface="Verdana"/>
                <a:sym typeface="Verdana"/>
              </a:rPr>
              <a:t> (LDA)</a:t>
            </a:r>
            <a:endParaRPr>
              <a:solidFill>
                <a:srgbClr val="980000"/>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1" type="body"/>
          </p:nvPr>
        </p:nvSpPr>
        <p:spPr>
          <a:xfrm>
            <a:off x="311700" y="763625"/>
            <a:ext cx="8520600" cy="422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Let’s </a:t>
            </a:r>
            <a:r>
              <a:rPr lang="en" sz="1500">
                <a:solidFill>
                  <a:schemeClr val="dk2"/>
                </a:solidFill>
                <a:latin typeface="Verdana"/>
                <a:ea typeface="Verdana"/>
                <a:cs typeface="Verdana"/>
                <a:sym typeface="Verdana"/>
              </a:rPr>
              <a:t>learn</a:t>
            </a:r>
            <a:r>
              <a:rPr lang="en" sz="1500">
                <a:solidFill>
                  <a:schemeClr val="dk2"/>
                </a:solidFill>
                <a:latin typeface="Verdana"/>
                <a:ea typeface="Verdana"/>
                <a:cs typeface="Verdana"/>
                <a:sym typeface="Verdana"/>
              </a:rPr>
              <a:t> it with an example. Assume that we have a </a:t>
            </a:r>
            <a:r>
              <a:rPr b="1" lang="en" sz="1500">
                <a:solidFill>
                  <a:srgbClr val="A31515"/>
                </a:solidFill>
                <a:latin typeface="Verdana"/>
                <a:ea typeface="Verdana"/>
                <a:cs typeface="Verdana"/>
                <a:sym typeface="Verdana"/>
              </a:rPr>
              <a:t>cancer drug</a:t>
            </a:r>
            <a:r>
              <a:rPr lang="en" sz="1500">
                <a:solidFill>
                  <a:schemeClr val="dk2"/>
                </a:solidFill>
                <a:latin typeface="Verdana"/>
                <a:ea typeface="Verdana"/>
                <a:cs typeface="Verdana"/>
                <a:sym typeface="Verdana"/>
              </a:rPr>
              <a:t>.</a:t>
            </a:r>
            <a:endParaRPr sz="1500">
              <a:solidFill>
                <a:schemeClr val="dk2"/>
              </a:solidFill>
              <a:latin typeface="Verdana"/>
              <a:ea typeface="Verdana"/>
              <a:cs typeface="Verdana"/>
              <a:sym typeface="Verdana"/>
            </a:endParaRPr>
          </a:p>
          <a:p>
            <a:pPr indent="-323850" lvl="1" marL="9144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It makes some people feel much better</a:t>
            </a:r>
            <a:endParaRPr sz="1500">
              <a:solidFill>
                <a:schemeClr val="dk2"/>
              </a:solidFill>
              <a:latin typeface="Verdana"/>
              <a:ea typeface="Verdana"/>
              <a:cs typeface="Verdana"/>
              <a:sym typeface="Verdana"/>
            </a:endParaRPr>
          </a:p>
          <a:p>
            <a:pPr indent="-323850" lvl="1" marL="9144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However, it makes some people feel worse</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How can we decide who to give this drug to?</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If we use only one gene to decide...</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p:txBody>
      </p:sp>
      <p:sp>
        <p:nvSpPr>
          <p:cNvPr id="96" name="Google Shape;96;p1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97" name="Google Shape;97;p19"/>
          <p:cNvPicPr preferRelativeResize="0"/>
          <p:nvPr/>
        </p:nvPicPr>
        <p:blipFill>
          <a:blip r:embed="rId3">
            <a:alphaModFix/>
          </a:blip>
          <a:stretch>
            <a:fillRect/>
          </a:stretch>
        </p:blipFill>
        <p:spPr>
          <a:xfrm>
            <a:off x="2034850" y="2909450"/>
            <a:ext cx="5243274" cy="2148425"/>
          </a:xfrm>
          <a:prstGeom prst="rect">
            <a:avLst/>
          </a:prstGeom>
          <a:noFill/>
          <a:ln>
            <a:noFill/>
          </a:ln>
        </p:spPr>
      </p:pic>
      <p:sp>
        <p:nvSpPr>
          <p:cNvPr id="98" name="Google Shape;98;p19"/>
          <p:cNvSpPr/>
          <p:nvPr/>
        </p:nvSpPr>
        <p:spPr>
          <a:xfrm>
            <a:off x="2434725" y="3426250"/>
            <a:ext cx="1432200" cy="623400"/>
          </a:xfrm>
          <a:prstGeom prst="ellipse">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p:nvPr/>
        </p:nvSpPr>
        <p:spPr>
          <a:xfrm>
            <a:off x="5330325" y="3426250"/>
            <a:ext cx="1432200" cy="623400"/>
          </a:xfrm>
          <a:prstGeom prst="ellipse">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9"/>
          <p:cNvSpPr/>
          <p:nvPr/>
        </p:nvSpPr>
        <p:spPr>
          <a:xfrm>
            <a:off x="3882525" y="3426250"/>
            <a:ext cx="1432200" cy="6234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9"/>
          <p:cNvCxnSpPr>
            <a:stCxn id="100" idx="7"/>
          </p:cNvCxnSpPr>
          <p:nvPr/>
        </p:nvCxnSpPr>
        <p:spPr>
          <a:xfrm flipH="1" rot="10800000">
            <a:off x="5104984" y="2754345"/>
            <a:ext cx="987300" cy="763200"/>
          </a:xfrm>
          <a:prstGeom prst="straightConnector1">
            <a:avLst/>
          </a:prstGeom>
          <a:noFill/>
          <a:ln cap="flat" cmpd="sng" w="38100">
            <a:solidFill>
              <a:schemeClr val="accent4"/>
            </a:solidFill>
            <a:prstDash val="solid"/>
            <a:round/>
            <a:headEnd len="med" w="med" type="none"/>
            <a:tailEnd len="med" w="med" type="triangle"/>
          </a:ln>
        </p:spPr>
      </p:cxnSp>
      <p:sp>
        <p:nvSpPr>
          <p:cNvPr id="102" name="Google Shape;102;p19"/>
          <p:cNvSpPr txBox="1"/>
          <p:nvPr/>
        </p:nvSpPr>
        <p:spPr>
          <a:xfrm>
            <a:off x="6147400" y="2203375"/>
            <a:ext cx="1432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Sans Pro"/>
                <a:ea typeface="Source Sans Pro"/>
                <a:cs typeface="Source Sans Pro"/>
                <a:sym typeface="Source Sans Pro"/>
              </a:rPr>
              <a:t>This part is not easy to seperate</a:t>
            </a:r>
            <a:endParaRPr>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idx="1" type="body"/>
          </p:nvPr>
        </p:nvSpPr>
        <p:spPr>
          <a:xfrm>
            <a:off x="311700" y="763625"/>
            <a:ext cx="8520600" cy="1186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What i</a:t>
            </a:r>
            <a:r>
              <a:rPr lang="en" sz="1500">
                <a:solidFill>
                  <a:schemeClr val="dk2"/>
                </a:solidFill>
                <a:latin typeface="Verdana"/>
                <a:ea typeface="Verdana"/>
                <a:cs typeface="Verdana"/>
                <a:sym typeface="Verdana"/>
              </a:rPr>
              <a:t>f we use two genes</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p:txBody>
      </p:sp>
      <p:sp>
        <p:nvSpPr>
          <p:cNvPr id="108" name="Google Shape;108;p20"/>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109" name="Google Shape;109;p20"/>
          <p:cNvPicPr preferRelativeResize="0"/>
          <p:nvPr/>
        </p:nvPicPr>
        <p:blipFill>
          <a:blip r:embed="rId3">
            <a:alphaModFix/>
          </a:blip>
          <a:stretch>
            <a:fillRect/>
          </a:stretch>
        </p:blipFill>
        <p:spPr>
          <a:xfrm>
            <a:off x="921250" y="1255925"/>
            <a:ext cx="4664299" cy="3024276"/>
          </a:xfrm>
          <a:prstGeom prst="rect">
            <a:avLst/>
          </a:prstGeom>
          <a:noFill/>
          <a:ln>
            <a:noFill/>
          </a:ln>
        </p:spPr>
      </p:pic>
      <p:cxnSp>
        <p:nvCxnSpPr>
          <p:cNvPr id="110" name="Google Shape;110;p20"/>
          <p:cNvCxnSpPr/>
          <p:nvPr/>
        </p:nvCxnSpPr>
        <p:spPr>
          <a:xfrm>
            <a:off x="2373225" y="1721375"/>
            <a:ext cx="1828800" cy="2049300"/>
          </a:xfrm>
          <a:prstGeom prst="straightConnector1">
            <a:avLst/>
          </a:prstGeom>
          <a:noFill/>
          <a:ln cap="flat" cmpd="sng" w="38100">
            <a:solidFill>
              <a:schemeClr val="dk2"/>
            </a:solidFill>
            <a:prstDash val="dash"/>
            <a:round/>
            <a:headEnd len="med" w="med" type="none"/>
            <a:tailEnd len="med" w="med" type="none"/>
          </a:ln>
        </p:spPr>
      </p:cxnSp>
      <p:sp>
        <p:nvSpPr>
          <p:cNvPr id="111" name="Google Shape;111;p20"/>
          <p:cNvSpPr txBox="1"/>
          <p:nvPr>
            <p:ph idx="1" type="body"/>
          </p:nvPr>
        </p:nvSpPr>
        <p:spPr>
          <a:xfrm>
            <a:off x="311700" y="4421225"/>
            <a:ext cx="8520600" cy="6687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It’s much better but not perfect with 2 features</a:t>
            </a:r>
            <a:endParaRPr sz="1500">
              <a:solidFill>
                <a:schemeClr val="dk2"/>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idx="1" type="body"/>
          </p:nvPr>
        </p:nvSpPr>
        <p:spPr>
          <a:xfrm>
            <a:off x="311700" y="763625"/>
            <a:ext cx="8520600" cy="3819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We want to </a:t>
            </a:r>
            <a:r>
              <a:rPr b="1" lang="en" sz="1500">
                <a:solidFill>
                  <a:srgbClr val="0000FF"/>
                </a:solidFill>
                <a:latin typeface="Verdana"/>
                <a:ea typeface="Verdana"/>
                <a:cs typeface="Verdana"/>
                <a:sym typeface="Verdana"/>
              </a:rPr>
              <a:t>reduce the dimension</a:t>
            </a:r>
            <a:r>
              <a:rPr lang="en" sz="1500">
                <a:solidFill>
                  <a:schemeClr val="dk2"/>
                </a:solidFill>
                <a:latin typeface="Verdana"/>
                <a:ea typeface="Verdana"/>
                <a:cs typeface="Verdana"/>
                <a:sym typeface="Verdana"/>
              </a:rPr>
              <a:t> while </a:t>
            </a:r>
            <a:r>
              <a:rPr b="1" lang="en" sz="1500">
                <a:solidFill>
                  <a:schemeClr val="accent2"/>
                </a:solidFill>
                <a:latin typeface="Verdana"/>
                <a:ea typeface="Verdana"/>
                <a:cs typeface="Verdana"/>
                <a:sym typeface="Verdana"/>
              </a:rPr>
              <a:t>keeping maximum class </a:t>
            </a:r>
            <a:r>
              <a:rPr b="1" lang="en" sz="1500">
                <a:solidFill>
                  <a:schemeClr val="accent2"/>
                </a:solidFill>
                <a:latin typeface="Verdana"/>
                <a:ea typeface="Verdana"/>
                <a:cs typeface="Verdana"/>
                <a:sym typeface="Verdana"/>
              </a:rPr>
              <a:t>separability</a:t>
            </a:r>
            <a:r>
              <a:rPr lang="en" sz="1500">
                <a:solidFill>
                  <a:schemeClr val="dk2"/>
                </a:solidFill>
                <a:latin typeface="Verdana"/>
                <a:ea typeface="Verdana"/>
                <a:cs typeface="Verdana"/>
                <a:sym typeface="Verdana"/>
              </a:rPr>
              <a:t>.</a:t>
            </a:r>
            <a:br>
              <a:rPr lang="en" sz="1500">
                <a:solidFill>
                  <a:schemeClr val="dk2"/>
                </a:solidFill>
                <a:latin typeface="Verdana"/>
                <a:ea typeface="Verdana"/>
                <a:cs typeface="Verdana"/>
                <a:sym typeface="Verdana"/>
              </a:rPr>
            </a:br>
            <a:endParaRPr sz="1500">
              <a:solidFill>
                <a:schemeClr val="dk2"/>
              </a:solidFill>
              <a:latin typeface="Verdana"/>
              <a:ea typeface="Verdana"/>
              <a:cs typeface="Verdana"/>
              <a:sym typeface="Verdana"/>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How does LDA perform this operation?</a:t>
            </a:r>
            <a:endParaRPr sz="1500">
              <a:solidFill>
                <a:schemeClr val="dk2"/>
              </a:solidFill>
              <a:latin typeface="Verdana"/>
              <a:ea typeface="Verdana"/>
              <a:cs typeface="Verdana"/>
              <a:sym typeface="Verdana"/>
            </a:endParaRPr>
          </a:p>
        </p:txBody>
      </p:sp>
      <p:sp>
        <p:nvSpPr>
          <p:cNvPr id="117" name="Google Shape;117;p21"/>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118" name="Google Shape;118;p21"/>
          <p:cNvPicPr preferRelativeResize="0"/>
          <p:nvPr/>
        </p:nvPicPr>
        <p:blipFill>
          <a:blip r:embed="rId3">
            <a:alphaModFix/>
          </a:blip>
          <a:stretch>
            <a:fillRect/>
          </a:stretch>
        </p:blipFill>
        <p:spPr>
          <a:xfrm>
            <a:off x="1313761" y="1866100"/>
            <a:ext cx="6516474" cy="3182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idx="1" type="body"/>
          </p:nvPr>
        </p:nvSpPr>
        <p:spPr>
          <a:xfrm>
            <a:off x="311700" y="916025"/>
            <a:ext cx="8520600" cy="3819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There are 2 criteria in LDA:</a:t>
            </a:r>
            <a:endParaRPr sz="1500">
              <a:solidFill>
                <a:schemeClr val="dk2"/>
              </a:solidFill>
              <a:latin typeface="Verdana"/>
              <a:ea typeface="Verdana"/>
              <a:cs typeface="Verdana"/>
              <a:sym typeface="Verdana"/>
            </a:endParaRPr>
          </a:p>
          <a:p>
            <a:pPr indent="-323850" lvl="1" marL="9144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Maximize the distance between means of both classes</a:t>
            </a:r>
            <a:endParaRPr sz="1500">
              <a:solidFill>
                <a:schemeClr val="dk2"/>
              </a:solidFill>
              <a:latin typeface="Verdana"/>
              <a:ea typeface="Verdana"/>
              <a:cs typeface="Verdana"/>
              <a:sym typeface="Verdana"/>
            </a:endParaRPr>
          </a:p>
          <a:p>
            <a:pPr indent="-323850" lvl="1" marL="9144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Minimize the variation (scatter) within each class</a:t>
            </a:r>
            <a:endParaRPr sz="1500">
              <a:solidFill>
                <a:schemeClr val="dk2"/>
              </a:solidFill>
              <a:latin typeface="Verdana"/>
              <a:ea typeface="Verdana"/>
              <a:cs typeface="Verdana"/>
              <a:sym typeface="Verdana"/>
            </a:endParaRPr>
          </a:p>
        </p:txBody>
      </p:sp>
      <p:sp>
        <p:nvSpPr>
          <p:cNvPr id="124" name="Google Shape;124;p22"/>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125" name="Google Shape;125;p22"/>
          <p:cNvPicPr preferRelativeResize="0"/>
          <p:nvPr/>
        </p:nvPicPr>
        <p:blipFill>
          <a:blip r:embed="rId3">
            <a:alphaModFix/>
          </a:blip>
          <a:stretch>
            <a:fillRect/>
          </a:stretch>
        </p:blipFill>
        <p:spPr>
          <a:xfrm>
            <a:off x="574950" y="3410158"/>
            <a:ext cx="3675725" cy="764992"/>
          </a:xfrm>
          <a:prstGeom prst="rect">
            <a:avLst/>
          </a:prstGeom>
          <a:noFill/>
          <a:ln>
            <a:noFill/>
          </a:ln>
        </p:spPr>
      </p:pic>
      <p:grpSp>
        <p:nvGrpSpPr>
          <p:cNvPr id="126" name="Google Shape;126;p22"/>
          <p:cNvGrpSpPr/>
          <p:nvPr/>
        </p:nvGrpSpPr>
        <p:grpSpPr>
          <a:xfrm>
            <a:off x="1804925" y="2988325"/>
            <a:ext cx="363600" cy="1253250"/>
            <a:chOff x="1652525" y="1235725"/>
            <a:chExt cx="363600" cy="1253250"/>
          </a:xfrm>
        </p:grpSpPr>
        <p:cxnSp>
          <p:nvCxnSpPr>
            <p:cNvPr id="127" name="Google Shape;127;p22"/>
            <p:cNvCxnSpPr/>
            <p:nvPr/>
          </p:nvCxnSpPr>
          <p:spPr>
            <a:xfrm flipH="1">
              <a:off x="1762825" y="1684675"/>
              <a:ext cx="21900" cy="804300"/>
            </a:xfrm>
            <a:prstGeom prst="straightConnector1">
              <a:avLst/>
            </a:prstGeom>
            <a:noFill/>
            <a:ln cap="flat" cmpd="sng" w="38100">
              <a:solidFill>
                <a:srgbClr val="38761D"/>
              </a:solidFill>
              <a:prstDash val="solid"/>
              <a:round/>
              <a:headEnd len="med" w="med" type="none"/>
              <a:tailEnd len="med" w="med" type="none"/>
            </a:ln>
          </p:spPr>
        </p:cxnSp>
        <p:sp>
          <p:nvSpPr>
            <p:cNvPr id="128" name="Google Shape;128;p22"/>
            <p:cNvSpPr txBox="1"/>
            <p:nvPr/>
          </p:nvSpPr>
          <p:spPr>
            <a:xfrm>
              <a:off x="1652525" y="1235725"/>
              <a:ext cx="363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38761D"/>
                  </a:solidFill>
                  <a:latin typeface="Source Sans Pro"/>
                  <a:ea typeface="Source Sans Pro"/>
                  <a:cs typeface="Source Sans Pro"/>
                  <a:sym typeface="Source Sans Pro"/>
                </a:rPr>
                <a:t>𝞵</a:t>
              </a:r>
              <a:endParaRPr sz="2100">
                <a:solidFill>
                  <a:srgbClr val="38761D"/>
                </a:solidFill>
                <a:latin typeface="Source Sans Pro"/>
                <a:ea typeface="Source Sans Pro"/>
                <a:cs typeface="Source Sans Pro"/>
                <a:sym typeface="Source Sans Pro"/>
              </a:endParaRPr>
            </a:p>
          </p:txBody>
        </p:sp>
      </p:grpSp>
      <p:grpSp>
        <p:nvGrpSpPr>
          <p:cNvPr id="129" name="Google Shape;129;p22"/>
          <p:cNvGrpSpPr/>
          <p:nvPr/>
        </p:nvGrpSpPr>
        <p:grpSpPr>
          <a:xfrm>
            <a:off x="3100325" y="2988325"/>
            <a:ext cx="363600" cy="1253250"/>
            <a:chOff x="1652525" y="1235725"/>
            <a:chExt cx="363600" cy="1253250"/>
          </a:xfrm>
        </p:grpSpPr>
        <p:cxnSp>
          <p:nvCxnSpPr>
            <p:cNvPr id="130" name="Google Shape;130;p22"/>
            <p:cNvCxnSpPr/>
            <p:nvPr/>
          </p:nvCxnSpPr>
          <p:spPr>
            <a:xfrm flipH="1">
              <a:off x="1762825" y="1684675"/>
              <a:ext cx="21900" cy="804300"/>
            </a:xfrm>
            <a:prstGeom prst="straightConnector1">
              <a:avLst/>
            </a:prstGeom>
            <a:noFill/>
            <a:ln cap="flat" cmpd="sng" w="38100">
              <a:solidFill>
                <a:srgbClr val="A31515"/>
              </a:solidFill>
              <a:prstDash val="solid"/>
              <a:round/>
              <a:headEnd len="med" w="med" type="none"/>
              <a:tailEnd len="med" w="med" type="none"/>
            </a:ln>
          </p:spPr>
        </p:cxnSp>
        <p:sp>
          <p:nvSpPr>
            <p:cNvPr id="131" name="Google Shape;131;p22"/>
            <p:cNvSpPr txBox="1"/>
            <p:nvPr/>
          </p:nvSpPr>
          <p:spPr>
            <a:xfrm>
              <a:off x="1652525" y="1235725"/>
              <a:ext cx="363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A31515"/>
                  </a:solidFill>
                  <a:latin typeface="Source Sans Pro"/>
                  <a:ea typeface="Source Sans Pro"/>
                  <a:cs typeface="Source Sans Pro"/>
                  <a:sym typeface="Source Sans Pro"/>
                </a:rPr>
                <a:t>𝞵</a:t>
              </a:r>
              <a:endParaRPr sz="2100">
                <a:solidFill>
                  <a:srgbClr val="A31515"/>
                </a:solidFill>
                <a:latin typeface="Source Sans Pro"/>
                <a:ea typeface="Source Sans Pro"/>
                <a:cs typeface="Source Sans Pro"/>
                <a:sym typeface="Source Sans Pro"/>
              </a:endParaRPr>
            </a:p>
          </p:txBody>
        </p:sp>
      </p:grpSp>
      <p:sp>
        <p:nvSpPr>
          <p:cNvPr id="132" name="Google Shape;132;p22"/>
          <p:cNvSpPr/>
          <p:nvPr/>
        </p:nvSpPr>
        <p:spPr>
          <a:xfrm rot="-5400000">
            <a:off x="2520175" y="2396175"/>
            <a:ext cx="170700" cy="1355100"/>
          </a:xfrm>
          <a:prstGeom prst="righ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2"/>
          <p:cNvSpPr txBox="1"/>
          <p:nvPr/>
        </p:nvSpPr>
        <p:spPr>
          <a:xfrm>
            <a:off x="2467775" y="2663325"/>
            <a:ext cx="264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Source Sans Pro"/>
                <a:ea typeface="Source Sans Pro"/>
                <a:cs typeface="Source Sans Pro"/>
                <a:sym typeface="Source Sans Pro"/>
              </a:rPr>
              <a:t>d</a:t>
            </a:r>
            <a:endParaRPr b="1" sz="1600">
              <a:latin typeface="Source Sans Pro"/>
              <a:ea typeface="Source Sans Pro"/>
              <a:cs typeface="Source Sans Pro"/>
              <a:sym typeface="Source Sans Pro"/>
            </a:endParaRPr>
          </a:p>
        </p:txBody>
      </p:sp>
      <p:sp>
        <p:nvSpPr>
          <p:cNvPr id="134" name="Google Shape;134;p22"/>
          <p:cNvSpPr/>
          <p:nvPr/>
        </p:nvSpPr>
        <p:spPr>
          <a:xfrm rot="5400000">
            <a:off x="1891200" y="3199425"/>
            <a:ext cx="170700" cy="2172300"/>
          </a:xfrm>
          <a:prstGeom prst="righ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2"/>
          <p:cNvSpPr txBox="1"/>
          <p:nvPr/>
        </p:nvSpPr>
        <p:spPr>
          <a:xfrm>
            <a:off x="1781975" y="4263525"/>
            <a:ext cx="60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Source Sans Pro"/>
                <a:ea typeface="Source Sans Pro"/>
                <a:cs typeface="Source Sans Pro"/>
                <a:sym typeface="Source Sans Pro"/>
              </a:rPr>
              <a:t>s1</a:t>
            </a:r>
            <a:endParaRPr b="1" sz="1600">
              <a:latin typeface="Source Sans Pro"/>
              <a:ea typeface="Source Sans Pro"/>
              <a:cs typeface="Source Sans Pro"/>
              <a:sym typeface="Source Sans Pro"/>
            </a:endParaRPr>
          </a:p>
        </p:txBody>
      </p:sp>
      <p:sp>
        <p:nvSpPr>
          <p:cNvPr id="136" name="Google Shape;136;p22"/>
          <p:cNvSpPr/>
          <p:nvPr/>
        </p:nvSpPr>
        <p:spPr>
          <a:xfrm rot="5400000">
            <a:off x="3159900" y="3759375"/>
            <a:ext cx="170700" cy="1662000"/>
          </a:xfrm>
          <a:prstGeom prst="righ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2"/>
          <p:cNvSpPr txBox="1"/>
          <p:nvPr/>
        </p:nvSpPr>
        <p:spPr>
          <a:xfrm>
            <a:off x="3077375" y="4568325"/>
            <a:ext cx="60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Source Sans Pro"/>
                <a:ea typeface="Source Sans Pro"/>
                <a:cs typeface="Source Sans Pro"/>
                <a:sym typeface="Source Sans Pro"/>
              </a:rPr>
              <a:t>s2</a:t>
            </a:r>
            <a:endParaRPr b="1" sz="1600">
              <a:latin typeface="Source Sans Pro"/>
              <a:ea typeface="Source Sans Pro"/>
              <a:cs typeface="Source Sans Pro"/>
              <a:sym typeface="Source Sans Pro"/>
            </a:endParaRPr>
          </a:p>
        </p:txBody>
      </p:sp>
      <p:sp>
        <p:nvSpPr>
          <p:cNvPr id="138" name="Google Shape;138;p22"/>
          <p:cNvSpPr txBox="1"/>
          <p:nvPr/>
        </p:nvSpPr>
        <p:spPr>
          <a:xfrm>
            <a:off x="4935550" y="3247225"/>
            <a:ext cx="41646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Source Sans Pro"/>
                <a:ea typeface="Source Sans Pro"/>
                <a:cs typeface="Source Sans Pro"/>
                <a:sym typeface="Source Sans Pro"/>
              </a:rPr>
              <a:t>We want to maximize</a:t>
            </a:r>
            <a:br>
              <a:rPr lang="en" sz="1900">
                <a:latin typeface="Source Sans Pro"/>
                <a:ea typeface="Source Sans Pro"/>
                <a:cs typeface="Source Sans Pro"/>
                <a:sym typeface="Source Sans Pro"/>
              </a:rPr>
            </a:br>
            <a:br>
              <a:rPr lang="en" sz="1900">
                <a:latin typeface="Source Sans Pro"/>
                <a:ea typeface="Source Sans Pro"/>
                <a:cs typeface="Source Sans Pro"/>
                <a:sym typeface="Source Sans Pro"/>
              </a:rPr>
            </a:br>
            <a:r>
              <a:rPr b="1" lang="en" sz="2300">
                <a:latin typeface="Source Sans Pro"/>
                <a:ea typeface="Source Sans Pro"/>
                <a:cs typeface="Source Sans Pro"/>
                <a:sym typeface="Source Sans Pro"/>
              </a:rPr>
              <a:t>d</a:t>
            </a:r>
            <a:r>
              <a:rPr b="1" baseline="30000" lang="en" sz="2300">
                <a:latin typeface="Source Sans Pro"/>
                <a:ea typeface="Source Sans Pro"/>
                <a:cs typeface="Source Sans Pro"/>
                <a:sym typeface="Source Sans Pro"/>
              </a:rPr>
              <a:t>2</a:t>
            </a:r>
            <a:r>
              <a:rPr b="1" lang="en" sz="2300">
                <a:latin typeface="Source Sans Pro"/>
                <a:ea typeface="Source Sans Pro"/>
                <a:cs typeface="Source Sans Pro"/>
                <a:sym typeface="Source Sans Pro"/>
              </a:rPr>
              <a:t> / (s1 + s2)</a:t>
            </a:r>
            <a:endParaRPr b="1" sz="2300">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idx="1" type="body"/>
          </p:nvPr>
        </p:nvSpPr>
        <p:spPr>
          <a:xfrm>
            <a:off x="311700" y="875325"/>
            <a:ext cx="8520600" cy="3819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If we only focused to </a:t>
            </a:r>
            <a:r>
              <a:rPr b="1" lang="en" sz="1500">
                <a:solidFill>
                  <a:srgbClr val="980000"/>
                </a:solidFill>
                <a:latin typeface="Verdana"/>
                <a:ea typeface="Verdana"/>
                <a:cs typeface="Verdana"/>
                <a:sym typeface="Verdana"/>
              </a:rPr>
              <a:t>maximize mean</a:t>
            </a:r>
            <a:r>
              <a:rPr lang="en" sz="1500">
                <a:solidFill>
                  <a:schemeClr val="dk2"/>
                </a:solidFill>
                <a:latin typeface="Verdana"/>
                <a:ea typeface="Verdana"/>
                <a:cs typeface="Verdana"/>
                <a:sym typeface="Verdana"/>
              </a:rPr>
              <a:t> but </a:t>
            </a:r>
            <a:r>
              <a:rPr b="1" lang="en" sz="1500">
                <a:solidFill>
                  <a:srgbClr val="0000FF"/>
                </a:solidFill>
                <a:latin typeface="Verdana"/>
                <a:ea typeface="Verdana"/>
                <a:cs typeface="Verdana"/>
                <a:sym typeface="Verdana"/>
              </a:rPr>
              <a:t>not minimize the scatter</a:t>
            </a:r>
            <a:r>
              <a:rPr lang="en" sz="1500">
                <a:solidFill>
                  <a:schemeClr val="dk2"/>
                </a:solidFill>
                <a:latin typeface="Verdana"/>
                <a:ea typeface="Verdana"/>
                <a:cs typeface="Verdana"/>
                <a:sym typeface="Verdana"/>
              </a:rPr>
              <a:t>, then it would not be enough in some cases.</a:t>
            </a:r>
            <a:endParaRPr sz="1500">
              <a:solidFill>
                <a:schemeClr val="dk2"/>
              </a:solidFill>
              <a:latin typeface="Verdana"/>
              <a:ea typeface="Verdana"/>
              <a:cs typeface="Verdana"/>
              <a:sym typeface="Verdana"/>
            </a:endParaRPr>
          </a:p>
        </p:txBody>
      </p:sp>
      <p:sp>
        <p:nvSpPr>
          <p:cNvPr id="144" name="Google Shape;144;p23"/>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145" name="Google Shape;145;p23"/>
          <p:cNvPicPr preferRelativeResize="0"/>
          <p:nvPr/>
        </p:nvPicPr>
        <p:blipFill>
          <a:blip r:embed="rId3">
            <a:alphaModFix/>
          </a:blip>
          <a:stretch>
            <a:fillRect/>
          </a:stretch>
        </p:blipFill>
        <p:spPr>
          <a:xfrm>
            <a:off x="174075" y="2313550"/>
            <a:ext cx="3686201" cy="2030075"/>
          </a:xfrm>
          <a:prstGeom prst="rect">
            <a:avLst/>
          </a:prstGeom>
          <a:noFill/>
          <a:ln>
            <a:noFill/>
          </a:ln>
        </p:spPr>
      </p:pic>
      <p:pic>
        <p:nvPicPr>
          <p:cNvPr id="146" name="Google Shape;146;p23"/>
          <p:cNvPicPr preferRelativeResize="0"/>
          <p:nvPr/>
        </p:nvPicPr>
        <p:blipFill>
          <a:blip r:embed="rId4">
            <a:alphaModFix/>
          </a:blip>
          <a:stretch>
            <a:fillRect/>
          </a:stretch>
        </p:blipFill>
        <p:spPr>
          <a:xfrm>
            <a:off x="4849175" y="2016075"/>
            <a:ext cx="4078751" cy="2581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idx="1" type="body"/>
          </p:nvPr>
        </p:nvSpPr>
        <p:spPr>
          <a:xfrm>
            <a:off x="311700" y="875325"/>
            <a:ext cx="8520600" cy="3819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If we both focus to </a:t>
            </a:r>
            <a:r>
              <a:rPr b="1" lang="en" sz="1500">
                <a:solidFill>
                  <a:srgbClr val="980000"/>
                </a:solidFill>
                <a:latin typeface="Verdana"/>
                <a:ea typeface="Verdana"/>
                <a:cs typeface="Verdana"/>
                <a:sym typeface="Verdana"/>
              </a:rPr>
              <a:t>maximize mean</a:t>
            </a:r>
            <a:r>
              <a:rPr lang="en" sz="1500">
                <a:solidFill>
                  <a:schemeClr val="dk2"/>
                </a:solidFill>
                <a:latin typeface="Verdana"/>
                <a:ea typeface="Verdana"/>
                <a:cs typeface="Verdana"/>
                <a:sym typeface="Verdana"/>
              </a:rPr>
              <a:t> and </a:t>
            </a:r>
            <a:r>
              <a:rPr b="1" lang="en" sz="1500">
                <a:solidFill>
                  <a:srgbClr val="0000FF"/>
                </a:solidFill>
                <a:latin typeface="Verdana"/>
                <a:ea typeface="Verdana"/>
                <a:cs typeface="Verdana"/>
                <a:sym typeface="Verdana"/>
              </a:rPr>
              <a:t>minimize the scatter</a:t>
            </a:r>
            <a:r>
              <a:rPr lang="en" sz="1500">
                <a:solidFill>
                  <a:schemeClr val="dk2"/>
                </a:solidFill>
                <a:latin typeface="Verdana"/>
                <a:ea typeface="Verdana"/>
                <a:cs typeface="Verdana"/>
                <a:sym typeface="Verdana"/>
              </a:rPr>
              <a:t>, then... </a:t>
            </a:r>
            <a:endParaRPr sz="1500">
              <a:solidFill>
                <a:schemeClr val="dk2"/>
              </a:solidFill>
              <a:latin typeface="Verdana"/>
              <a:ea typeface="Verdana"/>
              <a:cs typeface="Verdana"/>
              <a:sym typeface="Verdana"/>
            </a:endParaRPr>
          </a:p>
        </p:txBody>
      </p:sp>
      <p:sp>
        <p:nvSpPr>
          <p:cNvPr id="152" name="Google Shape;152;p24"/>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153" name="Google Shape;153;p24"/>
          <p:cNvPicPr preferRelativeResize="0"/>
          <p:nvPr/>
        </p:nvPicPr>
        <p:blipFill>
          <a:blip r:embed="rId3">
            <a:alphaModFix/>
          </a:blip>
          <a:stretch>
            <a:fillRect/>
          </a:stretch>
        </p:blipFill>
        <p:spPr>
          <a:xfrm>
            <a:off x="174075" y="2313550"/>
            <a:ext cx="3686201" cy="2030075"/>
          </a:xfrm>
          <a:prstGeom prst="rect">
            <a:avLst/>
          </a:prstGeom>
          <a:noFill/>
          <a:ln>
            <a:noFill/>
          </a:ln>
        </p:spPr>
      </p:pic>
      <p:pic>
        <p:nvPicPr>
          <p:cNvPr id="154" name="Google Shape;154;p24"/>
          <p:cNvPicPr preferRelativeResize="0"/>
          <p:nvPr/>
        </p:nvPicPr>
        <p:blipFill>
          <a:blip r:embed="rId4">
            <a:alphaModFix/>
          </a:blip>
          <a:stretch>
            <a:fillRect/>
          </a:stretch>
        </p:blipFill>
        <p:spPr>
          <a:xfrm>
            <a:off x="5205225" y="1893950"/>
            <a:ext cx="3320599" cy="2319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idx="1" type="body"/>
          </p:nvPr>
        </p:nvSpPr>
        <p:spPr>
          <a:xfrm>
            <a:off x="311700" y="875325"/>
            <a:ext cx="8520600" cy="3819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What about multiclass problem?</a:t>
            </a:r>
            <a:endParaRPr sz="1500">
              <a:solidFill>
                <a:schemeClr val="dk2"/>
              </a:solidFill>
              <a:latin typeface="Verdana"/>
              <a:ea typeface="Verdana"/>
              <a:cs typeface="Verdana"/>
              <a:sym typeface="Verdana"/>
            </a:endParaRPr>
          </a:p>
          <a:p>
            <a:pPr indent="-323850" lvl="1" marL="13716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In order to calculate d value, we should first calculate the </a:t>
            </a:r>
            <a:r>
              <a:rPr b="1" lang="en" sz="1500">
                <a:solidFill>
                  <a:schemeClr val="dk2"/>
                </a:solidFill>
                <a:latin typeface="Verdana"/>
                <a:ea typeface="Verdana"/>
                <a:cs typeface="Verdana"/>
                <a:sym typeface="Verdana"/>
              </a:rPr>
              <a:t>center of the data</a:t>
            </a:r>
            <a:r>
              <a:rPr lang="en" sz="1500">
                <a:solidFill>
                  <a:schemeClr val="dk2"/>
                </a:solidFill>
                <a:latin typeface="Verdana"/>
                <a:ea typeface="Verdana"/>
                <a:cs typeface="Verdana"/>
                <a:sym typeface="Verdana"/>
              </a:rPr>
              <a:t>.</a:t>
            </a:r>
            <a:endParaRPr sz="1500">
              <a:solidFill>
                <a:schemeClr val="dk2"/>
              </a:solidFill>
              <a:latin typeface="Verdana"/>
              <a:ea typeface="Verdana"/>
              <a:cs typeface="Verdana"/>
              <a:sym typeface="Verdana"/>
            </a:endParaRPr>
          </a:p>
        </p:txBody>
      </p:sp>
      <p:sp>
        <p:nvSpPr>
          <p:cNvPr id="160" name="Google Shape;160;p25"/>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161" name="Google Shape;161;p25"/>
          <p:cNvPicPr preferRelativeResize="0"/>
          <p:nvPr/>
        </p:nvPicPr>
        <p:blipFill>
          <a:blip r:embed="rId3">
            <a:alphaModFix/>
          </a:blip>
          <a:stretch>
            <a:fillRect/>
          </a:stretch>
        </p:blipFill>
        <p:spPr>
          <a:xfrm>
            <a:off x="375125" y="2098000"/>
            <a:ext cx="3968276" cy="2929600"/>
          </a:xfrm>
          <a:prstGeom prst="rect">
            <a:avLst/>
          </a:prstGeom>
          <a:noFill/>
          <a:ln>
            <a:noFill/>
          </a:ln>
        </p:spPr>
      </p:pic>
      <p:pic>
        <p:nvPicPr>
          <p:cNvPr id="162" name="Google Shape;162;p25"/>
          <p:cNvPicPr preferRelativeResize="0"/>
          <p:nvPr/>
        </p:nvPicPr>
        <p:blipFill>
          <a:blip r:embed="rId4">
            <a:alphaModFix/>
          </a:blip>
          <a:stretch>
            <a:fillRect/>
          </a:stretch>
        </p:blipFill>
        <p:spPr>
          <a:xfrm>
            <a:off x="4797903" y="1961000"/>
            <a:ext cx="4207749" cy="3177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idx="1" type="body"/>
          </p:nvPr>
        </p:nvSpPr>
        <p:spPr>
          <a:xfrm>
            <a:off x="311700" y="875325"/>
            <a:ext cx="8520600" cy="3819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We will now maximize </a:t>
            </a:r>
            <a:r>
              <a:rPr b="1" lang="en" sz="2300">
                <a:solidFill>
                  <a:schemeClr val="dk2"/>
                </a:solidFill>
              </a:rPr>
              <a:t>(</a:t>
            </a:r>
            <a:r>
              <a:rPr b="1" lang="en" sz="2300">
                <a:solidFill>
                  <a:srgbClr val="0000FF"/>
                </a:solidFill>
              </a:rPr>
              <a:t>d</a:t>
            </a:r>
            <a:r>
              <a:rPr b="1" baseline="30000" lang="en" sz="2300">
                <a:solidFill>
                  <a:srgbClr val="0000FF"/>
                </a:solidFill>
              </a:rPr>
              <a:t>2</a:t>
            </a:r>
            <a:r>
              <a:rPr b="1" lang="en" sz="2300">
                <a:solidFill>
                  <a:schemeClr val="dk2"/>
                </a:solidFill>
              </a:rPr>
              <a:t> + </a:t>
            </a:r>
            <a:r>
              <a:rPr b="1" lang="en" sz="2300">
                <a:solidFill>
                  <a:srgbClr val="980000"/>
                </a:solidFill>
              </a:rPr>
              <a:t>d</a:t>
            </a:r>
            <a:r>
              <a:rPr b="1" baseline="30000" lang="en" sz="2300">
                <a:solidFill>
                  <a:srgbClr val="980000"/>
                </a:solidFill>
              </a:rPr>
              <a:t>2</a:t>
            </a:r>
            <a:r>
              <a:rPr b="1" lang="en" sz="2300">
                <a:solidFill>
                  <a:schemeClr val="dk2"/>
                </a:solidFill>
              </a:rPr>
              <a:t> + </a:t>
            </a:r>
            <a:r>
              <a:rPr b="1" lang="en" sz="2300">
                <a:solidFill>
                  <a:srgbClr val="38761D"/>
                </a:solidFill>
              </a:rPr>
              <a:t>d</a:t>
            </a:r>
            <a:r>
              <a:rPr b="1" baseline="30000" lang="en" sz="2300">
                <a:solidFill>
                  <a:srgbClr val="38761D"/>
                </a:solidFill>
              </a:rPr>
              <a:t>2</a:t>
            </a:r>
            <a:r>
              <a:rPr b="1" lang="en" sz="2300">
                <a:solidFill>
                  <a:schemeClr val="dk2"/>
                </a:solidFill>
              </a:rPr>
              <a:t> ) / (</a:t>
            </a:r>
            <a:r>
              <a:rPr b="1" lang="en" sz="2300">
                <a:solidFill>
                  <a:srgbClr val="0000FF"/>
                </a:solidFill>
              </a:rPr>
              <a:t>s1</a:t>
            </a:r>
            <a:r>
              <a:rPr b="1" lang="en" sz="2300">
                <a:solidFill>
                  <a:schemeClr val="dk2"/>
                </a:solidFill>
              </a:rPr>
              <a:t> + </a:t>
            </a:r>
            <a:r>
              <a:rPr b="1" lang="en" sz="2300">
                <a:solidFill>
                  <a:srgbClr val="980000"/>
                </a:solidFill>
              </a:rPr>
              <a:t>s2</a:t>
            </a:r>
            <a:r>
              <a:rPr b="1" lang="en" sz="2300">
                <a:solidFill>
                  <a:schemeClr val="dk2"/>
                </a:solidFill>
              </a:rPr>
              <a:t> + </a:t>
            </a:r>
            <a:r>
              <a:rPr b="1" lang="en" sz="2300">
                <a:solidFill>
                  <a:srgbClr val="38761D"/>
                </a:solidFill>
              </a:rPr>
              <a:t>s3</a:t>
            </a:r>
            <a:r>
              <a:rPr b="1" lang="en" sz="2300">
                <a:solidFill>
                  <a:schemeClr val="dk2"/>
                </a:solidFill>
              </a:rPr>
              <a:t>)</a:t>
            </a:r>
            <a:endParaRPr b="1" sz="2300">
              <a:solidFill>
                <a:schemeClr val="dk2"/>
              </a:solidFill>
            </a:endParaRPr>
          </a:p>
          <a:p>
            <a:pPr indent="-323850" lvl="0" marL="457200" rtl="0" algn="l">
              <a:spcBef>
                <a:spcPts val="0"/>
              </a:spcBef>
              <a:spcAft>
                <a:spcPts val="0"/>
              </a:spcAft>
              <a:buClr>
                <a:schemeClr val="dk2"/>
              </a:buClr>
              <a:buSzPts val="1500"/>
              <a:buFont typeface="Verdana"/>
              <a:buChar char="●"/>
            </a:pPr>
            <a:r>
              <a:rPr lang="en" sz="1500">
                <a:solidFill>
                  <a:schemeClr val="dk2"/>
                </a:solidFill>
                <a:latin typeface="Verdana"/>
                <a:ea typeface="Verdana"/>
                <a:cs typeface="Verdana"/>
                <a:sym typeface="Verdana"/>
              </a:rPr>
              <a:t>It will compose 2 axes</a:t>
            </a:r>
            <a:endParaRPr b="1" sz="2300">
              <a:solidFill>
                <a:schemeClr val="dk2"/>
              </a:solidFill>
            </a:endParaRPr>
          </a:p>
        </p:txBody>
      </p:sp>
      <p:sp>
        <p:nvSpPr>
          <p:cNvPr id="168" name="Google Shape;168;p26"/>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Linear Discriminant Analysis (LDA)</a:t>
            </a:r>
            <a:endParaRPr>
              <a:solidFill>
                <a:srgbClr val="980000"/>
              </a:solidFill>
              <a:latin typeface="Verdana"/>
              <a:ea typeface="Verdana"/>
              <a:cs typeface="Verdana"/>
              <a:sym typeface="Verdana"/>
            </a:endParaRPr>
          </a:p>
        </p:txBody>
      </p:sp>
      <p:pic>
        <p:nvPicPr>
          <p:cNvPr id="169" name="Google Shape;169;p26"/>
          <p:cNvPicPr preferRelativeResize="0"/>
          <p:nvPr/>
        </p:nvPicPr>
        <p:blipFill>
          <a:blip r:embed="rId3">
            <a:alphaModFix/>
          </a:blip>
          <a:stretch>
            <a:fillRect/>
          </a:stretch>
        </p:blipFill>
        <p:spPr>
          <a:xfrm>
            <a:off x="93703" y="1889625"/>
            <a:ext cx="4207749" cy="3177675"/>
          </a:xfrm>
          <a:prstGeom prst="rect">
            <a:avLst/>
          </a:prstGeom>
          <a:noFill/>
          <a:ln>
            <a:noFill/>
          </a:ln>
        </p:spPr>
      </p:pic>
      <p:pic>
        <p:nvPicPr>
          <p:cNvPr id="170" name="Google Shape;170;p26"/>
          <p:cNvPicPr preferRelativeResize="0"/>
          <p:nvPr/>
        </p:nvPicPr>
        <p:blipFill>
          <a:blip r:embed="rId4">
            <a:alphaModFix/>
          </a:blip>
          <a:stretch>
            <a:fillRect/>
          </a:stretch>
        </p:blipFill>
        <p:spPr>
          <a:xfrm>
            <a:off x="5171000" y="1956350"/>
            <a:ext cx="3895626" cy="31319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idx="1" type="body"/>
          </p:nvPr>
        </p:nvSpPr>
        <p:spPr>
          <a:xfrm>
            <a:off x="311700" y="763625"/>
            <a:ext cx="8520600" cy="422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By using SVD, we can see what</a:t>
            </a:r>
            <a:r>
              <a:rPr lang="en" sz="1500">
                <a:solidFill>
                  <a:srgbClr val="000000"/>
                </a:solidFill>
                <a:latin typeface="Verdana"/>
                <a:ea typeface="Verdana"/>
                <a:cs typeface="Verdana"/>
                <a:sym typeface="Verdana"/>
              </a:rPr>
              <a:t>'</a:t>
            </a:r>
            <a:r>
              <a:rPr lang="en" sz="1500">
                <a:solidFill>
                  <a:srgbClr val="000000"/>
                </a:solidFill>
                <a:latin typeface="Verdana"/>
                <a:ea typeface="Verdana"/>
                <a:cs typeface="Verdana"/>
                <a:sym typeface="Verdana"/>
              </a:rPr>
              <a:t>s happening inside the PCA wrapper. </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It can handle sparse matrices, so it’s preferred to use </a:t>
            </a:r>
            <a:r>
              <a:rPr b="1" lang="en" sz="1500">
                <a:solidFill>
                  <a:schemeClr val="accent4"/>
                </a:solidFill>
                <a:latin typeface="Verdana"/>
                <a:ea typeface="Verdana"/>
                <a:cs typeface="Verdana"/>
                <a:sym typeface="Verdana"/>
              </a:rPr>
              <a:t>TruncatedSVD</a:t>
            </a:r>
            <a:r>
              <a:rPr lang="en" sz="1500">
                <a:solidFill>
                  <a:srgbClr val="000000"/>
                </a:solidFill>
                <a:latin typeface="Verdana"/>
                <a:ea typeface="Verdana"/>
                <a:cs typeface="Verdana"/>
                <a:sym typeface="Verdana"/>
              </a:rPr>
              <a:t> instead of PCA for the large datasets. </a:t>
            </a: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It will split your TF-IDF matrix into three matrices. The Truncated part of </a:t>
            </a:r>
            <a:r>
              <a:rPr b="1" lang="en" sz="1500">
                <a:solidFill>
                  <a:schemeClr val="accent4"/>
                </a:solidFill>
                <a:latin typeface="Verdana"/>
                <a:ea typeface="Verdana"/>
                <a:cs typeface="Verdana"/>
                <a:sym typeface="Verdana"/>
              </a:rPr>
              <a:t>TruncatedSVD</a:t>
            </a:r>
            <a:r>
              <a:rPr lang="en" sz="1500">
                <a:solidFill>
                  <a:srgbClr val="000000"/>
                </a:solidFill>
                <a:latin typeface="Verdana"/>
                <a:ea typeface="Verdana"/>
                <a:cs typeface="Verdana"/>
                <a:sym typeface="Verdana"/>
              </a:rPr>
              <a:t> will discard the dimensions that contain the least information in our data. </a:t>
            </a:r>
            <a:endParaRPr sz="1500">
              <a:solidFill>
                <a:srgbClr val="000000"/>
              </a:solidFill>
              <a:latin typeface="Verdana"/>
              <a:ea typeface="Verdana"/>
              <a:cs typeface="Verdana"/>
              <a:sym typeface="Verdana"/>
            </a:endParaRPr>
          </a:p>
        </p:txBody>
      </p:sp>
      <p:sp>
        <p:nvSpPr>
          <p:cNvPr id="176" name="Google Shape;176;p27"/>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Latent Semantic Analysis (SVD)</a:t>
            </a:r>
            <a:endParaRPr>
              <a:solidFill>
                <a:srgbClr val="980000"/>
              </a:solidFill>
              <a:latin typeface="Verdana"/>
              <a:ea typeface="Verdana"/>
              <a:cs typeface="Verdana"/>
              <a:sym typeface="Verdana"/>
            </a:endParaRPr>
          </a:p>
        </p:txBody>
      </p:sp>
      <p:pic>
        <p:nvPicPr>
          <p:cNvPr id="177" name="Google Shape;177;p27"/>
          <p:cNvPicPr preferRelativeResize="0"/>
          <p:nvPr/>
        </p:nvPicPr>
        <p:blipFill>
          <a:blip r:embed="rId3">
            <a:alphaModFix/>
          </a:blip>
          <a:stretch>
            <a:fillRect/>
          </a:stretch>
        </p:blipFill>
        <p:spPr>
          <a:xfrm>
            <a:off x="1876550" y="2957799"/>
            <a:ext cx="6962649" cy="2204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idx="1" type="body"/>
          </p:nvPr>
        </p:nvSpPr>
        <p:spPr>
          <a:xfrm>
            <a:off x="311700" y="763625"/>
            <a:ext cx="8520600" cy="422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We might use cosine </a:t>
            </a:r>
            <a:r>
              <a:rPr lang="en" sz="1500">
                <a:solidFill>
                  <a:srgbClr val="000000"/>
                </a:solidFill>
                <a:latin typeface="Verdana"/>
                <a:ea typeface="Verdana"/>
                <a:cs typeface="Verdana"/>
                <a:sym typeface="Verdana"/>
              </a:rPr>
              <a:t>similarity between document-topic vectors</a:t>
            </a:r>
            <a:r>
              <a:rPr lang="en" sz="1500">
                <a:solidFill>
                  <a:srgbClr val="000000"/>
                </a:solidFill>
                <a:latin typeface="Verdana"/>
                <a:ea typeface="Verdana"/>
                <a:cs typeface="Verdana"/>
                <a:sym typeface="Verdana"/>
              </a:rPr>
              <a:t> to find similar documents. This is how </a:t>
            </a:r>
            <a:r>
              <a:rPr b="1" lang="en" sz="1500">
                <a:solidFill>
                  <a:schemeClr val="accent4"/>
                </a:solidFill>
                <a:latin typeface="Verdana"/>
                <a:ea typeface="Verdana"/>
                <a:cs typeface="Verdana"/>
                <a:sym typeface="Verdana"/>
              </a:rPr>
              <a:t>semantic search</a:t>
            </a:r>
            <a:r>
              <a:rPr lang="en" sz="1500">
                <a:solidFill>
                  <a:srgbClr val="000000"/>
                </a:solidFill>
                <a:latin typeface="Verdana"/>
                <a:ea typeface="Verdana"/>
                <a:cs typeface="Verdana"/>
                <a:sym typeface="Verdana"/>
              </a:rPr>
              <a:t> works as well.</a:t>
            </a:r>
            <a:br>
              <a:rPr lang="en" sz="1500">
                <a:solidFill>
                  <a:srgbClr val="000000"/>
                </a:solidFill>
                <a:latin typeface="Verdana"/>
                <a:ea typeface="Verdana"/>
                <a:cs typeface="Verdana"/>
                <a:sym typeface="Verdana"/>
              </a:rPr>
            </a:br>
            <a:br>
              <a:rPr lang="en" sz="1500">
                <a:solidFill>
                  <a:srgbClr val="000000"/>
                </a:solidFill>
                <a:latin typeface="Verdana"/>
                <a:ea typeface="Verdana"/>
                <a:cs typeface="Verdana"/>
                <a:sym typeface="Verdana"/>
              </a:rPr>
            </a:br>
            <a:endParaRPr sz="1500">
              <a:solidFill>
                <a:srgbClr val="000000"/>
              </a:solidFill>
              <a:latin typeface="Verdana"/>
              <a:ea typeface="Verdana"/>
              <a:cs typeface="Verdana"/>
              <a:sym typeface="Verdana"/>
            </a:endParaRPr>
          </a:p>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Whichever algorithm we want to use for LSA (PCA, truncated SVD, or LDiA), we need to </a:t>
            </a:r>
            <a:r>
              <a:rPr b="1" lang="en" sz="1500">
                <a:solidFill>
                  <a:schemeClr val="accent4"/>
                </a:solidFill>
                <a:latin typeface="Verdana"/>
                <a:ea typeface="Verdana"/>
                <a:cs typeface="Verdana"/>
                <a:sym typeface="Verdana"/>
              </a:rPr>
              <a:t>normalize TF-IDF vectors</a:t>
            </a:r>
            <a:r>
              <a:rPr lang="en" sz="1500">
                <a:solidFill>
                  <a:srgbClr val="000000"/>
                </a:solidFill>
                <a:latin typeface="Verdana"/>
                <a:ea typeface="Verdana"/>
                <a:cs typeface="Verdana"/>
                <a:sym typeface="Verdana"/>
              </a:rPr>
              <a:t> (by default sklearn does it for us). Otherwise, you may end up with large scale differences between your topics. Scale differences between topics can reduce the ability of your model to differentiate between subtle, infrequent topics. </a:t>
            </a:r>
            <a:endParaRPr sz="1500">
              <a:solidFill>
                <a:srgbClr val="000000"/>
              </a:solidFill>
              <a:latin typeface="Verdana"/>
              <a:ea typeface="Verdana"/>
              <a:cs typeface="Verdana"/>
              <a:sym typeface="Verdana"/>
            </a:endParaRPr>
          </a:p>
        </p:txBody>
      </p:sp>
      <p:sp>
        <p:nvSpPr>
          <p:cNvPr id="183" name="Google Shape;183;p28"/>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Latent Semantic Analysis (SVD)</a:t>
            </a:r>
            <a:endParaRPr>
              <a:solidFill>
                <a:srgbClr val="98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idx="1" type="body"/>
          </p:nvPr>
        </p:nvSpPr>
        <p:spPr>
          <a:xfrm>
            <a:off x="311700" y="763625"/>
            <a:ext cx="8520600" cy="4224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Verdana"/>
              <a:buChar char="●"/>
            </a:pPr>
            <a:r>
              <a:rPr lang="en" sz="1500">
                <a:solidFill>
                  <a:srgbClr val="000000"/>
                </a:solidFill>
                <a:latin typeface="Verdana"/>
                <a:ea typeface="Verdana"/>
                <a:cs typeface="Verdana"/>
                <a:sym typeface="Verdana"/>
              </a:rPr>
              <a:t>LDiA is a </a:t>
            </a:r>
            <a:r>
              <a:rPr b="1" lang="en" sz="1500">
                <a:solidFill>
                  <a:schemeClr val="accent4"/>
                </a:solidFill>
                <a:latin typeface="Verdana"/>
                <a:ea typeface="Verdana"/>
                <a:cs typeface="Verdana"/>
                <a:sym typeface="Verdana"/>
              </a:rPr>
              <a:t>topic discovery</a:t>
            </a:r>
            <a:r>
              <a:rPr lang="en" sz="1500">
                <a:solidFill>
                  <a:srgbClr val="000000"/>
                </a:solidFill>
                <a:latin typeface="Verdana"/>
                <a:ea typeface="Verdana"/>
                <a:cs typeface="Verdana"/>
                <a:sym typeface="Verdana"/>
              </a:rPr>
              <a:t> technique. It belongs to the generative probabilistic model family, in which topics are represented as the probability that each of a given set of terms will occur. Documents can in turn be represented in terms of a mixture of these topics. </a:t>
            </a:r>
            <a:r>
              <a:rPr lang="en" sz="1500" u="sng">
                <a:solidFill>
                  <a:schemeClr val="hlink"/>
                </a:solidFill>
                <a:latin typeface="Verdana"/>
                <a:ea typeface="Verdana"/>
                <a:cs typeface="Verdana"/>
                <a:sym typeface="Verdana"/>
                <a:hlinkClick r:id="rId3"/>
              </a:rPr>
              <a:t>Here</a:t>
            </a:r>
            <a:r>
              <a:rPr lang="en" sz="1500">
                <a:solidFill>
                  <a:srgbClr val="000000"/>
                </a:solidFill>
                <a:latin typeface="Verdana"/>
                <a:ea typeface="Verdana"/>
                <a:cs typeface="Verdana"/>
                <a:sym typeface="Verdana"/>
              </a:rPr>
              <a:t> is the original paper.</a:t>
            </a:r>
            <a:endParaRPr sz="1500">
              <a:solidFill>
                <a:srgbClr val="000000"/>
              </a:solidFill>
              <a:latin typeface="Verdana"/>
              <a:ea typeface="Verdana"/>
              <a:cs typeface="Verdana"/>
              <a:sym typeface="Verdana"/>
            </a:endParaRPr>
          </a:p>
          <a:p>
            <a:pPr indent="0" lvl="0" marL="0" rtl="0" algn="l">
              <a:spcBef>
                <a:spcPts val="1200"/>
              </a:spcBef>
              <a:spcAft>
                <a:spcPts val="1200"/>
              </a:spcAft>
              <a:buNone/>
            </a:pPr>
            <a:r>
              <a:t/>
            </a:r>
            <a:endParaRPr sz="1500">
              <a:solidFill>
                <a:srgbClr val="000000"/>
              </a:solidFill>
              <a:latin typeface="Verdana"/>
              <a:ea typeface="Verdana"/>
              <a:cs typeface="Verdana"/>
              <a:sym typeface="Verdana"/>
            </a:endParaRPr>
          </a:p>
        </p:txBody>
      </p:sp>
      <p:sp>
        <p:nvSpPr>
          <p:cNvPr id="189" name="Google Shape;189;p29"/>
          <p:cNvSpPr txBox="1"/>
          <p:nvPr>
            <p:ph type="title"/>
          </p:nvPr>
        </p:nvSpPr>
        <p:spPr>
          <a:xfrm>
            <a:off x="311700" y="1402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980000"/>
                </a:solidFill>
                <a:latin typeface="Verdana"/>
                <a:ea typeface="Verdana"/>
                <a:cs typeface="Verdana"/>
                <a:sym typeface="Verdana"/>
              </a:rPr>
              <a:t>Latent Dirichlet Allocation</a:t>
            </a:r>
            <a:r>
              <a:rPr lang="en">
                <a:solidFill>
                  <a:srgbClr val="980000"/>
                </a:solidFill>
                <a:latin typeface="Verdana"/>
                <a:ea typeface="Verdana"/>
                <a:cs typeface="Verdana"/>
                <a:sym typeface="Verdana"/>
              </a:rPr>
              <a:t> (LDiA)</a:t>
            </a:r>
            <a:endParaRPr>
              <a:solidFill>
                <a:srgbClr val="980000"/>
              </a:solidFill>
              <a:latin typeface="Verdana"/>
              <a:ea typeface="Verdana"/>
              <a:cs typeface="Verdana"/>
              <a:sym typeface="Verdana"/>
            </a:endParaRPr>
          </a:p>
        </p:txBody>
      </p:sp>
      <p:pic>
        <p:nvPicPr>
          <p:cNvPr id="190" name="Google Shape;190;p29"/>
          <p:cNvPicPr preferRelativeResize="0"/>
          <p:nvPr/>
        </p:nvPicPr>
        <p:blipFill>
          <a:blip r:embed="rId4">
            <a:alphaModFix/>
          </a:blip>
          <a:stretch>
            <a:fillRect/>
          </a:stretch>
        </p:blipFill>
        <p:spPr>
          <a:xfrm>
            <a:off x="1643813" y="2137600"/>
            <a:ext cx="5856375" cy="28500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